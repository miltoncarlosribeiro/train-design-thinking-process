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49"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2" r:id="rId89"/>
    <p:sldId id="343" r:id="rId90"/>
    <p:sldId id="344" r:id="rId91"/>
    <p:sldId id="345" r:id="rId92"/>
    <p:sldId id="346" r:id="rId93"/>
    <p:sldId id="347" r:id="rId94"/>
    <p:sldId id="348" r:id="rId9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9" d="100"/>
          <a:sy n="109" d="100"/>
        </p:scale>
        <p:origin x="636"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notesMaster" Target="notesMasters/notesMaster1.xml"/><Relationship Id="rId97" Type="http://schemas.openxmlformats.org/officeDocument/2006/relationships/presProps" Target="presProps.xml"/><Relationship Id="rId98" Type="http://schemas.openxmlformats.org/officeDocument/2006/relationships/viewProps" Target="viewProps.xml"/><Relationship Id="rId99" Type="http://schemas.openxmlformats.org/officeDocument/2006/relationships/theme" Target="theme/theme1.xml"/><Relationship Id="rId10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21308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Boas-vindas. Apresente-se em 1 minuto e explique o formato: 3 encontros de 4 horas, muita prática e um desafio real da empresa no final.</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Mostre o vídeo de boas-vindas (botão) ou apresente ao vivo. Deixe claro o que cada pessoa leva para casa.</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OCULTO: só aparece quando o botão 'Assistir vídeo' é clicado. Para inserir seu vídeo: Inserir &gt; Vídeo &gt; Este Dispositivo, e redimensione sobre o quadro tracejado. Depois de inserido, você pode apagar o texto de instrução.</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Personalize este slide com sua trajetória. Fale de projetos reais em que você aplicou Design Thinking ou análise de dados. Credibilidade vende o treinamento.</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Combine as regras com a turma e peça que acrescentem uma. Regras combinadas são mais respeitadas que regras impostas.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Mostre a jornada completa. Destaque que o Desafio Final usa um problema real da empresa, que começa a ser trabalhado já no Encontro 1.</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Abertura do Módulo 1. Leia os objetivos em voz alta. Se for exibir o vídeo agora, clique em 'Assistir vídeo'; caso contrário, apenas avance: o slide do vídeo fica oculto e é pulado.</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t-BR" smtClean="0"/>
              <a:t>SLIDE OCULTO: só aparece quando o botão 'Assistir vídeo' é clicado. O vídeo começa sozinho. Arquivo vinculado: videos\M1.mp4 — mantenha a pasta 'videos' junto com esta apresentação. Use o botão 'Voltar' para retornar.</a:t>
            </a:r>
            <a:endParaRPr/>
          </a:p>
          <a:p>
            <a:r>
              <a:rPr lang="pt-BR" dirty="0"/>
              <a:t>Antes de dar o play, pergunte à turma: “De quem estamos falando?”. Deixe os participantes arriscarem palpites e só revele depois do vídeo: ele trata de comunicação.</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Abra perguntando: 'Quando eu falo design, o que vem à cabeça?'. Anote 3 respostas no flipchart. Normalmente aparecem logo, cores, site bonito. Use isso como gancho para ampliar o conceito.</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Peça exemplos da própria empresa: um formulário, um processo interno, um sistema que 'ninguém entende'. O objetivo é mostrar que design é decisão sobre uso.</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Reforce: estética importa, mas é consequência. Design é um método para decidir o que construir e como.</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Conte um caso: empresa que investiu meses num app que ninguém baixou porque o cliente só queria resolver pelo WhatsApp. Pergunte à turma se já viu algo assim.</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Os números são uma regra prática, não uma estatística exata. Use para mostrar que pesquisar e testar cedo é economia, não gasto.</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Pergunte: 'A inovação que vocês precisam hoje é incremental ou disruptiva?'. A maioria das empresas locais ganha muito com inovação incremental bem feita.</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Modelo difundido pela IDEO. O Design Thinking começa pelo 'desejável' (pessoas) sem ignorar os outros dois.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Apresente cada etapa com uma frase. Explique que as duas primeiras entendem o problema (divergir e convergir) e as três últimas criam e validam a solução.</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Conecte com a cultura da empresa: aqui é permitido errar em pequena escala? Se não, o Design Thinking vai travar.</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Desenhe no flipchart um 'rabisco' que vai e volta. Mensagem: o processo é iterativo; o roteiro é um guia, não uma receita.</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Leia a frase devagar e faça 3 segundos de silêncio. Pergunte: qual projeto da empresa começou pela tecnologia e não pela pessoa?</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Circule entre as duplas e provoque: 'A culpa foi do usuário ou do projeto?'. Guarde os post-its: eles podem inspirar o Desafio Final.</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Abertura do Módulo 2. Leia os objetivos em voz alta. Se for exibir o vídeo agora, clique em 'Assistir vídeo'; caso contrário, apenas avance: o slide do vídeo fica oculto e é pulado.</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t-BR" smtClean="0"/>
              <a:t>SLIDE OCULTO: só aparece quando o botão 'Assistir vídeo' é clicado. O vídeo começa sozinho. Arquivo vinculado: videos\M2.mp4 — mantenha a pasta 'videos' junto com esta apresentação. Use o botão 'Voltar' para retornar.</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Pergunte quem na sala já 'tinha certeza' do que o cliente queria e se surpreendeu. Empatia começa ao admitir que não sabemos.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Diferencie empatia de simpatia: não é concordar ou ter pena, é entender.</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Exemplo: o cliente diz que lê todos os e-mails da empresa (atitudinal), mas a taxa de abertura é 8% (comportamental). As duas se complementam.</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Recomende começar pela qualitativa para descobrir e usar a quantitativa para dimensionar.</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Sugira que cada equipe olhe as avaliações do Google da própria empresa antes do Encontro 2.</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Explique que a pesquisa existe para transformar suposições e dúvidas em certezas. Tudo o que está na coluna do meio é risco.</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Screener = filtro de recrutamento. Ex.: 'clientes que compraram nos últimos 3 meses e não voltaram'.</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Faça uma demonstração rápida: entreviste um voluntário com uma pergunta ruim e depois com uma boa.</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Mostre que um insight não é um dado solto: é um padrão que aparece em várias falas.</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Persona fictícia, mas baseada em dados reais da pesquisa. Se não veio da pesquisa, não entra na persona.</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Ponte entre dados e empatia: os relatórios mostram a queda nas vendas, mas só a entrevista revela o motivo. Emende com a Dinâmica 2.</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 sugerida: verde = certeza, amarelo = suposição, rosa = dúvida. Guarde a Matriz: ela é a base do Desafio Final.</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Abertura do Módulo 3. Leia os objetivos em voz alta. Se for exibir o vídeo agora, clique em 'Assistir vídeo'; caso contrário, apenas avance: o slide do vídeo fica oculto e é pulado.</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t-BR" smtClean="0"/>
              <a:t>SLIDE OCULTO: só aparece quando o botão 'Assistir vídeo' é clicado. O vídeo começa sozinho. Arquivo vinculado: videos\M3.mp4 — mantenha a pasta 'videos' junto com esta apresentação. Use o botão 'Voltar' para retornar.</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Pergunte: quantos projetos da empresa começaram pela solução ('precisamos de um app') em vez do problema?</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Exemplo: uma loja achou que o problema era o preço, mas a pesquisa mostrou que era a demora na entrega. Uma promoção não resolveria nada.</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Mostre um exemplo ruim ('melhorar a experiência do cliente') e um bom ('clientes novos desistem na primeira semana por não saberem usar o produto').</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Traga para o negócio: antes de fidelizar com um programa de pontos (estima), garanta que o pedido chega certo e no prazo (segurança).</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Job Story foca na situação e na motivação, não em quem a pessoa é. Peça para cada equipe escrever uma sobre o problema escolhido.</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Preencha com dados da pesquisa, não com imaginação. Cada post-it deveria ter uma origem.</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 Problem Statement une persona, necessidade e insight em uma frase. Ele não fala da solução.</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pergunta 'Como poderíamos…?' (do inglês How Might We, ou HMW) é otimista e aberta. Uma boa pergunta gera várias ideias; uma ruim já tem a resposta.</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Pergunte à turma: alguém já defendeu uma ideia mesmo depois de perceber que ela não resolvia o problema? Emende com a Dinâmica 3.</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Critério para escolher a pergunta 'Como poderíamos…?': nem tão ampla que paralise, nem tão estreita que já tenha a solução.</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Abertura do Módulo 4. Leia os objetivos em voz alta. Se for exibir o vídeo agora, clique em 'Assistir vídeo'; caso contrário, apenas avance: o slide do vídeo fica oculto e é pulado.</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OCULTO: só aparece quando o botão 'Assistir vídeo' é clicado. Para inserir seu vídeo: Inserir &gt; Vídeo &gt; Este Dispositivo, e redimensione sobre o quadro tracejado. Depois de inserido, você pode apagar o texto de instrução.</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Pergunte: qual foi a última reunião em que uma ideia foi derrubada em 5 segundos? Isso mata a ideação.</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Convide pessoas de áreas diferentes: atendimento, vendas, TI, financeiro. Quem está na linha de frente costuma ter as melhores ideias.</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Desenhe o 'losango duplo' no flipchart. O erro mais comum é tentar divergir e convergir na mesma conversa.</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Nomeie um 'guardião das regras' em cada equipe.</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Ambiente descontraído importa: adultos têm medo de parecer ridículos. O quebra-gelo reduz esse medo.</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Escolha um só. O objetivo é soltar a turma, não gastar tempo.</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Faça junto com a turma, com timer no projetor. A pressão do tempo impede o julgamento interno.</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Brainstorming silencioso é o melhor para ambientes hierárquicos: o estagiário e o diretor têm a mesma voz.</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Antes da matriz, faça uma votação por pontos: cada pessoa tem 3 a 5 adesivos. As mais votadas vão para a matriz.</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Reforce a regra de ouro da oficina antes da Dinâmica 4: nenhuma crítica durante a geração de ideias.</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Timer sempre visível. A ideia escolhida será prototipada no Encontro 3.</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Abertura do Módulo 5. Leia os objetivos em voz alta. Se for exibir o vídeo agora, clique em 'Assistir vídeo'; caso contrário, apenas avance: o slide do vídeo fica oculto e é pulado.</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OCULTO: só aparece quando o botão 'Assistir vídeo' é clicado. Para inserir seu vídeo: Inserir &gt; Vídeo &gt; Este Dispositivo, e redimensione sobre o quadro tracejado. Depois de inserido, você pode apagar o texto de instrução.</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Lembre que somos experimentadores natos quando crianças. Crescendo, aprendemos a temer o erro. Aqui, vamos recuperar essa curiosidade.</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Viabilidade técnica também aparece aqui: ao prototipar, o time descobre restrições físicas, técnicas ou financeiras.</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Viabilidade técnica também aparece aqui: ao prototipar, o time descobre restrições físicas, técnicas ou financeiras.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13777675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Regra: a fidelidade deve acompanhar a maturidade do projeto. Começou agora? Papel.</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 empresas locais, a encenação e o piloto são as formas mais baratas e poderosas.</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Cinco usuários já revelam a maioria dos problemas de usabilidade (Jakob Nielsen). Teste presencial ou remoto por videochamada.</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 maior erro é o criador da ideia conduzir o teste e ficar defendendo a solução.</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Esse quadro (grade de captura) organiza o retorno. Em seguida: iterar o protótipo e testar de novo.</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Conecte com dados: a HayaiDataSystems ajuda empresas a medir o impacto das mudanças. O Design Thinking e os dados andam juntos.</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Feche o módulo com esta frase. Pergunte: qual foi o erro mais caro que poderia ter sido testado antes?</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Abertura do Módulo 6. Leia os objetivos em voz alta. Se for exibir o vídeo agora, clique em 'Assistir vídeo'; caso contrário, apenas avance: o slide do vídeo fica oculto e é pulado.</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t-BR" smtClean="0"/>
              <a:t>SLIDE OCULTO: só aparece quando o botão 'Assistir vídeo' é clicado. O vídeo começa sozinho. Arquivo vinculado: videos\MODELOS DE PITCH\MODELO_PITCH5MIN-01-MICRONECTAR.mp4 — mantenha a pasta 'videos' junto com esta apresentação. Use o botão 'Voltar' para retornar.</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Caso ilustrativo (fictício), criado para o treinamento. Pergunte: 'Qual seria a primeira solução que vocês proporiam?'. Anote. No fim, compare com o que o processo revelou.</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Mostre como a suposição inicial ('descaso') caiu: o problema era de processo, não de caráter.</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Duas personas com necessidades diferentes: a solução precisa funcionar para ambas.</a:t>
            </a:r>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 que a pergunta 'Como poderíamos…?' não fala em 'app' nem em 'sistema'. Ela abre espaço para várias soluções.</a:t>
            </a:r>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'taxa por falta' foi descartada porque ataca o sintoma e pune o paciente. O app próprio tem alto esforço e baixa adesão esperada.</a:t>
            </a:r>
          </a:p>
        </p:txBody>
      </p:sp>
      <p:sp>
        <p:nvSpPr>
          <p:cNvPr id="4" name="Slide Number Placeholder 3"/>
          <p:cNvSpPr>
            <a:spLocks noGrp="1"/>
          </p:cNvSpPr>
          <p:nvPr>
            <p:ph type="sldNum" sz="quarter" idx="5"/>
          </p:nvPr>
        </p:nvSpPr>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Zero investimento em tecnologia para validar. Só depois de validado se contrata a automação.</a:t>
            </a:r>
          </a:p>
        </p:txBody>
      </p:sp>
      <p:sp>
        <p:nvSpPr>
          <p:cNvPr id="4" name="Slide Number Placeholder 3"/>
          <p:cNvSpPr>
            <a:spLocks noGrp="1"/>
          </p:cNvSpPr>
          <p:nvPr>
            <p:ph type="sldNum" sz="quarter" idx="5"/>
          </p:nvPr>
        </p:nvSpPr>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Números ilustrativos. Reforce a mensagem: pesquisar e testar barato antes de investir. Volte às soluções que a turma propôs no início e compare.</a:t>
            </a:r>
          </a:p>
        </p:txBody>
      </p:sp>
      <p:sp>
        <p:nvSpPr>
          <p:cNvPr id="4" name="Slide Number Placeholder 3"/>
          <p:cNvSpPr>
            <a:spLocks noGrp="1"/>
          </p:cNvSpPr>
          <p:nvPr>
            <p:ph type="sldNum" sz="quarter" idx="5"/>
          </p:nvPr>
        </p:nvSpPr>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Conecte com o início do caso: a solução óbvia (multa) puniria o paciente sem resolver o problema real.</a:t>
            </a:r>
          </a:p>
        </p:txBody>
      </p:sp>
      <p:sp>
        <p:nvSpPr>
          <p:cNvPr id="4" name="Slide Number Placeholder 3"/>
          <p:cNvSpPr>
            <a:spLocks noGrp="1"/>
          </p:cNvSpPr>
          <p:nvPr>
            <p:ph type="sldNum" sz="quarter" idx="5"/>
          </p:nvPr>
        </p:nvSpPr>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Transição para o Desafio Final. Organize as equipes nas mesas com os materiais.</a:t>
            </a:r>
          </a:p>
          <a:p>
            <a:r>
              <a:t>Apresente o brinde Hayai WBS: depois do pitch, a equipe pode desdobrar a solução escolhida em uma EAP com pacotes de trabalho, prazos, custos e responsáveis. O link está no card do slide (clicável no modo apresentação).</a:t>
            </a:r>
          </a:p>
        </p:txBody>
      </p:sp>
      <p:sp>
        <p:nvSpPr>
          <p:cNvPr id="4" name="Slide Number Placeholder 3"/>
          <p:cNvSpPr>
            <a:spLocks noGrp="1"/>
          </p:cNvSpPr>
          <p:nvPr>
            <p:ph type="sldNum" sz="quarter" idx="5"/>
          </p:nvPr>
        </p:nvSpPr>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Leia o enunciado com a turma. Confirme que cada equipe tem seu problema (o mesmo da Matriz CSD do Encontro 1). Entregue o canvas impresso.</a:t>
            </a:r>
          </a:p>
        </p:txBody>
      </p:sp>
      <p:sp>
        <p:nvSpPr>
          <p:cNvPr id="4" name="Slide Number Placeholder 3"/>
          <p:cNvSpPr>
            <a:spLocks noGrp="1"/>
          </p:cNvSpPr>
          <p:nvPr>
            <p:ph type="sldNum" sz="quarter" idx="5"/>
          </p:nvPr>
        </p:nvSpPr>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Estas são as entregas mínimas. Equipes que terminarem antes podem fazer um segundo ciclo de teste.</a:t>
            </a:r>
          </a:p>
        </p:txBody>
      </p:sp>
      <p:sp>
        <p:nvSpPr>
          <p:cNvPr id="4" name="Slide Number Placeholder 3"/>
          <p:cNvSpPr>
            <a:spLocks noGrp="1"/>
          </p:cNvSpPr>
          <p:nvPr>
            <p:ph type="sldNum" sz="quarter" idx="5"/>
          </p:nvPr>
        </p:nvSpPr>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Mostre a rubrica ANTES de começar: as equipes precisam saber como serão avaliadas. Use o gabarito do roteiro para pontuar cada pitch.</a:t>
            </a:r>
          </a:p>
        </p:txBody>
      </p:sp>
      <p:sp>
        <p:nvSpPr>
          <p:cNvPr id="4" name="Slide Number Placeholder 3"/>
          <p:cNvSpPr>
            <a:spLocks noGrp="1"/>
          </p:cNvSpPr>
          <p:nvPr>
            <p:ph type="sldNum" sz="quarter" idx="5"/>
          </p:nvPr>
        </p:nvSpPr>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Transição para a prova.</a:t>
            </a:r>
          </a:p>
        </p:txBody>
      </p:sp>
      <p:sp>
        <p:nvSpPr>
          <p:cNvPr id="4" name="Slide Number Placeholder 3"/>
          <p:cNvSpPr>
            <a:spLocks noGrp="1"/>
          </p:cNvSpPr>
          <p:nvPr>
            <p:ph type="sldNum" sz="quarter" idx="5"/>
          </p:nvPr>
        </p:nvSpPr>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Distribua a prova impressa. 25 minutos, individual e sem consulta. Recolha antes de mostrar a correção comentada.</a:t>
            </a:r>
          </a:p>
        </p:txBody>
      </p:sp>
      <p:sp>
        <p:nvSpPr>
          <p:cNvPr id="4" name="Slide Number Placeholder 3"/>
          <p:cNvSpPr>
            <a:spLocks noGrp="1"/>
          </p:cNvSpPr>
          <p:nvPr>
            <p:ph type="sldNum" sz="quarter" idx="5"/>
          </p:nvPr>
        </p:nvSpPr>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Correção comentada. Pergunte à turma qual alternativa marcaram ANTES de revelar. CLIQUE para revelar a resposta: a correta acende em verde e as erradas apagam. Depois leia a justificativa.</a:t>
            </a:r>
          </a:p>
          <a:p>
            <a:endParaRPr/>
          </a:p>
          <a:p>
            <a:r>
              <a:t>O DCU parte da pesquisa com as pessoas antes de decidir o que construir. Sem ouvir os clientes, a empresa corre o risco de resolver um problema que não existe ou de resolvê-lo de uma forma que ninguém quer. As demais alternativas tratam de estética, prazo e concorrência, que não são o foco do DCU.</a:t>
            </a:r>
          </a:p>
        </p:txBody>
      </p:sp>
      <p:sp>
        <p:nvSpPr>
          <p:cNvPr id="4" name="Slide Number Placeholder 3"/>
          <p:cNvSpPr>
            <a:spLocks noGrp="1"/>
          </p:cNvSpPr>
          <p:nvPr>
            <p:ph type="sldNum" sz="quarter" idx="5"/>
          </p:nvPr>
        </p:nvSpPr>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Correção comentada. Pergunte à turma qual alternativa marcaram ANTES de revelar. CLIQUE para revelar a resposta: a correta acende em verde e as erradas apagam. Depois leia a justificativa.</a:t>
            </a:r>
          </a:p>
          <a:p>
            <a:endParaRPr/>
          </a:p>
          <a:p>
            <a:r>
              <a:t>É uma afirmação que o time acredita ser verdade, mas sem evidência: por definição, uma suposição. As suposições são justamente o que a pesquisa precisa validar ou derrubar. Experiência não transforma opinião em certeza, e descartar a afirmação faria o time perder uma hipótese útil.</a:t>
            </a:r>
          </a:p>
        </p:txBody>
      </p:sp>
      <p:sp>
        <p:nvSpPr>
          <p:cNvPr id="4" name="Slide Number Placeholder 3"/>
          <p:cNvSpPr>
            <a:spLocks noGrp="1"/>
          </p:cNvSpPr>
          <p:nvPr>
            <p:ph type="sldNum" sz="quarter" idx="5"/>
          </p:nvPr>
        </p:nvSpPr>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Correção comentada. Pergunte à turma qual alternativa marcaram ANTES de revelar. CLIQUE para revelar a resposta: a correta acende em verde e as erradas apagam. Depois leia a justificativa.</a:t>
            </a:r>
          </a:p>
          <a:p>
            <a:endParaRPr/>
          </a:p>
          <a:p>
            <a:r>
              <a:t>A alternativa C é centrada em pessoas (clientes novos), expressa uma necessidade e se apoia em um insight baseado em dados. A alternativa A já traz a solução embutida, a B é ampla e vaga demais e a D é uma meta de negócio, não um problema das pessoas.</a:t>
            </a:r>
          </a:p>
        </p:txBody>
      </p:sp>
      <p:sp>
        <p:nvSpPr>
          <p:cNvPr id="4" name="Slide Number Placeholder 3"/>
          <p:cNvSpPr>
            <a:spLocks noGrp="1"/>
          </p:cNvSpPr>
          <p:nvPr>
            <p:ph type="sldNum" sz="quarter" idx="5"/>
          </p:nvPr>
        </p:nvSpPr>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Correção comentada. Pergunte à turma qual alternativa marcaram ANTES de revelar. CLIQUE para revelar a resposta: a correta acende em verde e as erradas apagam. Depois leia a justificativa.</a:t>
            </a:r>
          </a:p>
          <a:p>
            <a:endParaRPr/>
          </a:p>
          <a:p>
            <a:r>
              <a:t>A ideação é uma zona livre de julgamento: primeiro se diverge (gerar muitas ideias), depois se converge (avaliar). Criticar durante a geração inibe a participação e reduz a quantidade e a diversidade de ideias. A priorização vem depois, e os grupos devem ser diversos, não só de especialistas.</a:t>
            </a:r>
          </a:p>
        </p:txBody>
      </p:sp>
      <p:sp>
        <p:nvSpPr>
          <p:cNvPr id="4" name="Slide Number Placeholder 3"/>
          <p:cNvSpPr>
            <a:spLocks noGrp="1"/>
          </p:cNvSpPr>
          <p:nvPr>
            <p:ph type="sldNum" sz="quarter" idx="5"/>
          </p:nvPr>
        </p:nvSpPr>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Correção comentada. Pergunte à turma qual alternativa marcaram ANTES de revelar. CLIQUE para revelar a resposta: a correta acende em verde e as erradas apagam. Depois leia a justificativa.</a:t>
            </a:r>
          </a:p>
          <a:p>
            <a:endParaRPr/>
          </a:p>
          <a:p>
            <a:r>
              <a:t>No início do projeto, com pouco tempo e orçamento, o protótipo de baixa fidelidade (encenação, papel, 'Mágico de Oz') é rápido, barato e suficiente para validar o conceito com pessoas reais. Alta fidelidade e desenvolvimento completo são caros para essa fase, e pular o teste elimina justamente a redução de risco.</a:t>
            </a:r>
          </a:p>
        </p:txBody>
      </p:sp>
      <p:sp>
        <p:nvSpPr>
          <p:cNvPr id="4" name="Slide Number Placeholder 3"/>
          <p:cNvSpPr>
            <a:spLocks noGrp="1"/>
          </p:cNvSpPr>
          <p:nvPr>
            <p:ph type="sldNum" sz="quarter" idx="5"/>
          </p:nvPr>
        </p:nvSpPr>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Correção comentada. Pergunte à turma qual alternativa marcaram ANTES de revelar. CLIQUE para revelar a resposta: a correta acende em verde e as erradas apagam. Depois leia a justificativa.</a:t>
            </a:r>
          </a:p>
          <a:p>
            <a:endParaRPr/>
          </a:p>
          <a:p>
            <a:r>
              <a:t>O Design Thinking é iterativo e não linear: um teste que revela um problema diferente é um aprendizado valioso. A equipe deve voltar a Definir (e, se preciso, a Empatizar) e gerar novas ideias. Lançar algo que não resolve o problema real, desistir ou punir o paciente contrariam o método.</a:t>
            </a:r>
          </a:p>
        </p:txBody>
      </p:sp>
      <p:sp>
        <p:nvSpPr>
          <p:cNvPr id="4" name="Slide Number Placeholder 3"/>
          <p:cNvSpPr>
            <a:spLocks noGrp="1"/>
          </p:cNvSpPr>
          <p:nvPr>
            <p:ph type="sldNum" sz="quarter" idx="5"/>
          </p:nvPr>
        </p:nvSpPr>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Agradeça, peça a avaliação do treinamento (formulário ou QR code) e ofereça os próximos passos: consultoria para aplicar o método ou projetos de dados.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10/2/2026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10/2/2026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slide" Target="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slide" Target="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slide" Target="slide8.xml"/></Relationships>
</file>

<file path=ppt/slides/_rels/slide8.xml.rels><?xml version='1.0' encoding='UTF-8' standalone='yes'?>
<Relationships xmlns="http://schemas.openxmlformats.org/package/2006/relationships"><Relationship Id="rId1" Type="http://schemas.microsoft.com/office/2007/relationships/media" Target="file:///C:\Users\milto\Desktop\Contruindo%20%20-%20AULA%20DE%20EXTENS&#195;O\CURSOS%20HAYAI\Design%20Thinking%20-%20Process\Treinamento_HayaiDataSystems\videos\M1.mp4" TargetMode="External"/><Relationship Id="rId2" Type="http://schemas.openxmlformats.org/officeDocument/2006/relationships/video" Target="file:///C:\Users\milto\Desktop\Contruindo%20%20-%20AULA%20DE%20EXTENS&#195;O\CURSOS%20HAYAI\Design%20Thinking%20-%20Process\Treinamento_HayaiDataSystems\videos\M1.mp4" TargetMode="External"/><Relationship Id="rId3" Type="http://schemas.openxmlformats.org/officeDocument/2006/relationships/slideLayout" Target="../slideLayouts/slideLayout7.xml"/><Relationship Id="rId4" Type="http://schemas.openxmlformats.org/officeDocument/2006/relationships/notesSlide" Target="../notesSlides/notesSlide8.xml"/><Relationship Id="rId5" Type="http://schemas.openxmlformats.org/officeDocument/2006/relationships/image" Target="../media/image1.png"/><Relationship Id="rId6" Type="http://schemas.openxmlformats.org/officeDocument/2006/relationships/slide" Target="slide7.xml"/><Relationship Id="rId7"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slide" Target="slide22.xml"/></Relationships>
</file>

<file path=ppt/slides/_rels/slide22.xml.rels><?xml version='1.0' encoding='UTF-8' standalone='yes'?>
<Relationships xmlns="http://schemas.openxmlformats.org/package/2006/relationships"><Relationship Id="rId1" Type="http://schemas.microsoft.com/office/2007/relationships/media" Target="file:///C:\Users\milto\Desktop\Contruindo%20%20-%20AULA%20DE%20EXTENS&#195;O\CURSOS%20HAYAI\Design%20Thinking%20-%20Process\Treinamento_HayaiDataSystems\videos\M2.mp4" TargetMode="External"/><Relationship Id="rId2" Type="http://schemas.openxmlformats.org/officeDocument/2006/relationships/video" Target="file:///C:\Users\milto\Desktop\Contruindo%20%20-%20AULA%20DE%20EXTENS&#195;O\CURSOS%20HAYAI\Design%20Thinking%20-%20Process\Treinamento_HayaiDataSystems\videos\M2.mp4" TargetMode="External"/><Relationship Id="rId3" Type="http://schemas.openxmlformats.org/officeDocument/2006/relationships/slideLayout" Target="../slideLayouts/slideLayout7.xml"/><Relationship Id="rId4" Type="http://schemas.openxmlformats.org/officeDocument/2006/relationships/notesSlide" Target="../notesSlides/notesSlide22.xml"/><Relationship Id="rId5" Type="http://schemas.openxmlformats.org/officeDocument/2006/relationships/image" Target="../media/image1.png"/><Relationship Id="rId6" Type="http://schemas.openxmlformats.org/officeDocument/2006/relationships/slide" Target="slide21.xml"/><Relationship Id="rId7"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slide" Target="slide36.xml"/></Relationships>
</file>

<file path=ppt/slides/_rels/slide36.xml.rels><?xml version='1.0' encoding='UTF-8' standalone='yes'?>
<Relationships xmlns="http://schemas.openxmlformats.org/package/2006/relationships"><Relationship Id="rId1" Type="http://schemas.microsoft.com/office/2007/relationships/media" Target="file:///C:\Users\milto\Desktop\Contruindo%20%20-%20AULA%20DE%20EXTENS&#195;O\CURSOS%20HAYAI\Design%20Thinking%20-%20Process\Treinamento_HayaiDataSystems\videos\M3.mp4" TargetMode="External"/><Relationship Id="rId2" Type="http://schemas.openxmlformats.org/officeDocument/2006/relationships/video" Target="file:///C:\Users\milto\Desktop\Contruindo%20%20-%20AULA%20DE%20EXTENS&#195;O\CURSOS%20HAYAI\Design%20Thinking%20-%20Process\Treinamento_HayaiDataSystems\videos\M3.mp4" TargetMode="External"/><Relationship Id="rId3" Type="http://schemas.openxmlformats.org/officeDocument/2006/relationships/slideLayout" Target="../slideLayouts/slideLayout7.xml"/><Relationship Id="rId4" Type="http://schemas.openxmlformats.org/officeDocument/2006/relationships/notesSlide" Target="../notesSlides/notesSlide36.xml"/><Relationship Id="rId5" Type="http://schemas.openxmlformats.org/officeDocument/2006/relationships/image" Target="../media/image1.png"/><Relationship Id="rId6" Type="http://schemas.openxmlformats.org/officeDocument/2006/relationships/slide" Target="slide35.xml"/><Relationship Id="rId7" Type="http://schemas.openxmlformats.org/officeDocument/2006/relationships/image" Target="../media/image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slide" Target="slide4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1.png"/><Relationship Id="rId4" Type="http://schemas.openxmlformats.org/officeDocument/2006/relationships/slide" Target="slide4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 Id="rId3" Type="http://schemas.openxmlformats.org/officeDocument/2006/relationships/slide" Target="slide6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image" Target="../media/image1.png"/><Relationship Id="rId4" Type="http://schemas.openxmlformats.org/officeDocument/2006/relationships/slide" Target="slide6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 Id="rId3"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 Id="rId3" Type="http://schemas.openxmlformats.org/officeDocument/2006/relationships/image" Target="../media/image1.png"/><Relationship Id="rId4" Type="http://schemas.openxmlformats.org/officeDocument/2006/relationships/image" Target="../media/image6.jpg"/><Relationship Id="rId5" Type="http://schemas.openxmlformats.org/officeDocument/2006/relationships/image" Target="../media/image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 Id="rId3"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 Id="rId3" Type="http://schemas.openxmlformats.org/officeDocument/2006/relationships/image" Target="../media/image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 Id="rId3" Type="http://schemas.openxmlformats.org/officeDocument/2006/relationships/image" Target="../media/image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 Id="rId3"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 Id="rId3"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 Id="rId3" Type="http://schemas.openxmlformats.org/officeDocument/2006/relationships/image" Target="../media/image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 Id="rId3"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 Id="rId3" Type="http://schemas.openxmlformats.org/officeDocument/2006/relationships/slide" Target="slide73.xml"/></Relationships>
</file>

<file path=ppt/slides/_rels/slide73.xml.rels><?xml version='1.0' encoding='UTF-8' standalone='yes'?>
<Relationships xmlns="http://schemas.openxmlformats.org/package/2006/relationships"><Relationship Id="rId1" Type="http://schemas.microsoft.com/office/2007/relationships/media" Target="file:///C:\Users\milto\Desktop\Contruindo%20%20-%20AULA%20DE%20EXTENS&#195;O\CURSOS%20HAYAI\Design%20Thinking%20-%20Process\Treinamento_HayaiDataSystems\videos\MODELOS%20DE%20PITCH\MODELO_PITCH5MIN-01-MICRONECTAR.mp4" TargetMode="External"/><Relationship Id="rId2" Type="http://schemas.openxmlformats.org/officeDocument/2006/relationships/video" Target="file:///C:\Users\milto\Desktop\Contruindo%20%20-%20AULA%20DE%20EXTENS&#195;O\CURSOS%20HAYAI\Design%20Thinking%20-%20Process\Treinamento_HayaiDataSystems\videos\MODELOS%20DE%20PITCH\MODELO_PITCH5MIN-01-MICRONECTAR.mp4" TargetMode="External"/><Relationship Id="rId3" Type="http://schemas.openxmlformats.org/officeDocument/2006/relationships/slideLayout" Target="../slideLayouts/slideLayout7.xml"/><Relationship Id="rId4" Type="http://schemas.openxmlformats.org/officeDocument/2006/relationships/notesSlide" Target="../notesSlides/notesSlide73.xml"/><Relationship Id="rId5" Type="http://schemas.openxmlformats.org/officeDocument/2006/relationships/image" Target="../media/image1.png"/><Relationship Id="rId6" Type="http://schemas.openxmlformats.org/officeDocument/2006/relationships/slide" Target="slide72.xml"/><Relationship Id="rId7" Type="http://schemas.openxmlformats.org/officeDocument/2006/relationships/image" Target="../media/image8.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 Id="rId3" Type="http://schemas.openxmlformats.org/officeDocument/2006/relationships/image" Target="../media/image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 Id="rId3" Type="http://schemas.openxmlformats.org/officeDocument/2006/relationships/image" Target="../media/image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 Id="rId3" Type="http://schemas.openxmlformats.org/officeDocument/2006/relationships/image" Target="../media/image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 Id="rId3" Type="http://schemas.openxmlformats.org/officeDocument/2006/relationships/image" Target="../media/image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 Id="rId3" Type="http://schemas.openxmlformats.org/officeDocument/2006/relationships/image" Target="../media/image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 Id="rId3" Type="http://schemas.openxmlformats.org/officeDocument/2006/relationships/image" Target="../media/image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 Id="rId3" Type="http://schemas.openxmlformats.org/officeDocument/2006/relationships/image" Target="../media/image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 Id="rId3" Type="http://schemas.openxmlformats.org/officeDocument/2006/relationships/hyperlink" Target="https://github.com/MiltonCarlosRibeiro/mat-extra-brinde-hayai-wbs-creator" TargetMode="Externa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 Id="rId3" Type="http://schemas.openxmlformats.org/officeDocument/2006/relationships/image" Target="../media/image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 Id="rId3" Type="http://schemas.openxmlformats.org/officeDocument/2006/relationships/image" Target="../media/image1.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 Id="rId3" Type="http://schemas.openxmlformats.org/officeDocument/2006/relationships/image" Target="../media/image1.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 Id="rId3" Type="http://schemas.openxmlformats.org/officeDocument/2006/relationships/image" Target="../media/image1.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 Id="rId3" Type="http://schemas.openxmlformats.org/officeDocument/2006/relationships/image" Target="../media/image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 Id="rId3" Type="http://schemas.openxmlformats.org/officeDocument/2006/relationships/image" Target="../media/image1.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 Id="rId3" Type="http://schemas.openxmlformats.org/officeDocument/2006/relationships/image" Target="../media/image1.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 Id="rId3" Type="http://schemas.openxmlformats.org/officeDocument/2006/relationships/image" Target="../media/image1.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 Id="rId3" Type="http://schemas.openxmlformats.org/officeDocument/2006/relationships/image" Target="../media/image1.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 Id="rId3" Type="http://schemas.openxmlformats.org/officeDocument/2006/relationships/image" Target="../media/image1.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pic>
        <p:nvPicPr>
          <p:cNvPr id="2" name="Picture 1" descr="logo_icon_t.png"/>
          <p:cNvPicPr>
            <a:picLocks noChangeAspect="1"/>
          </p:cNvPicPr>
          <p:nvPr/>
        </p:nvPicPr>
        <p:blipFill>
          <a:blip r:embed="rId3"/>
          <a:stretch>
            <a:fillRect/>
          </a:stretch>
        </p:blipFill>
        <p:spPr>
          <a:xfrm>
            <a:off x="7086600" y="914400"/>
            <a:ext cx="4741164" cy="3108960"/>
          </a:xfrm>
          <a:prstGeom prst="rect">
            <a:avLst/>
          </a:prstGeom>
        </p:spPr>
      </p:pic>
      <p:sp>
        <p:nvSpPr>
          <p:cNvPr id="3" name="TextBox 2"/>
          <p:cNvSpPr txBox="1"/>
          <p:nvPr/>
        </p:nvSpPr>
        <p:spPr>
          <a:xfrm>
            <a:off x="731520" y="1097280"/>
            <a:ext cx="6400800" cy="365760"/>
          </a:xfrm>
          <a:prstGeom prst="rect">
            <a:avLst/>
          </a:prstGeom>
          <a:noFill/>
        </p:spPr>
        <p:txBody>
          <a:bodyPr wrap="square" lIns="36576" tIns="18288" rIns="36576" bIns="18288" anchor="t">
            <a:spAutoFit/>
          </a:bodyPr>
          <a:lstStyle/>
          <a:p>
            <a:pPr algn="l"/>
            <a:r>
              <a:rPr sz="1300" b="1" i="0" spc="300">
                <a:solidFill>
                  <a:srgbClr val="9CD848"/>
                </a:solidFill>
                <a:latin typeface="Segoe UI Semibold"/>
              </a:rPr>
              <a:t>TREINAMENTO IN-COMPANY</a:t>
            </a:r>
          </a:p>
        </p:txBody>
      </p:sp>
      <p:sp>
        <p:nvSpPr>
          <p:cNvPr id="4" name="TextBox 3"/>
          <p:cNvSpPr txBox="1"/>
          <p:nvPr/>
        </p:nvSpPr>
        <p:spPr>
          <a:xfrm>
            <a:off x="731520" y="1600200"/>
            <a:ext cx="6766560" cy="2011680"/>
          </a:xfrm>
          <a:prstGeom prst="rect">
            <a:avLst/>
          </a:prstGeom>
          <a:noFill/>
        </p:spPr>
        <p:txBody>
          <a:bodyPr wrap="square" lIns="36576" tIns="18288" rIns="36576" bIns="18288" anchor="t">
            <a:spAutoFit/>
          </a:bodyPr>
          <a:lstStyle/>
          <a:p>
            <a:pPr algn="l">
              <a:lnSpc>
                <a:spcPct val="95000"/>
              </a:lnSpc>
            </a:pPr>
            <a:r>
              <a:rPr sz="5400" b="1" i="0">
                <a:solidFill>
                  <a:srgbClr val="F2F2EC"/>
                </a:solidFill>
                <a:latin typeface="Segoe UI Semibold"/>
              </a:rPr>
              <a:t>Design Thinking</a:t>
            </a:r>
          </a:p>
          <a:p>
            <a:pPr algn="l">
              <a:lnSpc>
                <a:spcPct val="95000"/>
              </a:lnSpc>
            </a:pPr>
            <a:r>
              <a:rPr sz="5400" b="1" i="0">
                <a:solidFill>
                  <a:srgbClr val="9CD848"/>
                </a:solidFill>
                <a:latin typeface="Segoe UI Semibold"/>
              </a:rPr>
              <a:t>na Prática</a:t>
            </a:r>
          </a:p>
        </p:txBody>
      </p:sp>
      <p:sp>
        <p:nvSpPr>
          <p:cNvPr id="5" name="TextBox 4"/>
          <p:cNvSpPr txBox="1"/>
          <p:nvPr/>
        </p:nvSpPr>
        <p:spPr>
          <a:xfrm>
            <a:off x="731520" y="3566160"/>
            <a:ext cx="6400800" cy="548640"/>
          </a:xfrm>
          <a:prstGeom prst="rect">
            <a:avLst/>
          </a:prstGeom>
          <a:noFill/>
        </p:spPr>
        <p:txBody>
          <a:bodyPr wrap="square" lIns="36576" tIns="18288" rIns="36576" bIns="18288" anchor="t">
            <a:spAutoFit/>
          </a:bodyPr>
          <a:lstStyle/>
          <a:p>
            <a:pPr algn="l"/>
            <a:r>
              <a:rPr sz="2000" b="0" i="0">
                <a:solidFill>
                  <a:srgbClr val="B4B8B0"/>
                </a:solidFill>
                <a:latin typeface="Segoe UI"/>
              </a:rPr>
              <a:t>Inovação centrada nas pessoas para empresas</a:t>
            </a:r>
          </a:p>
        </p:txBody>
      </p:sp>
      <p:sp>
        <p:nvSpPr>
          <p:cNvPr id="6" name="TextBox 5"/>
          <p:cNvSpPr txBox="1"/>
          <p:nvPr/>
        </p:nvSpPr>
        <p:spPr>
          <a:xfrm>
            <a:off x="731520" y="4617720"/>
            <a:ext cx="6400800" cy="822960"/>
          </a:xfrm>
          <a:prstGeom prst="rect">
            <a:avLst/>
          </a:prstGeom>
          <a:noFill/>
        </p:spPr>
        <p:txBody>
          <a:bodyPr wrap="square" lIns="36576" tIns="18288" rIns="36576" bIns="18288" anchor="t">
            <a:spAutoFit/>
          </a:bodyPr>
          <a:lstStyle/>
          <a:p>
            <a:pPr algn="l">
              <a:spcAft>
                <a:spcPts val="600"/>
              </a:spcAft>
            </a:pPr>
            <a:r>
              <a:rPr sz="1500" b="0" i="0">
                <a:solidFill>
                  <a:srgbClr val="7D827B"/>
                </a:solidFill>
                <a:latin typeface="Segoe UI"/>
              </a:rPr>
              <a:t>Instrutor  </a:t>
            </a:r>
            <a:r>
              <a:rPr sz="1500" b="1" i="0">
                <a:solidFill>
                  <a:srgbClr val="F2F2EC"/>
                </a:solidFill>
                <a:latin typeface="Segoe UI Semibold"/>
              </a:rPr>
              <a:t>Milton Carlos Ribeiro</a:t>
            </a:r>
          </a:p>
          <a:p>
            <a:pPr algn="l"/>
            <a:r>
              <a:rPr sz="1500" b="0" i="0">
                <a:solidFill>
                  <a:srgbClr val="B4B8B0"/>
                </a:solidFill>
                <a:latin typeface="Segoe UI"/>
              </a:rPr>
              <a:t>12 horas · 3 encontros de 4h</a:t>
            </a:r>
          </a:p>
        </p:txBody>
      </p:sp>
      <p:cxnSp>
        <p:nvCxnSpPr>
          <p:cNvPr id="7" name="Connector 6"/>
          <p:cNvCxnSpPr/>
          <p:nvPr/>
        </p:nvCxnSpPr>
        <p:spPr>
          <a:xfrm>
            <a:off x="8503920" y="4754880"/>
            <a:ext cx="2048256" cy="0"/>
          </a:xfrm>
          <a:prstGeom prst="line">
            <a:avLst/>
          </a:prstGeom>
          <a:ln w="39116">
            <a:solidFill>
              <a:srgbClr val="2A9FC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8503920" y="5330952"/>
            <a:ext cx="1408176" cy="0"/>
          </a:xfrm>
          <a:prstGeom prst="line">
            <a:avLst/>
          </a:prstGeom>
          <a:ln w="39116">
            <a:solidFill>
              <a:srgbClr val="2A9FC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9912096" y="5330952"/>
            <a:ext cx="448056" cy="448056"/>
          </a:xfrm>
          <a:prstGeom prst="line">
            <a:avLst/>
          </a:prstGeom>
          <a:ln w="39116">
            <a:solidFill>
              <a:srgbClr val="2A9FC0"/>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0360152" y="5779008"/>
            <a:ext cx="1088136" cy="0"/>
          </a:xfrm>
          <a:prstGeom prst="line">
            <a:avLst/>
          </a:prstGeom>
          <a:ln w="39116">
            <a:solidFill>
              <a:srgbClr val="2A9FC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503920" y="5907024"/>
            <a:ext cx="768096" cy="0"/>
          </a:xfrm>
          <a:prstGeom prst="line">
            <a:avLst/>
          </a:prstGeom>
          <a:ln w="39116">
            <a:solidFill>
              <a:srgbClr val="2A9FC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272016" y="5907024"/>
            <a:ext cx="384048" cy="448056"/>
          </a:xfrm>
          <a:prstGeom prst="line">
            <a:avLst/>
          </a:prstGeom>
          <a:ln w="39116">
            <a:solidFill>
              <a:srgbClr val="2A9FC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656064" y="6355080"/>
            <a:ext cx="1280160" cy="0"/>
          </a:xfrm>
          <a:prstGeom prst="line">
            <a:avLst/>
          </a:prstGeom>
          <a:ln w="39116">
            <a:solidFill>
              <a:srgbClr val="2A9FC0"/>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0552176" y="4614062"/>
            <a:ext cx="281635" cy="281635"/>
          </a:xfrm>
          <a:prstGeom prst="ellipse">
            <a:avLst/>
          </a:prstGeom>
          <a:solidFill>
            <a:srgbClr val="1A1A1A"/>
          </a:solidFill>
          <a:ln w="39116">
            <a:solidFill>
              <a:srgbClr val="2A9FC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11448288" y="5638190"/>
            <a:ext cx="281635" cy="281635"/>
          </a:xfrm>
          <a:prstGeom prst="ellipse">
            <a:avLst/>
          </a:prstGeom>
          <a:solidFill>
            <a:srgbClr val="1A1A1A"/>
          </a:solidFill>
          <a:ln w="39116">
            <a:solidFill>
              <a:srgbClr val="2A9FC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10936224" y="6214262"/>
            <a:ext cx="281635" cy="281635"/>
          </a:xfrm>
          <a:prstGeom prst="ellipse">
            <a:avLst/>
          </a:prstGeom>
          <a:solidFill>
            <a:srgbClr val="1A1A1A"/>
          </a:solidFill>
          <a:ln w="39116">
            <a:solidFill>
              <a:srgbClr val="2A9FC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31520" y="6263640"/>
            <a:ext cx="7315200" cy="274320"/>
          </a:xfrm>
          <a:prstGeom prst="rect">
            <a:avLst/>
          </a:prstGeom>
          <a:noFill/>
        </p:spPr>
        <p:txBody>
          <a:bodyPr wrap="square" lIns="36576" tIns="18288" rIns="36576" bIns="18288" anchor="t">
            <a:spAutoFit/>
          </a:bodyPr>
          <a:lstStyle/>
          <a:p>
            <a:pPr algn="l"/>
            <a:r>
              <a:rPr sz="1100" b="0" i="0">
                <a:solidFill>
                  <a:srgbClr val="7D827B"/>
                </a:solidFill>
                <a:latin typeface="Segoe UI"/>
              </a:rPr>
              <a:t>HayaiDataSystems  ·  Dados que potencializam decisões</a:t>
            </a: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decel="10000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800" fill="hold"/>
                                        <p:tgtEl>
                                          <p:spTgt spid="2"/>
                                        </p:tgtEl>
                                        <p:attrNameLst>
                                          <p:attrName>ppt_w</p:attrName>
                                        </p:attrNameLst>
                                      </p:cBhvr>
                                      <p:tavLst>
                                        <p:tav tm="0">
                                          <p:val>
                                            <p:strVal val="0"/>
                                          </p:val>
                                        </p:tav>
                                        <p:tav tm="70000">
                                          <p:val>
                                            <p:strVal val="#ppt_w*1.08"/>
                                          </p:val>
                                        </p:tav>
                                        <p:tav tm="100000">
                                          <p:val>
                                            <p:strVal val="#ppt_w"/>
                                          </p:val>
                                        </p:tav>
                                      </p:tavLst>
                                    </p:anim>
                                    <p:anim calcmode="lin" valueType="num">
                                      <p:cBhvr additive="base">
                                        <p:cTn id="8" dur="800" fill="hold"/>
                                        <p:tgtEl>
                                          <p:spTgt spid="2"/>
                                        </p:tgtEl>
                                        <p:attrNameLst>
                                          <p:attrName>ppt_h</p:attrName>
                                        </p:attrNameLst>
                                      </p:cBhvr>
                                      <p:tavLst>
                                        <p:tav tm="0">
                                          <p:val>
                                            <p:strVal val="0"/>
                                          </p:val>
                                        </p:tav>
                                        <p:tav tm="70000">
                                          <p:val>
                                            <p:strVal val="#ppt_h*1.08"/>
                                          </p:val>
                                        </p:tav>
                                        <p:tav tm="100000">
                                          <p:val>
                                            <p:strVal val="#ppt_h"/>
                                          </p:val>
                                        </p:tav>
                                      </p:tavLst>
                                    </p:anim>
                                    <p:animEffect transition="in" filter="fade">
                                      <p:cBhvr>
                                        <p:cTn id="9" dur="480" fill="hold"/>
                                        <p:tgtEl>
                                          <p:spTgt spid="2"/>
                                        </p:tgtEl>
                                      </p:cBhvr>
                                    </p:animEffect>
                                  </p:childTnLst>
                                </p:cTn>
                              </p:par>
                              <p:par>
                                <p:cTn id="10" presetID="10" presetClass="entr" presetSubtype="0" fill="hold" grpId="0" nodeType="withEffect">
                                  <p:stCondLst>
                                    <p:cond delay="45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fill="hold"/>
                                        <p:tgtEl>
                                          <p:spTgt spid="3"/>
                                        </p:tgtEl>
                                      </p:cBhvr>
                                    </p:animEffect>
                                  </p:childTnLst>
                                </p:cTn>
                              </p:par>
                              <p:par>
                                <p:cTn id="13" presetID="42" presetClass="entr" presetSubtype="0" decel="100000" fill="hold" grpId="0" nodeType="withEffect">
                                  <p:stCondLst>
                                    <p:cond delay="65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650" fill="hold"/>
                                        <p:tgtEl>
                                          <p:spTgt spid="4"/>
                                        </p:tgtEl>
                                      </p:cBhvr>
                                    </p:animEffect>
                                    <p:anim calcmode="lin" valueType="num">
                                      <p:cBhvr additive="base">
                                        <p:cTn id="16" dur="650" fill="hold"/>
                                        <p:tgtEl>
                                          <p:spTgt spid="4"/>
                                        </p:tgtEl>
                                        <p:attrNameLst>
                                          <p:attrName>ppt_x</p:attrName>
                                        </p:attrNameLst>
                                      </p:cBhvr>
                                      <p:tavLst>
                                        <p:tav tm="0">
                                          <p:val>
                                            <p:strVal val="#ppt_x"/>
                                          </p:val>
                                        </p:tav>
                                        <p:tav tm="100000">
                                          <p:val>
                                            <p:strVal val="#ppt_x"/>
                                          </p:val>
                                        </p:tav>
                                      </p:tavLst>
                                    </p:anim>
                                    <p:anim calcmode="lin" valueType="num">
                                      <p:cBhvr additive="base">
                                        <p:cTn id="17" dur="650" fill="hold"/>
                                        <p:tgtEl>
                                          <p:spTgt spid="4"/>
                                        </p:tgtEl>
                                        <p:attrNameLst>
                                          <p:attrName>ppt_y</p:attrName>
                                        </p:attrNameLst>
                                      </p:cBhvr>
                                      <p:tavLst>
                                        <p:tav tm="0">
                                          <p:val>
                                            <p:strVal val="#ppt_y+.06"/>
                                          </p:val>
                                        </p:tav>
                                        <p:tav tm="100000">
                                          <p:val>
                                            <p:strVal val="#ppt_y"/>
                                          </p:val>
                                        </p:tav>
                                      </p:tavLst>
                                    </p:anim>
                                  </p:childTnLst>
                                </p:cTn>
                              </p:par>
                              <p:par>
                                <p:cTn id="18" presetID="42" presetClass="entr" presetSubtype="0" decel="100000" fill="hold" grpId="0" nodeType="withEffect">
                                  <p:stCondLst>
                                    <p:cond delay="90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650" fill="hold"/>
                                        <p:tgtEl>
                                          <p:spTgt spid="5"/>
                                        </p:tgtEl>
                                      </p:cBhvr>
                                    </p:animEffect>
                                    <p:anim calcmode="lin" valueType="num">
                                      <p:cBhvr additive="base">
                                        <p:cTn id="21" dur="650" fill="hold"/>
                                        <p:tgtEl>
                                          <p:spTgt spid="5"/>
                                        </p:tgtEl>
                                        <p:attrNameLst>
                                          <p:attrName>ppt_x</p:attrName>
                                        </p:attrNameLst>
                                      </p:cBhvr>
                                      <p:tavLst>
                                        <p:tav tm="0">
                                          <p:val>
                                            <p:strVal val="#ppt_x"/>
                                          </p:val>
                                        </p:tav>
                                        <p:tav tm="100000">
                                          <p:val>
                                            <p:strVal val="#ppt_x"/>
                                          </p:val>
                                        </p:tav>
                                      </p:tavLst>
                                    </p:anim>
                                    <p:anim calcmode="lin" valueType="num">
                                      <p:cBhvr additive="base">
                                        <p:cTn id="22" dur="650" fill="hold"/>
                                        <p:tgtEl>
                                          <p:spTgt spid="5"/>
                                        </p:tgtEl>
                                        <p:attrNameLst>
                                          <p:attrName>ppt_y</p:attrName>
                                        </p:attrNameLst>
                                      </p:cBhvr>
                                      <p:tavLst>
                                        <p:tav tm="0">
                                          <p:val>
                                            <p:strVal val="#ppt_y+.06"/>
                                          </p:val>
                                        </p:tav>
                                        <p:tav tm="100000">
                                          <p:val>
                                            <p:strVal val="#ppt_y"/>
                                          </p:val>
                                        </p:tav>
                                      </p:tavLst>
                                    </p:anim>
                                  </p:childTnLst>
                                </p:cTn>
                              </p:par>
                              <p:par>
                                <p:cTn id="23" presetID="10" presetClass="entr" presetSubtype="0" fill="hold" grpId="0" nodeType="withEffect">
                                  <p:stCondLst>
                                    <p:cond delay="115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fill="hold"/>
                                        <p:tgtEl>
                                          <p:spTgt spid="6"/>
                                        </p:tgtEl>
                                      </p:cBhvr>
                                    </p:animEffect>
                                  </p:childTnLst>
                                </p:cTn>
                              </p:par>
                              <p:par>
                                <p:cTn id="26" presetID="22" presetClass="entr" presetSubtype="8" fill="hold" nodeType="withEffect">
                                  <p:stCondLst>
                                    <p:cond delay="1300"/>
                                  </p:stCondLst>
                                  <p:childTnLst>
                                    <p:set>
                                      <p:cBhvr>
                                        <p:cTn id="27" dur="1" fill="hold">
                                          <p:stCondLst>
                                            <p:cond delay="0"/>
                                          </p:stCondLst>
                                        </p:cTn>
                                        <p:tgtEl>
                                          <p:spTgt spid="7"/>
                                        </p:tgtEl>
                                        <p:attrNameLst>
                                          <p:attrName>style.visibility</p:attrName>
                                        </p:attrNameLst>
                                      </p:cBhvr>
                                      <p:to>
                                        <p:strVal val="visible"/>
                                      </p:to>
                                    </p:set>
                                    <p:animEffect transition="in" filter="wipe(left)">
                                      <p:cBhvr>
                                        <p:cTn id="28" dur="900" fill="hold"/>
                                        <p:tgtEl>
                                          <p:spTgt spid="7"/>
                                        </p:tgtEl>
                                      </p:cBhvr>
                                    </p:animEffect>
                                  </p:childTnLst>
                                </p:cTn>
                              </p:par>
                              <p:par>
                                <p:cTn id="29" presetID="22" presetClass="entr" presetSubtype="8" fill="hold" nodeType="withEffect">
                                  <p:stCondLst>
                                    <p:cond delay="1300"/>
                                  </p:stCondLst>
                                  <p:childTnLst>
                                    <p:set>
                                      <p:cBhvr>
                                        <p:cTn id="30" dur="1" fill="hold">
                                          <p:stCondLst>
                                            <p:cond delay="0"/>
                                          </p:stCondLst>
                                        </p:cTn>
                                        <p:tgtEl>
                                          <p:spTgt spid="8"/>
                                        </p:tgtEl>
                                        <p:attrNameLst>
                                          <p:attrName>style.visibility</p:attrName>
                                        </p:attrNameLst>
                                      </p:cBhvr>
                                      <p:to>
                                        <p:strVal val="visible"/>
                                      </p:to>
                                    </p:set>
                                    <p:animEffect transition="in" filter="wipe(left)">
                                      <p:cBhvr>
                                        <p:cTn id="31" dur="900" fill="hold"/>
                                        <p:tgtEl>
                                          <p:spTgt spid="8"/>
                                        </p:tgtEl>
                                      </p:cBhvr>
                                    </p:animEffect>
                                  </p:childTnLst>
                                </p:cTn>
                              </p:par>
                              <p:par>
                                <p:cTn id="32" presetID="22" presetClass="entr" presetSubtype="8" fill="hold" nodeType="withEffect">
                                  <p:stCondLst>
                                    <p:cond delay="1300"/>
                                  </p:stCondLst>
                                  <p:childTnLst>
                                    <p:set>
                                      <p:cBhvr>
                                        <p:cTn id="33" dur="1" fill="hold">
                                          <p:stCondLst>
                                            <p:cond delay="0"/>
                                          </p:stCondLst>
                                        </p:cTn>
                                        <p:tgtEl>
                                          <p:spTgt spid="9"/>
                                        </p:tgtEl>
                                        <p:attrNameLst>
                                          <p:attrName>style.visibility</p:attrName>
                                        </p:attrNameLst>
                                      </p:cBhvr>
                                      <p:to>
                                        <p:strVal val="visible"/>
                                      </p:to>
                                    </p:set>
                                    <p:animEffect transition="in" filter="wipe(left)">
                                      <p:cBhvr>
                                        <p:cTn id="34" dur="900" fill="hold"/>
                                        <p:tgtEl>
                                          <p:spTgt spid="9"/>
                                        </p:tgtEl>
                                      </p:cBhvr>
                                    </p:animEffect>
                                  </p:childTnLst>
                                </p:cTn>
                              </p:par>
                              <p:par>
                                <p:cTn id="35" presetID="22" presetClass="entr" presetSubtype="8" fill="hold" nodeType="withEffect">
                                  <p:stCondLst>
                                    <p:cond delay="130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900" fill="hold"/>
                                        <p:tgtEl>
                                          <p:spTgt spid="10"/>
                                        </p:tgtEl>
                                      </p:cBhvr>
                                    </p:animEffect>
                                  </p:childTnLst>
                                </p:cTn>
                              </p:par>
                              <p:par>
                                <p:cTn id="38" presetID="22" presetClass="entr" presetSubtype="8" fill="hold" nodeType="withEffect">
                                  <p:stCondLst>
                                    <p:cond delay="1300"/>
                                  </p:stCondLst>
                                  <p:childTnLst>
                                    <p:set>
                                      <p:cBhvr>
                                        <p:cTn id="39" dur="1" fill="hold">
                                          <p:stCondLst>
                                            <p:cond delay="0"/>
                                          </p:stCondLst>
                                        </p:cTn>
                                        <p:tgtEl>
                                          <p:spTgt spid="11"/>
                                        </p:tgtEl>
                                        <p:attrNameLst>
                                          <p:attrName>style.visibility</p:attrName>
                                        </p:attrNameLst>
                                      </p:cBhvr>
                                      <p:to>
                                        <p:strVal val="visible"/>
                                      </p:to>
                                    </p:set>
                                    <p:animEffect transition="in" filter="wipe(left)">
                                      <p:cBhvr>
                                        <p:cTn id="40" dur="900" fill="hold"/>
                                        <p:tgtEl>
                                          <p:spTgt spid="11"/>
                                        </p:tgtEl>
                                      </p:cBhvr>
                                    </p:animEffect>
                                  </p:childTnLst>
                                </p:cTn>
                              </p:par>
                              <p:par>
                                <p:cTn id="41" presetID="22" presetClass="entr" presetSubtype="8" fill="hold" nodeType="withEffect">
                                  <p:stCondLst>
                                    <p:cond delay="1300"/>
                                  </p:stCondLst>
                                  <p:childTnLst>
                                    <p:set>
                                      <p:cBhvr>
                                        <p:cTn id="42" dur="1" fill="hold">
                                          <p:stCondLst>
                                            <p:cond delay="0"/>
                                          </p:stCondLst>
                                        </p:cTn>
                                        <p:tgtEl>
                                          <p:spTgt spid="12"/>
                                        </p:tgtEl>
                                        <p:attrNameLst>
                                          <p:attrName>style.visibility</p:attrName>
                                        </p:attrNameLst>
                                      </p:cBhvr>
                                      <p:to>
                                        <p:strVal val="visible"/>
                                      </p:to>
                                    </p:set>
                                    <p:animEffect transition="in" filter="wipe(left)">
                                      <p:cBhvr>
                                        <p:cTn id="43" dur="900" fill="hold"/>
                                        <p:tgtEl>
                                          <p:spTgt spid="12"/>
                                        </p:tgtEl>
                                      </p:cBhvr>
                                    </p:animEffect>
                                  </p:childTnLst>
                                </p:cTn>
                              </p:par>
                              <p:par>
                                <p:cTn id="44" presetID="22" presetClass="entr" presetSubtype="8" fill="hold" nodeType="withEffect">
                                  <p:stCondLst>
                                    <p:cond delay="1300"/>
                                  </p:stCondLst>
                                  <p:childTnLst>
                                    <p:set>
                                      <p:cBhvr>
                                        <p:cTn id="45" dur="1" fill="hold">
                                          <p:stCondLst>
                                            <p:cond delay="0"/>
                                          </p:stCondLst>
                                        </p:cTn>
                                        <p:tgtEl>
                                          <p:spTgt spid="13"/>
                                        </p:tgtEl>
                                        <p:attrNameLst>
                                          <p:attrName>style.visibility</p:attrName>
                                        </p:attrNameLst>
                                      </p:cBhvr>
                                      <p:to>
                                        <p:strVal val="visible"/>
                                      </p:to>
                                    </p:set>
                                    <p:animEffect transition="in" filter="wipe(left)">
                                      <p:cBhvr>
                                        <p:cTn id="46" dur="900" fill="hold"/>
                                        <p:tgtEl>
                                          <p:spTgt spid="13"/>
                                        </p:tgtEl>
                                      </p:cBhvr>
                                    </p:animEffect>
                                  </p:childTnLst>
                                </p:cTn>
                              </p:par>
                              <p:par>
                                <p:cTn id="47" presetID="53" presetClass="entr" presetSubtype="16" decel="100000" fill="hold" grpId="0" nodeType="withEffect">
                                  <p:stCondLst>
                                    <p:cond delay="2050"/>
                                  </p:stCondLst>
                                  <p:childTnLst>
                                    <p:set>
                                      <p:cBhvr>
                                        <p:cTn id="48" dur="1" fill="hold">
                                          <p:stCondLst>
                                            <p:cond delay="0"/>
                                          </p:stCondLst>
                                        </p:cTn>
                                        <p:tgtEl>
                                          <p:spTgt spid="14"/>
                                        </p:tgtEl>
                                        <p:attrNameLst>
                                          <p:attrName>style.visibility</p:attrName>
                                        </p:attrNameLst>
                                      </p:cBhvr>
                                      <p:to>
                                        <p:strVal val="visible"/>
                                      </p:to>
                                    </p:set>
                                    <p:anim calcmode="lin" valueType="num">
                                      <p:cBhvr additive="base">
                                        <p:cTn id="49" dur="450" fill="hold"/>
                                        <p:tgtEl>
                                          <p:spTgt spid="14"/>
                                        </p:tgtEl>
                                        <p:attrNameLst>
                                          <p:attrName>ppt_w</p:attrName>
                                        </p:attrNameLst>
                                      </p:cBhvr>
                                      <p:tavLst>
                                        <p:tav tm="0">
                                          <p:val>
                                            <p:strVal val="0"/>
                                          </p:val>
                                        </p:tav>
                                        <p:tav tm="70000">
                                          <p:val>
                                            <p:strVal val="#ppt_w*1.08"/>
                                          </p:val>
                                        </p:tav>
                                        <p:tav tm="100000">
                                          <p:val>
                                            <p:strVal val="#ppt_w"/>
                                          </p:val>
                                        </p:tav>
                                      </p:tavLst>
                                    </p:anim>
                                    <p:anim calcmode="lin" valueType="num">
                                      <p:cBhvr additive="base">
                                        <p:cTn id="50" dur="450" fill="hold"/>
                                        <p:tgtEl>
                                          <p:spTgt spid="14"/>
                                        </p:tgtEl>
                                        <p:attrNameLst>
                                          <p:attrName>ppt_h</p:attrName>
                                        </p:attrNameLst>
                                      </p:cBhvr>
                                      <p:tavLst>
                                        <p:tav tm="0">
                                          <p:val>
                                            <p:strVal val="0"/>
                                          </p:val>
                                        </p:tav>
                                        <p:tav tm="70000">
                                          <p:val>
                                            <p:strVal val="#ppt_h*1.08"/>
                                          </p:val>
                                        </p:tav>
                                        <p:tav tm="100000">
                                          <p:val>
                                            <p:strVal val="#ppt_h"/>
                                          </p:val>
                                        </p:tav>
                                      </p:tavLst>
                                    </p:anim>
                                    <p:animEffect transition="in" filter="fade">
                                      <p:cBhvr>
                                        <p:cTn id="51" dur="270" fill="hold"/>
                                        <p:tgtEl>
                                          <p:spTgt spid="14"/>
                                        </p:tgtEl>
                                      </p:cBhvr>
                                    </p:animEffect>
                                  </p:childTnLst>
                                </p:cTn>
                              </p:par>
                              <p:par>
                                <p:cTn id="52" presetID="53" presetClass="entr" presetSubtype="16" decel="100000" fill="hold" grpId="0" nodeType="withEffect">
                                  <p:stCondLst>
                                    <p:cond delay="2170"/>
                                  </p:stCondLst>
                                  <p:childTnLst>
                                    <p:set>
                                      <p:cBhvr>
                                        <p:cTn id="53" dur="1" fill="hold">
                                          <p:stCondLst>
                                            <p:cond delay="0"/>
                                          </p:stCondLst>
                                        </p:cTn>
                                        <p:tgtEl>
                                          <p:spTgt spid="15"/>
                                        </p:tgtEl>
                                        <p:attrNameLst>
                                          <p:attrName>style.visibility</p:attrName>
                                        </p:attrNameLst>
                                      </p:cBhvr>
                                      <p:to>
                                        <p:strVal val="visible"/>
                                      </p:to>
                                    </p:set>
                                    <p:anim calcmode="lin" valueType="num">
                                      <p:cBhvr additive="base">
                                        <p:cTn id="54" dur="450" fill="hold"/>
                                        <p:tgtEl>
                                          <p:spTgt spid="15"/>
                                        </p:tgtEl>
                                        <p:attrNameLst>
                                          <p:attrName>ppt_w</p:attrName>
                                        </p:attrNameLst>
                                      </p:cBhvr>
                                      <p:tavLst>
                                        <p:tav tm="0">
                                          <p:val>
                                            <p:strVal val="0"/>
                                          </p:val>
                                        </p:tav>
                                        <p:tav tm="70000">
                                          <p:val>
                                            <p:strVal val="#ppt_w*1.08"/>
                                          </p:val>
                                        </p:tav>
                                        <p:tav tm="100000">
                                          <p:val>
                                            <p:strVal val="#ppt_w"/>
                                          </p:val>
                                        </p:tav>
                                      </p:tavLst>
                                    </p:anim>
                                    <p:anim calcmode="lin" valueType="num">
                                      <p:cBhvr additive="base">
                                        <p:cTn id="55" dur="450" fill="hold"/>
                                        <p:tgtEl>
                                          <p:spTgt spid="15"/>
                                        </p:tgtEl>
                                        <p:attrNameLst>
                                          <p:attrName>ppt_h</p:attrName>
                                        </p:attrNameLst>
                                      </p:cBhvr>
                                      <p:tavLst>
                                        <p:tav tm="0">
                                          <p:val>
                                            <p:strVal val="0"/>
                                          </p:val>
                                        </p:tav>
                                        <p:tav tm="70000">
                                          <p:val>
                                            <p:strVal val="#ppt_h*1.08"/>
                                          </p:val>
                                        </p:tav>
                                        <p:tav tm="100000">
                                          <p:val>
                                            <p:strVal val="#ppt_h"/>
                                          </p:val>
                                        </p:tav>
                                      </p:tavLst>
                                    </p:anim>
                                    <p:animEffect transition="in" filter="fade">
                                      <p:cBhvr>
                                        <p:cTn id="56" dur="270" fill="hold"/>
                                        <p:tgtEl>
                                          <p:spTgt spid="15"/>
                                        </p:tgtEl>
                                      </p:cBhvr>
                                    </p:animEffect>
                                  </p:childTnLst>
                                </p:cTn>
                              </p:par>
                              <p:par>
                                <p:cTn id="57" presetID="53" presetClass="entr" presetSubtype="16" decel="100000" fill="hold" grpId="0" nodeType="withEffect">
                                  <p:stCondLst>
                                    <p:cond delay="2290"/>
                                  </p:stCondLst>
                                  <p:childTnLst>
                                    <p:set>
                                      <p:cBhvr>
                                        <p:cTn id="58" dur="1" fill="hold">
                                          <p:stCondLst>
                                            <p:cond delay="0"/>
                                          </p:stCondLst>
                                        </p:cTn>
                                        <p:tgtEl>
                                          <p:spTgt spid="16"/>
                                        </p:tgtEl>
                                        <p:attrNameLst>
                                          <p:attrName>style.visibility</p:attrName>
                                        </p:attrNameLst>
                                      </p:cBhvr>
                                      <p:to>
                                        <p:strVal val="visible"/>
                                      </p:to>
                                    </p:set>
                                    <p:anim calcmode="lin" valueType="num">
                                      <p:cBhvr additive="base">
                                        <p:cTn id="59" dur="450" fill="hold"/>
                                        <p:tgtEl>
                                          <p:spTgt spid="16"/>
                                        </p:tgtEl>
                                        <p:attrNameLst>
                                          <p:attrName>ppt_w</p:attrName>
                                        </p:attrNameLst>
                                      </p:cBhvr>
                                      <p:tavLst>
                                        <p:tav tm="0">
                                          <p:val>
                                            <p:strVal val="0"/>
                                          </p:val>
                                        </p:tav>
                                        <p:tav tm="70000">
                                          <p:val>
                                            <p:strVal val="#ppt_w*1.08"/>
                                          </p:val>
                                        </p:tav>
                                        <p:tav tm="100000">
                                          <p:val>
                                            <p:strVal val="#ppt_w"/>
                                          </p:val>
                                        </p:tav>
                                      </p:tavLst>
                                    </p:anim>
                                    <p:anim calcmode="lin" valueType="num">
                                      <p:cBhvr additive="base">
                                        <p:cTn id="60" dur="450" fill="hold"/>
                                        <p:tgtEl>
                                          <p:spTgt spid="16"/>
                                        </p:tgtEl>
                                        <p:attrNameLst>
                                          <p:attrName>ppt_h</p:attrName>
                                        </p:attrNameLst>
                                      </p:cBhvr>
                                      <p:tavLst>
                                        <p:tav tm="0">
                                          <p:val>
                                            <p:strVal val="0"/>
                                          </p:val>
                                        </p:tav>
                                        <p:tav tm="70000">
                                          <p:val>
                                            <p:strVal val="#ppt_h*1.08"/>
                                          </p:val>
                                        </p:tav>
                                        <p:tav tm="100000">
                                          <p:val>
                                            <p:strVal val="#ppt_h"/>
                                          </p:val>
                                        </p:tav>
                                      </p:tavLst>
                                    </p:anim>
                                    <p:animEffect transition="in" filter="fade">
                                      <p:cBhvr>
                                        <p:cTn id="61" dur="270" fill="hold"/>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14" grpId="0" animBg="1"/>
      <p:bldP spid="15" grpId="0" animBg="1"/>
      <p:bldP spid="1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9CD848"/>
                </a:solidFill>
                <a:latin typeface="Segoe UI Semibold"/>
              </a:rPr>
              <a:t>BOAS-VINDAS</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O que você vai levar deste treinamento</a:t>
            </a:r>
          </a:p>
        </p:txBody>
      </p:sp>
      <p:sp>
        <p:nvSpPr>
          <p:cNvPr id="6" name="Rounded Rectangle 5"/>
          <p:cNvSpPr/>
          <p:nvPr/>
        </p:nvSpPr>
        <p:spPr>
          <a:xfrm>
            <a:off x="548640" y="1691640"/>
            <a:ext cx="3474720" cy="301752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68680" y="2880360"/>
            <a:ext cx="2926080" cy="457200"/>
          </a:xfrm>
          <a:prstGeom prst="rect">
            <a:avLst/>
          </a:prstGeom>
          <a:noFill/>
        </p:spPr>
        <p:txBody>
          <a:bodyPr wrap="square" lIns="36576" tIns="18288" rIns="36576" bIns="18288" anchor="t">
            <a:spAutoFit/>
          </a:bodyPr>
          <a:lstStyle/>
          <a:p>
            <a:pPr algn="l"/>
            <a:r>
              <a:rPr sz="2000" b="1" i="0">
                <a:solidFill>
                  <a:srgbClr val="F2F2EC"/>
                </a:solidFill>
                <a:latin typeface="Segoe UI Semibold"/>
              </a:rPr>
              <a:t>Um método</a:t>
            </a:r>
          </a:p>
        </p:txBody>
      </p:sp>
      <p:sp>
        <p:nvSpPr>
          <p:cNvPr id="8" name="TextBox 7"/>
          <p:cNvSpPr txBox="1"/>
          <p:nvPr/>
        </p:nvSpPr>
        <p:spPr>
          <a:xfrm>
            <a:off x="868680" y="3383280"/>
            <a:ext cx="2926080" cy="1280160"/>
          </a:xfrm>
          <a:prstGeom prst="rect">
            <a:avLst/>
          </a:prstGeom>
          <a:noFill/>
        </p:spPr>
        <p:txBody>
          <a:bodyPr wrap="square" lIns="36576" tIns="18288" rIns="36576" bIns="18288" anchor="t">
            <a:spAutoFit/>
          </a:bodyPr>
          <a:lstStyle/>
          <a:p>
            <a:pPr algn="l"/>
            <a:r>
              <a:rPr sz="1400" b="0" i="0">
                <a:solidFill>
                  <a:srgbClr val="B4B8B0"/>
                </a:solidFill>
                <a:latin typeface="Segoe UI"/>
              </a:rPr>
              <a:t>Um passo a passo para resolver problemas complexos com foco no cliente.</a:t>
            </a:r>
          </a:p>
        </p:txBody>
      </p:sp>
      <p:sp>
        <p:nvSpPr>
          <p:cNvPr id="9" name="Oval 8"/>
          <p:cNvSpPr/>
          <p:nvPr/>
        </p:nvSpPr>
        <p:spPr>
          <a:xfrm>
            <a:off x="822960" y="2011679"/>
            <a:ext cx="640080" cy="640080"/>
          </a:xfrm>
          <a:prstGeom prst="ellipse">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800" b="1" i="0">
                <a:solidFill>
                  <a:srgbClr val="1A1A1A"/>
                </a:solidFill>
                <a:latin typeface="Segoe UI Semibold"/>
              </a:rPr>
              <a:t>1</a:t>
            </a:r>
          </a:p>
        </p:txBody>
      </p:sp>
      <p:sp>
        <p:nvSpPr>
          <p:cNvPr id="10" name="Rounded Rectangle 9"/>
          <p:cNvSpPr/>
          <p:nvPr/>
        </p:nvSpPr>
        <p:spPr>
          <a:xfrm>
            <a:off x="4297679" y="1691640"/>
            <a:ext cx="3474720" cy="301752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4617719" y="2880360"/>
            <a:ext cx="2926080" cy="457200"/>
          </a:xfrm>
          <a:prstGeom prst="rect">
            <a:avLst/>
          </a:prstGeom>
          <a:noFill/>
        </p:spPr>
        <p:txBody>
          <a:bodyPr wrap="square" lIns="36576" tIns="18288" rIns="36576" bIns="18288" anchor="t">
            <a:spAutoFit/>
          </a:bodyPr>
          <a:lstStyle/>
          <a:p>
            <a:pPr algn="l"/>
            <a:r>
              <a:rPr sz="2000" b="1" i="0">
                <a:solidFill>
                  <a:srgbClr val="F2F2EC"/>
                </a:solidFill>
                <a:latin typeface="Segoe UI Semibold"/>
              </a:rPr>
              <a:t>Ferramentas prontas</a:t>
            </a:r>
          </a:p>
        </p:txBody>
      </p:sp>
      <p:sp>
        <p:nvSpPr>
          <p:cNvPr id="12" name="TextBox 11"/>
          <p:cNvSpPr txBox="1"/>
          <p:nvPr/>
        </p:nvSpPr>
        <p:spPr>
          <a:xfrm>
            <a:off x="4617719" y="3383280"/>
            <a:ext cx="2926080" cy="1280160"/>
          </a:xfrm>
          <a:prstGeom prst="rect">
            <a:avLst/>
          </a:prstGeom>
          <a:noFill/>
        </p:spPr>
        <p:txBody>
          <a:bodyPr wrap="square" lIns="36576" tIns="18288" rIns="36576" bIns="18288" anchor="t">
            <a:spAutoFit/>
          </a:bodyPr>
          <a:lstStyle/>
          <a:p>
            <a:pPr algn="l"/>
            <a:r>
              <a:rPr sz="1400" b="0" i="0">
                <a:solidFill>
                  <a:srgbClr val="B4B8B0"/>
                </a:solidFill>
                <a:latin typeface="Segoe UI"/>
              </a:rPr>
              <a:t>Matriz CSD, persona, mapa de empatia, Crazy 8s, matriz de priorização e mais.</a:t>
            </a:r>
          </a:p>
        </p:txBody>
      </p:sp>
      <p:sp>
        <p:nvSpPr>
          <p:cNvPr id="13" name="Oval 12"/>
          <p:cNvSpPr/>
          <p:nvPr/>
        </p:nvSpPr>
        <p:spPr>
          <a:xfrm>
            <a:off x="4572000" y="2011679"/>
            <a:ext cx="640080" cy="640080"/>
          </a:xfrm>
          <a:prstGeom prst="ellipse">
            <a:avLst/>
          </a:prstGeom>
          <a:solidFill>
            <a:srgbClr val="2FA38A"/>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800" b="1" i="0">
                <a:solidFill>
                  <a:srgbClr val="1A1A1A"/>
                </a:solidFill>
                <a:latin typeface="Segoe UI Semibold"/>
              </a:rPr>
              <a:t>2</a:t>
            </a:r>
          </a:p>
        </p:txBody>
      </p:sp>
      <p:sp>
        <p:nvSpPr>
          <p:cNvPr id="14" name="Rounded Rectangle 13"/>
          <p:cNvSpPr/>
          <p:nvPr/>
        </p:nvSpPr>
        <p:spPr>
          <a:xfrm>
            <a:off x="8046719" y="1691640"/>
            <a:ext cx="3474720" cy="301752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366759" y="2880360"/>
            <a:ext cx="2926080" cy="457200"/>
          </a:xfrm>
          <a:prstGeom prst="rect">
            <a:avLst/>
          </a:prstGeom>
          <a:noFill/>
        </p:spPr>
        <p:txBody>
          <a:bodyPr wrap="square" lIns="36576" tIns="18288" rIns="36576" bIns="18288" anchor="t">
            <a:spAutoFit/>
          </a:bodyPr>
          <a:lstStyle/>
          <a:p>
            <a:pPr algn="l"/>
            <a:r>
              <a:rPr sz="2000" b="1" i="0">
                <a:solidFill>
                  <a:srgbClr val="F2F2EC"/>
                </a:solidFill>
                <a:latin typeface="Segoe UI Semibold"/>
              </a:rPr>
              <a:t>Um projeto real</a:t>
            </a:r>
          </a:p>
        </p:txBody>
      </p:sp>
      <p:sp>
        <p:nvSpPr>
          <p:cNvPr id="16" name="TextBox 15"/>
          <p:cNvSpPr txBox="1"/>
          <p:nvPr/>
        </p:nvSpPr>
        <p:spPr>
          <a:xfrm>
            <a:off x="8366759" y="3383280"/>
            <a:ext cx="2926080" cy="1280160"/>
          </a:xfrm>
          <a:prstGeom prst="rect">
            <a:avLst/>
          </a:prstGeom>
          <a:noFill/>
        </p:spPr>
        <p:txBody>
          <a:bodyPr wrap="square" lIns="36576" tIns="18288" rIns="36576" bIns="18288" anchor="t">
            <a:spAutoFit/>
          </a:bodyPr>
          <a:lstStyle/>
          <a:p>
            <a:pPr algn="l"/>
            <a:r>
              <a:rPr sz="1400" b="0" i="0">
                <a:solidFill>
                  <a:srgbClr val="B4B8B0"/>
                </a:solidFill>
                <a:latin typeface="Segoe UI"/>
              </a:rPr>
              <a:t>Sua equipe aplica tudo em um desafio da própria empresa.</a:t>
            </a:r>
          </a:p>
        </p:txBody>
      </p:sp>
      <p:sp>
        <p:nvSpPr>
          <p:cNvPr id="17" name="Oval 16"/>
          <p:cNvSpPr/>
          <p:nvPr/>
        </p:nvSpPr>
        <p:spPr>
          <a:xfrm>
            <a:off x="8321040" y="2011679"/>
            <a:ext cx="640080" cy="640080"/>
          </a:xfrm>
          <a:prstGeom prst="ellipse">
            <a:avLst/>
          </a:prstGeom>
          <a:solidFill>
            <a:srgbClr val="2A9FC0"/>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800" b="1" i="0">
                <a:solidFill>
                  <a:srgbClr val="1A1A1A"/>
                </a:solidFill>
                <a:latin typeface="Segoe UI Semibold"/>
              </a:rPr>
              <a:t>3</a:t>
            </a:r>
          </a:p>
        </p:txBody>
      </p:sp>
      <p:sp>
        <p:nvSpPr>
          <p:cNvPr id="18" name="Rounded Rectangle 17">
            <a:hlinkClick r:id="rId4" action="ppaction://hlinksldjump"/>
          </p:cNvPr>
          <p:cNvSpPr/>
          <p:nvPr/>
        </p:nvSpPr>
        <p:spPr>
          <a:xfrm>
            <a:off x="548640" y="5074920"/>
            <a:ext cx="3108960" cy="502920"/>
          </a:xfrm>
          <a:prstGeom prst="roundRect">
            <a:avLst>
              <a:gd name="adj" fmla="val 50000"/>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400" b="1" i="0">
                <a:solidFill>
                  <a:srgbClr val="1A1A1A"/>
                </a:solidFill>
                <a:latin typeface="Segoe UI Semibold"/>
              </a:rPr>
              <a:t>▶  Vídeo de boas-vindas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42" presetClass="entr" presetSubtype="0" decel="100000" fill="hold" grpId="0" nodeType="withEffect">
                                  <p:stCondLst>
                                    <p:cond delay="2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50" fill="hold"/>
                                        <p:tgtEl>
                                          <p:spTgt spid="6"/>
                                        </p:tgtEl>
                                      </p:cBhvr>
                                    </p:animEffect>
                                    <p:anim calcmode="lin" valueType="num">
                                      <p:cBhvr additive="base">
                                        <p:cTn id="11" dur="650" fill="hold"/>
                                        <p:tgtEl>
                                          <p:spTgt spid="6"/>
                                        </p:tgtEl>
                                        <p:attrNameLst>
                                          <p:attrName>ppt_x</p:attrName>
                                        </p:attrNameLst>
                                      </p:cBhvr>
                                      <p:tavLst>
                                        <p:tav tm="0">
                                          <p:val>
                                            <p:strVal val="#ppt_x"/>
                                          </p:val>
                                        </p:tav>
                                        <p:tav tm="100000">
                                          <p:val>
                                            <p:strVal val="#ppt_x"/>
                                          </p:val>
                                        </p:tav>
                                      </p:tavLst>
                                    </p:anim>
                                    <p:anim calcmode="lin" valueType="num">
                                      <p:cBhvr additive="base">
                                        <p:cTn id="12" dur="650" fill="hold"/>
                                        <p:tgtEl>
                                          <p:spTgt spid="6"/>
                                        </p:tgtEl>
                                        <p:attrNameLst>
                                          <p:attrName>ppt_y</p:attrName>
                                        </p:attrNameLst>
                                      </p:cBhvr>
                                      <p:tavLst>
                                        <p:tav tm="0">
                                          <p:val>
                                            <p:strVal val="#ppt_y+.06"/>
                                          </p:val>
                                        </p:tav>
                                        <p:tav tm="100000">
                                          <p:val>
                                            <p:strVal val="#ppt_y"/>
                                          </p:val>
                                        </p:tav>
                                      </p:tavLst>
                                    </p:anim>
                                  </p:childTnLst>
                                </p:cTn>
                              </p:par>
                              <p:par>
                                <p:cTn id="13" presetID="42" presetClass="entr" presetSubtype="0" decel="100000" fill="hold" grpId="0" nodeType="withEffect">
                                  <p:stCondLst>
                                    <p:cond delay="20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fill="hold"/>
                                        <p:tgtEl>
                                          <p:spTgt spid="7"/>
                                        </p:tgtEl>
                                      </p:cBhvr>
                                    </p:animEffect>
                                    <p:anim calcmode="lin" valueType="num">
                                      <p:cBhvr additive="base">
                                        <p:cTn id="16" dur="650" fill="hold"/>
                                        <p:tgtEl>
                                          <p:spTgt spid="7"/>
                                        </p:tgtEl>
                                        <p:attrNameLst>
                                          <p:attrName>ppt_x</p:attrName>
                                        </p:attrNameLst>
                                      </p:cBhvr>
                                      <p:tavLst>
                                        <p:tav tm="0">
                                          <p:val>
                                            <p:strVal val="#ppt_x"/>
                                          </p:val>
                                        </p:tav>
                                        <p:tav tm="100000">
                                          <p:val>
                                            <p:strVal val="#ppt_x"/>
                                          </p:val>
                                        </p:tav>
                                      </p:tavLst>
                                    </p:anim>
                                    <p:anim calcmode="lin" valueType="num">
                                      <p:cBhvr additive="base">
                                        <p:cTn id="17" dur="650" fill="hold"/>
                                        <p:tgtEl>
                                          <p:spTgt spid="7"/>
                                        </p:tgtEl>
                                        <p:attrNameLst>
                                          <p:attrName>ppt_y</p:attrName>
                                        </p:attrNameLst>
                                      </p:cBhvr>
                                      <p:tavLst>
                                        <p:tav tm="0">
                                          <p:val>
                                            <p:strVal val="#ppt_y+.06"/>
                                          </p:val>
                                        </p:tav>
                                        <p:tav tm="100000">
                                          <p:val>
                                            <p:strVal val="#ppt_y"/>
                                          </p:val>
                                        </p:tav>
                                      </p:tavLst>
                                    </p:anim>
                                  </p:childTnLst>
                                </p:cTn>
                              </p:par>
                              <p:par>
                                <p:cTn id="18" presetID="42" presetClass="entr" presetSubtype="0" decel="100000" fill="hold" grpId="0" nodeType="withEffect">
                                  <p:stCondLst>
                                    <p:cond delay="20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650" fill="hold"/>
                                        <p:tgtEl>
                                          <p:spTgt spid="8"/>
                                        </p:tgtEl>
                                      </p:cBhvr>
                                    </p:animEffect>
                                    <p:anim calcmode="lin" valueType="num">
                                      <p:cBhvr additive="base">
                                        <p:cTn id="21" dur="650" fill="hold"/>
                                        <p:tgtEl>
                                          <p:spTgt spid="8"/>
                                        </p:tgtEl>
                                        <p:attrNameLst>
                                          <p:attrName>ppt_x</p:attrName>
                                        </p:attrNameLst>
                                      </p:cBhvr>
                                      <p:tavLst>
                                        <p:tav tm="0">
                                          <p:val>
                                            <p:strVal val="#ppt_x"/>
                                          </p:val>
                                        </p:tav>
                                        <p:tav tm="100000">
                                          <p:val>
                                            <p:strVal val="#ppt_x"/>
                                          </p:val>
                                        </p:tav>
                                      </p:tavLst>
                                    </p:anim>
                                    <p:anim calcmode="lin" valueType="num">
                                      <p:cBhvr additive="base">
                                        <p:cTn id="22" dur="650" fill="hold"/>
                                        <p:tgtEl>
                                          <p:spTgt spid="8"/>
                                        </p:tgtEl>
                                        <p:attrNameLst>
                                          <p:attrName>ppt_y</p:attrName>
                                        </p:attrNameLst>
                                      </p:cBhvr>
                                      <p:tavLst>
                                        <p:tav tm="0">
                                          <p:val>
                                            <p:strVal val="#ppt_y+.06"/>
                                          </p:val>
                                        </p:tav>
                                        <p:tav tm="100000">
                                          <p:val>
                                            <p:strVal val="#ppt_y"/>
                                          </p:val>
                                        </p:tav>
                                      </p:tavLst>
                                    </p:anim>
                                  </p:childTnLst>
                                </p:cTn>
                              </p:par>
                              <p:par>
                                <p:cTn id="23" presetID="53" presetClass="entr" presetSubtype="16" decel="100000" fill="hold" grpId="0" nodeType="withEffect">
                                  <p:stCondLst>
                                    <p:cond delay="35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450" fill="hold"/>
                                        <p:tgtEl>
                                          <p:spTgt spid="9"/>
                                        </p:tgtEl>
                                        <p:attrNameLst>
                                          <p:attrName>ppt_w</p:attrName>
                                        </p:attrNameLst>
                                      </p:cBhvr>
                                      <p:tavLst>
                                        <p:tav tm="0">
                                          <p:val>
                                            <p:strVal val="0"/>
                                          </p:val>
                                        </p:tav>
                                        <p:tav tm="70000">
                                          <p:val>
                                            <p:strVal val="#ppt_w*1.08"/>
                                          </p:val>
                                        </p:tav>
                                        <p:tav tm="100000">
                                          <p:val>
                                            <p:strVal val="#ppt_w"/>
                                          </p:val>
                                        </p:tav>
                                      </p:tavLst>
                                    </p:anim>
                                    <p:anim calcmode="lin" valueType="num">
                                      <p:cBhvr additive="base">
                                        <p:cTn id="26" dur="450" fill="hold"/>
                                        <p:tgtEl>
                                          <p:spTgt spid="9"/>
                                        </p:tgtEl>
                                        <p:attrNameLst>
                                          <p:attrName>ppt_h</p:attrName>
                                        </p:attrNameLst>
                                      </p:cBhvr>
                                      <p:tavLst>
                                        <p:tav tm="0">
                                          <p:val>
                                            <p:strVal val="0"/>
                                          </p:val>
                                        </p:tav>
                                        <p:tav tm="70000">
                                          <p:val>
                                            <p:strVal val="#ppt_h*1.08"/>
                                          </p:val>
                                        </p:tav>
                                        <p:tav tm="100000">
                                          <p:val>
                                            <p:strVal val="#ppt_h"/>
                                          </p:val>
                                        </p:tav>
                                      </p:tavLst>
                                    </p:anim>
                                    <p:animEffect transition="in" filter="fade">
                                      <p:cBhvr>
                                        <p:cTn id="27" dur="270" fill="hold"/>
                                        <p:tgtEl>
                                          <p:spTgt spid="9"/>
                                        </p:tgtEl>
                                      </p:cBhvr>
                                    </p:animEffect>
                                  </p:childTnLst>
                                </p:cTn>
                              </p:par>
                              <p:par>
                                <p:cTn id="28" presetID="42" presetClass="entr" presetSubtype="0" decel="100000" fill="hold" grpId="0" nodeType="withEffect">
                                  <p:stCondLst>
                                    <p:cond delay="55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650" fill="hold"/>
                                        <p:tgtEl>
                                          <p:spTgt spid="10"/>
                                        </p:tgtEl>
                                      </p:cBhvr>
                                    </p:animEffect>
                                    <p:anim calcmode="lin" valueType="num">
                                      <p:cBhvr additive="base">
                                        <p:cTn id="31" dur="650" fill="hold"/>
                                        <p:tgtEl>
                                          <p:spTgt spid="10"/>
                                        </p:tgtEl>
                                        <p:attrNameLst>
                                          <p:attrName>ppt_x</p:attrName>
                                        </p:attrNameLst>
                                      </p:cBhvr>
                                      <p:tavLst>
                                        <p:tav tm="0">
                                          <p:val>
                                            <p:strVal val="#ppt_x"/>
                                          </p:val>
                                        </p:tav>
                                        <p:tav tm="100000">
                                          <p:val>
                                            <p:strVal val="#ppt_x"/>
                                          </p:val>
                                        </p:tav>
                                      </p:tavLst>
                                    </p:anim>
                                    <p:anim calcmode="lin" valueType="num">
                                      <p:cBhvr additive="base">
                                        <p:cTn id="32" dur="650" fill="hold"/>
                                        <p:tgtEl>
                                          <p:spTgt spid="10"/>
                                        </p:tgtEl>
                                        <p:attrNameLst>
                                          <p:attrName>ppt_y</p:attrName>
                                        </p:attrNameLst>
                                      </p:cBhvr>
                                      <p:tavLst>
                                        <p:tav tm="0">
                                          <p:val>
                                            <p:strVal val="#ppt_y+.06"/>
                                          </p:val>
                                        </p:tav>
                                        <p:tav tm="100000">
                                          <p:val>
                                            <p:strVal val="#ppt_y"/>
                                          </p:val>
                                        </p:tav>
                                      </p:tavLst>
                                    </p:anim>
                                  </p:childTnLst>
                                </p:cTn>
                              </p:par>
                              <p:par>
                                <p:cTn id="33" presetID="42" presetClass="entr" presetSubtype="0" decel="100000" fill="hold" grpId="0" nodeType="withEffect">
                                  <p:stCondLst>
                                    <p:cond delay="55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650" fill="hold"/>
                                        <p:tgtEl>
                                          <p:spTgt spid="11"/>
                                        </p:tgtEl>
                                      </p:cBhvr>
                                    </p:animEffect>
                                    <p:anim calcmode="lin" valueType="num">
                                      <p:cBhvr additive="base">
                                        <p:cTn id="36" dur="650" fill="hold"/>
                                        <p:tgtEl>
                                          <p:spTgt spid="11"/>
                                        </p:tgtEl>
                                        <p:attrNameLst>
                                          <p:attrName>ppt_x</p:attrName>
                                        </p:attrNameLst>
                                      </p:cBhvr>
                                      <p:tavLst>
                                        <p:tav tm="0">
                                          <p:val>
                                            <p:strVal val="#ppt_x"/>
                                          </p:val>
                                        </p:tav>
                                        <p:tav tm="100000">
                                          <p:val>
                                            <p:strVal val="#ppt_x"/>
                                          </p:val>
                                        </p:tav>
                                      </p:tavLst>
                                    </p:anim>
                                    <p:anim calcmode="lin" valueType="num">
                                      <p:cBhvr additive="base">
                                        <p:cTn id="37" dur="650" fill="hold"/>
                                        <p:tgtEl>
                                          <p:spTgt spid="11"/>
                                        </p:tgtEl>
                                        <p:attrNameLst>
                                          <p:attrName>ppt_y</p:attrName>
                                        </p:attrNameLst>
                                      </p:cBhvr>
                                      <p:tavLst>
                                        <p:tav tm="0">
                                          <p:val>
                                            <p:strVal val="#ppt_y+.06"/>
                                          </p:val>
                                        </p:tav>
                                        <p:tav tm="100000">
                                          <p:val>
                                            <p:strVal val="#ppt_y"/>
                                          </p:val>
                                        </p:tav>
                                      </p:tavLst>
                                    </p:anim>
                                  </p:childTnLst>
                                </p:cTn>
                              </p:par>
                              <p:par>
                                <p:cTn id="38" presetID="42" presetClass="entr" presetSubtype="0" decel="100000" fill="hold" grpId="0" nodeType="withEffect">
                                  <p:stCondLst>
                                    <p:cond delay="55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650" fill="hold"/>
                                        <p:tgtEl>
                                          <p:spTgt spid="12"/>
                                        </p:tgtEl>
                                      </p:cBhvr>
                                    </p:animEffect>
                                    <p:anim calcmode="lin" valueType="num">
                                      <p:cBhvr additive="base">
                                        <p:cTn id="41" dur="650" fill="hold"/>
                                        <p:tgtEl>
                                          <p:spTgt spid="12"/>
                                        </p:tgtEl>
                                        <p:attrNameLst>
                                          <p:attrName>ppt_x</p:attrName>
                                        </p:attrNameLst>
                                      </p:cBhvr>
                                      <p:tavLst>
                                        <p:tav tm="0">
                                          <p:val>
                                            <p:strVal val="#ppt_x"/>
                                          </p:val>
                                        </p:tav>
                                        <p:tav tm="100000">
                                          <p:val>
                                            <p:strVal val="#ppt_x"/>
                                          </p:val>
                                        </p:tav>
                                      </p:tavLst>
                                    </p:anim>
                                    <p:anim calcmode="lin" valueType="num">
                                      <p:cBhvr additive="base">
                                        <p:cTn id="42" dur="650" fill="hold"/>
                                        <p:tgtEl>
                                          <p:spTgt spid="12"/>
                                        </p:tgtEl>
                                        <p:attrNameLst>
                                          <p:attrName>ppt_y</p:attrName>
                                        </p:attrNameLst>
                                      </p:cBhvr>
                                      <p:tavLst>
                                        <p:tav tm="0">
                                          <p:val>
                                            <p:strVal val="#ppt_y+.06"/>
                                          </p:val>
                                        </p:tav>
                                        <p:tav tm="100000">
                                          <p:val>
                                            <p:strVal val="#ppt_y"/>
                                          </p:val>
                                        </p:tav>
                                      </p:tavLst>
                                    </p:anim>
                                  </p:childTnLst>
                                </p:cTn>
                              </p:par>
                              <p:par>
                                <p:cTn id="43" presetID="53" presetClass="entr" presetSubtype="16" decel="100000" fill="hold" grpId="0" nodeType="withEffect">
                                  <p:stCondLst>
                                    <p:cond delay="700"/>
                                  </p:stCondLst>
                                  <p:childTnLst>
                                    <p:set>
                                      <p:cBhvr>
                                        <p:cTn id="44" dur="1" fill="hold">
                                          <p:stCondLst>
                                            <p:cond delay="0"/>
                                          </p:stCondLst>
                                        </p:cTn>
                                        <p:tgtEl>
                                          <p:spTgt spid="13"/>
                                        </p:tgtEl>
                                        <p:attrNameLst>
                                          <p:attrName>style.visibility</p:attrName>
                                        </p:attrNameLst>
                                      </p:cBhvr>
                                      <p:to>
                                        <p:strVal val="visible"/>
                                      </p:to>
                                    </p:set>
                                    <p:anim calcmode="lin" valueType="num">
                                      <p:cBhvr additive="base">
                                        <p:cTn id="45" dur="450" fill="hold"/>
                                        <p:tgtEl>
                                          <p:spTgt spid="13"/>
                                        </p:tgtEl>
                                        <p:attrNameLst>
                                          <p:attrName>ppt_w</p:attrName>
                                        </p:attrNameLst>
                                      </p:cBhvr>
                                      <p:tavLst>
                                        <p:tav tm="0">
                                          <p:val>
                                            <p:strVal val="0"/>
                                          </p:val>
                                        </p:tav>
                                        <p:tav tm="70000">
                                          <p:val>
                                            <p:strVal val="#ppt_w*1.08"/>
                                          </p:val>
                                        </p:tav>
                                        <p:tav tm="100000">
                                          <p:val>
                                            <p:strVal val="#ppt_w"/>
                                          </p:val>
                                        </p:tav>
                                      </p:tavLst>
                                    </p:anim>
                                    <p:anim calcmode="lin" valueType="num">
                                      <p:cBhvr additive="base">
                                        <p:cTn id="46" dur="450" fill="hold"/>
                                        <p:tgtEl>
                                          <p:spTgt spid="13"/>
                                        </p:tgtEl>
                                        <p:attrNameLst>
                                          <p:attrName>ppt_h</p:attrName>
                                        </p:attrNameLst>
                                      </p:cBhvr>
                                      <p:tavLst>
                                        <p:tav tm="0">
                                          <p:val>
                                            <p:strVal val="0"/>
                                          </p:val>
                                        </p:tav>
                                        <p:tav tm="70000">
                                          <p:val>
                                            <p:strVal val="#ppt_h*1.08"/>
                                          </p:val>
                                        </p:tav>
                                        <p:tav tm="100000">
                                          <p:val>
                                            <p:strVal val="#ppt_h"/>
                                          </p:val>
                                        </p:tav>
                                      </p:tavLst>
                                    </p:anim>
                                    <p:animEffect transition="in" filter="fade">
                                      <p:cBhvr>
                                        <p:cTn id="47" dur="270" fill="hold"/>
                                        <p:tgtEl>
                                          <p:spTgt spid="13"/>
                                        </p:tgtEl>
                                      </p:cBhvr>
                                    </p:animEffect>
                                  </p:childTnLst>
                                </p:cTn>
                              </p:par>
                              <p:par>
                                <p:cTn id="48" presetID="42" presetClass="entr" presetSubtype="0" decel="100000" fill="hold" grpId="0" nodeType="withEffect">
                                  <p:stCondLst>
                                    <p:cond delay="90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650" fill="hold"/>
                                        <p:tgtEl>
                                          <p:spTgt spid="14"/>
                                        </p:tgtEl>
                                      </p:cBhvr>
                                    </p:animEffect>
                                    <p:anim calcmode="lin" valueType="num">
                                      <p:cBhvr additive="base">
                                        <p:cTn id="51" dur="650" fill="hold"/>
                                        <p:tgtEl>
                                          <p:spTgt spid="14"/>
                                        </p:tgtEl>
                                        <p:attrNameLst>
                                          <p:attrName>ppt_x</p:attrName>
                                        </p:attrNameLst>
                                      </p:cBhvr>
                                      <p:tavLst>
                                        <p:tav tm="0">
                                          <p:val>
                                            <p:strVal val="#ppt_x"/>
                                          </p:val>
                                        </p:tav>
                                        <p:tav tm="100000">
                                          <p:val>
                                            <p:strVal val="#ppt_x"/>
                                          </p:val>
                                        </p:tav>
                                      </p:tavLst>
                                    </p:anim>
                                    <p:anim calcmode="lin" valueType="num">
                                      <p:cBhvr additive="base">
                                        <p:cTn id="52" dur="650" fill="hold"/>
                                        <p:tgtEl>
                                          <p:spTgt spid="14"/>
                                        </p:tgtEl>
                                        <p:attrNameLst>
                                          <p:attrName>ppt_y</p:attrName>
                                        </p:attrNameLst>
                                      </p:cBhvr>
                                      <p:tavLst>
                                        <p:tav tm="0">
                                          <p:val>
                                            <p:strVal val="#ppt_y+.06"/>
                                          </p:val>
                                        </p:tav>
                                        <p:tav tm="100000">
                                          <p:val>
                                            <p:strVal val="#ppt_y"/>
                                          </p:val>
                                        </p:tav>
                                      </p:tavLst>
                                    </p:anim>
                                  </p:childTnLst>
                                </p:cTn>
                              </p:par>
                              <p:par>
                                <p:cTn id="53" presetID="42" presetClass="entr" presetSubtype="0" decel="100000" fill="hold" grpId="0" nodeType="withEffect">
                                  <p:stCondLst>
                                    <p:cond delay="90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650" fill="hold"/>
                                        <p:tgtEl>
                                          <p:spTgt spid="15"/>
                                        </p:tgtEl>
                                      </p:cBhvr>
                                    </p:animEffect>
                                    <p:anim calcmode="lin" valueType="num">
                                      <p:cBhvr additive="base">
                                        <p:cTn id="56" dur="650" fill="hold"/>
                                        <p:tgtEl>
                                          <p:spTgt spid="15"/>
                                        </p:tgtEl>
                                        <p:attrNameLst>
                                          <p:attrName>ppt_x</p:attrName>
                                        </p:attrNameLst>
                                      </p:cBhvr>
                                      <p:tavLst>
                                        <p:tav tm="0">
                                          <p:val>
                                            <p:strVal val="#ppt_x"/>
                                          </p:val>
                                        </p:tav>
                                        <p:tav tm="100000">
                                          <p:val>
                                            <p:strVal val="#ppt_x"/>
                                          </p:val>
                                        </p:tav>
                                      </p:tavLst>
                                    </p:anim>
                                    <p:anim calcmode="lin" valueType="num">
                                      <p:cBhvr additive="base">
                                        <p:cTn id="57" dur="650" fill="hold"/>
                                        <p:tgtEl>
                                          <p:spTgt spid="15"/>
                                        </p:tgtEl>
                                        <p:attrNameLst>
                                          <p:attrName>ppt_y</p:attrName>
                                        </p:attrNameLst>
                                      </p:cBhvr>
                                      <p:tavLst>
                                        <p:tav tm="0">
                                          <p:val>
                                            <p:strVal val="#ppt_y+.06"/>
                                          </p:val>
                                        </p:tav>
                                        <p:tav tm="100000">
                                          <p:val>
                                            <p:strVal val="#ppt_y"/>
                                          </p:val>
                                        </p:tav>
                                      </p:tavLst>
                                    </p:anim>
                                  </p:childTnLst>
                                </p:cTn>
                              </p:par>
                              <p:par>
                                <p:cTn id="58" presetID="42" presetClass="entr" presetSubtype="0" decel="100000" fill="hold" grpId="0" nodeType="withEffect">
                                  <p:stCondLst>
                                    <p:cond delay="90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650" fill="hold"/>
                                        <p:tgtEl>
                                          <p:spTgt spid="16"/>
                                        </p:tgtEl>
                                      </p:cBhvr>
                                    </p:animEffect>
                                    <p:anim calcmode="lin" valueType="num">
                                      <p:cBhvr additive="base">
                                        <p:cTn id="61" dur="650" fill="hold"/>
                                        <p:tgtEl>
                                          <p:spTgt spid="16"/>
                                        </p:tgtEl>
                                        <p:attrNameLst>
                                          <p:attrName>ppt_x</p:attrName>
                                        </p:attrNameLst>
                                      </p:cBhvr>
                                      <p:tavLst>
                                        <p:tav tm="0">
                                          <p:val>
                                            <p:strVal val="#ppt_x"/>
                                          </p:val>
                                        </p:tav>
                                        <p:tav tm="100000">
                                          <p:val>
                                            <p:strVal val="#ppt_x"/>
                                          </p:val>
                                        </p:tav>
                                      </p:tavLst>
                                    </p:anim>
                                    <p:anim calcmode="lin" valueType="num">
                                      <p:cBhvr additive="base">
                                        <p:cTn id="62" dur="650" fill="hold"/>
                                        <p:tgtEl>
                                          <p:spTgt spid="16"/>
                                        </p:tgtEl>
                                        <p:attrNameLst>
                                          <p:attrName>ppt_y</p:attrName>
                                        </p:attrNameLst>
                                      </p:cBhvr>
                                      <p:tavLst>
                                        <p:tav tm="0">
                                          <p:val>
                                            <p:strVal val="#ppt_y+.06"/>
                                          </p:val>
                                        </p:tav>
                                        <p:tav tm="100000">
                                          <p:val>
                                            <p:strVal val="#ppt_y"/>
                                          </p:val>
                                        </p:tav>
                                      </p:tavLst>
                                    </p:anim>
                                  </p:childTnLst>
                                </p:cTn>
                              </p:par>
                              <p:par>
                                <p:cTn id="63" presetID="53" presetClass="entr" presetSubtype="16" decel="100000" fill="hold" grpId="0" nodeType="withEffect">
                                  <p:stCondLst>
                                    <p:cond delay="1050"/>
                                  </p:stCondLst>
                                  <p:childTnLst>
                                    <p:set>
                                      <p:cBhvr>
                                        <p:cTn id="64" dur="1" fill="hold">
                                          <p:stCondLst>
                                            <p:cond delay="0"/>
                                          </p:stCondLst>
                                        </p:cTn>
                                        <p:tgtEl>
                                          <p:spTgt spid="17"/>
                                        </p:tgtEl>
                                        <p:attrNameLst>
                                          <p:attrName>style.visibility</p:attrName>
                                        </p:attrNameLst>
                                      </p:cBhvr>
                                      <p:to>
                                        <p:strVal val="visible"/>
                                      </p:to>
                                    </p:set>
                                    <p:anim calcmode="lin" valueType="num">
                                      <p:cBhvr additive="base">
                                        <p:cTn id="65" dur="450" fill="hold"/>
                                        <p:tgtEl>
                                          <p:spTgt spid="17"/>
                                        </p:tgtEl>
                                        <p:attrNameLst>
                                          <p:attrName>ppt_w</p:attrName>
                                        </p:attrNameLst>
                                      </p:cBhvr>
                                      <p:tavLst>
                                        <p:tav tm="0">
                                          <p:val>
                                            <p:strVal val="0"/>
                                          </p:val>
                                        </p:tav>
                                        <p:tav tm="70000">
                                          <p:val>
                                            <p:strVal val="#ppt_w*1.08"/>
                                          </p:val>
                                        </p:tav>
                                        <p:tav tm="100000">
                                          <p:val>
                                            <p:strVal val="#ppt_w"/>
                                          </p:val>
                                        </p:tav>
                                      </p:tavLst>
                                    </p:anim>
                                    <p:anim calcmode="lin" valueType="num">
                                      <p:cBhvr additive="base">
                                        <p:cTn id="66" dur="450" fill="hold"/>
                                        <p:tgtEl>
                                          <p:spTgt spid="17"/>
                                        </p:tgtEl>
                                        <p:attrNameLst>
                                          <p:attrName>ppt_h</p:attrName>
                                        </p:attrNameLst>
                                      </p:cBhvr>
                                      <p:tavLst>
                                        <p:tav tm="0">
                                          <p:val>
                                            <p:strVal val="0"/>
                                          </p:val>
                                        </p:tav>
                                        <p:tav tm="70000">
                                          <p:val>
                                            <p:strVal val="#ppt_h*1.08"/>
                                          </p:val>
                                        </p:tav>
                                        <p:tav tm="100000">
                                          <p:val>
                                            <p:strVal val="#ppt_h"/>
                                          </p:val>
                                        </p:tav>
                                      </p:tavLst>
                                    </p:anim>
                                    <p:animEffect transition="in" filter="fade">
                                      <p:cBhvr>
                                        <p:cTn id="67" dur="270" fill="hold"/>
                                        <p:tgtEl>
                                          <p:spTgt spid="17"/>
                                        </p:tgtEl>
                                      </p:cBhvr>
                                    </p:animEffect>
                                  </p:childTnLst>
                                </p:cTn>
                              </p:par>
                              <p:par>
                                <p:cTn id="68" presetID="53" presetClass="entr" presetSubtype="16" decel="100000" fill="hold" grpId="0" nodeType="withEffect">
                                  <p:stCondLst>
                                    <p:cond delay="1850"/>
                                  </p:stCondLst>
                                  <p:childTnLst>
                                    <p:set>
                                      <p:cBhvr>
                                        <p:cTn id="69" dur="1" fill="hold">
                                          <p:stCondLst>
                                            <p:cond delay="0"/>
                                          </p:stCondLst>
                                        </p:cTn>
                                        <p:tgtEl>
                                          <p:spTgt spid="18"/>
                                        </p:tgtEl>
                                        <p:attrNameLst>
                                          <p:attrName>style.visibility</p:attrName>
                                        </p:attrNameLst>
                                      </p:cBhvr>
                                      <p:to>
                                        <p:strVal val="visible"/>
                                      </p:to>
                                    </p:set>
                                    <p:anim calcmode="lin" valueType="num">
                                      <p:cBhvr additive="base">
                                        <p:cTn id="70" dur="450" fill="hold"/>
                                        <p:tgtEl>
                                          <p:spTgt spid="18"/>
                                        </p:tgtEl>
                                        <p:attrNameLst>
                                          <p:attrName>ppt_w</p:attrName>
                                        </p:attrNameLst>
                                      </p:cBhvr>
                                      <p:tavLst>
                                        <p:tav tm="0">
                                          <p:val>
                                            <p:strVal val="0"/>
                                          </p:val>
                                        </p:tav>
                                        <p:tav tm="70000">
                                          <p:val>
                                            <p:strVal val="#ppt_w*1.08"/>
                                          </p:val>
                                        </p:tav>
                                        <p:tav tm="100000">
                                          <p:val>
                                            <p:strVal val="#ppt_w"/>
                                          </p:val>
                                        </p:tav>
                                      </p:tavLst>
                                    </p:anim>
                                    <p:anim calcmode="lin" valueType="num">
                                      <p:cBhvr additive="base">
                                        <p:cTn id="71" dur="450" fill="hold"/>
                                        <p:tgtEl>
                                          <p:spTgt spid="18"/>
                                        </p:tgtEl>
                                        <p:attrNameLst>
                                          <p:attrName>ppt_h</p:attrName>
                                        </p:attrNameLst>
                                      </p:cBhvr>
                                      <p:tavLst>
                                        <p:tav tm="0">
                                          <p:val>
                                            <p:strVal val="0"/>
                                          </p:val>
                                        </p:tav>
                                        <p:tav tm="70000">
                                          <p:val>
                                            <p:strVal val="#ppt_h*1.08"/>
                                          </p:val>
                                        </p:tav>
                                        <p:tav tm="100000">
                                          <p:val>
                                            <p:strVal val="#ppt_h"/>
                                          </p:val>
                                        </p:tav>
                                      </p:tavLst>
                                    </p:anim>
                                    <p:animEffect transition="in" filter="fade">
                                      <p:cBhvr>
                                        <p:cTn id="72" dur="270" fill="hold"/>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3.xml><?xml version="1.0" encoding="utf-8"?>
<p:sld xmlns:a="http://schemas.openxmlformats.org/drawingml/2006/main" xmlns:r="http://schemas.openxmlformats.org/officeDocument/2006/relationships" xmlns:p="http://schemas.openxmlformats.org/presentationml/2006/main" show="0">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9CD848"/>
                </a:solidFill>
                <a:latin typeface="Segoe UI Semibold"/>
              </a:rPr>
              <a:t>VÍDEO  ·  BOAS-VINDAS</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603504"/>
            <a:ext cx="8778240" cy="548640"/>
          </a:xfrm>
          <a:prstGeom prst="rect">
            <a:avLst/>
          </a:prstGeom>
          <a:noFill/>
        </p:spPr>
        <p:txBody>
          <a:bodyPr wrap="square" lIns="36576" tIns="18288" rIns="36576" bIns="18288" anchor="t">
            <a:spAutoFit/>
          </a:bodyPr>
          <a:lstStyle/>
          <a:p>
            <a:pPr algn="l"/>
            <a:r>
              <a:rPr sz="2100" b="1" i="0">
                <a:solidFill>
                  <a:srgbClr val="F2F2EC"/>
                </a:solidFill>
                <a:latin typeface="Segoe UI Semibold"/>
              </a:rPr>
              <a:t>Boas-vindas: por que Design Thinking importa para a sua empresa</a:t>
            </a:r>
          </a:p>
        </p:txBody>
      </p:sp>
      <p:sp>
        <p:nvSpPr>
          <p:cNvPr id="6" name="Rectangle 5"/>
          <p:cNvSpPr/>
          <p:nvPr/>
        </p:nvSpPr>
        <p:spPr>
          <a:xfrm>
            <a:off x="1706727" y="1325880"/>
            <a:ext cx="8778240" cy="4937760"/>
          </a:xfrm>
          <a:prstGeom prst="rect">
            <a:avLst/>
          </a:prstGeom>
          <a:solidFill>
            <a:srgbClr val="242826"/>
          </a:solidFill>
          <a:ln w="25400">
            <a:solidFill>
              <a:srgbClr val="9CD84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5501487" y="2468879"/>
            <a:ext cx="1188720" cy="1188720"/>
          </a:xfrm>
          <a:prstGeom prst="ellipse">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3400" b="1" i="0">
                <a:solidFill>
                  <a:srgbClr val="1A1A1A"/>
                </a:solidFill>
                <a:latin typeface="Segoe UI Semibold"/>
              </a:rPr>
              <a:t>▶</a:t>
            </a:r>
          </a:p>
        </p:txBody>
      </p:sp>
      <p:sp>
        <p:nvSpPr>
          <p:cNvPr id="8" name="TextBox 7"/>
          <p:cNvSpPr txBox="1"/>
          <p:nvPr/>
        </p:nvSpPr>
        <p:spPr>
          <a:xfrm>
            <a:off x="2163927" y="3931920"/>
            <a:ext cx="7863840" cy="457200"/>
          </a:xfrm>
          <a:prstGeom prst="rect">
            <a:avLst/>
          </a:prstGeom>
          <a:noFill/>
        </p:spPr>
        <p:txBody>
          <a:bodyPr wrap="square" lIns="36576" tIns="18288" rIns="36576" bIns="18288" anchor="t">
            <a:spAutoFit/>
          </a:bodyPr>
          <a:lstStyle/>
          <a:p>
            <a:pPr algn="ctr"/>
            <a:r>
              <a:rPr sz="2200" b="1" i="0">
                <a:solidFill>
                  <a:srgbClr val="F2F2EC"/>
                </a:solidFill>
                <a:latin typeface="Segoe UI Semibold"/>
              </a:rPr>
              <a:t>Espaço para o seu vídeo</a:t>
            </a:r>
          </a:p>
        </p:txBody>
      </p:sp>
      <p:sp>
        <p:nvSpPr>
          <p:cNvPr id="9" name="TextBox 8"/>
          <p:cNvSpPr txBox="1"/>
          <p:nvPr/>
        </p:nvSpPr>
        <p:spPr>
          <a:xfrm>
            <a:off x="2163927" y="4480560"/>
            <a:ext cx="7863840" cy="1097280"/>
          </a:xfrm>
          <a:prstGeom prst="rect">
            <a:avLst/>
          </a:prstGeom>
          <a:noFill/>
        </p:spPr>
        <p:txBody>
          <a:bodyPr wrap="square" lIns="36576" tIns="18288" rIns="36576" bIns="18288" anchor="t">
            <a:spAutoFit/>
          </a:bodyPr>
          <a:lstStyle/>
          <a:p>
            <a:pPr algn="ctr">
              <a:spcAft>
                <a:spcPts val="400"/>
              </a:spcAft>
            </a:pPr>
            <a:r>
              <a:rPr sz="1400" b="0" i="0">
                <a:solidFill>
                  <a:srgbClr val="B4B8B0"/>
                </a:solidFill>
                <a:latin typeface="Segoe UI"/>
              </a:rPr>
              <a:t>No PowerPoint: Inserir  &gt;  Vídeo  &gt;  Este Dispositivo…</a:t>
            </a:r>
          </a:p>
          <a:p>
            <a:pPr algn="ctr">
              <a:spcAft>
                <a:spcPts val="400"/>
              </a:spcAft>
            </a:pPr>
            <a:r>
              <a:rPr sz="1400" b="0" i="0">
                <a:solidFill>
                  <a:srgbClr val="B4B8B0"/>
                </a:solidFill>
                <a:latin typeface="Segoe UI"/>
              </a:rPr>
              <a:t>e ajuste o vídeo sobre este quadro (16:9).</a:t>
            </a:r>
          </a:p>
          <a:p>
            <a:pPr algn="ctr"/>
            <a:r>
              <a:rPr sz="1400" b="0" i="0">
                <a:solidFill>
                  <a:srgbClr val="9CD848"/>
                </a:solidFill>
                <a:latin typeface="Segoe UI"/>
              </a:rPr>
              <a:t>Arquivo sugerido: videos/abertura.mp4</a:t>
            </a:r>
          </a:p>
        </p:txBody>
      </p:sp>
      <p:sp>
        <p:nvSpPr>
          <p:cNvPr id="10" name="Rounded Rectangle 9">
            <a:hlinkClick r:id="rId4" action="ppaction://hlinksldjump"/>
          </p:cNvPr>
          <p:cNvSpPr/>
          <p:nvPr/>
        </p:nvSpPr>
        <p:spPr>
          <a:xfrm>
            <a:off x="9448495" y="566928"/>
            <a:ext cx="2194560" cy="502920"/>
          </a:xfrm>
          <a:prstGeom prst="roundRect">
            <a:avLst>
              <a:gd name="adj" fmla="val 50000"/>
            </a:avLst>
          </a:prstGeom>
          <a:solidFill>
            <a:srgbClr val="2E343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400" b="1" i="0">
                <a:solidFill>
                  <a:srgbClr val="F2F2EC"/>
                </a:solidFill>
                <a:latin typeface="Segoe UI Semibold"/>
              </a:rPr>
              <a:t>↩  Voltar</a:t>
            </a:r>
          </a:p>
        </p:txBody>
      </p:sp>
    </p:spTree>
  </p:cSld>
  <p:clrMapOvr>
    <a:masterClrMapping/>
  </p:clrMapOvr>
  <p:transition spd="slow">
    <p:fade thruBlk="1"/>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9CD848"/>
                </a:solidFill>
                <a:latin typeface="Segoe UI Semibold"/>
              </a:rPr>
              <a:t>QUEM CONDUZ</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Sobre o instrutor</a:t>
            </a:r>
          </a:p>
        </p:txBody>
      </p:sp>
      <p:sp>
        <p:nvSpPr>
          <p:cNvPr id="6" name="Oval 5" descr="Foto de Milton Carlos Ribeiro"/>
          <p:cNvSpPr/>
          <p:nvPr/>
        </p:nvSpPr>
        <p:spPr>
          <a:xfrm>
            <a:off x="914399" y="2194560"/>
            <a:ext cx="2377440" cy="2377440"/>
          </a:xfrm>
          <a:prstGeom prst="ellipse">
            <a:avLst/>
          </a:prstGeom>
          <a:blipFill>
            <a:blip r:embed="rId4"/>
            <a:stretch>
              <a:fillRect/>
            </a:stretch>
          </a:blipFill>
          <a:ln w="28575">
            <a:solidFill>
              <a:srgbClr val="9CD848"/>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endParaRPr/>
          </a:p>
        </p:txBody>
      </p:sp>
      <p:sp>
        <p:nvSpPr>
          <p:cNvPr id="7" name="TextBox 6"/>
          <p:cNvSpPr txBox="1"/>
          <p:nvPr/>
        </p:nvSpPr>
        <p:spPr>
          <a:xfrm>
            <a:off x="3931920" y="1737360"/>
            <a:ext cx="7315200" cy="548640"/>
          </a:xfrm>
          <a:prstGeom prst="rect">
            <a:avLst/>
          </a:prstGeom>
          <a:noFill/>
        </p:spPr>
        <p:txBody>
          <a:bodyPr wrap="square" lIns="36576" tIns="18288" rIns="36576" bIns="18288" anchor="t">
            <a:spAutoFit/>
          </a:bodyPr>
          <a:lstStyle/>
          <a:p>
            <a:pPr algn="l"/>
            <a:r>
              <a:rPr sz="2800" b="1" i="0">
                <a:solidFill>
                  <a:srgbClr val="F2F2EC"/>
                </a:solidFill>
                <a:latin typeface="Segoe UI Semibold"/>
              </a:rPr>
              <a:t>Milton Carlos Ribeiro</a:t>
            </a:r>
          </a:p>
        </p:txBody>
      </p:sp>
      <p:sp>
        <p:nvSpPr>
          <p:cNvPr id="8" name="TextBox 7"/>
          <p:cNvSpPr txBox="1"/>
          <p:nvPr/>
        </p:nvSpPr>
        <p:spPr>
          <a:xfrm>
            <a:off x="3931920" y="2331720"/>
            <a:ext cx="7315200" cy="365760"/>
          </a:xfrm>
          <a:prstGeom prst="rect">
            <a:avLst/>
          </a:prstGeom>
          <a:noFill/>
        </p:spPr>
        <p:txBody>
          <a:bodyPr wrap="square" lIns="36576" tIns="18288" rIns="36576" bIns="18288" anchor="t">
            <a:spAutoFit/>
          </a:bodyPr>
          <a:lstStyle/>
          <a:p>
            <a:pPr algn="l"/>
            <a:r>
              <a:rPr sz="1600" b="0" i="0">
                <a:solidFill>
                  <a:srgbClr val="9CD848"/>
                </a:solidFill>
                <a:latin typeface="Segoe UI"/>
              </a:rPr>
              <a:t>Fundador da HayaiDataSystems</a:t>
            </a:r>
          </a:p>
        </p:txBody>
      </p:sp>
      <p:sp>
        <p:nvSpPr>
          <p:cNvPr id="9" name="TextBox 8"/>
          <p:cNvSpPr txBox="1"/>
          <p:nvPr/>
        </p:nvSpPr>
        <p:spPr>
          <a:xfrm>
            <a:off x="3931920" y="3017520"/>
            <a:ext cx="7498079" cy="2743200"/>
          </a:xfrm>
          <a:prstGeom prst="rect">
            <a:avLst/>
          </a:prstGeom>
          <a:noFill/>
        </p:spPr>
        <p:txBody>
          <a:bodyPr wrap="square">
            <a:spAutoFit/>
          </a:bodyPr>
          <a:lstStyle/>
          <a:p>
            <a:pPr marL="292608" indent="-292608">
              <a:spcAft>
                <a:spcPts val="1200"/>
              </a:spcAft>
              <a:buClr>
                <a:srgbClr val="2FA38A"/>
              </a:buClr>
              <a:buFont typeface="Arial"/>
              <a:buChar char="●"/>
            </a:pPr>
            <a:r>
              <a:rPr sz="1600">
                <a:solidFill>
                  <a:srgbClr val="F2F2EC"/>
                </a:solidFill>
                <a:latin typeface="Segoe UI"/>
              </a:rPr>
              <a:t>Tecnólogo em Análise e Desenvolvimento de Sistemas (FIAP)</a:t>
            </a:r>
          </a:p>
          <a:p>
            <a:pPr marL="292608" indent="-292608">
              <a:spcAft>
                <a:spcPts val="1200"/>
              </a:spcAft>
              <a:buClr>
                <a:srgbClr val="2FA38A"/>
              </a:buClr>
              <a:buFont typeface="Arial"/>
              <a:buChar char="●"/>
            </a:pPr>
            <a:r>
              <a:rPr sz="1600">
                <a:solidFill>
                  <a:srgbClr val="F2F2EC"/>
                </a:solidFill>
                <a:latin typeface="Segoe UI"/>
              </a:rPr>
              <a:t>MBAs em Gestão da Qualidade (Anhanguera) e Project Management (UNISAL)</a:t>
            </a:r>
          </a:p>
          <a:p>
            <a:pPr marL="292608" indent="-292608">
              <a:spcAft>
                <a:spcPts val="1200"/>
              </a:spcAft>
              <a:buClr>
                <a:srgbClr val="2FA38A"/>
              </a:buClr>
              <a:buFont typeface="Arial"/>
              <a:buChar char="●"/>
            </a:pPr>
            <a:r>
              <a:rPr sz="1600">
                <a:solidFill>
                  <a:srgbClr val="F2F2EC"/>
                </a:solidFill>
                <a:latin typeface="Segoe UI"/>
              </a:rPr>
              <a:t>Bacharel em Administração (Anhanguera)</a:t>
            </a:r>
          </a:p>
          <a:p>
            <a:pPr marL="292608" indent="-292608">
              <a:spcAft>
                <a:spcPts val="1200"/>
              </a:spcAft>
              <a:buClr>
                <a:srgbClr val="2FA38A"/>
              </a:buClr>
              <a:buFont typeface="Arial"/>
              <a:buChar char="●"/>
            </a:pPr>
            <a:r>
              <a:rPr sz="1600">
                <a:solidFill>
                  <a:srgbClr val="F2F2EC"/>
                </a:solidFill>
                <a:latin typeface="Segoe UI"/>
              </a:rPr>
              <a:t>Certificação Design Thinking – Process (40h) e cursos de IA, Python e Dados</a:t>
            </a:r>
          </a:p>
          <a:p>
            <a:pPr marL="292608" indent="-292608">
              <a:buClr>
                <a:srgbClr val="2FA38A"/>
              </a:buClr>
              <a:buFont typeface="Arial"/>
              <a:buChar char="●"/>
            </a:pPr>
            <a:r>
              <a:rPr sz="1600">
                <a:solidFill>
                  <a:srgbClr val="F2F2EC"/>
                </a:solidFill>
                <a:latin typeface="Segoe UI"/>
              </a:rPr>
              <a:t>8 anos na indústria no Japão · hoje, dados e automação (Big Data)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53" presetClass="entr" presetSubtype="16" decel="100000" fill="hold" grpId="0" nodeType="withEffect">
                                  <p:stCondLst>
                                    <p:cond delay="150"/>
                                  </p:stCondLst>
                                  <p:childTnLst>
                                    <p:set>
                                      <p:cBhvr>
                                        <p:cTn id="9" dur="1" fill="hold">
                                          <p:stCondLst>
                                            <p:cond delay="0"/>
                                          </p:stCondLst>
                                        </p:cTn>
                                        <p:tgtEl>
                                          <p:spTgt spid="6"/>
                                        </p:tgtEl>
                                        <p:attrNameLst>
                                          <p:attrName>style.visibility</p:attrName>
                                        </p:attrNameLst>
                                      </p:cBhvr>
                                      <p:to>
                                        <p:strVal val="visible"/>
                                      </p:to>
                                    </p:set>
                                    <p:anim calcmode="lin" valueType="num">
                                      <p:cBhvr additive="base">
                                        <p:cTn id="10" dur="600" fill="hold"/>
                                        <p:tgtEl>
                                          <p:spTgt spid="6"/>
                                        </p:tgtEl>
                                        <p:attrNameLst>
                                          <p:attrName>ppt_w</p:attrName>
                                        </p:attrNameLst>
                                      </p:cBhvr>
                                      <p:tavLst>
                                        <p:tav tm="0">
                                          <p:val>
                                            <p:strVal val="0"/>
                                          </p:val>
                                        </p:tav>
                                        <p:tav tm="70000">
                                          <p:val>
                                            <p:strVal val="#ppt_w*1.08"/>
                                          </p:val>
                                        </p:tav>
                                        <p:tav tm="100000">
                                          <p:val>
                                            <p:strVal val="#ppt_w"/>
                                          </p:val>
                                        </p:tav>
                                      </p:tavLst>
                                    </p:anim>
                                    <p:anim calcmode="lin" valueType="num">
                                      <p:cBhvr additive="base">
                                        <p:cTn id="11" dur="600" fill="hold"/>
                                        <p:tgtEl>
                                          <p:spTgt spid="6"/>
                                        </p:tgtEl>
                                        <p:attrNameLst>
                                          <p:attrName>ppt_h</p:attrName>
                                        </p:attrNameLst>
                                      </p:cBhvr>
                                      <p:tavLst>
                                        <p:tav tm="0">
                                          <p:val>
                                            <p:strVal val="0"/>
                                          </p:val>
                                        </p:tav>
                                        <p:tav tm="70000">
                                          <p:val>
                                            <p:strVal val="#ppt_h*1.08"/>
                                          </p:val>
                                        </p:tav>
                                        <p:tav tm="100000">
                                          <p:val>
                                            <p:strVal val="#ppt_h"/>
                                          </p:val>
                                        </p:tav>
                                      </p:tavLst>
                                    </p:anim>
                                    <p:animEffect transition="in" filter="fade">
                                      <p:cBhvr>
                                        <p:cTn id="12" dur="360" fill="hold"/>
                                        <p:tgtEl>
                                          <p:spTgt spid="6"/>
                                        </p:tgtEl>
                                      </p:cBhvr>
                                    </p:animEffect>
                                  </p:childTnLst>
                                </p:cTn>
                              </p:par>
                              <p:par>
                                <p:cTn id="13" presetID="42" presetClass="entr" presetSubtype="0" decel="100000" fill="hold" grpId="0" nodeType="withEffect">
                                  <p:stCondLst>
                                    <p:cond delay="40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fill="hold"/>
                                        <p:tgtEl>
                                          <p:spTgt spid="7"/>
                                        </p:tgtEl>
                                      </p:cBhvr>
                                    </p:animEffect>
                                    <p:anim calcmode="lin" valueType="num">
                                      <p:cBhvr additive="base">
                                        <p:cTn id="16" dur="650" fill="hold"/>
                                        <p:tgtEl>
                                          <p:spTgt spid="7"/>
                                        </p:tgtEl>
                                        <p:attrNameLst>
                                          <p:attrName>ppt_x</p:attrName>
                                        </p:attrNameLst>
                                      </p:cBhvr>
                                      <p:tavLst>
                                        <p:tav tm="0">
                                          <p:val>
                                            <p:strVal val="#ppt_x"/>
                                          </p:val>
                                        </p:tav>
                                        <p:tav tm="100000">
                                          <p:val>
                                            <p:strVal val="#ppt_x"/>
                                          </p:val>
                                        </p:tav>
                                      </p:tavLst>
                                    </p:anim>
                                    <p:anim calcmode="lin" valueType="num">
                                      <p:cBhvr additive="base">
                                        <p:cTn id="17" dur="650" fill="hold"/>
                                        <p:tgtEl>
                                          <p:spTgt spid="7"/>
                                        </p:tgtEl>
                                        <p:attrNameLst>
                                          <p:attrName>ppt_y</p:attrName>
                                        </p:attrNameLst>
                                      </p:cBhvr>
                                      <p:tavLst>
                                        <p:tav tm="0">
                                          <p:val>
                                            <p:strVal val="#ppt_y+.06"/>
                                          </p:val>
                                        </p:tav>
                                        <p:tav tm="100000">
                                          <p:val>
                                            <p:strVal val="#ppt_y"/>
                                          </p:val>
                                        </p:tav>
                                      </p:tavLst>
                                    </p:anim>
                                  </p:childTnLst>
                                </p:cTn>
                              </p:par>
                              <p:par>
                                <p:cTn id="18" presetID="42" presetClass="entr" presetSubtype="0" decel="100000" fill="hold" grpId="0" nodeType="withEffect">
                                  <p:stCondLst>
                                    <p:cond delay="40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650" fill="hold"/>
                                        <p:tgtEl>
                                          <p:spTgt spid="8"/>
                                        </p:tgtEl>
                                      </p:cBhvr>
                                    </p:animEffect>
                                    <p:anim calcmode="lin" valueType="num">
                                      <p:cBhvr additive="base">
                                        <p:cTn id="21" dur="650" fill="hold"/>
                                        <p:tgtEl>
                                          <p:spTgt spid="8"/>
                                        </p:tgtEl>
                                        <p:attrNameLst>
                                          <p:attrName>ppt_x</p:attrName>
                                        </p:attrNameLst>
                                      </p:cBhvr>
                                      <p:tavLst>
                                        <p:tav tm="0">
                                          <p:val>
                                            <p:strVal val="#ppt_x"/>
                                          </p:val>
                                        </p:tav>
                                        <p:tav tm="100000">
                                          <p:val>
                                            <p:strVal val="#ppt_x"/>
                                          </p:val>
                                        </p:tav>
                                      </p:tavLst>
                                    </p:anim>
                                    <p:anim calcmode="lin" valueType="num">
                                      <p:cBhvr additive="base">
                                        <p:cTn id="22" dur="650" fill="hold"/>
                                        <p:tgtEl>
                                          <p:spTgt spid="8"/>
                                        </p:tgtEl>
                                        <p:attrNameLst>
                                          <p:attrName>ppt_y</p:attrName>
                                        </p:attrNameLst>
                                      </p:cBhvr>
                                      <p:tavLst>
                                        <p:tav tm="0">
                                          <p:val>
                                            <p:strVal val="#ppt_y+.06"/>
                                          </p:val>
                                        </p:tav>
                                        <p:tav tm="100000">
                                          <p:val>
                                            <p:strVal val="#ppt_y"/>
                                          </p:val>
                                        </p:tav>
                                      </p:tavLst>
                                    </p:anim>
                                  </p:childTnLst>
                                </p:cTn>
                              </p:par>
                              <p:par>
                                <p:cTn id="23" presetID="42" presetClass="entr" presetSubtype="0" decel="100000" fill="hold" grpId="0" nodeType="withEffect">
                                  <p:stCondLst>
                                    <p:cond delay="7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650" fill="hold"/>
                                        <p:tgtEl>
                                          <p:spTgt spid="9"/>
                                        </p:tgtEl>
                                      </p:cBhvr>
                                    </p:animEffect>
                                    <p:anim calcmode="lin" valueType="num">
                                      <p:cBhvr additive="base">
                                        <p:cTn id="26" dur="650" fill="hold"/>
                                        <p:tgtEl>
                                          <p:spTgt spid="9"/>
                                        </p:tgtEl>
                                        <p:attrNameLst>
                                          <p:attrName>ppt_x</p:attrName>
                                        </p:attrNameLst>
                                      </p:cBhvr>
                                      <p:tavLst>
                                        <p:tav tm="0">
                                          <p:val>
                                            <p:strVal val="#ppt_x"/>
                                          </p:val>
                                        </p:tav>
                                        <p:tav tm="100000">
                                          <p:val>
                                            <p:strVal val="#ppt_x"/>
                                          </p:val>
                                        </p:tav>
                                      </p:tavLst>
                                    </p:anim>
                                    <p:anim calcmode="lin" valueType="num">
                                      <p:cBhvr additive="base">
                                        <p:cTn id="27" dur="650" fill="hold"/>
                                        <p:tgtEl>
                                          <p:spTgt spid="9"/>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9CD848"/>
                </a:solidFill>
                <a:latin typeface="Segoe UI Semibold"/>
              </a:rPr>
              <a:t>COMBINADOS</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Nossos combinados</a:t>
            </a:r>
          </a:p>
        </p:txBody>
      </p:sp>
      <p:sp>
        <p:nvSpPr>
          <p:cNvPr id="6" name="Rounded Rectangle 5"/>
          <p:cNvSpPr/>
          <p:nvPr/>
        </p:nvSpPr>
        <p:spPr>
          <a:xfrm>
            <a:off x="548640" y="1645920"/>
            <a:ext cx="5394960" cy="1828800"/>
          </a:xfrm>
          <a:prstGeom prst="roundRect">
            <a:avLst>
              <a:gd name="adj" fmla="val 8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554480" y="1993392"/>
            <a:ext cx="4206240" cy="457200"/>
          </a:xfrm>
          <a:prstGeom prst="rect">
            <a:avLst/>
          </a:prstGeom>
          <a:noFill/>
        </p:spPr>
        <p:txBody>
          <a:bodyPr wrap="square" lIns="36576" tIns="18288" rIns="36576" bIns="18288" anchor="t">
            <a:spAutoFit/>
          </a:bodyPr>
          <a:lstStyle/>
          <a:p>
            <a:pPr algn="l"/>
            <a:r>
              <a:rPr sz="1900" b="1" i="0">
                <a:solidFill>
                  <a:srgbClr val="F2F2EC"/>
                </a:solidFill>
                <a:latin typeface="Segoe UI Semibold"/>
              </a:rPr>
              <a:t>Celular no silencioso</a:t>
            </a:r>
          </a:p>
        </p:txBody>
      </p:sp>
      <p:sp>
        <p:nvSpPr>
          <p:cNvPr id="8" name="TextBox 7"/>
          <p:cNvSpPr txBox="1"/>
          <p:nvPr/>
        </p:nvSpPr>
        <p:spPr>
          <a:xfrm>
            <a:off x="1554480" y="2468880"/>
            <a:ext cx="4206240" cy="914400"/>
          </a:xfrm>
          <a:prstGeom prst="rect">
            <a:avLst/>
          </a:prstGeom>
          <a:noFill/>
        </p:spPr>
        <p:txBody>
          <a:bodyPr wrap="square" lIns="36576" tIns="18288" rIns="36576" bIns="18288" anchor="t">
            <a:spAutoFit/>
          </a:bodyPr>
          <a:lstStyle/>
          <a:p>
            <a:pPr algn="l"/>
            <a:r>
              <a:rPr sz="1400" b="0" i="0">
                <a:solidFill>
                  <a:srgbClr val="B4B8B0"/>
                </a:solidFill>
                <a:latin typeface="Segoe UI"/>
              </a:rPr>
              <a:t>Usaremos o celular em algumas dinâmicas. Fora delas, foco total.</a:t>
            </a:r>
          </a:p>
        </p:txBody>
      </p:sp>
      <p:sp>
        <p:nvSpPr>
          <p:cNvPr id="9" name="Oval 8"/>
          <p:cNvSpPr/>
          <p:nvPr/>
        </p:nvSpPr>
        <p:spPr>
          <a:xfrm>
            <a:off x="845819" y="1961388"/>
            <a:ext cx="502920" cy="502920"/>
          </a:xfrm>
          <a:prstGeom prst="ellipse">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600" b="1" i="0">
                <a:solidFill>
                  <a:srgbClr val="1A1A1A"/>
                </a:solidFill>
                <a:latin typeface="Segoe UI Semibold"/>
              </a:rPr>
              <a:t>✓</a:t>
            </a:r>
          </a:p>
        </p:txBody>
      </p:sp>
      <p:sp>
        <p:nvSpPr>
          <p:cNvPr id="10" name="Rounded Rectangle 9"/>
          <p:cNvSpPr/>
          <p:nvPr/>
        </p:nvSpPr>
        <p:spPr>
          <a:xfrm>
            <a:off x="6172200" y="1645920"/>
            <a:ext cx="5394960" cy="1828800"/>
          </a:xfrm>
          <a:prstGeom prst="roundRect">
            <a:avLst>
              <a:gd name="adj" fmla="val 8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7178040" y="1993392"/>
            <a:ext cx="4206240" cy="457200"/>
          </a:xfrm>
          <a:prstGeom prst="rect">
            <a:avLst/>
          </a:prstGeom>
          <a:noFill/>
        </p:spPr>
        <p:txBody>
          <a:bodyPr wrap="square" lIns="36576" tIns="18288" rIns="36576" bIns="18288" anchor="t">
            <a:spAutoFit/>
          </a:bodyPr>
          <a:lstStyle/>
          <a:p>
            <a:pPr algn="l"/>
            <a:r>
              <a:rPr sz="1900" b="1" i="0">
                <a:solidFill>
                  <a:srgbClr val="F2F2EC"/>
                </a:solidFill>
                <a:latin typeface="Segoe UI Semibold"/>
              </a:rPr>
              <a:t>Sem julgamento</a:t>
            </a:r>
          </a:p>
        </p:txBody>
      </p:sp>
      <p:sp>
        <p:nvSpPr>
          <p:cNvPr id="12" name="TextBox 11"/>
          <p:cNvSpPr txBox="1"/>
          <p:nvPr/>
        </p:nvSpPr>
        <p:spPr>
          <a:xfrm>
            <a:off x="7178040" y="2468880"/>
            <a:ext cx="4206240" cy="914400"/>
          </a:xfrm>
          <a:prstGeom prst="rect">
            <a:avLst/>
          </a:prstGeom>
          <a:noFill/>
        </p:spPr>
        <p:txBody>
          <a:bodyPr wrap="square" lIns="36576" tIns="18288" rIns="36576" bIns="18288" anchor="t">
            <a:spAutoFit/>
          </a:bodyPr>
          <a:lstStyle/>
          <a:p>
            <a:pPr algn="l"/>
            <a:r>
              <a:rPr sz="1400" b="0" i="0">
                <a:solidFill>
                  <a:srgbClr val="B4B8B0"/>
                </a:solidFill>
                <a:latin typeface="Segoe UI"/>
              </a:rPr>
              <a:t>Toda ideia é bem-vinda. Críticas só na hora certa.</a:t>
            </a:r>
          </a:p>
        </p:txBody>
      </p:sp>
      <p:sp>
        <p:nvSpPr>
          <p:cNvPr id="13" name="Oval 12"/>
          <p:cNvSpPr/>
          <p:nvPr/>
        </p:nvSpPr>
        <p:spPr>
          <a:xfrm>
            <a:off x="6469379" y="1961388"/>
            <a:ext cx="502920" cy="502920"/>
          </a:xfrm>
          <a:prstGeom prst="ellipse">
            <a:avLst/>
          </a:prstGeom>
          <a:solidFill>
            <a:srgbClr val="4DB35A"/>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600" b="1" i="0">
                <a:solidFill>
                  <a:srgbClr val="1A1A1A"/>
                </a:solidFill>
                <a:latin typeface="Segoe UI Semibold"/>
              </a:rPr>
              <a:t>✓</a:t>
            </a:r>
          </a:p>
        </p:txBody>
      </p:sp>
      <p:sp>
        <p:nvSpPr>
          <p:cNvPr id="14" name="Rounded Rectangle 13"/>
          <p:cNvSpPr/>
          <p:nvPr/>
        </p:nvSpPr>
        <p:spPr>
          <a:xfrm>
            <a:off x="548640" y="3749039"/>
            <a:ext cx="5394960" cy="1828800"/>
          </a:xfrm>
          <a:prstGeom prst="roundRect">
            <a:avLst>
              <a:gd name="adj" fmla="val 8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554480" y="4096511"/>
            <a:ext cx="4206240" cy="457200"/>
          </a:xfrm>
          <a:prstGeom prst="rect">
            <a:avLst/>
          </a:prstGeom>
          <a:noFill/>
        </p:spPr>
        <p:txBody>
          <a:bodyPr wrap="square" lIns="36576" tIns="18288" rIns="36576" bIns="18288" anchor="t">
            <a:spAutoFit/>
          </a:bodyPr>
          <a:lstStyle/>
          <a:p>
            <a:pPr algn="l"/>
            <a:r>
              <a:rPr sz="1900" b="1" i="0">
                <a:solidFill>
                  <a:srgbClr val="F2F2EC"/>
                </a:solidFill>
                <a:latin typeface="Segoe UI Semibold"/>
              </a:rPr>
              <a:t>Mão na massa</a:t>
            </a:r>
          </a:p>
        </p:txBody>
      </p:sp>
      <p:sp>
        <p:nvSpPr>
          <p:cNvPr id="16" name="TextBox 15"/>
          <p:cNvSpPr txBox="1"/>
          <p:nvPr/>
        </p:nvSpPr>
        <p:spPr>
          <a:xfrm>
            <a:off x="1554480" y="4572000"/>
            <a:ext cx="4206240" cy="914400"/>
          </a:xfrm>
          <a:prstGeom prst="rect">
            <a:avLst/>
          </a:prstGeom>
          <a:noFill/>
        </p:spPr>
        <p:txBody>
          <a:bodyPr wrap="square" lIns="36576" tIns="18288" rIns="36576" bIns="18288" anchor="t">
            <a:spAutoFit/>
          </a:bodyPr>
          <a:lstStyle/>
          <a:p>
            <a:pPr algn="l"/>
            <a:r>
              <a:rPr sz="1400" b="0" i="0">
                <a:solidFill>
                  <a:srgbClr val="B4B8B0"/>
                </a:solidFill>
                <a:latin typeface="Segoe UI"/>
              </a:rPr>
              <a:t>Aprendemos fazendo: participe das dinâmicas.</a:t>
            </a:r>
          </a:p>
        </p:txBody>
      </p:sp>
      <p:sp>
        <p:nvSpPr>
          <p:cNvPr id="17" name="Oval 16"/>
          <p:cNvSpPr/>
          <p:nvPr/>
        </p:nvSpPr>
        <p:spPr>
          <a:xfrm>
            <a:off x="845819" y="4064507"/>
            <a:ext cx="502920" cy="502920"/>
          </a:xfrm>
          <a:prstGeom prst="ellipse">
            <a:avLst/>
          </a:prstGeom>
          <a:solidFill>
            <a:srgbClr val="2FA38A"/>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600" b="1" i="0">
                <a:solidFill>
                  <a:srgbClr val="1A1A1A"/>
                </a:solidFill>
                <a:latin typeface="Segoe UI Semibold"/>
              </a:rPr>
              <a:t>✓</a:t>
            </a:r>
          </a:p>
        </p:txBody>
      </p:sp>
      <p:sp>
        <p:nvSpPr>
          <p:cNvPr id="18" name="Rounded Rectangle 17"/>
          <p:cNvSpPr/>
          <p:nvPr/>
        </p:nvSpPr>
        <p:spPr>
          <a:xfrm>
            <a:off x="6172200" y="3749039"/>
            <a:ext cx="5394960" cy="1828800"/>
          </a:xfrm>
          <a:prstGeom prst="roundRect">
            <a:avLst>
              <a:gd name="adj" fmla="val 8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178040" y="4096511"/>
            <a:ext cx="4206240" cy="457200"/>
          </a:xfrm>
          <a:prstGeom prst="rect">
            <a:avLst/>
          </a:prstGeom>
          <a:noFill/>
        </p:spPr>
        <p:txBody>
          <a:bodyPr wrap="square" lIns="36576" tIns="18288" rIns="36576" bIns="18288" anchor="t">
            <a:spAutoFit/>
          </a:bodyPr>
          <a:lstStyle/>
          <a:p>
            <a:pPr algn="l"/>
            <a:r>
              <a:rPr sz="1900" b="1" i="0">
                <a:solidFill>
                  <a:srgbClr val="F2F2EC"/>
                </a:solidFill>
                <a:latin typeface="Segoe UI Semibold"/>
              </a:rPr>
              <a:t>Pontualidade</a:t>
            </a:r>
          </a:p>
        </p:txBody>
      </p:sp>
      <p:sp>
        <p:nvSpPr>
          <p:cNvPr id="20" name="TextBox 19"/>
          <p:cNvSpPr txBox="1"/>
          <p:nvPr/>
        </p:nvSpPr>
        <p:spPr>
          <a:xfrm>
            <a:off x="7178040" y="4572000"/>
            <a:ext cx="4206240" cy="914400"/>
          </a:xfrm>
          <a:prstGeom prst="rect">
            <a:avLst/>
          </a:prstGeom>
          <a:noFill/>
        </p:spPr>
        <p:txBody>
          <a:bodyPr wrap="square" lIns="36576" tIns="18288" rIns="36576" bIns="18288" anchor="t">
            <a:spAutoFit/>
          </a:bodyPr>
          <a:lstStyle/>
          <a:p>
            <a:pPr algn="l"/>
            <a:r>
              <a:rPr sz="1400" b="0" i="0">
                <a:solidFill>
                  <a:srgbClr val="B4B8B0"/>
                </a:solidFill>
                <a:latin typeface="Segoe UI"/>
              </a:rPr>
              <a:t>Começamos e voltamos dos intervalos no horário.</a:t>
            </a:r>
          </a:p>
        </p:txBody>
      </p:sp>
      <p:sp>
        <p:nvSpPr>
          <p:cNvPr id="21" name="Oval 20"/>
          <p:cNvSpPr/>
          <p:nvPr/>
        </p:nvSpPr>
        <p:spPr>
          <a:xfrm>
            <a:off x="6469379" y="4064507"/>
            <a:ext cx="502920" cy="502920"/>
          </a:xfrm>
          <a:prstGeom prst="ellipse">
            <a:avLst/>
          </a:prstGeom>
          <a:solidFill>
            <a:srgbClr val="2A9FC0"/>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600" b="1" i="0">
                <a:solidFill>
                  <a:srgbClr val="1A1A1A"/>
                </a:solidFill>
                <a:latin typeface="Segoe UI Semibold"/>
              </a:rPr>
              <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42" presetClass="entr" presetSubtype="0" decel="100000" fill="hold" grpId="0" nodeType="withEffect">
                                  <p:stCondLst>
                                    <p:cond delay="18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50" fill="hold"/>
                                        <p:tgtEl>
                                          <p:spTgt spid="6"/>
                                        </p:tgtEl>
                                      </p:cBhvr>
                                    </p:animEffect>
                                    <p:anim calcmode="lin" valueType="num">
                                      <p:cBhvr additive="base">
                                        <p:cTn id="11" dur="650" fill="hold"/>
                                        <p:tgtEl>
                                          <p:spTgt spid="6"/>
                                        </p:tgtEl>
                                        <p:attrNameLst>
                                          <p:attrName>ppt_x</p:attrName>
                                        </p:attrNameLst>
                                      </p:cBhvr>
                                      <p:tavLst>
                                        <p:tav tm="0">
                                          <p:val>
                                            <p:strVal val="#ppt_x"/>
                                          </p:val>
                                        </p:tav>
                                        <p:tav tm="100000">
                                          <p:val>
                                            <p:strVal val="#ppt_x"/>
                                          </p:val>
                                        </p:tav>
                                      </p:tavLst>
                                    </p:anim>
                                    <p:anim calcmode="lin" valueType="num">
                                      <p:cBhvr additive="base">
                                        <p:cTn id="12" dur="650" fill="hold"/>
                                        <p:tgtEl>
                                          <p:spTgt spid="6"/>
                                        </p:tgtEl>
                                        <p:attrNameLst>
                                          <p:attrName>ppt_y</p:attrName>
                                        </p:attrNameLst>
                                      </p:cBhvr>
                                      <p:tavLst>
                                        <p:tav tm="0">
                                          <p:val>
                                            <p:strVal val="#ppt_y+.06"/>
                                          </p:val>
                                        </p:tav>
                                        <p:tav tm="100000">
                                          <p:val>
                                            <p:strVal val="#ppt_y"/>
                                          </p:val>
                                        </p:tav>
                                      </p:tavLst>
                                    </p:anim>
                                  </p:childTnLst>
                                </p:cTn>
                              </p:par>
                              <p:par>
                                <p:cTn id="13" presetID="42" presetClass="entr" presetSubtype="0" decel="100000" fill="hold" grpId="0" nodeType="withEffect">
                                  <p:stCondLst>
                                    <p:cond delay="18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fill="hold"/>
                                        <p:tgtEl>
                                          <p:spTgt spid="7"/>
                                        </p:tgtEl>
                                      </p:cBhvr>
                                    </p:animEffect>
                                    <p:anim calcmode="lin" valueType="num">
                                      <p:cBhvr additive="base">
                                        <p:cTn id="16" dur="650" fill="hold"/>
                                        <p:tgtEl>
                                          <p:spTgt spid="7"/>
                                        </p:tgtEl>
                                        <p:attrNameLst>
                                          <p:attrName>ppt_x</p:attrName>
                                        </p:attrNameLst>
                                      </p:cBhvr>
                                      <p:tavLst>
                                        <p:tav tm="0">
                                          <p:val>
                                            <p:strVal val="#ppt_x"/>
                                          </p:val>
                                        </p:tav>
                                        <p:tav tm="100000">
                                          <p:val>
                                            <p:strVal val="#ppt_x"/>
                                          </p:val>
                                        </p:tav>
                                      </p:tavLst>
                                    </p:anim>
                                    <p:anim calcmode="lin" valueType="num">
                                      <p:cBhvr additive="base">
                                        <p:cTn id="17" dur="650" fill="hold"/>
                                        <p:tgtEl>
                                          <p:spTgt spid="7"/>
                                        </p:tgtEl>
                                        <p:attrNameLst>
                                          <p:attrName>ppt_y</p:attrName>
                                        </p:attrNameLst>
                                      </p:cBhvr>
                                      <p:tavLst>
                                        <p:tav tm="0">
                                          <p:val>
                                            <p:strVal val="#ppt_y+.06"/>
                                          </p:val>
                                        </p:tav>
                                        <p:tav tm="100000">
                                          <p:val>
                                            <p:strVal val="#ppt_y"/>
                                          </p:val>
                                        </p:tav>
                                      </p:tavLst>
                                    </p:anim>
                                  </p:childTnLst>
                                </p:cTn>
                              </p:par>
                              <p:par>
                                <p:cTn id="18" presetID="42" presetClass="entr" presetSubtype="0" decel="100000" fill="hold" grpId="0" nodeType="withEffect">
                                  <p:stCondLst>
                                    <p:cond delay="18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650" fill="hold"/>
                                        <p:tgtEl>
                                          <p:spTgt spid="8"/>
                                        </p:tgtEl>
                                      </p:cBhvr>
                                    </p:animEffect>
                                    <p:anim calcmode="lin" valueType="num">
                                      <p:cBhvr additive="base">
                                        <p:cTn id="21" dur="650" fill="hold"/>
                                        <p:tgtEl>
                                          <p:spTgt spid="8"/>
                                        </p:tgtEl>
                                        <p:attrNameLst>
                                          <p:attrName>ppt_x</p:attrName>
                                        </p:attrNameLst>
                                      </p:cBhvr>
                                      <p:tavLst>
                                        <p:tav tm="0">
                                          <p:val>
                                            <p:strVal val="#ppt_x"/>
                                          </p:val>
                                        </p:tav>
                                        <p:tav tm="100000">
                                          <p:val>
                                            <p:strVal val="#ppt_x"/>
                                          </p:val>
                                        </p:tav>
                                      </p:tavLst>
                                    </p:anim>
                                    <p:anim calcmode="lin" valueType="num">
                                      <p:cBhvr additive="base">
                                        <p:cTn id="22" dur="650" fill="hold"/>
                                        <p:tgtEl>
                                          <p:spTgt spid="8"/>
                                        </p:tgtEl>
                                        <p:attrNameLst>
                                          <p:attrName>ppt_y</p:attrName>
                                        </p:attrNameLst>
                                      </p:cBhvr>
                                      <p:tavLst>
                                        <p:tav tm="0">
                                          <p:val>
                                            <p:strVal val="#ppt_y+.06"/>
                                          </p:val>
                                        </p:tav>
                                        <p:tav tm="100000">
                                          <p:val>
                                            <p:strVal val="#ppt_y"/>
                                          </p:val>
                                        </p:tav>
                                      </p:tavLst>
                                    </p:anim>
                                  </p:childTnLst>
                                </p:cTn>
                              </p:par>
                              <p:par>
                                <p:cTn id="23" presetID="53" presetClass="entr" presetSubtype="16" decel="100000" fill="hold" grpId="0" nodeType="withEffect">
                                  <p:stCondLst>
                                    <p:cond delay="33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450" fill="hold"/>
                                        <p:tgtEl>
                                          <p:spTgt spid="9"/>
                                        </p:tgtEl>
                                        <p:attrNameLst>
                                          <p:attrName>ppt_w</p:attrName>
                                        </p:attrNameLst>
                                      </p:cBhvr>
                                      <p:tavLst>
                                        <p:tav tm="0">
                                          <p:val>
                                            <p:strVal val="0"/>
                                          </p:val>
                                        </p:tav>
                                        <p:tav tm="70000">
                                          <p:val>
                                            <p:strVal val="#ppt_w*1.08"/>
                                          </p:val>
                                        </p:tav>
                                        <p:tav tm="100000">
                                          <p:val>
                                            <p:strVal val="#ppt_w"/>
                                          </p:val>
                                        </p:tav>
                                      </p:tavLst>
                                    </p:anim>
                                    <p:anim calcmode="lin" valueType="num">
                                      <p:cBhvr additive="base">
                                        <p:cTn id="26" dur="450" fill="hold"/>
                                        <p:tgtEl>
                                          <p:spTgt spid="9"/>
                                        </p:tgtEl>
                                        <p:attrNameLst>
                                          <p:attrName>ppt_h</p:attrName>
                                        </p:attrNameLst>
                                      </p:cBhvr>
                                      <p:tavLst>
                                        <p:tav tm="0">
                                          <p:val>
                                            <p:strVal val="0"/>
                                          </p:val>
                                        </p:tav>
                                        <p:tav tm="70000">
                                          <p:val>
                                            <p:strVal val="#ppt_h*1.08"/>
                                          </p:val>
                                        </p:tav>
                                        <p:tav tm="100000">
                                          <p:val>
                                            <p:strVal val="#ppt_h"/>
                                          </p:val>
                                        </p:tav>
                                      </p:tavLst>
                                    </p:anim>
                                    <p:animEffect transition="in" filter="fade">
                                      <p:cBhvr>
                                        <p:cTn id="27" dur="270" fill="hold"/>
                                        <p:tgtEl>
                                          <p:spTgt spid="9"/>
                                        </p:tgtEl>
                                      </p:cBhvr>
                                    </p:animEffect>
                                  </p:childTnLst>
                                </p:cTn>
                              </p:par>
                              <p:par>
                                <p:cTn id="28" presetID="42" presetClass="entr" presetSubtype="0" decel="100000" fill="hold" grpId="0" nodeType="withEffect">
                                  <p:stCondLst>
                                    <p:cond delay="51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650" fill="hold"/>
                                        <p:tgtEl>
                                          <p:spTgt spid="10"/>
                                        </p:tgtEl>
                                      </p:cBhvr>
                                    </p:animEffect>
                                    <p:anim calcmode="lin" valueType="num">
                                      <p:cBhvr additive="base">
                                        <p:cTn id="31" dur="650" fill="hold"/>
                                        <p:tgtEl>
                                          <p:spTgt spid="10"/>
                                        </p:tgtEl>
                                        <p:attrNameLst>
                                          <p:attrName>ppt_x</p:attrName>
                                        </p:attrNameLst>
                                      </p:cBhvr>
                                      <p:tavLst>
                                        <p:tav tm="0">
                                          <p:val>
                                            <p:strVal val="#ppt_x"/>
                                          </p:val>
                                        </p:tav>
                                        <p:tav tm="100000">
                                          <p:val>
                                            <p:strVal val="#ppt_x"/>
                                          </p:val>
                                        </p:tav>
                                      </p:tavLst>
                                    </p:anim>
                                    <p:anim calcmode="lin" valueType="num">
                                      <p:cBhvr additive="base">
                                        <p:cTn id="32" dur="650" fill="hold"/>
                                        <p:tgtEl>
                                          <p:spTgt spid="10"/>
                                        </p:tgtEl>
                                        <p:attrNameLst>
                                          <p:attrName>ppt_y</p:attrName>
                                        </p:attrNameLst>
                                      </p:cBhvr>
                                      <p:tavLst>
                                        <p:tav tm="0">
                                          <p:val>
                                            <p:strVal val="#ppt_y+.06"/>
                                          </p:val>
                                        </p:tav>
                                        <p:tav tm="100000">
                                          <p:val>
                                            <p:strVal val="#ppt_y"/>
                                          </p:val>
                                        </p:tav>
                                      </p:tavLst>
                                    </p:anim>
                                  </p:childTnLst>
                                </p:cTn>
                              </p:par>
                              <p:par>
                                <p:cTn id="33" presetID="42" presetClass="entr" presetSubtype="0" decel="100000" fill="hold" grpId="0" nodeType="withEffect">
                                  <p:stCondLst>
                                    <p:cond delay="51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650" fill="hold"/>
                                        <p:tgtEl>
                                          <p:spTgt spid="11"/>
                                        </p:tgtEl>
                                      </p:cBhvr>
                                    </p:animEffect>
                                    <p:anim calcmode="lin" valueType="num">
                                      <p:cBhvr additive="base">
                                        <p:cTn id="36" dur="650" fill="hold"/>
                                        <p:tgtEl>
                                          <p:spTgt spid="11"/>
                                        </p:tgtEl>
                                        <p:attrNameLst>
                                          <p:attrName>ppt_x</p:attrName>
                                        </p:attrNameLst>
                                      </p:cBhvr>
                                      <p:tavLst>
                                        <p:tav tm="0">
                                          <p:val>
                                            <p:strVal val="#ppt_x"/>
                                          </p:val>
                                        </p:tav>
                                        <p:tav tm="100000">
                                          <p:val>
                                            <p:strVal val="#ppt_x"/>
                                          </p:val>
                                        </p:tav>
                                      </p:tavLst>
                                    </p:anim>
                                    <p:anim calcmode="lin" valueType="num">
                                      <p:cBhvr additive="base">
                                        <p:cTn id="37" dur="650" fill="hold"/>
                                        <p:tgtEl>
                                          <p:spTgt spid="11"/>
                                        </p:tgtEl>
                                        <p:attrNameLst>
                                          <p:attrName>ppt_y</p:attrName>
                                        </p:attrNameLst>
                                      </p:cBhvr>
                                      <p:tavLst>
                                        <p:tav tm="0">
                                          <p:val>
                                            <p:strVal val="#ppt_y+.06"/>
                                          </p:val>
                                        </p:tav>
                                        <p:tav tm="100000">
                                          <p:val>
                                            <p:strVal val="#ppt_y"/>
                                          </p:val>
                                        </p:tav>
                                      </p:tavLst>
                                    </p:anim>
                                  </p:childTnLst>
                                </p:cTn>
                              </p:par>
                              <p:par>
                                <p:cTn id="38" presetID="42" presetClass="entr" presetSubtype="0" decel="100000" fill="hold" grpId="0" nodeType="withEffect">
                                  <p:stCondLst>
                                    <p:cond delay="51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650" fill="hold"/>
                                        <p:tgtEl>
                                          <p:spTgt spid="12"/>
                                        </p:tgtEl>
                                      </p:cBhvr>
                                    </p:animEffect>
                                    <p:anim calcmode="lin" valueType="num">
                                      <p:cBhvr additive="base">
                                        <p:cTn id="41" dur="650" fill="hold"/>
                                        <p:tgtEl>
                                          <p:spTgt spid="12"/>
                                        </p:tgtEl>
                                        <p:attrNameLst>
                                          <p:attrName>ppt_x</p:attrName>
                                        </p:attrNameLst>
                                      </p:cBhvr>
                                      <p:tavLst>
                                        <p:tav tm="0">
                                          <p:val>
                                            <p:strVal val="#ppt_x"/>
                                          </p:val>
                                        </p:tav>
                                        <p:tav tm="100000">
                                          <p:val>
                                            <p:strVal val="#ppt_x"/>
                                          </p:val>
                                        </p:tav>
                                      </p:tavLst>
                                    </p:anim>
                                    <p:anim calcmode="lin" valueType="num">
                                      <p:cBhvr additive="base">
                                        <p:cTn id="42" dur="650" fill="hold"/>
                                        <p:tgtEl>
                                          <p:spTgt spid="12"/>
                                        </p:tgtEl>
                                        <p:attrNameLst>
                                          <p:attrName>ppt_y</p:attrName>
                                        </p:attrNameLst>
                                      </p:cBhvr>
                                      <p:tavLst>
                                        <p:tav tm="0">
                                          <p:val>
                                            <p:strVal val="#ppt_y+.06"/>
                                          </p:val>
                                        </p:tav>
                                        <p:tav tm="100000">
                                          <p:val>
                                            <p:strVal val="#ppt_y"/>
                                          </p:val>
                                        </p:tav>
                                      </p:tavLst>
                                    </p:anim>
                                  </p:childTnLst>
                                </p:cTn>
                              </p:par>
                              <p:par>
                                <p:cTn id="43" presetID="53" presetClass="entr" presetSubtype="16" decel="100000" fill="hold" grpId="0" nodeType="withEffect">
                                  <p:stCondLst>
                                    <p:cond delay="660"/>
                                  </p:stCondLst>
                                  <p:childTnLst>
                                    <p:set>
                                      <p:cBhvr>
                                        <p:cTn id="44" dur="1" fill="hold">
                                          <p:stCondLst>
                                            <p:cond delay="0"/>
                                          </p:stCondLst>
                                        </p:cTn>
                                        <p:tgtEl>
                                          <p:spTgt spid="13"/>
                                        </p:tgtEl>
                                        <p:attrNameLst>
                                          <p:attrName>style.visibility</p:attrName>
                                        </p:attrNameLst>
                                      </p:cBhvr>
                                      <p:to>
                                        <p:strVal val="visible"/>
                                      </p:to>
                                    </p:set>
                                    <p:anim calcmode="lin" valueType="num">
                                      <p:cBhvr additive="base">
                                        <p:cTn id="45" dur="450" fill="hold"/>
                                        <p:tgtEl>
                                          <p:spTgt spid="13"/>
                                        </p:tgtEl>
                                        <p:attrNameLst>
                                          <p:attrName>ppt_w</p:attrName>
                                        </p:attrNameLst>
                                      </p:cBhvr>
                                      <p:tavLst>
                                        <p:tav tm="0">
                                          <p:val>
                                            <p:strVal val="0"/>
                                          </p:val>
                                        </p:tav>
                                        <p:tav tm="70000">
                                          <p:val>
                                            <p:strVal val="#ppt_w*1.08"/>
                                          </p:val>
                                        </p:tav>
                                        <p:tav tm="100000">
                                          <p:val>
                                            <p:strVal val="#ppt_w"/>
                                          </p:val>
                                        </p:tav>
                                      </p:tavLst>
                                    </p:anim>
                                    <p:anim calcmode="lin" valueType="num">
                                      <p:cBhvr additive="base">
                                        <p:cTn id="46" dur="450" fill="hold"/>
                                        <p:tgtEl>
                                          <p:spTgt spid="13"/>
                                        </p:tgtEl>
                                        <p:attrNameLst>
                                          <p:attrName>ppt_h</p:attrName>
                                        </p:attrNameLst>
                                      </p:cBhvr>
                                      <p:tavLst>
                                        <p:tav tm="0">
                                          <p:val>
                                            <p:strVal val="0"/>
                                          </p:val>
                                        </p:tav>
                                        <p:tav tm="70000">
                                          <p:val>
                                            <p:strVal val="#ppt_h*1.08"/>
                                          </p:val>
                                        </p:tav>
                                        <p:tav tm="100000">
                                          <p:val>
                                            <p:strVal val="#ppt_h"/>
                                          </p:val>
                                        </p:tav>
                                      </p:tavLst>
                                    </p:anim>
                                    <p:animEffect transition="in" filter="fade">
                                      <p:cBhvr>
                                        <p:cTn id="47" dur="270" fill="hold"/>
                                        <p:tgtEl>
                                          <p:spTgt spid="13"/>
                                        </p:tgtEl>
                                      </p:cBhvr>
                                    </p:animEffect>
                                  </p:childTnLst>
                                </p:cTn>
                              </p:par>
                              <p:par>
                                <p:cTn id="48" presetID="42" presetClass="entr" presetSubtype="0" decel="100000" fill="hold" grpId="0" nodeType="withEffect">
                                  <p:stCondLst>
                                    <p:cond delay="84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650" fill="hold"/>
                                        <p:tgtEl>
                                          <p:spTgt spid="14"/>
                                        </p:tgtEl>
                                      </p:cBhvr>
                                    </p:animEffect>
                                    <p:anim calcmode="lin" valueType="num">
                                      <p:cBhvr additive="base">
                                        <p:cTn id="51" dur="650" fill="hold"/>
                                        <p:tgtEl>
                                          <p:spTgt spid="14"/>
                                        </p:tgtEl>
                                        <p:attrNameLst>
                                          <p:attrName>ppt_x</p:attrName>
                                        </p:attrNameLst>
                                      </p:cBhvr>
                                      <p:tavLst>
                                        <p:tav tm="0">
                                          <p:val>
                                            <p:strVal val="#ppt_x"/>
                                          </p:val>
                                        </p:tav>
                                        <p:tav tm="100000">
                                          <p:val>
                                            <p:strVal val="#ppt_x"/>
                                          </p:val>
                                        </p:tav>
                                      </p:tavLst>
                                    </p:anim>
                                    <p:anim calcmode="lin" valueType="num">
                                      <p:cBhvr additive="base">
                                        <p:cTn id="52" dur="650" fill="hold"/>
                                        <p:tgtEl>
                                          <p:spTgt spid="14"/>
                                        </p:tgtEl>
                                        <p:attrNameLst>
                                          <p:attrName>ppt_y</p:attrName>
                                        </p:attrNameLst>
                                      </p:cBhvr>
                                      <p:tavLst>
                                        <p:tav tm="0">
                                          <p:val>
                                            <p:strVal val="#ppt_y+.06"/>
                                          </p:val>
                                        </p:tav>
                                        <p:tav tm="100000">
                                          <p:val>
                                            <p:strVal val="#ppt_y"/>
                                          </p:val>
                                        </p:tav>
                                      </p:tavLst>
                                    </p:anim>
                                  </p:childTnLst>
                                </p:cTn>
                              </p:par>
                              <p:par>
                                <p:cTn id="53" presetID="42" presetClass="entr" presetSubtype="0" decel="100000" fill="hold" grpId="0" nodeType="withEffect">
                                  <p:stCondLst>
                                    <p:cond delay="84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650" fill="hold"/>
                                        <p:tgtEl>
                                          <p:spTgt spid="15"/>
                                        </p:tgtEl>
                                      </p:cBhvr>
                                    </p:animEffect>
                                    <p:anim calcmode="lin" valueType="num">
                                      <p:cBhvr additive="base">
                                        <p:cTn id="56" dur="650" fill="hold"/>
                                        <p:tgtEl>
                                          <p:spTgt spid="15"/>
                                        </p:tgtEl>
                                        <p:attrNameLst>
                                          <p:attrName>ppt_x</p:attrName>
                                        </p:attrNameLst>
                                      </p:cBhvr>
                                      <p:tavLst>
                                        <p:tav tm="0">
                                          <p:val>
                                            <p:strVal val="#ppt_x"/>
                                          </p:val>
                                        </p:tav>
                                        <p:tav tm="100000">
                                          <p:val>
                                            <p:strVal val="#ppt_x"/>
                                          </p:val>
                                        </p:tav>
                                      </p:tavLst>
                                    </p:anim>
                                    <p:anim calcmode="lin" valueType="num">
                                      <p:cBhvr additive="base">
                                        <p:cTn id="57" dur="650" fill="hold"/>
                                        <p:tgtEl>
                                          <p:spTgt spid="15"/>
                                        </p:tgtEl>
                                        <p:attrNameLst>
                                          <p:attrName>ppt_y</p:attrName>
                                        </p:attrNameLst>
                                      </p:cBhvr>
                                      <p:tavLst>
                                        <p:tav tm="0">
                                          <p:val>
                                            <p:strVal val="#ppt_y+.06"/>
                                          </p:val>
                                        </p:tav>
                                        <p:tav tm="100000">
                                          <p:val>
                                            <p:strVal val="#ppt_y"/>
                                          </p:val>
                                        </p:tav>
                                      </p:tavLst>
                                    </p:anim>
                                  </p:childTnLst>
                                </p:cTn>
                              </p:par>
                              <p:par>
                                <p:cTn id="58" presetID="42" presetClass="entr" presetSubtype="0" decel="100000" fill="hold" grpId="0" nodeType="withEffect">
                                  <p:stCondLst>
                                    <p:cond delay="84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650" fill="hold"/>
                                        <p:tgtEl>
                                          <p:spTgt spid="16"/>
                                        </p:tgtEl>
                                      </p:cBhvr>
                                    </p:animEffect>
                                    <p:anim calcmode="lin" valueType="num">
                                      <p:cBhvr additive="base">
                                        <p:cTn id="61" dur="650" fill="hold"/>
                                        <p:tgtEl>
                                          <p:spTgt spid="16"/>
                                        </p:tgtEl>
                                        <p:attrNameLst>
                                          <p:attrName>ppt_x</p:attrName>
                                        </p:attrNameLst>
                                      </p:cBhvr>
                                      <p:tavLst>
                                        <p:tav tm="0">
                                          <p:val>
                                            <p:strVal val="#ppt_x"/>
                                          </p:val>
                                        </p:tav>
                                        <p:tav tm="100000">
                                          <p:val>
                                            <p:strVal val="#ppt_x"/>
                                          </p:val>
                                        </p:tav>
                                      </p:tavLst>
                                    </p:anim>
                                    <p:anim calcmode="lin" valueType="num">
                                      <p:cBhvr additive="base">
                                        <p:cTn id="62" dur="650" fill="hold"/>
                                        <p:tgtEl>
                                          <p:spTgt spid="16"/>
                                        </p:tgtEl>
                                        <p:attrNameLst>
                                          <p:attrName>ppt_y</p:attrName>
                                        </p:attrNameLst>
                                      </p:cBhvr>
                                      <p:tavLst>
                                        <p:tav tm="0">
                                          <p:val>
                                            <p:strVal val="#ppt_y+.06"/>
                                          </p:val>
                                        </p:tav>
                                        <p:tav tm="100000">
                                          <p:val>
                                            <p:strVal val="#ppt_y"/>
                                          </p:val>
                                        </p:tav>
                                      </p:tavLst>
                                    </p:anim>
                                  </p:childTnLst>
                                </p:cTn>
                              </p:par>
                              <p:par>
                                <p:cTn id="63" presetID="53" presetClass="entr" presetSubtype="16" decel="100000" fill="hold" grpId="0" nodeType="withEffect">
                                  <p:stCondLst>
                                    <p:cond delay="990"/>
                                  </p:stCondLst>
                                  <p:childTnLst>
                                    <p:set>
                                      <p:cBhvr>
                                        <p:cTn id="64" dur="1" fill="hold">
                                          <p:stCondLst>
                                            <p:cond delay="0"/>
                                          </p:stCondLst>
                                        </p:cTn>
                                        <p:tgtEl>
                                          <p:spTgt spid="17"/>
                                        </p:tgtEl>
                                        <p:attrNameLst>
                                          <p:attrName>style.visibility</p:attrName>
                                        </p:attrNameLst>
                                      </p:cBhvr>
                                      <p:to>
                                        <p:strVal val="visible"/>
                                      </p:to>
                                    </p:set>
                                    <p:anim calcmode="lin" valueType="num">
                                      <p:cBhvr additive="base">
                                        <p:cTn id="65" dur="450" fill="hold"/>
                                        <p:tgtEl>
                                          <p:spTgt spid="17"/>
                                        </p:tgtEl>
                                        <p:attrNameLst>
                                          <p:attrName>ppt_w</p:attrName>
                                        </p:attrNameLst>
                                      </p:cBhvr>
                                      <p:tavLst>
                                        <p:tav tm="0">
                                          <p:val>
                                            <p:strVal val="0"/>
                                          </p:val>
                                        </p:tav>
                                        <p:tav tm="70000">
                                          <p:val>
                                            <p:strVal val="#ppt_w*1.08"/>
                                          </p:val>
                                        </p:tav>
                                        <p:tav tm="100000">
                                          <p:val>
                                            <p:strVal val="#ppt_w"/>
                                          </p:val>
                                        </p:tav>
                                      </p:tavLst>
                                    </p:anim>
                                    <p:anim calcmode="lin" valueType="num">
                                      <p:cBhvr additive="base">
                                        <p:cTn id="66" dur="450" fill="hold"/>
                                        <p:tgtEl>
                                          <p:spTgt spid="17"/>
                                        </p:tgtEl>
                                        <p:attrNameLst>
                                          <p:attrName>ppt_h</p:attrName>
                                        </p:attrNameLst>
                                      </p:cBhvr>
                                      <p:tavLst>
                                        <p:tav tm="0">
                                          <p:val>
                                            <p:strVal val="0"/>
                                          </p:val>
                                        </p:tav>
                                        <p:tav tm="70000">
                                          <p:val>
                                            <p:strVal val="#ppt_h*1.08"/>
                                          </p:val>
                                        </p:tav>
                                        <p:tav tm="100000">
                                          <p:val>
                                            <p:strVal val="#ppt_h"/>
                                          </p:val>
                                        </p:tav>
                                      </p:tavLst>
                                    </p:anim>
                                    <p:animEffect transition="in" filter="fade">
                                      <p:cBhvr>
                                        <p:cTn id="67" dur="270" fill="hold"/>
                                        <p:tgtEl>
                                          <p:spTgt spid="17"/>
                                        </p:tgtEl>
                                      </p:cBhvr>
                                    </p:animEffect>
                                  </p:childTnLst>
                                </p:cTn>
                              </p:par>
                              <p:par>
                                <p:cTn id="68" presetID="42" presetClass="entr" presetSubtype="0" decel="100000" fill="hold" grpId="0" nodeType="withEffect">
                                  <p:stCondLst>
                                    <p:cond delay="117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650" fill="hold"/>
                                        <p:tgtEl>
                                          <p:spTgt spid="18"/>
                                        </p:tgtEl>
                                      </p:cBhvr>
                                    </p:animEffect>
                                    <p:anim calcmode="lin" valueType="num">
                                      <p:cBhvr additive="base">
                                        <p:cTn id="71" dur="650" fill="hold"/>
                                        <p:tgtEl>
                                          <p:spTgt spid="18"/>
                                        </p:tgtEl>
                                        <p:attrNameLst>
                                          <p:attrName>ppt_x</p:attrName>
                                        </p:attrNameLst>
                                      </p:cBhvr>
                                      <p:tavLst>
                                        <p:tav tm="0">
                                          <p:val>
                                            <p:strVal val="#ppt_x"/>
                                          </p:val>
                                        </p:tav>
                                        <p:tav tm="100000">
                                          <p:val>
                                            <p:strVal val="#ppt_x"/>
                                          </p:val>
                                        </p:tav>
                                      </p:tavLst>
                                    </p:anim>
                                    <p:anim calcmode="lin" valueType="num">
                                      <p:cBhvr additive="base">
                                        <p:cTn id="72" dur="650" fill="hold"/>
                                        <p:tgtEl>
                                          <p:spTgt spid="18"/>
                                        </p:tgtEl>
                                        <p:attrNameLst>
                                          <p:attrName>ppt_y</p:attrName>
                                        </p:attrNameLst>
                                      </p:cBhvr>
                                      <p:tavLst>
                                        <p:tav tm="0">
                                          <p:val>
                                            <p:strVal val="#ppt_y+.06"/>
                                          </p:val>
                                        </p:tav>
                                        <p:tav tm="100000">
                                          <p:val>
                                            <p:strVal val="#ppt_y"/>
                                          </p:val>
                                        </p:tav>
                                      </p:tavLst>
                                    </p:anim>
                                  </p:childTnLst>
                                </p:cTn>
                              </p:par>
                              <p:par>
                                <p:cTn id="73" presetID="42" presetClass="entr" presetSubtype="0" decel="100000" fill="hold" grpId="0" nodeType="withEffect">
                                  <p:stCondLst>
                                    <p:cond delay="117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650" fill="hold"/>
                                        <p:tgtEl>
                                          <p:spTgt spid="19"/>
                                        </p:tgtEl>
                                      </p:cBhvr>
                                    </p:animEffect>
                                    <p:anim calcmode="lin" valueType="num">
                                      <p:cBhvr additive="base">
                                        <p:cTn id="76" dur="650" fill="hold"/>
                                        <p:tgtEl>
                                          <p:spTgt spid="19"/>
                                        </p:tgtEl>
                                        <p:attrNameLst>
                                          <p:attrName>ppt_x</p:attrName>
                                        </p:attrNameLst>
                                      </p:cBhvr>
                                      <p:tavLst>
                                        <p:tav tm="0">
                                          <p:val>
                                            <p:strVal val="#ppt_x"/>
                                          </p:val>
                                        </p:tav>
                                        <p:tav tm="100000">
                                          <p:val>
                                            <p:strVal val="#ppt_x"/>
                                          </p:val>
                                        </p:tav>
                                      </p:tavLst>
                                    </p:anim>
                                    <p:anim calcmode="lin" valueType="num">
                                      <p:cBhvr additive="base">
                                        <p:cTn id="77" dur="650" fill="hold"/>
                                        <p:tgtEl>
                                          <p:spTgt spid="19"/>
                                        </p:tgtEl>
                                        <p:attrNameLst>
                                          <p:attrName>ppt_y</p:attrName>
                                        </p:attrNameLst>
                                      </p:cBhvr>
                                      <p:tavLst>
                                        <p:tav tm="0">
                                          <p:val>
                                            <p:strVal val="#ppt_y+.06"/>
                                          </p:val>
                                        </p:tav>
                                        <p:tav tm="100000">
                                          <p:val>
                                            <p:strVal val="#ppt_y"/>
                                          </p:val>
                                        </p:tav>
                                      </p:tavLst>
                                    </p:anim>
                                  </p:childTnLst>
                                </p:cTn>
                              </p:par>
                              <p:par>
                                <p:cTn id="78" presetID="42" presetClass="entr" presetSubtype="0" decel="100000" fill="hold" grpId="0" nodeType="withEffect">
                                  <p:stCondLst>
                                    <p:cond delay="1170"/>
                                  </p:stCondLst>
                                  <p:childTnLst>
                                    <p:set>
                                      <p:cBhvr>
                                        <p:cTn id="79" dur="1" fill="hold">
                                          <p:stCondLst>
                                            <p:cond delay="0"/>
                                          </p:stCondLst>
                                        </p:cTn>
                                        <p:tgtEl>
                                          <p:spTgt spid="20"/>
                                        </p:tgtEl>
                                        <p:attrNameLst>
                                          <p:attrName>style.visibility</p:attrName>
                                        </p:attrNameLst>
                                      </p:cBhvr>
                                      <p:to>
                                        <p:strVal val="visible"/>
                                      </p:to>
                                    </p:set>
                                    <p:animEffect transition="in" filter="fade">
                                      <p:cBhvr>
                                        <p:cTn id="80" dur="650" fill="hold"/>
                                        <p:tgtEl>
                                          <p:spTgt spid="20"/>
                                        </p:tgtEl>
                                      </p:cBhvr>
                                    </p:animEffect>
                                    <p:anim calcmode="lin" valueType="num">
                                      <p:cBhvr additive="base">
                                        <p:cTn id="81" dur="650" fill="hold"/>
                                        <p:tgtEl>
                                          <p:spTgt spid="20"/>
                                        </p:tgtEl>
                                        <p:attrNameLst>
                                          <p:attrName>ppt_x</p:attrName>
                                        </p:attrNameLst>
                                      </p:cBhvr>
                                      <p:tavLst>
                                        <p:tav tm="0">
                                          <p:val>
                                            <p:strVal val="#ppt_x"/>
                                          </p:val>
                                        </p:tav>
                                        <p:tav tm="100000">
                                          <p:val>
                                            <p:strVal val="#ppt_x"/>
                                          </p:val>
                                        </p:tav>
                                      </p:tavLst>
                                    </p:anim>
                                    <p:anim calcmode="lin" valueType="num">
                                      <p:cBhvr additive="base">
                                        <p:cTn id="82" dur="650" fill="hold"/>
                                        <p:tgtEl>
                                          <p:spTgt spid="20"/>
                                        </p:tgtEl>
                                        <p:attrNameLst>
                                          <p:attrName>ppt_y</p:attrName>
                                        </p:attrNameLst>
                                      </p:cBhvr>
                                      <p:tavLst>
                                        <p:tav tm="0">
                                          <p:val>
                                            <p:strVal val="#ppt_y+.06"/>
                                          </p:val>
                                        </p:tav>
                                        <p:tav tm="100000">
                                          <p:val>
                                            <p:strVal val="#ppt_y"/>
                                          </p:val>
                                        </p:tav>
                                      </p:tavLst>
                                    </p:anim>
                                  </p:childTnLst>
                                </p:cTn>
                              </p:par>
                              <p:par>
                                <p:cTn id="83" presetID="53" presetClass="entr" presetSubtype="16" decel="100000" fill="hold" grpId="0" nodeType="withEffect">
                                  <p:stCondLst>
                                    <p:cond delay="1320"/>
                                  </p:stCondLst>
                                  <p:childTnLst>
                                    <p:set>
                                      <p:cBhvr>
                                        <p:cTn id="84" dur="1" fill="hold">
                                          <p:stCondLst>
                                            <p:cond delay="0"/>
                                          </p:stCondLst>
                                        </p:cTn>
                                        <p:tgtEl>
                                          <p:spTgt spid="21"/>
                                        </p:tgtEl>
                                        <p:attrNameLst>
                                          <p:attrName>style.visibility</p:attrName>
                                        </p:attrNameLst>
                                      </p:cBhvr>
                                      <p:to>
                                        <p:strVal val="visible"/>
                                      </p:to>
                                    </p:set>
                                    <p:anim calcmode="lin" valueType="num">
                                      <p:cBhvr additive="base">
                                        <p:cTn id="85" dur="450" fill="hold"/>
                                        <p:tgtEl>
                                          <p:spTgt spid="21"/>
                                        </p:tgtEl>
                                        <p:attrNameLst>
                                          <p:attrName>ppt_w</p:attrName>
                                        </p:attrNameLst>
                                      </p:cBhvr>
                                      <p:tavLst>
                                        <p:tav tm="0">
                                          <p:val>
                                            <p:strVal val="0"/>
                                          </p:val>
                                        </p:tav>
                                        <p:tav tm="70000">
                                          <p:val>
                                            <p:strVal val="#ppt_w*1.08"/>
                                          </p:val>
                                        </p:tav>
                                        <p:tav tm="100000">
                                          <p:val>
                                            <p:strVal val="#ppt_w"/>
                                          </p:val>
                                        </p:tav>
                                      </p:tavLst>
                                    </p:anim>
                                    <p:anim calcmode="lin" valueType="num">
                                      <p:cBhvr additive="base">
                                        <p:cTn id="86" dur="450" fill="hold"/>
                                        <p:tgtEl>
                                          <p:spTgt spid="21"/>
                                        </p:tgtEl>
                                        <p:attrNameLst>
                                          <p:attrName>ppt_h</p:attrName>
                                        </p:attrNameLst>
                                      </p:cBhvr>
                                      <p:tavLst>
                                        <p:tav tm="0">
                                          <p:val>
                                            <p:strVal val="0"/>
                                          </p:val>
                                        </p:tav>
                                        <p:tav tm="70000">
                                          <p:val>
                                            <p:strVal val="#ppt_h*1.08"/>
                                          </p:val>
                                        </p:tav>
                                        <p:tav tm="100000">
                                          <p:val>
                                            <p:strVal val="#ppt_h"/>
                                          </p:val>
                                        </p:tav>
                                      </p:tavLst>
                                    </p:anim>
                                    <p:animEffect transition="in" filter="fade">
                                      <p:cBhvr>
                                        <p:cTn id="87" dur="270" fill="hold"/>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9CD848"/>
                </a:solidFill>
                <a:latin typeface="Segoe UI Semibold"/>
              </a:rPr>
              <a:t>AGENDA</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Nossa jornada: 12 horas em 3 encontros</a:t>
            </a:r>
          </a:p>
        </p:txBody>
      </p:sp>
      <p:sp>
        <p:nvSpPr>
          <p:cNvPr id="6" name="Rounded Rectangle 5"/>
          <p:cNvSpPr/>
          <p:nvPr/>
        </p:nvSpPr>
        <p:spPr>
          <a:xfrm>
            <a:off x="548640" y="1600200"/>
            <a:ext cx="3474720" cy="434340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22959" y="1783080"/>
            <a:ext cx="3017520" cy="320040"/>
          </a:xfrm>
          <a:prstGeom prst="rect">
            <a:avLst/>
          </a:prstGeom>
          <a:noFill/>
        </p:spPr>
        <p:txBody>
          <a:bodyPr wrap="square" lIns="36576" tIns="18288" rIns="36576" bIns="18288" anchor="t">
            <a:spAutoFit/>
          </a:bodyPr>
          <a:lstStyle/>
          <a:p>
            <a:pPr algn="l"/>
            <a:r>
              <a:rPr sz="1100" b="1" i="0" spc="150">
                <a:solidFill>
                  <a:srgbClr val="9CD848"/>
                </a:solidFill>
                <a:latin typeface="Segoe UI Semibold"/>
              </a:rPr>
              <a:t>ENCONTRO 1  ·  4H</a:t>
            </a:r>
          </a:p>
        </p:txBody>
      </p:sp>
      <p:sp>
        <p:nvSpPr>
          <p:cNvPr id="8" name="TextBox 7"/>
          <p:cNvSpPr txBox="1"/>
          <p:nvPr/>
        </p:nvSpPr>
        <p:spPr>
          <a:xfrm>
            <a:off x="822959" y="2103120"/>
            <a:ext cx="3017520" cy="822960"/>
          </a:xfrm>
          <a:prstGeom prst="rect">
            <a:avLst/>
          </a:prstGeom>
          <a:noFill/>
        </p:spPr>
        <p:txBody>
          <a:bodyPr wrap="square" lIns="36576" tIns="18288" rIns="36576" bIns="18288" anchor="t">
            <a:spAutoFit/>
          </a:bodyPr>
          <a:lstStyle/>
          <a:p>
            <a:pPr algn="l"/>
            <a:r>
              <a:rPr sz="1900" b="1" i="0">
                <a:solidFill>
                  <a:srgbClr val="F2F2EC"/>
                </a:solidFill>
                <a:latin typeface="Segoe UI Semibold"/>
              </a:rPr>
              <a:t>Fundamentos e Empatia</a:t>
            </a:r>
          </a:p>
        </p:txBody>
      </p:sp>
      <p:sp>
        <p:nvSpPr>
          <p:cNvPr id="9" name="Oval 8"/>
          <p:cNvSpPr/>
          <p:nvPr/>
        </p:nvSpPr>
        <p:spPr>
          <a:xfrm>
            <a:off x="841247" y="3035808"/>
            <a:ext cx="420624" cy="420624"/>
          </a:xfrm>
          <a:prstGeom prst="ellipse">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200" b="1" i="0">
                <a:solidFill>
                  <a:srgbClr val="1A1A1A"/>
                </a:solidFill>
                <a:latin typeface="Segoe UI Semibold"/>
              </a:rPr>
              <a:t>01</a:t>
            </a:r>
          </a:p>
        </p:txBody>
      </p:sp>
      <p:sp>
        <p:nvSpPr>
          <p:cNvPr id="10" name="TextBox 9"/>
          <p:cNvSpPr txBox="1"/>
          <p:nvPr/>
        </p:nvSpPr>
        <p:spPr>
          <a:xfrm>
            <a:off x="1417319" y="3035808"/>
            <a:ext cx="2468880" cy="457200"/>
          </a:xfrm>
          <a:prstGeom prst="rect">
            <a:avLst/>
          </a:prstGeom>
          <a:noFill/>
        </p:spPr>
        <p:txBody>
          <a:bodyPr wrap="square" lIns="36576" tIns="18288" rIns="36576" bIns="18288" anchor="ctr">
            <a:spAutoFit/>
          </a:bodyPr>
          <a:lstStyle/>
          <a:p>
            <a:pPr algn="l"/>
            <a:r>
              <a:rPr sz="1400" b="1" i="0">
                <a:solidFill>
                  <a:srgbClr val="F2F2EC"/>
                </a:solidFill>
                <a:latin typeface="Segoe UI Semibold"/>
              </a:rPr>
              <a:t>Design como ferramenta de inovação</a:t>
            </a:r>
          </a:p>
        </p:txBody>
      </p:sp>
      <p:sp>
        <p:nvSpPr>
          <p:cNvPr id="11" name="Oval 10"/>
          <p:cNvSpPr/>
          <p:nvPr/>
        </p:nvSpPr>
        <p:spPr>
          <a:xfrm>
            <a:off x="841247" y="3630167"/>
            <a:ext cx="420624" cy="420624"/>
          </a:xfrm>
          <a:prstGeom prst="ellipse">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200" b="1" i="0">
                <a:solidFill>
                  <a:srgbClr val="1A1A1A"/>
                </a:solidFill>
                <a:latin typeface="Segoe UI Semibold"/>
              </a:rPr>
              <a:t>02</a:t>
            </a:r>
          </a:p>
        </p:txBody>
      </p:sp>
      <p:sp>
        <p:nvSpPr>
          <p:cNvPr id="12" name="TextBox 11"/>
          <p:cNvSpPr txBox="1"/>
          <p:nvPr/>
        </p:nvSpPr>
        <p:spPr>
          <a:xfrm>
            <a:off x="1417319" y="3630168"/>
            <a:ext cx="2468880" cy="457200"/>
          </a:xfrm>
          <a:prstGeom prst="rect">
            <a:avLst/>
          </a:prstGeom>
          <a:noFill/>
        </p:spPr>
        <p:txBody>
          <a:bodyPr wrap="square" lIns="36576" tIns="18288" rIns="36576" bIns="18288" anchor="ctr">
            <a:spAutoFit/>
          </a:bodyPr>
          <a:lstStyle/>
          <a:p>
            <a:pPr algn="l"/>
            <a:r>
              <a:rPr sz="1400" b="1" i="0">
                <a:solidFill>
                  <a:srgbClr val="F2F2EC"/>
                </a:solidFill>
                <a:latin typeface="Segoe UI Semibold"/>
              </a:rPr>
              <a:t>Empatizar</a:t>
            </a:r>
          </a:p>
        </p:txBody>
      </p:sp>
      <p:sp>
        <p:nvSpPr>
          <p:cNvPr id="13" name="Oval 12"/>
          <p:cNvSpPr/>
          <p:nvPr/>
        </p:nvSpPr>
        <p:spPr>
          <a:xfrm>
            <a:off x="841247" y="4224527"/>
            <a:ext cx="420624" cy="420624"/>
          </a:xfrm>
          <a:prstGeom prst="ellipse">
            <a:avLst/>
          </a:prstGeom>
          <a:solidFill>
            <a:srgbClr val="2E3431"/>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200" b="1" i="0">
                <a:solidFill>
                  <a:srgbClr val="9CD848"/>
                </a:solidFill>
                <a:latin typeface="Segoe UI Semibold"/>
              </a:rPr>
              <a:t>★</a:t>
            </a:r>
          </a:p>
        </p:txBody>
      </p:sp>
      <p:sp>
        <p:nvSpPr>
          <p:cNvPr id="14" name="TextBox 13"/>
          <p:cNvSpPr txBox="1"/>
          <p:nvPr/>
        </p:nvSpPr>
        <p:spPr>
          <a:xfrm>
            <a:off x="1417319" y="4224527"/>
            <a:ext cx="2468880" cy="457200"/>
          </a:xfrm>
          <a:prstGeom prst="rect">
            <a:avLst/>
          </a:prstGeom>
          <a:noFill/>
        </p:spPr>
        <p:txBody>
          <a:bodyPr wrap="square" lIns="36576" tIns="18288" rIns="36576" bIns="18288" anchor="ctr">
            <a:spAutoFit/>
          </a:bodyPr>
          <a:lstStyle/>
          <a:p>
            <a:pPr algn="l"/>
            <a:r>
              <a:rPr sz="1400" b="1" i="0">
                <a:solidFill>
                  <a:srgbClr val="F2F2EC"/>
                </a:solidFill>
                <a:latin typeface="Segoe UI Semibold"/>
              </a:rPr>
              <a:t>Dinâmicas 1 e 2</a:t>
            </a:r>
          </a:p>
        </p:txBody>
      </p:sp>
      <p:sp>
        <p:nvSpPr>
          <p:cNvPr id="15" name="Rounded Rectangle 14"/>
          <p:cNvSpPr/>
          <p:nvPr/>
        </p:nvSpPr>
        <p:spPr>
          <a:xfrm>
            <a:off x="4297679" y="1600200"/>
            <a:ext cx="3474720" cy="434340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4571999" y="1783080"/>
            <a:ext cx="3017520" cy="320040"/>
          </a:xfrm>
          <a:prstGeom prst="rect">
            <a:avLst/>
          </a:prstGeom>
          <a:noFill/>
        </p:spPr>
        <p:txBody>
          <a:bodyPr wrap="square" lIns="36576" tIns="18288" rIns="36576" bIns="18288" anchor="t">
            <a:spAutoFit/>
          </a:bodyPr>
          <a:lstStyle/>
          <a:p>
            <a:pPr algn="l"/>
            <a:r>
              <a:rPr sz="1100" b="1" i="0" spc="150">
                <a:solidFill>
                  <a:srgbClr val="2FA38A"/>
                </a:solidFill>
                <a:latin typeface="Segoe UI Semibold"/>
              </a:rPr>
              <a:t>ENCONTRO 2  ·  4H</a:t>
            </a:r>
          </a:p>
        </p:txBody>
      </p:sp>
      <p:sp>
        <p:nvSpPr>
          <p:cNvPr id="17" name="TextBox 16"/>
          <p:cNvSpPr txBox="1"/>
          <p:nvPr/>
        </p:nvSpPr>
        <p:spPr>
          <a:xfrm>
            <a:off x="4571999" y="2103120"/>
            <a:ext cx="3017520" cy="822960"/>
          </a:xfrm>
          <a:prstGeom prst="rect">
            <a:avLst/>
          </a:prstGeom>
          <a:noFill/>
        </p:spPr>
        <p:txBody>
          <a:bodyPr wrap="square" lIns="36576" tIns="18288" rIns="36576" bIns="18288" anchor="t">
            <a:spAutoFit/>
          </a:bodyPr>
          <a:lstStyle/>
          <a:p>
            <a:pPr algn="l"/>
            <a:r>
              <a:rPr sz="1900" b="1" i="0">
                <a:solidFill>
                  <a:srgbClr val="F2F2EC"/>
                </a:solidFill>
                <a:latin typeface="Segoe UI Semibold"/>
              </a:rPr>
              <a:t>Definir e Idear</a:t>
            </a:r>
          </a:p>
        </p:txBody>
      </p:sp>
      <p:sp>
        <p:nvSpPr>
          <p:cNvPr id="18" name="Oval 17"/>
          <p:cNvSpPr/>
          <p:nvPr/>
        </p:nvSpPr>
        <p:spPr>
          <a:xfrm>
            <a:off x="4590287" y="3035808"/>
            <a:ext cx="420624" cy="420624"/>
          </a:xfrm>
          <a:prstGeom prst="ellipse">
            <a:avLst/>
          </a:prstGeom>
          <a:solidFill>
            <a:srgbClr val="4DB35A"/>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200" b="1" i="0">
                <a:solidFill>
                  <a:srgbClr val="1A1A1A"/>
                </a:solidFill>
                <a:latin typeface="Segoe UI Semibold"/>
              </a:rPr>
              <a:t>03</a:t>
            </a:r>
          </a:p>
        </p:txBody>
      </p:sp>
      <p:sp>
        <p:nvSpPr>
          <p:cNvPr id="19" name="TextBox 18"/>
          <p:cNvSpPr txBox="1"/>
          <p:nvPr/>
        </p:nvSpPr>
        <p:spPr>
          <a:xfrm>
            <a:off x="5166359" y="3035808"/>
            <a:ext cx="2468880" cy="457200"/>
          </a:xfrm>
          <a:prstGeom prst="rect">
            <a:avLst/>
          </a:prstGeom>
          <a:noFill/>
        </p:spPr>
        <p:txBody>
          <a:bodyPr wrap="square" lIns="36576" tIns="18288" rIns="36576" bIns="18288" anchor="ctr">
            <a:spAutoFit/>
          </a:bodyPr>
          <a:lstStyle/>
          <a:p>
            <a:pPr algn="l"/>
            <a:r>
              <a:rPr sz="1400" b="1" i="0">
                <a:solidFill>
                  <a:srgbClr val="F2F2EC"/>
                </a:solidFill>
                <a:latin typeface="Segoe UI Semibold"/>
              </a:rPr>
              <a:t>Definir</a:t>
            </a:r>
          </a:p>
        </p:txBody>
      </p:sp>
      <p:sp>
        <p:nvSpPr>
          <p:cNvPr id="20" name="Oval 19"/>
          <p:cNvSpPr/>
          <p:nvPr/>
        </p:nvSpPr>
        <p:spPr>
          <a:xfrm>
            <a:off x="4590287" y="3630167"/>
            <a:ext cx="420624" cy="420624"/>
          </a:xfrm>
          <a:prstGeom prst="ellipse">
            <a:avLst/>
          </a:prstGeom>
          <a:solidFill>
            <a:srgbClr val="2FA38A"/>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200" b="1" i="0">
                <a:solidFill>
                  <a:srgbClr val="1A1A1A"/>
                </a:solidFill>
                <a:latin typeface="Segoe UI Semibold"/>
              </a:rPr>
              <a:t>04</a:t>
            </a:r>
          </a:p>
        </p:txBody>
      </p:sp>
      <p:sp>
        <p:nvSpPr>
          <p:cNvPr id="21" name="TextBox 20"/>
          <p:cNvSpPr txBox="1"/>
          <p:nvPr/>
        </p:nvSpPr>
        <p:spPr>
          <a:xfrm>
            <a:off x="5166359" y="3630168"/>
            <a:ext cx="2468880" cy="457200"/>
          </a:xfrm>
          <a:prstGeom prst="rect">
            <a:avLst/>
          </a:prstGeom>
          <a:noFill/>
        </p:spPr>
        <p:txBody>
          <a:bodyPr wrap="square" lIns="36576" tIns="18288" rIns="36576" bIns="18288" anchor="ctr">
            <a:spAutoFit/>
          </a:bodyPr>
          <a:lstStyle/>
          <a:p>
            <a:pPr algn="l"/>
            <a:r>
              <a:rPr sz="1400" b="1" i="0">
                <a:solidFill>
                  <a:srgbClr val="F2F2EC"/>
                </a:solidFill>
                <a:latin typeface="Segoe UI Semibold"/>
              </a:rPr>
              <a:t>Idear</a:t>
            </a:r>
          </a:p>
        </p:txBody>
      </p:sp>
      <p:sp>
        <p:nvSpPr>
          <p:cNvPr id="22" name="Oval 21"/>
          <p:cNvSpPr/>
          <p:nvPr/>
        </p:nvSpPr>
        <p:spPr>
          <a:xfrm>
            <a:off x="4590287" y="4224527"/>
            <a:ext cx="420624" cy="420624"/>
          </a:xfrm>
          <a:prstGeom prst="ellipse">
            <a:avLst/>
          </a:prstGeom>
          <a:solidFill>
            <a:srgbClr val="2E3431"/>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200" b="1" i="0">
                <a:solidFill>
                  <a:srgbClr val="9CD848"/>
                </a:solidFill>
                <a:latin typeface="Segoe UI Semibold"/>
              </a:rPr>
              <a:t>★</a:t>
            </a:r>
          </a:p>
        </p:txBody>
      </p:sp>
      <p:sp>
        <p:nvSpPr>
          <p:cNvPr id="23" name="TextBox 22"/>
          <p:cNvSpPr txBox="1"/>
          <p:nvPr/>
        </p:nvSpPr>
        <p:spPr>
          <a:xfrm>
            <a:off x="5166359" y="4224527"/>
            <a:ext cx="2468880" cy="457200"/>
          </a:xfrm>
          <a:prstGeom prst="rect">
            <a:avLst/>
          </a:prstGeom>
          <a:noFill/>
        </p:spPr>
        <p:txBody>
          <a:bodyPr wrap="square" lIns="36576" tIns="18288" rIns="36576" bIns="18288" anchor="ctr">
            <a:spAutoFit/>
          </a:bodyPr>
          <a:lstStyle/>
          <a:p>
            <a:pPr algn="l"/>
            <a:r>
              <a:rPr sz="1400" b="1" i="0">
                <a:solidFill>
                  <a:srgbClr val="F2F2EC"/>
                </a:solidFill>
                <a:latin typeface="Segoe UI Semibold"/>
              </a:rPr>
              <a:t>Dinâmicas 3 e 4</a:t>
            </a:r>
          </a:p>
        </p:txBody>
      </p:sp>
      <p:sp>
        <p:nvSpPr>
          <p:cNvPr id="24" name="Rounded Rectangle 23"/>
          <p:cNvSpPr/>
          <p:nvPr/>
        </p:nvSpPr>
        <p:spPr>
          <a:xfrm>
            <a:off x="8046719" y="1600200"/>
            <a:ext cx="3474720" cy="434340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321040" y="1783080"/>
            <a:ext cx="3017520" cy="320040"/>
          </a:xfrm>
          <a:prstGeom prst="rect">
            <a:avLst/>
          </a:prstGeom>
          <a:noFill/>
        </p:spPr>
        <p:txBody>
          <a:bodyPr wrap="square" lIns="36576" tIns="18288" rIns="36576" bIns="18288" anchor="t">
            <a:spAutoFit/>
          </a:bodyPr>
          <a:lstStyle/>
          <a:p>
            <a:pPr algn="l"/>
            <a:r>
              <a:rPr sz="1100" b="1" i="0" spc="150">
                <a:solidFill>
                  <a:srgbClr val="2A9FC0"/>
                </a:solidFill>
                <a:latin typeface="Segoe UI Semibold"/>
              </a:rPr>
              <a:t>ENCONTRO 3  ·  4H</a:t>
            </a:r>
          </a:p>
        </p:txBody>
      </p:sp>
      <p:sp>
        <p:nvSpPr>
          <p:cNvPr id="26" name="TextBox 25"/>
          <p:cNvSpPr txBox="1"/>
          <p:nvPr/>
        </p:nvSpPr>
        <p:spPr>
          <a:xfrm>
            <a:off x="8321040" y="2103120"/>
            <a:ext cx="3017520" cy="822960"/>
          </a:xfrm>
          <a:prstGeom prst="rect">
            <a:avLst/>
          </a:prstGeom>
          <a:noFill/>
        </p:spPr>
        <p:txBody>
          <a:bodyPr wrap="square" lIns="36576" tIns="18288" rIns="36576" bIns="18288" anchor="t">
            <a:spAutoFit/>
          </a:bodyPr>
          <a:lstStyle/>
          <a:p>
            <a:pPr algn="l"/>
            <a:r>
              <a:rPr sz="1900" b="1" i="0">
                <a:solidFill>
                  <a:srgbClr val="F2F2EC"/>
                </a:solidFill>
                <a:latin typeface="Segoe UI Semibold"/>
              </a:rPr>
              <a:t>Prototipar, Testar e Aplicar</a:t>
            </a:r>
          </a:p>
        </p:txBody>
      </p:sp>
      <p:sp>
        <p:nvSpPr>
          <p:cNvPr id="27" name="Oval 26"/>
          <p:cNvSpPr/>
          <p:nvPr/>
        </p:nvSpPr>
        <p:spPr>
          <a:xfrm>
            <a:off x="8339327" y="3035808"/>
            <a:ext cx="420624" cy="420624"/>
          </a:xfrm>
          <a:prstGeom prst="ellipse">
            <a:avLst/>
          </a:prstGeom>
          <a:solidFill>
            <a:srgbClr val="2A9FC0"/>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200" b="1" i="0">
                <a:solidFill>
                  <a:srgbClr val="1A1A1A"/>
                </a:solidFill>
                <a:latin typeface="Segoe UI Semibold"/>
              </a:rPr>
              <a:t>05</a:t>
            </a:r>
          </a:p>
        </p:txBody>
      </p:sp>
      <p:sp>
        <p:nvSpPr>
          <p:cNvPr id="28" name="TextBox 27"/>
          <p:cNvSpPr txBox="1"/>
          <p:nvPr/>
        </p:nvSpPr>
        <p:spPr>
          <a:xfrm>
            <a:off x="8915399" y="3035808"/>
            <a:ext cx="2468880" cy="457200"/>
          </a:xfrm>
          <a:prstGeom prst="rect">
            <a:avLst/>
          </a:prstGeom>
          <a:noFill/>
        </p:spPr>
        <p:txBody>
          <a:bodyPr wrap="square" lIns="36576" tIns="18288" rIns="36576" bIns="18288" anchor="ctr">
            <a:spAutoFit/>
          </a:bodyPr>
          <a:lstStyle/>
          <a:p>
            <a:pPr algn="l"/>
            <a:r>
              <a:rPr sz="1400" b="1" i="0">
                <a:solidFill>
                  <a:srgbClr val="F2F2EC"/>
                </a:solidFill>
                <a:latin typeface="Segoe UI Semibold"/>
              </a:rPr>
              <a:t>Prototipar e testar</a:t>
            </a:r>
          </a:p>
        </p:txBody>
      </p:sp>
      <p:sp>
        <p:nvSpPr>
          <p:cNvPr id="29" name="Oval 28"/>
          <p:cNvSpPr/>
          <p:nvPr/>
        </p:nvSpPr>
        <p:spPr>
          <a:xfrm>
            <a:off x="8339327" y="3630167"/>
            <a:ext cx="420624" cy="420624"/>
          </a:xfrm>
          <a:prstGeom prst="ellipse">
            <a:avLst/>
          </a:prstGeom>
          <a:solidFill>
            <a:srgbClr val="1F7FA8"/>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200" b="1" i="0">
                <a:solidFill>
                  <a:srgbClr val="1A1A1A"/>
                </a:solidFill>
                <a:latin typeface="Segoe UI Semibold"/>
              </a:rPr>
              <a:t>06</a:t>
            </a:r>
          </a:p>
        </p:txBody>
      </p:sp>
      <p:sp>
        <p:nvSpPr>
          <p:cNvPr id="30" name="TextBox 29"/>
          <p:cNvSpPr txBox="1"/>
          <p:nvPr/>
        </p:nvSpPr>
        <p:spPr>
          <a:xfrm>
            <a:off x="8915399" y="3630168"/>
            <a:ext cx="2468880" cy="457200"/>
          </a:xfrm>
          <a:prstGeom prst="rect">
            <a:avLst/>
          </a:prstGeom>
          <a:noFill/>
        </p:spPr>
        <p:txBody>
          <a:bodyPr wrap="square" lIns="36576" tIns="18288" rIns="36576" bIns="18288" anchor="ctr">
            <a:spAutoFit/>
          </a:bodyPr>
          <a:lstStyle/>
          <a:p>
            <a:pPr algn="l"/>
            <a:r>
              <a:rPr sz="1400" b="1" i="0">
                <a:solidFill>
                  <a:srgbClr val="F2F2EC"/>
                </a:solidFill>
                <a:latin typeface="Segoe UI Semibold"/>
              </a:rPr>
              <a:t>Estudo de caso</a:t>
            </a:r>
          </a:p>
        </p:txBody>
      </p:sp>
      <p:sp>
        <p:nvSpPr>
          <p:cNvPr id="31" name="Oval 30"/>
          <p:cNvSpPr/>
          <p:nvPr/>
        </p:nvSpPr>
        <p:spPr>
          <a:xfrm>
            <a:off x="8339327" y="4224527"/>
            <a:ext cx="420624" cy="420624"/>
          </a:xfrm>
          <a:prstGeom prst="ellipse">
            <a:avLst/>
          </a:prstGeom>
          <a:solidFill>
            <a:srgbClr val="2E3431"/>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200" b="1" i="0">
                <a:solidFill>
                  <a:srgbClr val="9CD848"/>
                </a:solidFill>
                <a:latin typeface="Segoe UI Semibold"/>
              </a:rPr>
              <a:t>★</a:t>
            </a:r>
          </a:p>
        </p:txBody>
      </p:sp>
      <p:sp>
        <p:nvSpPr>
          <p:cNvPr id="32" name="TextBox 31"/>
          <p:cNvSpPr txBox="1"/>
          <p:nvPr/>
        </p:nvSpPr>
        <p:spPr>
          <a:xfrm>
            <a:off x="8915399" y="4224527"/>
            <a:ext cx="2468880" cy="457200"/>
          </a:xfrm>
          <a:prstGeom prst="rect">
            <a:avLst/>
          </a:prstGeom>
          <a:noFill/>
        </p:spPr>
        <p:txBody>
          <a:bodyPr wrap="square" lIns="36576" tIns="18288" rIns="36576" bIns="18288" anchor="ctr">
            <a:spAutoFit/>
          </a:bodyPr>
          <a:lstStyle/>
          <a:p>
            <a:pPr algn="l"/>
            <a:r>
              <a:rPr sz="1400" b="1" i="0">
                <a:solidFill>
                  <a:srgbClr val="F2F2EC"/>
                </a:solidFill>
                <a:latin typeface="Segoe UI Semibold"/>
              </a:rPr>
              <a:t>Desafio Final</a:t>
            </a:r>
          </a:p>
        </p:txBody>
      </p:sp>
      <p:sp>
        <p:nvSpPr>
          <p:cNvPr id="33" name="Oval 32"/>
          <p:cNvSpPr/>
          <p:nvPr/>
        </p:nvSpPr>
        <p:spPr>
          <a:xfrm>
            <a:off x="8339327" y="4818888"/>
            <a:ext cx="420624" cy="420624"/>
          </a:xfrm>
          <a:prstGeom prst="ellipse">
            <a:avLst/>
          </a:prstGeom>
          <a:solidFill>
            <a:srgbClr val="2E3431"/>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200" b="1" i="0">
                <a:solidFill>
                  <a:srgbClr val="9CD848"/>
                </a:solidFill>
                <a:latin typeface="Segoe UI Semibold"/>
              </a:rPr>
              <a:t>★</a:t>
            </a:r>
          </a:p>
        </p:txBody>
      </p:sp>
      <p:sp>
        <p:nvSpPr>
          <p:cNvPr id="34" name="TextBox 33"/>
          <p:cNvSpPr txBox="1"/>
          <p:nvPr/>
        </p:nvSpPr>
        <p:spPr>
          <a:xfrm>
            <a:off x="8915399" y="4818888"/>
            <a:ext cx="2468880" cy="457200"/>
          </a:xfrm>
          <a:prstGeom prst="rect">
            <a:avLst/>
          </a:prstGeom>
          <a:noFill/>
        </p:spPr>
        <p:txBody>
          <a:bodyPr wrap="square" lIns="36576" tIns="18288" rIns="36576" bIns="18288" anchor="ctr">
            <a:spAutoFit/>
          </a:bodyPr>
          <a:lstStyle/>
          <a:p>
            <a:pPr algn="l"/>
            <a:r>
              <a:rPr sz="1400" b="1" i="0">
                <a:solidFill>
                  <a:srgbClr val="F2F2EC"/>
                </a:solidFill>
                <a:latin typeface="Segoe UI Semibold"/>
              </a:rPr>
              <a:t>Prova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42" presetClass="entr" presetSubtype="0" decel="100000" fill="hold" grpId="0" nodeType="withEffect">
                                  <p:stCondLst>
                                    <p:cond delay="15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50" fill="hold"/>
                                        <p:tgtEl>
                                          <p:spTgt spid="6"/>
                                        </p:tgtEl>
                                      </p:cBhvr>
                                    </p:animEffect>
                                    <p:anim calcmode="lin" valueType="num">
                                      <p:cBhvr additive="base">
                                        <p:cTn id="11" dur="650" fill="hold"/>
                                        <p:tgtEl>
                                          <p:spTgt spid="6"/>
                                        </p:tgtEl>
                                        <p:attrNameLst>
                                          <p:attrName>ppt_x</p:attrName>
                                        </p:attrNameLst>
                                      </p:cBhvr>
                                      <p:tavLst>
                                        <p:tav tm="0">
                                          <p:val>
                                            <p:strVal val="#ppt_x"/>
                                          </p:val>
                                        </p:tav>
                                        <p:tav tm="100000">
                                          <p:val>
                                            <p:strVal val="#ppt_x"/>
                                          </p:val>
                                        </p:tav>
                                      </p:tavLst>
                                    </p:anim>
                                    <p:anim calcmode="lin" valueType="num">
                                      <p:cBhvr additive="base">
                                        <p:cTn id="12" dur="650" fill="hold"/>
                                        <p:tgtEl>
                                          <p:spTgt spid="6"/>
                                        </p:tgtEl>
                                        <p:attrNameLst>
                                          <p:attrName>ppt_y</p:attrName>
                                        </p:attrNameLst>
                                      </p:cBhvr>
                                      <p:tavLst>
                                        <p:tav tm="0">
                                          <p:val>
                                            <p:strVal val="#ppt_y+.06"/>
                                          </p:val>
                                        </p:tav>
                                        <p:tav tm="100000">
                                          <p:val>
                                            <p:strVal val="#ppt_y"/>
                                          </p:val>
                                        </p:tav>
                                      </p:tavLst>
                                    </p:anim>
                                  </p:childTnLst>
                                </p:cTn>
                              </p:par>
                              <p:par>
                                <p:cTn id="13" presetID="42" presetClass="entr" presetSubtype="0" decel="100000" fill="hold" grpId="0" nodeType="withEffect">
                                  <p:stCondLst>
                                    <p:cond delay="15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fill="hold"/>
                                        <p:tgtEl>
                                          <p:spTgt spid="7"/>
                                        </p:tgtEl>
                                      </p:cBhvr>
                                    </p:animEffect>
                                    <p:anim calcmode="lin" valueType="num">
                                      <p:cBhvr additive="base">
                                        <p:cTn id="16" dur="650" fill="hold"/>
                                        <p:tgtEl>
                                          <p:spTgt spid="7"/>
                                        </p:tgtEl>
                                        <p:attrNameLst>
                                          <p:attrName>ppt_x</p:attrName>
                                        </p:attrNameLst>
                                      </p:cBhvr>
                                      <p:tavLst>
                                        <p:tav tm="0">
                                          <p:val>
                                            <p:strVal val="#ppt_x"/>
                                          </p:val>
                                        </p:tav>
                                        <p:tav tm="100000">
                                          <p:val>
                                            <p:strVal val="#ppt_x"/>
                                          </p:val>
                                        </p:tav>
                                      </p:tavLst>
                                    </p:anim>
                                    <p:anim calcmode="lin" valueType="num">
                                      <p:cBhvr additive="base">
                                        <p:cTn id="17" dur="650" fill="hold"/>
                                        <p:tgtEl>
                                          <p:spTgt spid="7"/>
                                        </p:tgtEl>
                                        <p:attrNameLst>
                                          <p:attrName>ppt_y</p:attrName>
                                        </p:attrNameLst>
                                      </p:cBhvr>
                                      <p:tavLst>
                                        <p:tav tm="0">
                                          <p:val>
                                            <p:strVal val="#ppt_y+.06"/>
                                          </p:val>
                                        </p:tav>
                                        <p:tav tm="100000">
                                          <p:val>
                                            <p:strVal val="#ppt_y"/>
                                          </p:val>
                                        </p:tav>
                                      </p:tavLst>
                                    </p:anim>
                                  </p:childTnLst>
                                </p:cTn>
                              </p:par>
                              <p:par>
                                <p:cTn id="18" presetID="42" presetClass="entr" presetSubtype="0" decel="100000" fill="hold" grpId="0" nodeType="withEffect">
                                  <p:stCondLst>
                                    <p:cond delay="15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650" fill="hold"/>
                                        <p:tgtEl>
                                          <p:spTgt spid="8"/>
                                        </p:tgtEl>
                                      </p:cBhvr>
                                    </p:animEffect>
                                    <p:anim calcmode="lin" valueType="num">
                                      <p:cBhvr additive="base">
                                        <p:cTn id="21" dur="650" fill="hold"/>
                                        <p:tgtEl>
                                          <p:spTgt spid="8"/>
                                        </p:tgtEl>
                                        <p:attrNameLst>
                                          <p:attrName>ppt_x</p:attrName>
                                        </p:attrNameLst>
                                      </p:cBhvr>
                                      <p:tavLst>
                                        <p:tav tm="0">
                                          <p:val>
                                            <p:strVal val="#ppt_x"/>
                                          </p:val>
                                        </p:tav>
                                        <p:tav tm="100000">
                                          <p:val>
                                            <p:strVal val="#ppt_x"/>
                                          </p:val>
                                        </p:tav>
                                      </p:tavLst>
                                    </p:anim>
                                    <p:anim calcmode="lin" valueType="num">
                                      <p:cBhvr additive="base">
                                        <p:cTn id="22" dur="650" fill="hold"/>
                                        <p:tgtEl>
                                          <p:spTgt spid="8"/>
                                        </p:tgtEl>
                                        <p:attrNameLst>
                                          <p:attrName>ppt_y</p:attrName>
                                        </p:attrNameLst>
                                      </p:cBhvr>
                                      <p:tavLst>
                                        <p:tav tm="0">
                                          <p:val>
                                            <p:strVal val="#ppt_y+.06"/>
                                          </p:val>
                                        </p:tav>
                                        <p:tav tm="100000">
                                          <p:val>
                                            <p:strVal val="#ppt_y"/>
                                          </p:val>
                                        </p:tav>
                                      </p:tavLst>
                                    </p:anim>
                                  </p:childTnLst>
                                </p:cTn>
                              </p:par>
                              <p:par>
                                <p:cTn id="23" presetID="10" presetClass="entr" presetSubtype="0" fill="hold" grpId="0" nodeType="withEffect">
                                  <p:stCondLst>
                                    <p:cond delay="25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fill="hold"/>
                                        <p:tgtEl>
                                          <p:spTgt spid="9"/>
                                        </p:tgtEl>
                                      </p:cBhvr>
                                    </p:animEffect>
                                  </p:childTnLst>
                                </p:cTn>
                              </p:par>
                              <p:par>
                                <p:cTn id="26" presetID="10" presetClass="entr" presetSubtype="0" fill="hold" grpId="0" nodeType="withEffect">
                                  <p:stCondLst>
                                    <p:cond delay="25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fill="hold"/>
                                        <p:tgtEl>
                                          <p:spTgt spid="10"/>
                                        </p:tgtEl>
                                      </p:cBhvr>
                                    </p:animEffect>
                                  </p:childTnLst>
                                </p:cTn>
                              </p:par>
                              <p:par>
                                <p:cTn id="29" presetID="10" presetClass="entr" presetSubtype="0" fill="hold" grpId="0" nodeType="withEffect">
                                  <p:stCondLst>
                                    <p:cond delay="35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fill="hold"/>
                                        <p:tgtEl>
                                          <p:spTgt spid="11"/>
                                        </p:tgtEl>
                                      </p:cBhvr>
                                    </p:animEffect>
                                  </p:childTnLst>
                                </p:cTn>
                              </p:par>
                              <p:par>
                                <p:cTn id="32" presetID="10" presetClass="entr" presetSubtype="0" fill="hold" grpId="0" nodeType="withEffect">
                                  <p:stCondLst>
                                    <p:cond delay="35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fill="hold"/>
                                        <p:tgtEl>
                                          <p:spTgt spid="12"/>
                                        </p:tgtEl>
                                      </p:cBhvr>
                                    </p:animEffect>
                                  </p:childTnLst>
                                </p:cTn>
                              </p:par>
                              <p:par>
                                <p:cTn id="35" presetID="10" presetClass="entr" presetSubtype="0" fill="hold" grpId="0" nodeType="withEffect">
                                  <p:stCondLst>
                                    <p:cond delay="45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fill="hold"/>
                                        <p:tgtEl>
                                          <p:spTgt spid="13"/>
                                        </p:tgtEl>
                                      </p:cBhvr>
                                    </p:animEffect>
                                  </p:childTnLst>
                                </p:cTn>
                              </p:par>
                              <p:par>
                                <p:cTn id="38" presetID="10" presetClass="entr" presetSubtype="0" fill="hold" grpId="0" nodeType="withEffect">
                                  <p:stCondLst>
                                    <p:cond delay="45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fill="hold"/>
                                        <p:tgtEl>
                                          <p:spTgt spid="14"/>
                                        </p:tgtEl>
                                      </p:cBhvr>
                                    </p:animEffect>
                                  </p:childTnLst>
                                </p:cTn>
                              </p:par>
                              <p:par>
                                <p:cTn id="41" presetID="42" presetClass="entr" presetSubtype="0" decel="100000" fill="hold" grpId="0" nodeType="withEffect">
                                  <p:stCondLst>
                                    <p:cond delay="80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650" fill="hold"/>
                                        <p:tgtEl>
                                          <p:spTgt spid="15"/>
                                        </p:tgtEl>
                                      </p:cBhvr>
                                    </p:animEffect>
                                    <p:anim calcmode="lin" valueType="num">
                                      <p:cBhvr additive="base">
                                        <p:cTn id="44" dur="650" fill="hold"/>
                                        <p:tgtEl>
                                          <p:spTgt spid="15"/>
                                        </p:tgtEl>
                                        <p:attrNameLst>
                                          <p:attrName>ppt_x</p:attrName>
                                        </p:attrNameLst>
                                      </p:cBhvr>
                                      <p:tavLst>
                                        <p:tav tm="0">
                                          <p:val>
                                            <p:strVal val="#ppt_x"/>
                                          </p:val>
                                        </p:tav>
                                        <p:tav tm="100000">
                                          <p:val>
                                            <p:strVal val="#ppt_x"/>
                                          </p:val>
                                        </p:tav>
                                      </p:tavLst>
                                    </p:anim>
                                    <p:anim calcmode="lin" valueType="num">
                                      <p:cBhvr additive="base">
                                        <p:cTn id="45" dur="650" fill="hold"/>
                                        <p:tgtEl>
                                          <p:spTgt spid="15"/>
                                        </p:tgtEl>
                                        <p:attrNameLst>
                                          <p:attrName>ppt_y</p:attrName>
                                        </p:attrNameLst>
                                      </p:cBhvr>
                                      <p:tavLst>
                                        <p:tav tm="0">
                                          <p:val>
                                            <p:strVal val="#ppt_y+.06"/>
                                          </p:val>
                                        </p:tav>
                                        <p:tav tm="100000">
                                          <p:val>
                                            <p:strVal val="#ppt_y"/>
                                          </p:val>
                                        </p:tav>
                                      </p:tavLst>
                                    </p:anim>
                                  </p:childTnLst>
                                </p:cTn>
                              </p:par>
                              <p:par>
                                <p:cTn id="46" presetID="42" presetClass="entr" presetSubtype="0" decel="100000" fill="hold" grpId="0" nodeType="withEffect">
                                  <p:stCondLst>
                                    <p:cond delay="80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650" fill="hold"/>
                                        <p:tgtEl>
                                          <p:spTgt spid="16"/>
                                        </p:tgtEl>
                                      </p:cBhvr>
                                    </p:animEffect>
                                    <p:anim calcmode="lin" valueType="num">
                                      <p:cBhvr additive="base">
                                        <p:cTn id="49" dur="650" fill="hold"/>
                                        <p:tgtEl>
                                          <p:spTgt spid="16"/>
                                        </p:tgtEl>
                                        <p:attrNameLst>
                                          <p:attrName>ppt_x</p:attrName>
                                        </p:attrNameLst>
                                      </p:cBhvr>
                                      <p:tavLst>
                                        <p:tav tm="0">
                                          <p:val>
                                            <p:strVal val="#ppt_x"/>
                                          </p:val>
                                        </p:tav>
                                        <p:tav tm="100000">
                                          <p:val>
                                            <p:strVal val="#ppt_x"/>
                                          </p:val>
                                        </p:tav>
                                      </p:tavLst>
                                    </p:anim>
                                    <p:anim calcmode="lin" valueType="num">
                                      <p:cBhvr additive="base">
                                        <p:cTn id="50" dur="650" fill="hold"/>
                                        <p:tgtEl>
                                          <p:spTgt spid="16"/>
                                        </p:tgtEl>
                                        <p:attrNameLst>
                                          <p:attrName>ppt_y</p:attrName>
                                        </p:attrNameLst>
                                      </p:cBhvr>
                                      <p:tavLst>
                                        <p:tav tm="0">
                                          <p:val>
                                            <p:strVal val="#ppt_y+.06"/>
                                          </p:val>
                                        </p:tav>
                                        <p:tav tm="100000">
                                          <p:val>
                                            <p:strVal val="#ppt_y"/>
                                          </p:val>
                                        </p:tav>
                                      </p:tavLst>
                                    </p:anim>
                                  </p:childTnLst>
                                </p:cTn>
                              </p:par>
                              <p:par>
                                <p:cTn id="51" presetID="42" presetClass="entr" presetSubtype="0" decel="100000" fill="hold" grpId="0" nodeType="withEffect">
                                  <p:stCondLst>
                                    <p:cond delay="80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650" fill="hold"/>
                                        <p:tgtEl>
                                          <p:spTgt spid="17"/>
                                        </p:tgtEl>
                                      </p:cBhvr>
                                    </p:animEffect>
                                    <p:anim calcmode="lin" valueType="num">
                                      <p:cBhvr additive="base">
                                        <p:cTn id="54" dur="650" fill="hold"/>
                                        <p:tgtEl>
                                          <p:spTgt spid="17"/>
                                        </p:tgtEl>
                                        <p:attrNameLst>
                                          <p:attrName>ppt_x</p:attrName>
                                        </p:attrNameLst>
                                      </p:cBhvr>
                                      <p:tavLst>
                                        <p:tav tm="0">
                                          <p:val>
                                            <p:strVal val="#ppt_x"/>
                                          </p:val>
                                        </p:tav>
                                        <p:tav tm="100000">
                                          <p:val>
                                            <p:strVal val="#ppt_x"/>
                                          </p:val>
                                        </p:tav>
                                      </p:tavLst>
                                    </p:anim>
                                    <p:anim calcmode="lin" valueType="num">
                                      <p:cBhvr additive="base">
                                        <p:cTn id="55" dur="650" fill="hold"/>
                                        <p:tgtEl>
                                          <p:spTgt spid="17"/>
                                        </p:tgtEl>
                                        <p:attrNameLst>
                                          <p:attrName>ppt_y</p:attrName>
                                        </p:attrNameLst>
                                      </p:cBhvr>
                                      <p:tavLst>
                                        <p:tav tm="0">
                                          <p:val>
                                            <p:strVal val="#ppt_y+.06"/>
                                          </p:val>
                                        </p:tav>
                                        <p:tav tm="100000">
                                          <p:val>
                                            <p:strVal val="#ppt_y"/>
                                          </p:val>
                                        </p:tav>
                                      </p:tavLst>
                                    </p:anim>
                                  </p:childTnLst>
                                </p:cTn>
                              </p:par>
                              <p:par>
                                <p:cTn id="56" presetID="10" presetClass="entr" presetSubtype="0" fill="hold" grpId="0" nodeType="withEffect">
                                  <p:stCondLst>
                                    <p:cond delay="90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00" fill="hold"/>
                                        <p:tgtEl>
                                          <p:spTgt spid="18"/>
                                        </p:tgtEl>
                                      </p:cBhvr>
                                    </p:animEffect>
                                  </p:childTnLst>
                                </p:cTn>
                              </p:par>
                              <p:par>
                                <p:cTn id="59" presetID="10" presetClass="entr" presetSubtype="0" fill="hold" grpId="0" nodeType="withEffect">
                                  <p:stCondLst>
                                    <p:cond delay="90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500" fill="hold"/>
                                        <p:tgtEl>
                                          <p:spTgt spid="19"/>
                                        </p:tgtEl>
                                      </p:cBhvr>
                                    </p:animEffect>
                                  </p:childTnLst>
                                </p:cTn>
                              </p:par>
                              <p:par>
                                <p:cTn id="62" presetID="10" presetClass="entr" presetSubtype="0" fill="hold" grpId="0" nodeType="withEffect">
                                  <p:stCondLst>
                                    <p:cond delay="1000"/>
                                  </p:stCondLst>
                                  <p:childTnLst>
                                    <p:set>
                                      <p:cBhvr>
                                        <p:cTn id="63" dur="1" fill="hold">
                                          <p:stCondLst>
                                            <p:cond delay="0"/>
                                          </p:stCondLst>
                                        </p:cTn>
                                        <p:tgtEl>
                                          <p:spTgt spid="20"/>
                                        </p:tgtEl>
                                        <p:attrNameLst>
                                          <p:attrName>style.visibility</p:attrName>
                                        </p:attrNameLst>
                                      </p:cBhvr>
                                      <p:to>
                                        <p:strVal val="visible"/>
                                      </p:to>
                                    </p:set>
                                    <p:animEffect transition="in" filter="fade">
                                      <p:cBhvr>
                                        <p:cTn id="64" dur="500" fill="hold"/>
                                        <p:tgtEl>
                                          <p:spTgt spid="20"/>
                                        </p:tgtEl>
                                      </p:cBhvr>
                                    </p:animEffect>
                                  </p:childTnLst>
                                </p:cTn>
                              </p:par>
                              <p:par>
                                <p:cTn id="65" presetID="10" presetClass="entr" presetSubtype="0" fill="hold" grpId="0" nodeType="withEffect">
                                  <p:stCondLst>
                                    <p:cond delay="1000"/>
                                  </p:stCondLst>
                                  <p:childTnLst>
                                    <p:set>
                                      <p:cBhvr>
                                        <p:cTn id="66" dur="1" fill="hold">
                                          <p:stCondLst>
                                            <p:cond delay="0"/>
                                          </p:stCondLst>
                                        </p:cTn>
                                        <p:tgtEl>
                                          <p:spTgt spid="21"/>
                                        </p:tgtEl>
                                        <p:attrNameLst>
                                          <p:attrName>style.visibility</p:attrName>
                                        </p:attrNameLst>
                                      </p:cBhvr>
                                      <p:to>
                                        <p:strVal val="visible"/>
                                      </p:to>
                                    </p:set>
                                    <p:animEffect transition="in" filter="fade">
                                      <p:cBhvr>
                                        <p:cTn id="67" dur="500" fill="hold"/>
                                        <p:tgtEl>
                                          <p:spTgt spid="21"/>
                                        </p:tgtEl>
                                      </p:cBhvr>
                                    </p:animEffect>
                                  </p:childTnLst>
                                </p:cTn>
                              </p:par>
                              <p:par>
                                <p:cTn id="68" presetID="10" presetClass="entr" presetSubtype="0" fill="hold" grpId="0" nodeType="withEffect">
                                  <p:stCondLst>
                                    <p:cond delay="1100"/>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500" fill="hold"/>
                                        <p:tgtEl>
                                          <p:spTgt spid="22"/>
                                        </p:tgtEl>
                                      </p:cBhvr>
                                    </p:animEffect>
                                  </p:childTnLst>
                                </p:cTn>
                              </p:par>
                              <p:par>
                                <p:cTn id="71" presetID="10" presetClass="entr" presetSubtype="0" fill="hold" grpId="0" nodeType="withEffect">
                                  <p:stCondLst>
                                    <p:cond delay="1100"/>
                                  </p:stCondLst>
                                  <p:childTnLst>
                                    <p:set>
                                      <p:cBhvr>
                                        <p:cTn id="72" dur="1" fill="hold">
                                          <p:stCondLst>
                                            <p:cond delay="0"/>
                                          </p:stCondLst>
                                        </p:cTn>
                                        <p:tgtEl>
                                          <p:spTgt spid="23"/>
                                        </p:tgtEl>
                                        <p:attrNameLst>
                                          <p:attrName>style.visibility</p:attrName>
                                        </p:attrNameLst>
                                      </p:cBhvr>
                                      <p:to>
                                        <p:strVal val="visible"/>
                                      </p:to>
                                    </p:set>
                                    <p:animEffect transition="in" filter="fade">
                                      <p:cBhvr>
                                        <p:cTn id="73" dur="500" fill="hold"/>
                                        <p:tgtEl>
                                          <p:spTgt spid="23"/>
                                        </p:tgtEl>
                                      </p:cBhvr>
                                    </p:animEffect>
                                  </p:childTnLst>
                                </p:cTn>
                              </p:par>
                              <p:par>
                                <p:cTn id="74" presetID="42" presetClass="entr" presetSubtype="0" decel="100000" fill="hold" grpId="0" nodeType="withEffect">
                                  <p:stCondLst>
                                    <p:cond delay="1450"/>
                                  </p:stCondLst>
                                  <p:childTnLst>
                                    <p:set>
                                      <p:cBhvr>
                                        <p:cTn id="75" dur="1" fill="hold">
                                          <p:stCondLst>
                                            <p:cond delay="0"/>
                                          </p:stCondLst>
                                        </p:cTn>
                                        <p:tgtEl>
                                          <p:spTgt spid="24"/>
                                        </p:tgtEl>
                                        <p:attrNameLst>
                                          <p:attrName>style.visibility</p:attrName>
                                        </p:attrNameLst>
                                      </p:cBhvr>
                                      <p:to>
                                        <p:strVal val="visible"/>
                                      </p:to>
                                    </p:set>
                                    <p:animEffect transition="in" filter="fade">
                                      <p:cBhvr>
                                        <p:cTn id="76" dur="650" fill="hold"/>
                                        <p:tgtEl>
                                          <p:spTgt spid="24"/>
                                        </p:tgtEl>
                                      </p:cBhvr>
                                    </p:animEffect>
                                    <p:anim calcmode="lin" valueType="num">
                                      <p:cBhvr additive="base">
                                        <p:cTn id="77" dur="650" fill="hold"/>
                                        <p:tgtEl>
                                          <p:spTgt spid="24"/>
                                        </p:tgtEl>
                                        <p:attrNameLst>
                                          <p:attrName>ppt_x</p:attrName>
                                        </p:attrNameLst>
                                      </p:cBhvr>
                                      <p:tavLst>
                                        <p:tav tm="0">
                                          <p:val>
                                            <p:strVal val="#ppt_x"/>
                                          </p:val>
                                        </p:tav>
                                        <p:tav tm="100000">
                                          <p:val>
                                            <p:strVal val="#ppt_x"/>
                                          </p:val>
                                        </p:tav>
                                      </p:tavLst>
                                    </p:anim>
                                    <p:anim calcmode="lin" valueType="num">
                                      <p:cBhvr additive="base">
                                        <p:cTn id="78" dur="650" fill="hold"/>
                                        <p:tgtEl>
                                          <p:spTgt spid="24"/>
                                        </p:tgtEl>
                                        <p:attrNameLst>
                                          <p:attrName>ppt_y</p:attrName>
                                        </p:attrNameLst>
                                      </p:cBhvr>
                                      <p:tavLst>
                                        <p:tav tm="0">
                                          <p:val>
                                            <p:strVal val="#ppt_y+.06"/>
                                          </p:val>
                                        </p:tav>
                                        <p:tav tm="100000">
                                          <p:val>
                                            <p:strVal val="#ppt_y"/>
                                          </p:val>
                                        </p:tav>
                                      </p:tavLst>
                                    </p:anim>
                                  </p:childTnLst>
                                </p:cTn>
                              </p:par>
                              <p:par>
                                <p:cTn id="79" presetID="42" presetClass="entr" presetSubtype="0" decel="100000" fill="hold" grpId="0" nodeType="withEffect">
                                  <p:stCondLst>
                                    <p:cond delay="1450"/>
                                  </p:stCondLst>
                                  <p:childTnLst>
                                    <p:set>
                                      <p:cBhvr>
                                        <p:cTn id="80" dur="1" fill="hold">
                                          <p:stCondLst>
                                            <p:cond delay="0"/>
                                          </p:stCondLst>
                                        </p:cTn>
                                        <p:tgtEl>
                                          <p:spTgt spid="25"/>
                                        </p:tgtEl>
                                        <p:attrNameLst>
                                          <p:attrName>style.visibility</p:attrName>
                                        </p:attrNameLst>
                                      </p:cBhvr>
                                      <p:to>
                                        <p:strVal val="visible"/>
                                      </p:to>
                                    </p:set>
                                    <p:animEffect transition="in" filter="fade">
                                      <p:cBhvr>
                                        <p:cTn id="81" dur="650" fill="hold"/>
                                        <p:tgtEl>
                                          <p:spTgt spid="25"/>
                                        </p:tgtEl>
                                      </p:cBhvr>
                                    </p:animEffect>
                                    <p:anim calcmode="lin" valueType="num">
                                      <p:cBhvr additive="base">
                                        <p:cTn id="82" dur="650" fill="hold"/>
                                        <p:tgtEl>
                                          <p:spTgt spid="25"/>
                                        </p:tgtEl>
                                        <p:attrNameLst>
                                          <p:attrName>ppt_x</p:attrName>
                                        </p:attrNameLst>
                                      </p:cBhvr>
                                      <p:tavLst>
                                        <p:tav tm="0">
                                          <p:val>
                                            <p:strVal val="#ppt_x"/>
                                          </p:val>
                                        </p:tav>
                                        <p:tav tm="100000">
                                          <p:val>
                                            <p:strVal val="#ppt_x"/>
                                          </p:val>
                                        </p:tav>
                                      </p:tavLst>
                                    </p:anim>
                                    <p:anim calcmode="lin" valueType="num">
                                      <p:cBhvr additive="base">
                                        <p:cTn id="83" dur="650" fill="hold"/>
                                        <p:tgtEl>
                                          <p:spTgt spid="25"/>
                                        </p:tgtEl>
                                        <p:attrNameLst>
                                          <p:attrName>ppt_y</p:attrName>
                                        </p:attrNameLst>
                                      </p:cBhvr>
                                      <p:tavLst>
                                        <p:tav tm="0">
                                          <p:val>
                                            <p:strVal val="#ppt_y+.06"/>
                                          </p:val>
                                        </p:tav>
                                        <p:tav tm="100000">
                                          <p:val>
                                            <p:strVal val="#ppt_y"/>
                                          </p:val>
                                        </p:tav>
                                      </p:tavLst>
                                    </p:anim>
                                  </p:childTnLst>
                                </p:cTn>
                              </p:par>
                              <p:par>
                                <p:cTn id="84" presetID="42" presetClass="entr" presetSubtype="0" decel="100000" fill="hold" grpId="0" nodeType="withEffect">
                                  <p:stCondLst>
                                    <p:cond delay="1450"/>
                                  </p:stCondLst>
                                  <p:childTnLst>
                                    <p:set>
                                      <p:cBhvr>
                                        <p:cTn id="85" dur="1" fill="hold">
                                          <p:stCondLst>
                                            <p:cond delay="0"/>
                                          </p:stCondLst>
                                        </p:cTn>
                                        <p:tgtEl>
                                          <p:spTgt spid="26"/>
                                        </p:tgtEl>
                                        <p:attrNameLst>
                                          <p:attrName>style.visibility</p:attrName>
                                        </p:attrNameLst>
                                      </p:cBhvr>
                                      <p:to>
                                        <p:strVal val="visible"/>
                                      </p:to>
                                    </p:set>
                                    <p:animEffect transition="in" filter="fade">
                                      <p:cBhvr>
                                        <p:cTn id="86" dur="650" fill="hold"/>
                                        <p:tgtEl>
                                          <p:spTgt spid="26"/>
                                        </p:tgtEl>
                                      </p:cBhvr>
                                    </p:animEffect>
                                    <p:anim calcmode="lin" valueType="num">
                                      <p:cBhvr additive="base">
                                        <p:cTn id="87" dur="650" fill="hold"/>
                                        <p:tgtEl>
                                          <p:spTgt spid="26"/>
                                        </p:tgtEl>
                                        <p:attrNameLst>
                                          <p:attrName>ppt_x</p:attrName>
                                        </p:attrNameLst>
                                      </p:cBhvr>
                                      <p:tavLst>
                                        <p:tav tm="0">
                                          <p:val>
                                            <p:strVal val="#ppt_x"/>
                                          </p:val>
                                        </p:tav>
                                        <p:tav tm="100000">
                                          <p:val>
                                            <p:strVal val="#ppt_x"/>
                                          </p:val>
                                        </p:tav>
                                      </p:tavLst>
                                    </p:anim>
                                    <p:anim calcmode="lin" valueType="num">
                                      <p:cBhvr additive="base">
                                        <p:cTn id="88" dur="650" fill="hold"/>
                                        <p:tgtEl>
                                          <p:spTgt spid="26"/>
                                        </p:tgtEl>
                                        <p:attrNameLst>
                                          <p:attrName>ppt_y</p:attrName>
                                        </p:attrNameLst>
                                      </p:cBhvr>
                                      <p:tavLst>
                                        <p:tav tm="0">
                                          <p:val>
                                            <p:strVal val="#ppt_y+.06"/>
                                          </p:val>
                                        </p:tav>
                                        <p:tav tm="100000">
                                          <p:val>
                                            <p:strVal val="#ppt_y"/>
                                          </p:val>
                                        </p:tav>
                                      </p:tavLst>
                                    </p:anim>
                                  </p:childTnLst>
                                </p:cTn>
                              </p:par>
                              <p:par>
                                <p:cTn id="89" presetID="10" presetClass="entr" presetSubtype="0" fill="hold" grpId="0" nodeType="withEffect">
                                  <p:stCondLst>
                                    <p:cond delay="1550"/>
                                  </p:stCondLst>
                                  <p:childTnLst>
                                    <p:set>
                                      <p:cBhvr>
                                        <p:cTn id="90" dur="1" fill="hold">
                                          <p:stCondLst>
                                            <p:cond delay="0"/>
                                          </p:stCondLst>
                                        </p:cTn>
                                        <p:tgtEl>
                                          <p:spTgt spid="27"/>
                                        </p:tgtEl>
                                        <p:attrNameLst>
                                          <p:attrName>style.visibility</p:attrName>
                                        </p:attrNameLst>
                                      </p:cBhvr>
                                      <p:to>
                                        <p:strVal val="visible"/>
                                      </p:to>
                                    </p:set>
                                    <p:animEffect transition="in" filter="fade">
                                      <p:cBhvr>
                                        <p:cTn id="91" dur="500" fill="hold"/>
                                        <p:tgtEl>
                                          <p:spTgt spid="27"/>
                                        </p:tgtEl>
                                      </p:cBhvr>
                                    </p:animEffect>
                                  </p:childTnLst>
                                </p:cTn>
                              </p:par>
                              <p:par>
                                <p:cTn id="92" presetID="10" presetClass="entr" presetSubtype="0" fill="hold" grpId="0" nodeType="withEffect">
                                  <p:stCondLst>
                                    <p:cond delay="1550"/>
                                  </p:stCondLst>
                                  <p:childTnLst>
                                    <p:set>
                                      <p:cBhvr>
                                        <p:cTn id="93" dur="1" fill="hold">
                                          <p:stCondLst>
                                            <p:cond delay="0"/>
                                          </p:stCondLst>
                                        </p:cTn>
                                        <p:tgtEl>
                                          <p:spTgt spid="28"/>
                                        </p:tgtEl>
                                        <p:attrNameLst>
                                          <p:attrName>style.visibility</p:attrName>
                                        </p:attrNameLst>
                                      </p:cBhvr>
                                      <p:to>
                                        <p:strVal val="visible"/>
                                      </p:to>
                                    </p:set>
                                    <p:animEffect transition="in" filter="fade">
                                      <p:cBhvr>
                                        <p:cTn id="94" dur="500" fill="hold"/>
                                        <p:tgtEl>
                                          <p:spTgt spid="28"/>
                                        </p:tgtEl>
                                      </p:cBhvr>
                                    </p:animEffect>
                                  </p:childTnLst>
                                </p:cTn>
                              </p:par>
                              <p:par>
                                <p:cTn id="95" presetID="10" presetClass="entr" presetSubtype="0" fill="hold" grpId="0" nodeType="withEffect">
                                  <p:stCondLst>
                                    <p:cond delay="1650"/>
                                  </p:stCondLst>
                                  <p:childTnLst>
                                    <p:set>
                                      <p:cBhvr>
                                        <p:cTn id="96" dur="1" fill="hold">
                                          <p:stCondLst>
                                            <p:cond delay="0"/>
                                          </p:stCondLst>
                                        </p:cTn>
                                        <p:tgtEl>
                                          <p:spTgt spid="29"/>
                                        </p:tgtEl>
                                        <p:attrNameLst>
                                          <p:attrName>style.visibility</p:attrName>
                                        </p:attrNameLst>
                                      </p:cBhvr>
                                      <p:to>
                                        <p:strVal val="visible"/>
                                      </p:to>
                                    </p:set>
                                    <p:animEffect transition="in" filter="fade">
                                      <p:cBhvr>
                                        <p:cTn id="97" dur="500" fill="hold"/>
                                        <p:tgtEl>
                                          <p:spTgt spid="29"/>
                                        </p:tgtEl>
                                      </p:cBhvr>
                                    </p:animEffect>
                                  </p:childTnLst>
                                </p:cTn>
                              </p:par>
                              <p:par>
                                <p:cTn id="98" presetID="10" presetClass="entr" presetSubtype="0" fill="hold" grpId="0" nodeType="withEffect">
                                  <p:stCondLst>
                                    <p:cond delay="1650"/>
                                  </p:stCondLst>
                                  <p:childTnLst>
                                    <p:set>
                                      <p:cBhvr>
                                        <p:cTn id="99" dur="1" fill="hold">
                                          <p:stCondLst>
                                            <p:cond delay="0"/>
                                          </p:stCondLst>
                                        </p:cTn>
                                        <p:tgtEl>
                                          <p:spTgt spid="30"/>
                                        </p:tgtEl>
                                        <p:attrNameLst>
                                          <p:attrName>style.visibility</p:attrName>
                                        </p:attrNameLst>
                                      </p:cBhvr>
                                      <p:to>
                                        <p:strVal val="visible"/>
                                      </p:to>
                                    </p:set>
                                    <p:animEffect transition="in" filter="fade">
                                      <p:cBhvr>
                                        <p:cTn id="100" dur="500" fill="hold"/>
                                        <p:tgtEl>
                                          <p:spTgt spid="30"/>
                                        </p:tgtEl>
                                      </p:cBhvr>
                                    </p:animEffect>
                                  </p:childTnLst>
                                </p:cTn>
                              </p:par>
                              <p:par>
                                <p:cTn id="101" presetID="10" presetClass="entr" presetSubtype="0" fill="hold" grpId="0" nodeType="withEffect">
                                  <p:stCondLst>
                                    <p:cond delay="1750"/>
                                  </p:stCondLst>
                                  <p:childTnLst>
                                    <p:set>
                                      <p:cBhvr>
                                        <p:cTn id="102" dur="1" fill="hold">
                                          <p:stCondLst>
                                            <p:cond delay="0"/>
                                          </p:stCondLst>
                                        </p:cTn>
                                        <p:tgtEl>
                                          <p:spTgt spid="31"/>
                                        </p:tgtEl>
                                        <p:attrNameLst>
                                          <p:attrName>style.visibility</p:attrName>
                                        </p:attrNameLst>
                                      </p:cBhvr>
                                      <p:to>
                                        <p:strVal val="visible"/>
                                      </p:to>
                                    </p:set>
                                    <p:animEffect transition="in" filter="fade">
                                      <p:cBhvr>
                                        <p:cTn id="103" dur="500" fill="hold"/>
                                        <p:tgtEl>
                                          <p:spTgt spid="31"/>
                                        </p:tgtEl>
                                      </p:cBhvr>
                                    </p:animEffect>
                                  </p:childTnLst>
                                </p:cTn>
                              </p:par>
                              <p:par>
                                <p:cTn id="104" presetID="10" presetClass="entr" presetSubtype="0" fill="hold" grpId="0" nodeType="withEffect">
                                  <p:stCondLst>
                                    <p:cond delay="1750"/>
                                  </p:stCondLst>
                                  <p:childTnLst>
                                    <p:set>
                                      <p:cBhvr>
                                        <p:cTn id="105" dur="1" fill="hold">
                                          <p:stCondLst>
                                            <p:cond delay="0"/>
                                          </p:stCondLst>
                                        </p:cTn>
                                        <p:tgtEl>
                                          <p:spTgt spid="32"/>
                                        </p:tgtEl>
                                        <p:attrNameLst>
                                          <p:attrName>style.visibility</p:attrName>
                                        </p:attrNameLst>
                                      </p:cBhvr>
                                      <p:to>
                                        <p:strVal val="visible"/>
                                      </p:to>
                                    </p:set>
                                    <p:animEffect transition="in" filter="fade">
                                      <p:cBhvr>
                                        <p:cTn id="106" dur="500" fill="hold"/>
                                        <p:tgtEl>
                                          <p:spTgt spid="32"/>
                                        </p:tgtEl>
                                      </p:cBhvr>
                                    </p:animEffect>
                                  </p:childTnLst>
                                </p:cTn>
                              </p:par>
                              <p:par>
                                <p:cTn id="107" presetID="10" presetClass="entr" presetSubtype="0" fill="hold" grpId="0" nodeType="withEffect">
                                  <p:stCondLst>
                                    <p:cond delay="1850"/>
                                  </p:stCondLst>
                                  <p:childTnLst>
                                    <p:set>
                                      <p:cBhvr>
                                        <p:cTn id="108" dur="1" fill="hold">
                                          <p:stCondLst>
                                            <p:cond delay="0"/>
                                          </p:stCondLst>
                                        </p:cTn>
                                        <p:tgtEl>
                                          <p:spTgt spid="33"/>
                                        </p:tgtEl>
                                        <p:attrNameLst>
                                          <p:attrName>style.visibility</p:attrName>
                                        </p:attrNameLst>
                                      </p:cBhvr>
                                      <p:to>
                                        <p:strVal val="visible"/>
                                      </p:to>
                                    </p:set>
                                    <p:animEffect transition="in" filter="fade">
                                      <p:cBhvr>
                                        <p:cTn id="109" dur="500" fill="hold"/>
                                        <p:tgtEl>
                                          <p:spTgt spid="33"/>
                                        </p:tgtEl>
                                      </p:cBhvr>
                                    </p:animEffect>
                                  </p:childTnLst>
                                </p:cTn>
                              </p:par>
                              <p:par>
                                <p:cTn id="110" presetID="10" presetClass="entr" presetSubtype="0" fill="hold" grpId="0" nodeType="withEffect">
                                  <p:stCondLst>
                                    <p:cond delay="1850"/>
                                  </p:stCondLst>
                                  <p:childTnLst>
                                    <p:set>
                                      <p:cBhvr>
                                        <p:cTn id="111" dur="1" fill="hold">
                                          <p:stCondLst>
                                            <p:cond delay="0"/>
                                          </p:stCondLst>
                                        </p:cTn>
                                        <p:tgtEl>
                                          <p:spTgt spid="34"/>
                                        </p:tgtEl>
                                        <p:attrNameLst>
                                          <p:attrName>style.visibility</p:attrName>
                                        </p:attrNameLst>
                                      </p:cBhvr>
                                      <p:to>
                                        <p:strVal val="visible"/>
                                      </p:to>
                                    </p:set>
                                    <p:animEffect transition="in" filter="fade">
                                      <p:cBhvr>
                                        <p:cTn id="112" dur="500" fill="hold"/>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411480" y="868680"/>
            <a:ext cx="4572000" cy="1828800"/>
          </a:xfrm>
          <a:prstGeom prst="rect">
            <a:avLst/>
          </a:prstGeom>
          <a:noFill/>
        </p:spPr>
        <p:txBody>
          <a:bodyPr wrap="square" lIns="36576" tIns="18288" rIns="36576" bIns="18288" anchor="t">
            <a:spAutoFit/>
          </a:bodyPr>
          <a:lstStyle/>
          <a:p>
            <a:pPr algn="l"/>
            <a:r>
              <a:rPr sz="12000" b="1" i="0">
                <a:solidFill>
                  <a:srgbClr val="9CD848"/>
                </a:solidFill>
                <a:latin typeface="Segoe UI Semibold"/>
              </a:rPr>
              <a:t>01</a:t>
            </a:r>
          </a:p>
        </p:txBody>
      </p:sp>
      <p:sp>
        <p:nvSpPr>
          <p:cNvPr id="3" name="TextBox 2"/>
          <p:cNvSpPr txBox="1"/>
          <p:nvPr/>
        </p:nvSpPr>
        <p:spPr>
          <a:xfrm>
            <a:off x="548640" y="502920"/>
            <a:ext cx="4572000" cy="365760"/>
          </a:xfrm>
          <a:prstGeom prst="rect">
            <a:avLst/>
          </a:prstGeom>
          <a:noFill/>
        </p:spPr>
        <p:txBody>
          <a:bodyPr wrap="square" lIns="36576" tIns="18288" rIns="36576" bIns="18288" anchor="t">
            <a:spAutoFit/>
          </a:bodyPr>
          <a:lstStyle/>
          <a:p>
            <a:pPr algn="l"/>
            <a:r>
              <a:rPr sz="1200" b="1" i="0" spc="250">
                <a:solidFill>
                  <a:srgbClr val="9CD848"/>
                </a:solidFill>
                <a:latin typeface="Segoe UI Semibold"/>
              </a:rPr>
              <a:t>ENCONTRO 1  ·  MÓDULO 1</a:t>
            </a:r>
          </a:p>
        </p:txBody>
      </p:sp>
      <p:sp>
        <p:nvSpPr>
          <p:cNvPr id="4" name="TextBox 3"/>
          <p:cNvSpPr txBox="1"/>
          <p:nvPr/>
        </p:nvSpPr>
        <p:spPr>
          <a:xfrm>
            <a:off x="548640" y="2331720"/>
            <a:ext cx="6766560" cy="1280160"/>
          </a:xfrm>
          <a:prstGeom prst="rect">
            <a:avLst/>
          </a:prstGeom>
          <a:noFill/>
        </p:spPr>
        <p:txBody>
          <a:bodyPr wrap="square" lIns="36576" tIns="18288" rIns="36576" bIns="18288" anchor="b">
            <a:spAutoFit/>
          </a:bodyPr>
          <a:lstStyle/>
          <a:p>
            <a:pPr algn="l">
              <a:lnSpc>
                <a:spcPct val="95000"/>
              </a:lnSpc>
            </a:pPr>
            <a:r>
              <a:rPr sz="3800" b="1" i="0">
                <a:solidFill>
                  <a:srgbClr val="F2F2EC"/>
                </a:solidFill>
                <a:latin typeface="Segoe UI Semibold"/>
              </a:rPr>
              <a:t>Design como ferramenta de inovação</a:t>
            </a:r>
          </a:p>
        </p:txBody>
      </p:sp>
      <p:sp>
        <p:nvSpPr>
          <p:cNvPr id="5" name="TextBox 4"/>
          <p:cNvSpPr txBox="1"/>
          <p:nvPr/>
        </p:nvSpPr>
        <p:spPr>
          <a:xfrm>
            <a:off x="548640" y="3675887"/>
            <a:ext cx="6766560" cy="457200"/>
          </a:xfrm>
          <a:prstGeom prst="rect">
            <a:avLst/>
          </a:prstGeom>
          <a:noFill/>
        </p:spPr>
        <p:txBody>
          <a:bodyPr wrap="square" lIns="36576" tIns="18288" rIns="36576" bIns="18288" anchor="t">
            <a:spAutoFit/>
          </a:bodyPr>
          <a:lstStyle/>
          <a:p>
            <a:pPr algn="l"/>
            <a:r>
              <a:rPr sz="1800" b="0" i="0">
                <a:solidFill>
                  <a:srgbClr val="B4B8B0"/>
                </a:solidFill>
                <a:latin typeface="Segoe UI"/>
              </a:rPr>
              <a:t>Fundamentos</a:t>
            </a:r>
          </a:p>
        </p:txBody>
      </p:sp>
      <p:sp>
        <p:nvSpPr>
          <p:cNvPr id="6" name="Rounded Rectangle 5"/>
          <p:cNvSpPr/>
          <p:nvPr/>
        </p:nvSpPr>
        <p:spPr>
          <a:xfrm>
            <a:off x="7589520" y="2103120"/>
            <a:ext cx="4069080" cy="342900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863840" y="2286000"/>
            <a:ext cx="3657600" cy="365760"/>
          </a:xfrm>
          <a:prstGeom prst="rect">
            <a:avLst/>
          </a:prstGeom>
          <a:noFill/>
        </p:spPr>
        <p:txBody>
          <a:bodyPr wrap="square" lIns="36576" tIns="18288" rIns="36576" bIns="18288" anchor="t">
            <a:spAutoFit/>
          </a:bodyPr>
          <a:lstStyle/>
          <a:p>
            <a:pPr algn="l"/>
            <a:r>
              <a:rPr sz="1100" b="1" i="0" spc="200">
                <a:solidFill>
                  <a:srgbClr val="9CD848"/>
                </a:solidFill>
                <a:latin typeface="Segoe UI Semibold"/>
              </a:rPr>
              <a:t>OBJETIVOS</a:t>
            </a:r>
          </a:p>
        </p:txBody>
      </p:sp>
      <p:sp>
        <p:nvSpPr>
          <p:cNvPr id="8" name="TextBox 7"/>
          <p:cNvSpPr txBox="1"/>
          <p:nvPr/>
        </p:nvSpPr>
        <p:spPr>
          <a:xfrm>
            <a:off x="7863840" y="2651760"/>
            <a:ext cx="3611880" cy="2834640"/>
          </a:xfrm>
          <a:prstGeom prst="rect">
            <a:avLst/>
          </a:prstGeom>
          <a:noFill/>
        </p:spPr>
        <p:txBody>
          <a:bodyPr wrap="square">
            <a:spAutoFit/>
          </a:bodyPr>
          <a:lstStyle/>
          <a:p>
            <a:pPr marL="292608" indent="-292608">
              <a:spcAft>
                <a:spcPts val="800"/>
              </a:spcAft>
              <a:buClr>
                <a:srgbClr val="9CD848"/>
              </a:buClr>
              <a:buFont typeface="Arial"/>
              <a:buChar char="●"/>
            </a:pPr>
            <a:r>
              <a:rPr sz="1350">
                <a:solidFill>
                  <a:srgbClr val="F2F2EC"/>
                </a:solidFill>
                <a:latin typeface="Segoe UI"/>
              </a:rPr>
              <a:t>Entender design como processo de resolver problemas, não só como estética</a:t>
            </a:r>
          </a:p>
          <a:p>
            <a:pPr marL="292608" indent="-292608">
              <a:spcAft>
                <a:spcPts val="800"/>
              </a:spcAft>
              <a:buClr>
                <a:srgbClr val="9CD848"/>
              </a:buClr>
              <a:buFont typeface="Arial"/>
              <a:buChar char="●"/>
            </a:pPr>
            <a:r>
              <a:rPr sz="1350">
                <a:solidFill>
                  <a:srgbClr val="F2F2EC"/>
                </a:solidFill>
                <a:latin typeface="Segoe UI"/>
              </a:rPr>
              <a:t>Conhecer o Design Centrado no Usuário e por que ele reduz riscos</a:t>
            </a:r>
          </a:p>
          <a:p>
            <a:pPr marL="292608" indent="-292608">
              <a:spcAft>
                <a:spcPts val="800"/>
              </a:spcAft>
              <a:buClr>
                <a:srgbClr val="9CD848"/>
              </a:buClr>
              <a:buFont typeface="Arial"/>
              <a:buChar char="●"/>
            </a:pPr>
            <a:r>
              <a:rPr sz="1350">
                <a:solidFill>
                  <a:srgbClr val="F2F2EC"/>
                </a:solidFill>
                <a:latin typeface="Segoe UI"/>
              </a:rPr>
              <a:t>Diferenciar inovação incremental e disruptiva</a:t>
            </a:r>
          </a:p>
          <a:p>
            <a:pPr marL="292608" indent="-292608">
              <a:buClr>
                <a:srgbClr val="9CD848"/>
              </a:buClr>
              <a:buFont typeface="Arial"/>
              <a:buChar char="●"/>
            </a:pPr>
            <a:r>
              <a:rPr sz="1350">
                <a:solidFill>
                  <a:srgbClr val="F2F2EC"/>
                </a:solidFill>
                <a:latin typeface="Segoe UI"/>
              </a:rPr>
              <a:t>Conhecer as 5 etapas do Design Thinking</a:t>
            </a:r>
          </a:p>
        </p:txBody>
      </p:sp>
      <p:sp>
        <p:nvSpPr>
          <p:cNvPr id="9" name="Rounded Rectangle 8">
            <a:hlinkClick r:id="rId3" action="ppaction://hlinksldjump"/>
          </p:cNvPr>
          <p:cNvSpPr/>
          <p:nvPr/>
        </p:nvSpPr>
        <p:spPr>
          <a:xfrm>
            <a:off x="548640" y="4297680"/>
            <a:ext cx="3017520" cy="502920"/>
          </a:xfrm>
          <a:prstGeom prst="roundRect">
            <a:avLst>
              <a:gd name="adj" fmla="val 50000"/>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400" b="1" i="0">
                <a:solidFill>
                  <a:srgbClr val="1A1A1A"/>
                </a:solidFill>
                <a:latin typeface="Segoe UI Semibold"/>
              </a:rPr>
              <a:t>▶  Assistir vídeo do módulo</a:t>
            </a:r>
          </a:p>
        </p:txBody>
      </p:sp>
      <p:cxnSp>
        <p:nvCxnSpPr>
          <p:cNvPr id="10" name="Connector 9"/>
          <p:cNvCxnSpPr/>
          <p:nvPr/>
        </p:nvCxnSpPr>
        <p:spPr>
          <a:xfrm>
            <a:off x="9418320" y="640080"/>
            <a:ext cx="1609344" cy="0"/>
          </a:xfrm>
          <a:prstGeom prst="line">
            <a:avLst/>
          </a:prstGeom>
          <a:ln w="30734">
            <a:solidFill>
              <a:srgbClr val="9CD84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418320" y="1092708"/>
            <a:ext cx="1106424" cy="0"/>
          </a:xfrm>
          <a:prstGeom prst="line">
            <a:avLst/>
          </a:prstGeom>
          <a:ln w="30734">
            <a:solidFill>
              <a:srgbClr val="9CD84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0524744" y="1092708"/>
            <a:ext cx="352044" cy="352044"/>
          </a:xfrm>
          <a:prstGeom prst="line">
            <a:avLst/>
          </a:prstGeom>
          <a:ln w="30734">
            <a:solidFill>
              <a:srgbClr val="9CD84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876788" y="1444752"/>
            <a:ext cx="854964" cy="0"/>
          </a:xfrm>
          <a:prstGeom prst="line">
            <a:avLst/>
          </a:prstGeom>
          <a:ln w="30734">
            <a:solidFill>
              <a:srgbClr val="9CD84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8320" y="1545336"/>
            <a:ext cx="603504" cy="0"/>
          </a:xfrm>
          <a:prstGeom prst="line">
            <a:avLst/>
          </a:prstGeom>
          <a:ln w="30734">
            <a:solidFill>
              <a:srgbClr val="9CD84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021824" y="1545336"/>
            <a:ext cx="301752" cy="352044"/>
          </a:xfrm>
          <a:prstGeom prst="line">
            <a:avLst/>
          </a:prstGeom>
          <a:ln w="30734">
            <a:solidFill>
              <a:srgbClr val="9CD84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323576" y="1897380"/>
            <a:ext cx="1005840" cy="0"/>
          </a:xfrm>
          <a:prstGeom prst="line">
            <a:avLst/>
          </a:prstGeom>
          <a:ln w="30734">
            <a:solidFill>
              <a:srgbClr val="9CD848"/>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11027664" y="529437"/>
            <a:ext cx="221284" cy="221284"/>
          </a:xfrm>
          <a:prstGeom prst="ellipse">
            <a:avLst/>
          </a:prstGeom>
          <a:solidFill>
            <a:srgbClr val="1A1A1A"/>
          </a:solidFill>
          <a:ln w="30734">
            <a:solidFill>
              <a:srgbClr val="9CD84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11731752" y="1334109"/>
            <a:ext cx="221284" cy="221284"/>
          </a:xfrm>
          <a:prstGeom prst="ellipse">
            <a:avLst/>
          </a:prstGeom>
          <a:solidFill>
            <a:srgbClr val="1A1A1A"/>
          </a:solidFill>
          <a:ln w="30734">
            <a:solidFill>
              <a:srgbClr val="9CD84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11329416" y="1786737"/>
            <a:ext cx="221284" cy="221284"/>
          </a:xfrm>
          <a:prstGeom prst="ellipse">
            <a:avLst/>
          </a:prstGeom>
          <a:solidFill>
            <a:srgbClr val="1A1A1A"/>
          </a:solidFill>
          <a:ln w="30734">
            <a:solidFill>
              <a:srgbClr val="9CD84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700" fill="hold"/>
                                        <p:tgtEl>
                                          <p:spTgt spid="2"/>
                                        </p:tgtEl>
                                        <p:attrNameLst>
                                          <p:attrName>ppt_w</p:attrName>
                                        </p:attrNameLst>
                                      </p:cBhvr>
                                      <p:tavLst>
                                        <p:tav tm="0">
                                          <p:val>
                                            <p:strVal val="0"/>
                                          </p:val>
                                        </p:tav>
                                        <p:tav tm="70000">
                                          <p:val>
                                            <p:strVal val="#ppt_w*1.08"/>
                                          </p:val>
                                        </p:tav>
                                        <p:tav tm="100000">
                                          <p:val>
                                            <p:strVal val="#ppt_w"/>
                                          </p:val>
                                        </p:tav>
                                      </p:tavLst>
                                    </p:anim>
                                    <p:anim calcmode="lin" valueType="num">
                                      <p:cBhvr additive="base">
                                        <p:cTn id="8" dur="700" fill="hold"/>
                                        <p:tgtEl>
                                          <p:spTgt spid="2"/>
                                        </p:tgtEl>
                                        <p:attrNameLst>
                                          <p:attrName>ppt_h</p:attrName>
                                        </p:attrNameLst>
                                      </p:cBhvr>
                                      <p:tavLst>
                                        <p:tav tm="0">
                                          <p:val>
                                            <p:strVal val="0"/>
                                          </p:val>
                                        </p:tav>
                                        <p:tav tm="70000">
                                          <p:val>
                                            <p:strVal val="#ppt_h*1.08"/>
                                          </p:val>
                                        </p:tav>
                                        <p:tav tm="100000">
                                          <p:val>
                                            <p:strVal val="#ppt_h"/>
                                          </p:val>
                                        </p:tav>
                                      </p:tavLst>
                                    </p:anim>
                                    <p:animEffect transition="in" filter="fade">
                                      <p:cBhvr>
                                        <p:cTn id="9" dur="420" fill="hold"/>
                                        <p:tgtEl>
                                          <p:spTgt spid="2"/>
                                        </p:tgtEl>
                                      </p:cBhvr>
                                    </p:animEffect>
                                  </p:childTnLst>
                                </p:cTn>
                              </p:par>
                              <p:par>
                                <p:cTn id="10" presetID="10" presetClass="entr" presetSubtype="0" fill="hold" grpId="0" nodeType="withEffect">
                                  <p:stCondLst>
                                    <p:cond delay="30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fill="hold"/>
                                        <p:tgtEl>
                                          <p:spTgt spid="3"/>
                                        </p:tgtEl>
                                      </p:cBhvr>
                                    </p:animEffect>
                                  </p:childTnLst>
                                </p:cTn>
                              </p:par>
                              <p:par>
                                <p:cTn id="13" presetID="42" presetClass="entr" presetSubtype="0" decel="100000" fill="hold" grpId="0" nodeType="withEffect">
                                  <p:stCondLst>
                                    <p:cond delay="45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650" fill="hold"/>
                                        <p:tgtEl>
                                          <p:spTgt spid="4"/>
                                        </p:tgtEl>
                                      </p:cBhvr>
                                    </p:animEffect>
                                    <p:anim calcmode="lin" valueType="num">
                                      <p:cBhvr additive="base">
                                        <p:cTn id="16" dur="650" fill="hold"/>
                                        <p:tgtEl>
                                          <p:spTgt spid="4"/>
                                        </p:tgtEl>
                                        <p:attrNameLst>
                                          <p:attrName>ppt_x</p:attrName>
                                        </p:attrNameLst>
                                      </p:cBhvr>
                                      <p:tavLst>
                                        <p:tav tm="0">
                                          <p:val>
                                            <p:strVal val="#ppt_x"/>
                                          </p:val>
                                        </p:tav>
                                        <p:tav tm="100000">
                                          <p:val>
                                            <p:strVal val="#ppt_x"/>
                                          </p:val>
                                        </p:tav>
                                      </p:tavLst>
                                    </p:anim>
                                    <p:anim calcmode="lin" valueType="num">
                                      <p:cBhvr additive="base">
                                        <p:cTn id="17" dur="650" fill="hold"/>
                                        <p:tgtEl>
                                          <p:spTgt spid="4"/>
                                        </p:tgtEl>
                                        <p:attrNameLst>
                                          <p:attrName>ppt_y</p:attrName>
                                        </p:attrNameLst>
                                      </p:cBhvr>
                                      <p:tavLst>
                                        <p:tav tm="0">
                                          <p:val>
                                            <p:strVal val="#ppt_y+.06"/>
                                          </p:val>
                                        </p:tav>
                                        <p:tav tm="100000">
                                          <p:val>
                                            <p:strVal val="#ppt_y"/>
                                          </p:val>
                                        </p:tav>
                                      </p:tavLst>
                                    </p:anim>
                                  </p:childTnLst>
                                </p:cTn>
                              </p:par>
                              <p:par>
                                <p:cTn id="18" presetID="42" presetClass="entr" presetSubtype="0" decel="100000" fill="hold" grpId="0" nodeType="withEffect">
                                  <p:stCondLst>
                                    <p:cond delay="65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650" fill="hold"/>
                                        <p:tgtEl>
                                          <p:spTgt spid="5"/>
                                        </p:tgtEl>
                                      </p:cBhvr>
                                    </p:animEffect>
                                    <p:anim calcmode="lin" valueType="num">
                                      <p:cBhvr additive="base">
                                        <p:cTn id="21" dur="650" fill="hold"/>
                                        <p:tgtEl>
                                          <p:spTgt spid="5"/>
                                        </p:tgtEl>
                                        <p:attrNameLst>
                                          <p:attrName>ppt_x</p:attrName>
                                        </p:attrNameLst>
                                      </p:cBhvr>
                                      <p:tavLst>
                                        <p:tav tm="0">
                                          <p:val>
                                            <p:strVal val="#ppt_x"/>
                                          </p:val>
                                        </p:tav>
                                        <p:tav tm="100000">
                                          <p:val>
                                            <p:strVal val="#ppt_x"/>
                                          </p:val>
                                        </p:tav>
                                      </p:tavLst>
                                    </p:anim>
                                    <p:anim calcmode="lin" valueType="num">
                                      <p:cBhvr additive="base">
                                        <p:cTn id="22" dur="650" fill="hold"/>
                                        <p:tgtEl>
                                          <p:spTgt spid="5"/>
                                        </p:tgtEl>
                                        <p:attrNameLst>
                                          <p:attrName>ppt_y</p:attrName>
                                        </p:attrNameLst>
                                      </p:cBhvr>
                                      <p:tavLst>
                                        <p:tav tm="0">
                                          <p:val>
                                            <p:strVal val="#ppt_y+.06"/>
                                          </p:val>
                                        </p:tav>
                                        <p:tav tm="100000">
                                          <p:val>
                                            <p:strVal val="#ppt_y"/>
                                          </p:val>
                                        </p:tav>
                                      </p:tavLst>
                                    </p:anim>
                                  </p:childTnLst>
                                </p:cTn>
                              </p:par>
                              <p:par>
                                <p:cTn id="23" presetID="42" presetClass="entr" presetSubtype="0" decel="100000" fill="hold" grpId="0" nodeType="withEffect">
                                  <p:stCondLst>
                                    <p:cond delay="95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650" fill="hold"/>
                                        <p:tgtEl>
                                          <p:spTgt spid="6"/>
                                        </p:tgtEl>
                                      </p:cBhvr>
                                    </p:animEffect>
                                    <p:anim calcmode="lin" valueType="num">
                                      <p:cBhvr additive="base">
                                        <p:cTn id="26" dur="650" fill="hold"/>
                                        <p:tgtEl>
                                          <p:spTgt spid="6"/>
                                        </p:tgtEl>
                                        <p:attrNameLst>
                                          <p:attrName>ppt_x</p:attrName>
                                        </p:attrNameLst>
                                      </p:cBhvr>
                                      <p:tavLst>
                                        <p:tav tm="0">
                                          <p:val>
                                            <p:strVal val="#ppt_x"/>
                                          </p:val>
                                        </p:tav>
                                        <p:tav tm="100000">
                                          <p:val>
                                            <p:strVal val="#ppt_x"/>
                                          </p:val>
                                        </p:tav>
                                      </p:tavLst>
                                    </p:anim>
                                    <p:anim calcmode="lin" valueType="num">
                                      <p:cBhvr additive="base">
                                        <p:cTn id="27" dur="650" fill="hold"/>
                                        <p:tgtEl>
                                          <p:spTgt spid="6"/>
                                        </p:tgtEl>
                                        <p:attrNameLst>
                                          <p:attrName>ppt_y</p:attrName>
                                        </p:attrNameLst>
                                      </p:cBhvr>
                                      <p:tavLst>
                                        <p:tav tm="0">
                                          <p:val>
                                            <p:strVal val="#ppt_y+.06"/>
                                          </p:val>
                                        </p:tav>
                                        <p:tav tm="100000">
                                          <p:val>
                                            <p:strVal val="#ppt_y"/>
                                          </p:val>
                                        </p:tav>
                                      </p:tavLst>
                                    </p:anim>
                                  </p:childTnLst>
                                </p:cTn>
                              </p:par>
                              <p:par>
                                <p:cTn id="28" presetID="42" presetClass="entr" presetSubtype="0" decel="100000" fill="hold" grpId="0" nodeType="withEffect">
                                  <p:stCondLst>
                                    <p:cond delay="95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650" fill="hold"/>
                                        <p:tgtEl>
                                          <p:spTgt spid="7"/>
                                        </p:tgtEl>
                                      </p:cBhvr>
                                    </p:animEffect>
                                    <p:anim calcmode="lin" valueType="num">
                                      <p:cBhvr additive="base">
                                        <p:cTn id="31" dur="650" fill="hold"/>
                                        <p:tgtEl>
                                          <p:spTgt spid="7"/>
                                        </p:tgtEl>
                                        <p:attrNameLst>
                                          <p:attrName>ppt_x</p:attrName>
                                        </p:attrNameLst>
                                      </p:cBhvr>
                                      <p:tavLst>
                                        <p:tav tm="0">
                                          <p:val>
                                            <p:strVal val="#ppt_x"/>
                                          </p:val>
                                        </p:tav>
                                        <p:tav tm="100000">
                                          <p:val>
                                            <p:strVal val="#ppt_x"/>
                                          </p:val>
                                        </p:tav>
                                      </p:tavLst>
                                    </p:anim>
                                    <p:anim calcmode="lin" valueType="num">
                                      <p:cBhvr additive="base">
                                        <p:cTn id="32" dur="650" fill="hold"/>
                                        <p:tgtEl>
                                          <p:spTgt spid="7"/>
                                        </p:tgtEl>
                                        <p:attrNameLst>
                                          <p:attrName>ppt_y</p:attrName>
                                        </p:attrNameLst>
                                      </p:cBhvr>
                                      <p:tavLst>
                                        <p:tav tm="0">
                                          <p:val>
                                            <p:strVal val="#ppt_y+.06"/>
                                          </p:val>
                                        </p:tav>
                                        <p:tav tm="100000">
                                          <p:val>
                                            <p:strVal val="#ppt_y"/>
                                          </p:val>
                                        </p:tav>
                                      </p:tavLst>
                                    </p:anim>
                                  </p:childTnLst>
                                </p:cTn>
                              </p:par>
                              <p:par>
                                <p:cTn id="33" presetID="10" presetClass="entr" presetSubtype="0" fill="hold" grpId="0" nodeType="withEffect">
                                  <p:stCondLst>
                                    <p:cond delay="125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500" fill="hold"/>
                                        <p:tgtEl>
                                          <p:spTgt spid="8"/>
                                        </p:tgtEl>
                                      </p:cBhvr>
                                    </p:animEffect>
                                  </p:childTnLst>
                                </p:cTn>
                              </p:par>
                              <p:par>
                                <p:cTn id="36" presetID="53" presetClass="entr" presetSubtype="16" decel="100000" fill="hold" grpId="0" nodeType="withEffect">
                                  <p:stCondLst>
                                    <p:cond delay="1500"/>
                                  </p:stCondLst>
                                  <p:childTnLst>
                                    <p:set>
                                      <p:cBhvr>
                                        <p:cTn id="37" dur="1" fill="hold">
                                          <p:stCondLst>
                                            <p:cond delay="0"/>
                                          </p:stCondLst>
                                        </p:cTn>
                                        <p:tgtEl>
                                          <p:spTgt spid="9"/>
                                        </p:tgtEl>
                                        <p:attrNameLst>
                                          <p:attrName>style.visibility</p:attrName>
                                        </p:attrNameLst>
                                      </p:cBhvr>
                                      <p:to>
                                        <p:strVal val="visible"/>
                                      </p:to>
                                    </p:set>
                                    <p:anim calcmode="lin" valueType="num">
                                      <p:cBhvr additive="base">
                                        <p:cTn id="38" dur="450" fill="hold"/>
                                        <p:tgtEl>
                                          <p:spTgt spid="9"/>
                                        </p:tgtEl>
                                        <p:attrNameLst>
                                          <p:attrName>ppt_w</p:attrName>
                                        </p:attrNameLst>
                                      </p:cBhvr>
                                      <p:tavLst>
                                        <p:tav tm="0">
                                          <p:val>
                                            <p:strVal val="0"/>
                                          </p:val>
                                        </p:tav>
                                        <p:tav tm="70000">
                                          <p:val>
                                            <p:strVal val="#ppt_w*1.08"/>
                                          </p:val>
                                        </p:tav>
                                        <p:tav tm="100000">
                                          <p:val>
                                            <p:strVal val="#ppt_w"/>
                                          </p:val>
                                        </p:tav>
                                      </p:tavLst>
                                    </p:anim>
                                    <p:anim calcmode="lin" valueType="num">
                                      <p:cBhvr additive="base">
                                        <p:cTn id="39" dur="450" fill="hold"/>
                                        <p:tgtEl>
                                          <p:spTgt spid="9"/>
                                        </p:tgtEl>
                                        <p:attrNameLst>
                                          <p:attrName>ppt_h</p:attrName>
                                        </p:attrNameLst>
                                      </p:cBhvr>
                                      <p:tavLst>
                                        <p:tav tm="0">
                                          <p:val>
                                            <p:strVal val="0"/>
                                          </p:val>
                                        </p:tav>
                                        <p:tav tm="70000">
                                          <p:val>
                                            <p:strVal val="#ppt_h*1.08"/>
                                          </p:val>
                                        </p:tav>
                                        <p:tav tm="100000">
                                          <p:val>
                                            <p:strVal val="#ppt_h"/>
                                          </p:val>
                                        </p:tav>
                                      </p:tavLst>
                                    </p:anim>
                                    <p:animEffect transition="in" filter="fade">
                                      <p:cBhvr>
                                        <p:cTn id="40" dur="270" fill="hold"/>
                                        <p:tgtEl>
                                          <p:spTgt spid="9"/>
                                        </p:tgtEl>
                                      </p:cBhvr>
                                    </p:animEffect>
                                  </p:childTnLst>
                                </p:cTn>
                              </p:par>
                              <p:par>
                                <p:cTn id="41" presetID="22" presetClass="entr" presetSubtype="8" fill="hold" nodeType="withEffect">
                                  <p:stCondLst>
                                    <p:cond delay="1650"/>
                                  </p:stCondLst>
                                  <p:childTnLst>
                                    <p:set>
                                      <p:cBhvr>
                                        <p:cTn id="42" dur="1" fill="hold">
                                          <p:stCondLst>
                                            <p:cond delay="0"/>
                                          </p:stCondLst>
                                        </p:cTn>
                                        <p:tgtEl>
                                          <p:spTgt spid="10"/>
                                        </p:tgtEl>
                                        <p:attrNameLst>
                                          <p:attrName>style.visibility</p:attrName>
                                        </p:attrNameLst>
                                      </p:cBhvr>
                                      <p:to>
                                        <p:strVal val="visible"/>
                                      </p:to>
                                    </p:set>
                                    <p:animEffect transition="in" filter="wipe(left)">
                                      <p:cBhvr>
                                        <p:cTn id="43" dur="900" fill="hold"/>
                                        <p:tgtEl>
                                          <p:spTgt spid="10"/>
                                        </p:tgtEl>
                                      </p:cBhvr>
                                    </p:animEffect>
                                  </p:childTnLst>
                                </p:cTn>
                              </p:par>
                              <p:par>
                                <p:cTn id="44" presetID="22" presetClass="entr" presetSubtype="8" fill="hold" nodeType="withEffect">
                                  <p:stCondLst>
                                    <p:cond delay="1650"/>
                                  </p:stCondLst>
                                  <p:childTnLst>
                                    <p:set>
                                      <p:cBhvr>
                                        <p:cTn id="45" dur="1" fill="hold">
                                          <p:stCondLst>
                                            <p:cond delay="0"/>
                                          </p:stCondLst>
                                        </p:cTn>
                                        <p:tgtEl>
                                          <p:spTgt spid="11"/>
                                        </p:tgtEl>
                                        <p:attrNameLst>
                                          <p:attrName>style.visibility</p:attrName>
                                        </p:attrNameLst>
                                      </p:cBhvr>
                                      <p:to>
                                        <p:strVal val="visible"/>
                                      </p:to>
                                    </p:set>
                                    <p:animEffect transition="in" filter="wipe(left)">
                                      <p:cBhvr>
                                        <p:cTn id="46" dur="900" fill="hold"/>
                                        <p:tgtEl>
                                          <p:spTgt spid="11"/>
                                        </p:tgtEl>
                                      </p:cBhvr>
                                    </p:animEffect>
                                  </p:childTnLst>
                                </p:cTn>
                              </p:par>
                              <p:par>
                                <p:cTn id="47" presetID="22" presetClass="entr" presetSubtype="8" fill="hold" nodeType="withEffect">
                                  <p:stCondLst>
                                    <p:cond delay="1650"/>
                                  </p:stCondLst>
                                  <p:childTnLst>
                                    <p:set>
                                      <p:cBhvr>
                                        <p:cTn id="48" dur="1" fill="hold">
                                          <p:stCondLst>
                                            <p:cond delay="0"/>
                                          </p:stCondLst>
                                        </p:cTn>
                                        <p:tgtEl>
                                          <p:spTgt spid="12"/>
                                        </p:tgtEl>
                                        <p:attrNameLst>
                                          <p:attrName>style.visibility</p:attrName>
                                        </p:attrNameLst>
                                      </p:cBhvr>
                                      <p:to>
                                        <p:strVal val="visible"/>
                                      </p:to>
                                    </p:set>
                                    <p:animEffect transition="in" filter="wipe(left)">
                                      <p:cBhvr>
                                        <p:cTn id="49" dur="900" fill="hold"/>
                                        <p:tgtEl>
                                          <p:spTgt spid="12"/>
                                        </p:tgtEl>
                                      </p:cBhvr>
                                    </p:animEffect>
                                  </p:childTnLst>
                                </p:cTn>
                              </p:par>
                              <p:par>
                                <p:cTn id="50" presetID="22" presetClass="entr" presetSubtype="8" fill="hold" nodeType="withEffect">
                                  <p:stCondLst>
                                    <p:cond delay="1650"/>
                                  </p:stCondLst>
                                  <p:childTnLst>
                                    <p:set>
                                      <p:cBhvr>
                                        <p:cTn id="51" dur="1" fill="hold">
                                          <p:stCondLst>
                                            <p:cond delay="0"/>
                                          </p:stCondLst>
                                        </p:cTn>
                                        <p:tgtEl>
                                          <p:spTgt spid="13"/>
                                        </p:tgtEl>
                                        <p:attrNameLst>
                                          <p:attrName>style.visibility</p:attrName>
                                        </p:attrNameLst>
                                      </p:cBhvr>
                                      <p:to>
                                        <p:strVal val="visible"/>
                                      </p:to>
                                    </p:set>
                                    <p:animEffect transition="in" filter="wipe(left)">
                                      <p:cBhvr>
                                        <p:cTn id="52" dur="900" fill="hold"/>
                                        <p:tgtEl>
                                          <p:spTgt spid="13"/>
                                        </p:tgtEl>
                                      </p:cBhvr>
                                    </p:animEffect>
                                  </p:childTnLst>
                                </p:cTn>
                              </p:par>
                              <p:par>
                                <p:cTn id="53" presetID="22" presetClass="entr" presetSubtype="8" fill="hold" nodeType="withEffect">
                                  <p:stCondLst>
                                    <p:cond delay="1650"/>
                                  </p:stCondLst>
                                  <p:childTnLst>
                                    <p:set>
                                      <p:cBhvr>
                                        <p:cTn id="54" dur="1" fill="hold">
                                          <p:stCondLst>
                                            <p:cond delay="0"/>
                                          </p:stCondLst>
                                        </p:cTn>
                                        <p:tgtEl>
                                          <p:spTgt spid="14"/>
                                        </p:tgtEl>
                                        <p:attrNameLst>
                                          <p:attrName>style.visibility</p:attrName>
                                        </p:attrNameLst>
                                      </p:cBhvr>
                                      <p:to>
                                        <p:strVal val="visible"/>
                                      </p:to>
                                    </p:set>
                                    <p:animEffect transition="in" filter="wipe(left)">
                                      <p:cBhvr>
                                        <p:cTn id="55" dur="900" fill="hold"/>
                                        <p:tgtEl>
                                          <p:spTgt spid="14"/>
                                        </p:tgtEl>
                                      </p:cBhvr>
                                    </p:animEffect>
                                  </p:childTnLst>
                                </p:cTn>
                              </p:par>
                              <p:par>
                                <p:cTn id="56" presetID="22" presetClass="entr" presetSubtype="8" fill="hold" nodeType="withEffect">
                                  <p:stCondLst>
                                    <p:cond delay="1650"/>
                                  </p:stCondLst>
                                  <p:childTnLst>
                                    <p:set>
                                      <p:cBhvr>
                                        <p:cTn id="57" dur="1" fill="hold">
                                          <p:stCondLst>
                                            <p:cond delay="0"/>
                                          </p:stCondLst>
                                        </p:cTn>
                                        <p:tgtEl>
                                          <p:spTgt spid="15"/>
                                        </p:tgtEl>
                                        <p:attrNameLst>
                                          <p:attrName>style.visibility</p:attrName>
                                        </p:attrNameLst>
                                      </p:cBhvr>
                                      <p:to>
                                        <p:strVal val="visible"/>
                                      </p:to>
                                    </p:set>
                                    <p:animEffect transition="in" filter="wipe(left)">
                                      <p:cBhvr>
                                        <p:cTn id="58" dur="900" fill="hold"/>
                                        <p:tgtEl>
                                          <p:spTgt spid="15"/>
                                        </p:tgtEl>
                                      </p:cBhvr>
                                    </p:animEffect>
                                  </p:childTnLst>
                                </p:cTn>
                              </p:par>
                              <p:par>
                                <p:cTn id="59" presetID="22" presetClass="entr" presetSubtype="8" fill="hold" nodeType="withEffect">
                                  <p:stCondLst>
                                    <p:cond delay="1650"/>
                                  </p:stCondLst>
                                  <p:childTnLst>
                                    <p:set>
                                      <p:cBhvr>
                                        <p:cTn id="60" dur="1" fill="hold">
                                          <p:stCondLst>
                                            <p:cond delay="0"/>
                                          </p:stCondLst>
                                        </p:cTn>
                                        <p:tgtEl>
                                          <p:spTgt spid="16"/>
                                        </p:tgtEl>
                                        <p:attrNameLst>
                                          <p:attrName>style.visibility</p:attrName>
                                        </p:attrNameLst>
                                      </p:cBhvr>
                                      <p:to>
                                        <p:strVal val="visible"/>
                                      </p:to>
                                    </p:set>
                                    <p:animEffect transition="in" filter="wipe(left)">
                                      <p:cBhvr>
                                        <p:cTn id="61" dur="900" fill="hold"/>
                                        <p:tgtEl>
                                          <p:spTgt spid="16"/>
                                        </p:tgtEl>
                                      </p:cBhvr>
                                    </p:animEffect>
                                  </p:childTnLst>
                                </p:cTn>
                              </p:par>
                              <p:par>
                                <p:cTn id="62" presetID="53" presetClass="entr" presetSubtype="16" decel="100000" fill="hold" grpId="0" nodeType="withEffect">
                                  <p:stCondLst>
                                    <p:cond delay="2400"/>
                                  </p:stCondLst>
                                  <p:childTnLst>
                                    <p:set>
                                      <p:cBhvr>
                                        <p:cTn id="63" dur="1" fill="hold">
                                          <p:stCondLst>
                                            <p:cond delay="0"/>
                                          </p:stCondLst>
                                        </p:cTn>
                                        <p:tgtEl>
                                          <p:spTgt spid="17"/>
                                        </p:tgtEl>
                                        <p:attrNameLst>
                                          <p:attrName>style.visibility</p:attrName>
                                        </p:attrNameLst>
                                      </p:cBhvr>
                                      <p:to>
                                        <p:strVal val="visible"/>
                                      </p:to>
                                    </p:set>
                                    <p:anim calcmode="lin" valueType="num">
                                      <p:cBhvr additive="base">
                                        <p:cTn id="64" dur="450" fill="hold"/>
                                        <p:tgtEl>
                                          <p:spTgt spid="17"/>
                                        </p:tgtEl>
                                        <p:attrNameLst>
                                          <p:attrName>ppt_w</p:attrName>
                                        </p:attrNameLst>
                                      </p:cBhvr>
                                      <p:tavLst>
                                        <p:tav tm="0">
                                          <p:val>
                                            <p:strVal val="0"/>
                                          </p:val>
                                        </p:tav>
                                        <p:tav tm="70000">
                                          <p:val>
                                            <p:strVal val="#ppt_w*1.08"/>
                                          </p:val>
                                        </p:tav>
                                        <p:tav tm="100000">
                                          <p:val>
                                            <p:strVal val="#ppt_w"/>
                                          </p:val>
                                        </p:tav>
                                      </p:tavLst>
                                    </p:anim>
                                    <p:anim calcmode="lin" valueType="num">
                                      <p:cBhvr additive="base">
                                        <p:cTn id="65" dur="450" fill="hold"/>
                                        <p:tgtEl>
                                          <p:spTgt spid="17"/>
                                        </p:tgtEl>
                                        <p:attrNameLst>
                                          <p:attrName>ppt_h</p:attrName>
                                        </p:attrNameLst>
                                      </p:cBhvr>
                                      <p:tavLst>
                                        <p:tav tm="0">
                                          <p:val>
                                            <p:strVal val="0"/>
                                          </p:val>
                                        </p:tav>
                                        <p:tav tm="70000">
                                          <p:val>
                                            <p:strVal val="#ppt_h*1.08"/>
                                          </p:val>
                                        </p:tav>
                                        <p:tav tm="100000">
                                          <p:val>
                                            <p:strVal val="#ppt_h"/>
                                          </p:val>
                                        </p:tav>
                                      </p:tavLst>
                                    </p:anim>
                                    <p:animEffect transition="in" filter="fade">
                                      <p:cBhvr>
                                        <p:cTn id="66" dur="270" fill="hold"/>
                                        <p:tgtEl>
                                          <p:spTgt spid="17"/>
                                        </p:tgtEl>
                                      </p:cBhvr>
                                    </p:animEffect>
                                  </p:childTnLst>
                                </p:cTn>
                              </p:par>
                              <p:par>
                                <p:cTn id="67" presetID="53" presetClass="entr" presetSubtype="16" decel="100000" fill="hold" grpId="0" nodeType="withEffect">
                                  <p:stCondLst>
                                    <p:cond delay="2520"/>
                                  </p:stCondLst>
                                  <p:childTnLst>
                                    <p:set>
                                      <p:cBhvr>
                                        <p:cTn id="68" dur="1" fill="hold">
                                          <p:stCondLst>
                                            <p:cond delay="0"/>
                                          </p:stCondLst>
                                        </p:cTn>
                                        <p:tgtEl>
                                          <p:spTgt spid="18"/>
                                        </p:tgtEl>
                                        <p:attrNameLst>
                                          <p:attrName>style.visibility</p:attrName>
                                        </p:attrNameLst>
                                      </p:cBhvr>
                                      <p:to>
                                        <p:strVal val="visible"/>
                                      </p:to>
                                    </p:set>
                                    <p:anim calcmode="lin" valueType="num">
                                      <p:cBhvr additive="base">
                                        <p:cTn id="69" dur="450" fill="hold"/>
                                        <p:tgtEl>
                                          <p:spTgt spid="18"/>
                                        </p:tgtEl>
                                        <p:attrNameLst>
                                          <p:attrName>ppt_w</p:attrName>
                                        </p:attrNameLst>
                                      </p:cBhvr>
                                      <p:tavLst>
                                        <p:tav tm="0">
                                          <p:val>
                                            <p:strVal val="0"/>
                                          </p:val>
                                        </p:tav>
                                        <p:tav tm="70000">
                                          <p:val>
                                            <p:strVal val="#ppt_w*1.08"/>
                                          </p:val>
                                        </p:tav>
                                        <p:tav tm="100000">
                                          <p:val>
                                            <p:strVal val="#ppt_w"/>
                                          </p:val>
                                        </p:tav>
                                      </p:tavLst>
                                    </p:anim>
                                    <p:anim calcmode="lin" valueType="num">
                                      <p:cBhvr additive="base">
                                        <p:cTn id="70" dur="450" fill="hold"/>
                                        <p:tgtEl>
                                          <p:spTgt spid="18"/>
                                        </p:tgtEl>
                                        <p:attrNameLst>
                                          <p:attrName>ppt_h</p:attrName>
                                        </p:attrNameLst>
                                      </p:cBhvr>
                                      <p:tavLst>
                                        <p:tav tm="0">
                                          <p:val>
                                            <p:strVal val="0"/>
                                          </p:val>
                                        </p:tav>
                                        <p:tav tm="70000">
                                          <p:val>
                                            <p:strVal val="#ppt_h*1.08"/>
                                          </p:val>
                                        </p:tav>
                                        <p:tav tm="100000">
                                          <p:val>
                                            <p:strVal val="#ppt_h"/>
                                          </p:val>
                                        </p:tav>
                                      </p:tavLst>
                                    </p:anim>
                                    <p:animEffect transition="in" filter="fade">
                                      <p:cBhvr>
                                        <p:cTn id="71" dur="270" fill="hold"/>
                                        <p:tgtEl>
                                          <p:spTgt spid="18"/>
                                        </p:tgtEl>
                                      </p:cBhvr>
                                    </p:animEffect>
                                  </p:childTnLst>
                                </p:cTn>
                              </p:par>
                              <p:par>
                                <p:cTn id="72" presetID="53" presetClass="entr" presetSubtype="16" decel="100000" fill="hold" grpId="0" nodeType="withEffect">
                                  <p:stCondLst>
                                    <p:cond delay="2640"/>
                                  </p:stCondLst>
                                  <p:childTnLst>
                                    <p:set>
                                      <p:cBhvr>
                                        <p:cTn id="73" dur="1" fill="hold">
                                          <p:stCondLst>
                                            <p:cond delay="0"/>
                                          </p:stCondLst>
                                        </p:cTn>
                                        <p:tgtEl>
                                          <p:spTgt spid="19"/>
                                        </p:tgtEl>
                                        <p:attrNameLst>
                                          <p:attrName>style.visibility</p:attrName>
                                        </p:attrNameLst>
                                      </p:cBhvr>
                                      <p:to>
                                        <p:strVal val="visible"/>
                                      </p:to>
                                    </p:set>
                                    <p:anim calcmode="lin" valueType="num">
                                      <p:cBhvr additive="base">
                                        <p:cTn id="74" dur="450" fill="hold"/>
                                        <p:tgtEl>
                                          <p:spTgt spid="19"/>
                                        </p:tgtEl>
                                        <p:attrNameLst>
                                          <p:attrName>ppt_w</p:attrName>
                                        </p:attrNameLst>
                                      </p:cBhvr>
                                      <p:tavLst>
                                        <p:tav tm="0">
                                          <p:val>
                                            <p:strVal val="0"/>
                                          </p:val>
                                        </p:tav>
                                        <p:tav tm="70000">
                                          <p:val>
                                            <p:strVal val="#ppt_w*1.08"/>
                                          </p:val>
                                        </p:tav>
                                        <p:tav tm="100000">
                                          <p:val>
                                            <p:strVal val="#ppt_w"/>
                                          </p:val>
                                        </p:tav>
                                      </p:tavLst>
                                    </p:anim>
                                    <p:anim calcmode="lin" valueType="num">
                                      <p:cBhvr additive="base">
                                        <p:cTn id="75" dur="450" fill="hold"/>
                                        <p:tgtEl>
                                          <p:spTgt spid="19"/>
                                        </p:tgtEl>
                                        <p:attrNameLst>
                                          <p:attrName>ppt_h</p:attrName>
                                        </p:attrNameLst>
                                      </p:cBhvr>
                                      <p:tavLst>
                                        <p:tav tm="0">
                                          <p:val>
                                            <p:strVal val="0"/>
                                          </p:val>
                                        </p:tav>
                                        <p:tav tm="70000">
                                          <p:val>
                                            <p:strVal val="#ppt_h*1.08"/>
                                          </p:val>
                                        </p:tav>
                                        <p:tav tm="100000">
                                          <p:val>
                                            <p:strVal val="#ppt_h"/>
                                          </p:val>
                                        </p:tav>
                                      </p:tavLst>
                                    </p:anim>
                                    <p:animEffect transition="in" filter="fade">
                                      <p:cBhvr>
                                        <p:cTn id="76" dur="270" fill="hold"/>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7" grpId="0" animBg="1"/>
      <p:bldP spid="18" grpId="0" animBg="1"/>
      <p:bldP spid="19"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0">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9CD848"/>
                </a:solidFill>
                <a:latin typeface="Segoe UI Semibold"/>
              </a:rPr>
              <a:t>VÍDEO  ·  MÓDULO 1</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5"/>
          <a:stretch>
            <a:fillRect/>
          </a:stretch>
        </p:blipFill>
        <p:spPr>
          <a:xfrm>
            <a:off x="11167567" y="6291072"/>
            <a:ext cx="585673" cy="384048"/>
          </a:xfrm>
          <a:prstGeom prst="rect">
            <a:avLst/>
          </a:prstGeom>
        </p:spPr>
      </p:pic>
      <p:sp>
        <p:nvSpPr>
          <p:cNvPr id="5" name="TextBox 4"/>
          <p:cNvSpPr txBox="1"/>
          <p:nvPr/>
        </p:nvSpPr>
        <p:spPr>
          <a:xfrm>
            <a:off x="548640" y="603504"/>
            <a:ext cx="8778240" cy="548640"/>
          </a:xfrm>
          <a:prstGeom prst="rect">
            <a:avLst/>
          </a:prstGeom>
          <a:noFill/>
        </p:spPr>
        <p:txBody>
          <a:bodyPr wrap="square" lIns="36576" tIns="18288" rIns="36576" bIns="18288" anchor="t">
            <a:spAutoFit/>
          </a:bodyPr>
          <a:lstStyle/>
          <a:p>
            <a:pPr algn="l"/>
            <a:r>
              <a:rPr sz="2100" b="1" i="0">
                <a:solidFill>
                  <a:srgbClr val="F2F2EC"/>
                </a:solidFill>
                <a:latin typeface="Segoe UI Semibold"/>
              </a:rPr>
              <a:t>De quem estamos falando?</a:t>
            </a:r>
          </a:p>
        </p:txBody>
      </p:sp>
      <p:sp>
        <p:nvSpPr>
          <p:cNvPr id="10" name="Rounded Rectangle 9">
            <a:hlinkClick r:id="rId6" action="ppaction://hlinksldjump"/>
          </p:cNvPr>
          <p:cNvSpPr/>
          <p:nvPr/>
        </p:nvSpPr>
        <p:spPr>
          <a:xfrm>
            <a:off x="9448495" y="566928"/>
            <a:ext cx="2194560" cy="502920"/>
          </a:xfrm>
          <a:prstGeom prst="roundRect">
            <a:avLst>
              <a:gd name="adj" fmla="val 50000"/>
            </a:avLst>
          </a:prstGeom>
          <a:solidFill>
            <a:srgbClr val="2E343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400" b="1" i="0">
                <a:solidFill>
                  <a:srgbClr val="F2F2EC"/>
                </a:solidFill>
                <a:latin typeface="Segoe UI Semibold"/>
              </a:rPr>
              <a:t>↩  Voltar</a:t>
            </a:r>
          </a:p>
        </p:txBody>
      </p:sp>
      <p:pic>
        <p:nvPicPr>
          <p:cNvPr id="11" name="Vídeo M1">
            <a:hlinkClick r:id="" action="ppaction://media"/>
          </p:cNvPr>
          <p:cNvPicPr>
            <a:picLocks noChangeAspect="1"/>
          </p:cNvPicPr>
          <p:nvPr>
            <a:videoFile r:link="rId2"/>
            <p:extLst>
              <p:ext uri="{DAA4B4D4-6D71-4841-9C94-3DE7FCFB9230}">
                <p14:media xmlns:p14="http://schemas.microsoft.com/office/powerpoint/2010/main" r:link="rId1"/>
              </p:ext>
            </p:extLst>
          </p:nvPr>
        </p:nvPicPr>
        <p:blipFill>
          <a:blip r:embed="rId7"/>
          <a:stretch>
            <a:fillRect/>
          </a:stretch>
        </p:blipFill>
        <p:spPr>
          <a:xfrm>
            <a:off x="1706727" y="1325880"/>
            <a:ext cx="8778240" cy="4937760"/>
          </a:xfrm>
          <a:prstGeom prst="rect">
            <a:avLst/>
          </a:prstGeom>
        </p:spPr>
      </p:pic>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5269"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11"/>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11"/>
                                        </p:tgtEl>
                                      </p:cBhvr>
                                    </p:cmd>
                                  </p:childTnLst>
                                </p:cTn>
                              </p:par>
                            </p:childTnLst>
                          </p:cTn>
                        </p:par>
                      </p:childTnLst>
                    </p:cTn>
                  </p:par>
                </p:childTnLst>
              </p:cTn>
              <p:nextCondLst>
                <p:cond evt="onClick" delay="0">
                  <p:tgtEl>
                    <p:spTgt spid="11"/>
                  </p:tgtEl>
                </p:cond>
              </p:nextCondLst>
            </p:seq>
            <p:video>
              <p:cMediaNode vol="80000">
                <p:cTn id="12" fill="hold" display="0">
                  <p:stCondLst>
                    <p:cond delay="indefinite"/>
                  </p:stCondLst>
                </p:cTn>
                <p:tgtEl>
                  <p:spTgt spid="11"/>
                </p:tgtEl>
              </p:cMediaNode>
            </p:vide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9CD848"/>
                </a:solidFill>
                <a:latin typeface="Segoe UI Semibold"/>
              </a:rPr>
              <a:t>MÓDULO 1  ·  DESIGN COMO FERRAMENTA DE INOVAÇÃO</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914400" y="1188720"/>
            <a:ext cx="1828800" cy="1828800"/>
          </a:xfrm>
          <a:prstGeom prst="rect">
            <a:avLst/>
          </a:prstGeom>
          <a:noFill/>
        </p:spPr>
        <p:txBody>
          <a:bodyPr wrap="square" lIns="36576" tIns="18288" rIns="36576" bIns="18288" anchor="t">
            <a:spAutoFit/>
          </a:bodyPr>
          <a:lstStyle/>
          <a:p>
            <a:pPr algn="l"/>
            <a:r>
              <a:rPr sz="16000" b="1" i="0">
                <a:solidFill>
                  <a:srgbClr val="9CD848"/>
                </a:solidFill>
                <a:latin typeface="Georgia"/>
              </a:rPr>
              <a:t>“</a:t>
            </a:r>
          </a:p>
        </p:txBody>
      </p:sp>
      <p:sp>
        <p:nvSpPr>
          <p:cNvPr id="6" name="TextBox 5"/>
          <p:cNvSpPr txBox="1"/>
          <p:nvPr/>
        </p:nvSpPr>
        <p:spPr>
          <a:xfrm>
            <a:off x="1463040" y="2377440"/>
            <a:ext cx="9326880" cy="2194560"/>
          </a:xfrm>
          <a:prstGeom prst="rect">
            <a:avLst/>
          </a:prstGeom>
          <a:noFill/>
        </p:spPr>
        <p:txBody>
          <a:bodyPr wrap="square" lIns="36576" tIns="18288" rIns="36576" bIns="18288" anchor="t">
            <a:spAutoFit/>
          </a:bodyPr>
          <a:lstStyle/>
          <a:p>
            <a:pPr algn="l">
              <a:lnSpc>
                <a:spcPct val="105000"/>
              </a:lnSpc>
            </a:pPr>
            <a:r>
              <a:rPr sz="4000" b="1" i="0">
                <a:solidFill>
                  <a:srgbClr val="F2F2EC"/>
                </a:solidFill>
                <a:latin typeface="Segoe UI Semibold"/>
              </a:rPr>
              <a:t>Design não é só como algo parece. É como algo funciona.</a:t>
            </a:r>
          </a:p>
        </p:txBody>
      </p:sp>
      <p:sp>
        <p:nvSpPr>
          <p:cNvPr id="7" name="TextBox 6"/>
          <p:cNvSpPr txBox="1"/>
          <p:nvPr/>
        </p:nvSpPr>
        <p:spPr>
          <a:xfrm>
            <a:off x="1463040" y="4663440"/>
            <a:ext cx="9144000" cy="457200"/>
          </a:xfrm>
          <a:prstGeom prst="rect">
            <a:avLst/>
          </a:prstGeom>
          <a:noFill/>
        </p:spPr>
        <p:txBody>
          <a:bodyPr wrap="square" lIns="36576" tIns="18288" rIns="36576" bIns="18288" anchor="t">
            <a:spAutoFit/>
          </a:bodyPr>
          <a:lstStyle/>
          <a:p>
            <a:pPr algn="l"/>
            <a:r>
              <a:rPr sz="1600" b="0" i="0">
                <a:solidFill>
                  <a:srgbClr val="B4B8B0"/>
                </a:solidFill>
                <a:latin typeface="Segoe UI"/>
              </a:rPr>
              <a:t>— Ideia central deste módulo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decel="10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600" fill="hold"/>
                                        <p:tgtEl>
                                          <p:spTgt spid="5"/>
                                        </p:tgtEl>
                                        <p:attrNameLst>
                                          <p:attrName>ppt_w</p:attrName>
                                        </p:attrNameLst>
                                      </p:cBhvr>
                                      <p:tavLst>
                                        <p:tav tm="0">
                                          <p:val>
                                            <p:strVal val="0"/>
                                          </p:val>
                                        </p:tav>
                                        <p:tav tm="70000">
                                          <p:val>
                                            <p:strVal val="#ppt_w*1.08"/>
                                          </p:val>
                                        </p:tav>
                                        <p:tav tm="100000">
                                          <p:val>
                                            <p:strVal val="#ppt_w"/>
                                          </p:val>
                                        </p:tav>
                                      </p:tavLst>
                                    </p:anim>
                                    <p:anim calcmode="lin" valueType="num">
                                      <p:cBhvr additive="base">
                                        <p:cTn id="8" dur="600" fill="hold"/>
                                        <p:tgtEl>
                                          <p:spTgt spid="5"/>
                                        </p:tgtEl>
                                        <p:attrNameLst>
                                          <p:attrName>ppt_h</p:attrName>
                                        </p:attrNameLst>
                                      </p:cBhvr>
                                      <p:tavLst>
                                        <p:tav tm="0">
                                          <p:val>
                                            <p:strVal val="0"/>
                                          </p:val>
                                        </p:tav>
                                        <p:tav tm="70000">
                                          <p:val>
                                            <p:strVal val="#ppt_h*1.08"/>
                                          </p:val>
                                        </p:tav>
                                        <p:tav tm="100000">
                                          <p:val>
                                            <p:strVal val="#ppt_h"/>
                                          </p:val>
                                        </p:tav>
                                      </p:tavLst>
                                    </p:anim>
                                    <p:animEffect transition="in" filter="fade">
                                      <p:cBhvr>
                                        <p:cTn id="9" dur="360" fill="hold"/>
                                        <p:tgtEl>
                                          <p:spTgt spid="5"/>
                                        </p:tgtEl>
                                      </p:cBhvr>
                                    </p:animEffect>
                                  </p:childTnLst>
                                </p:cTn>
                              </p:par>
                              <p:par>
                                <p:cTn id="10" presetID="10" presetClass="entr" presetSubtype="0" fill="hold" grpId="0" nodeType="withEffect">
                                  <p:stCondLst>
                                    <p:cond delay="350"/>
                                  </p:stCondLst>
                                  <p:iterate type="wd">
                                    <p:tmPct val="35000"/>
                                  </p:iterate>
                                  <p:childTnLst>
                                    <p:set>
                                      <p:cBhvr>
                                        <p:cTn id="11" dur="1" fill="hold">
                                          <p:stCondLst>
                                            <p:cond delay="0"/>
                                          </p:stCondLst>
                                        </p:cTn>
                                        <p:tgtEl>
                                          <p:spTgt spid="6"/>
                                        </p:tgtEl>
                                        <p:attrNameLst>
                                          <p:attrName>style.visibility</p:attrName>
                                        </p:attrNameLst>
                                      </p:cBhvr>
                                      <p:to>
                                        <p:strVal val="visible"/>
                                      </p:to>
                                    </p:set>
                                    <p:animEffect transition="in" filter="fade">
                                      <p:cBhvr>
                                        <p:cTn id="12" dur="420" fill="hold"/>
                                        <p:tgtEl>
                                          <p:spTgt spid="6"/>
                                        </p:tgtEl>
                                      </p:cBhvr>
                                    </p:animEffect>
                                  </p:childTnLst>
                                </p:cTn>
                              </p:par>
                              <p:par>
                                <p:cTn id="13" presetID="42" presetClass="entr" presetSubtype="0" decel="100000" fill="hold" grpId="0" nodeType="withEffect">
                                  <p:stCondLst>
                                    <p:cond delay="254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fill="hold"/>
                                        <p:tgtEl>
                                          <p:spTgt spid="7"/>
                                        </p:tgtEl>
                                      </p:cBhvr>
                                    </p:animEffect>
                                    <p:anim calcmode="lin" valueType="num">
                                      <p:cBhvr additive="base">
                                        <p:cTn id="16" dur="650" fill="hold"/>
                                        <p:tgtEl>
                                          <p:spTgt spid="7"/>
                                        </p:tgtEl>
                                        <p:attrNameLst>
                                          <p:attrName>ppt_x</p:attrName>
                                        </p:attrNameLst>
                                      </p:cBhvr>
                                      <p:tavLst>
                                        <p:tav tm="0">
                                          <p:val>
                                            <p:strVal val="#ppt_x"/>
                                          </p:val>
                                        </p:tav>
                                        <p:tav tm="100000">
                                          <p:val>
                                            <p:strVal val="#ppt_x"/>
                                          </p:val>
                                        </p:tav>
                                      </p:tavLst>
                                    </p:anim>
                                    <p:anim calcmode="lin" valueType="num">
                                      <p:cBhvr additive="base">
                                        <p:cTn id="17" dur="650" fill="hold"/>
                                        <p:tgtEl>
                                          <p:spTgt spid="7"/>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9CD848"/>
                </a:solidFill>
                <a:latin typeface="Segoe UI Semibold"/>
              </a:rPr>
              <a:t>MÓDULO 1  ·  DESIGN COMO FERRAMENTA DE INOVAÇÃO</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O design está em todo lugar</a:t>
            </a:r>
          </a:p>
        </p:txBody>
      </p:sp>
      <p:sp>
        <p:nvSpPr>
          <p:cNvPr id="6" name="TextBox 5"/>
          <p:cNvSpPr txBox="1"/>
          <p:nvPr/>
        </p:nvSpPr>
        <p:spPr>
          <a:xfrm>
            <a:off x="548640" y="1325880"/>
            <a:ext cx="10972800" cy="457200"/>
          </a:xfrm>
          <a:prstGeom prst="rect">
            <a:avLst/>
          </a:prstGeom>
          <a:noFill/>
        </p:spPr>
        <p:txBody>
          <a:bodyPr wrap="square" lIns="36576" tIns="18288" rIns="36576" bIns="18288" anchor="t">
            <a:spAutoFit/>
          </a:bodyPr>
          <a:lstStyle/>
          <a:p>
            <a:pPr algn="l"/>
            <a:r>
              <a:rPr sz="1700" b="0" i="0">
                <a:solidFill>
                  <a:srgbClr val="B4B8B0"/>
                </a:solidFill>
                <a:latin typeface="Segoe UI"/>
              </a:rPr>
              <a:t>Tudo o que foi pensado para alguém usar foi projetado: bem ou mal.</a:t>
            </a:r>
          </a:p>
        </p:txBody>
      </p:sp>
      <p:sp>
        <p:nvSpPr>
          <p:cNvPr id="7" name="Rounded Rectangle 6"/>
          <p:cNvSpPr/>
          <p:nvPr/>
        </p:nvSpPr>
        <p:spPr>
          <a:xfrm>
            <a:off x="548640" y="2148840"/>
            <a:ext cx="3514344" cy="356616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68680" y="3246120"/>
            <a:ext cx="2874264" cy="822960"/>
          </a:xfrm>
          <a:prstGeom prst="rect">
            <a:avLst/>
          </a:prstGeom>
          <a:noFill/>
        </p:spPr>
        <p:txBody>
          <a:bodyPr wrap="square" lIns="36576" tIns="18288" rIns="36576" bIns="18288" anchor="t">
            <a:spAutoFit/>
          </a:bodyPr>
          <a:lstStyle/>
          <a:p>
            <a:pPr algn="l"/>
            <a:r>
              <a:rPr sz="1900" b="1" i="0">
                <a:solidFill>
                  <a:srgbClr val="F2F2EC"/>
                </a:solidFill>
                <a:latin typeface="Segoe UI Semibold"/>
              </a:rPr>
              <a:t>A porta que confunde</a:t>
            </a:r>
          </a:p>
        </p:txBody>
      </p:sp>
      <p:sp>
        <p:nvSpPr>
          <p:cNvPr id="9" name="TextBox 8"/>
          <p:cNvSpPr txBox="1"/>
          <p:nvPr/>
        </p:nvSpPr>
        <p:spPr>
          <a:xfrm>
            <a:off x="868680" y="4160520"/>
            <a:ext cx="2874264" cy="1508760"/>
          </a:xfrm>
          <a:prstGeom prst="rect">
            <a:avLst/>
          </a:prstGeom>
          <a:noFill/>
        </p:spPr>
        <p:txBody>
          <a:bodyPr wrap="square" lIns="36576" tIns="18288" rIns="36576" bIns="18288" anchor="t">
            <a:spAutoFit/>
          </a:bodyPr>
          <a:lstStyle/>
          <a:p>
            <a:pPr algn="l"/>
            <a:r>
              <a:rPr sz="1450" b="0" i="0">
                <a:solidFill>
                  <a:srgbClr val="B4B8B0"/>
                </a:solidFill>
                <a:latin typeface="Segoe UI"/>
              </a:rPr>
              <a:t>Puxar ou empurrar? Quando a maçaneta 'pede' o gesto errado, a falha é do projeto, não da pessoa.</a:t>
            </a:r>
          </a:p>
        </p:txBody>
      </p:sp>
      <p:sp>
        <p:nvSpPr>
          <p:cNvPr id="10" name="Oval 9"/>
          <p:cNvSpPr/>
          <p:nvPr/>
        </p:nvSpPr>
        <p:spPr>
          <a:xfrm>
            <a:off x="859536" y="2459736"/>
            <a:ext cx="566928" cy="566928"/>
          </a:xfrm>
          <a:prstGeom prst="ellipse">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700" b="1" i="0">
                <a:solidFill>
                  <a:srgbClr val="1A1A1A"/>
                </a:solidFill>
                <a:latin typeface="Segoe UI Semibold"/>
              </a:rPr>
              <a:t>1</a:t>
            </a:r>
          </a:p>
        </p:txBody>
      </p:sp>
      <p:sp>
        <p:nvSpPr>
          <p:cNvPr id="11" name="Rounded Rectangle 10"/>
          <p:cNvSpPr/>
          <p:nvPr/>
        </p:nvSpPr>
        <p:spPr>
          <a:xfrm>
            <a:off x="4337304" y="2148840"/>
            <a:ext cx="3514344" cy="356616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657344" y="3246120"/>
            <a:ext cx="2874264" cy="822960"/>
          </a:xfrm>
          <a:prstGeom prst="rect">
            <a:avLst/>
          </a:prstGeom>
          <a:noFill/>
        </p:spPr>
        <p:txBody>
          <a:bodyPr wrap="square" lIns="36576" tIns="18288" rIns="36576" bIns="18288" anchor="t">
            <a:spAutoFit/>
          </a:bodyPr>
          <a:lstStyle/>
          <a:p>
            <a:pPr algn="l"/>
            <a:r>
              <a:rPr sz="1900" b="1" i="0">
                <a:solidFill>
                  <a:srgbClr val="F2F2EC"/>
                </a:solidFill>
                <a:latin typeface="Segoe UI Semibold"/>
              </a:rPr>
              <a:t>O caixa eletrônico</a:t>
            </a:r>
          </a:p>
        </p:txBody>
      </p:sp>
      <p:sp>
        <p:nvSpPr>
          <p:cNvPr id="13" name="TextBox 12"/>
          <p:cNvSpPr txBox="1"/>
          <p:nvPr/>
        </p:nvSpPr>
        <p:spPr>
          <a:xfrm>
            <a:off x="4657344" y="4160520"/>
            <a:ext cx="2874264" cy="1508760"/>
          </a:xfrm>
          <a:prstGeom prst="rect">
            <a:avLst/>
          </a:prstGeom>
          <a:noFill/>
        </p:spPr>
        <p:txBody>
          <a:bodyPr wrap="square" lIns="36576" tIns="18288" rIns="36576" bIns="18288" anchor="t">
            <a:spAutoFit/>
          </a:bodyPr>
          <a:lstStyle/>
          <a:p>
            <a:pPr algn="l"/>
            <a:r>
              <a:rPr sz="1450" b="0" i="0">
                <a:solidFill>
                  <a:srgbClr val="B4B8B0"/>
                </a:solidFill>
                <a:latin typeface="Segoe UI"/>
              </a:rPr>
              <a:t>Devolver o cartão antes do dinheiro reduziu drasticamente os cartões esquecidos. Uma decisão de design.</a:t>
            </a:r>
          </a:p>
        </p:txBody>
      </p:sp>
      <p:sp>
        <p:nvSpPr>
          <p:cNvPr id="14" name="Oval 13"/>
          <p:cNvSpPr/>
          <p:nvPr/>
        </p:nvSpPr>
        <p:spPr>
          <a:xfrm>
            <a:off x="4648200" y="2459736"/>
            <a:ext cx="566928" cy="566928"/>
          </a:xfrm>
          <a:prstGeom prst="ellipse">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700" b="1" i="0">
                <a:solidFill>
                  <a:srgbClr val="1A1A1A"/>
                </a:solidFill>
                <a:latin typeface="Segoe UI Semibold"/>
              </a:rPr>
              <a:t>2</a:t>
            </a:r>
          </a:p>
        </p:txBody>
      </p:sp>
      <p:sp>
        <p:nvSpPr>
          <p:cNvPr id="15" name="Rounded Rectangle 14"/>
          <p:cNvSpPr/>
          <p:nvPr/>
        </p:nvSpPr>
        <p:spPr>
          <a:xfrm>
            <a:off x="8125968" y="2148840"/>
            <a:ext cx="3514344" cy="356616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446008" y="3246120"/>
            <a:ext cx="2874264" cy="822960"/>
          </a:xfrm>
          <a:prstGeom prst="rect">
            <a:avLst/>
          </a:prstGeom>
          <a:noFill/>
        </p:spPr>
        <p:txBody>
          <a:bodyPr wrap="square" lIns="36576" tIns="18288" rIns="36576" bIns="18288" anchor="t">
            <a:spAutoFit/>
          </a:bodyPr>
          <a:lstStyle/>
          <a:p>
            <a:pPr algn="l"/>
            <a:r>
              <a:rPr sz="1900" b="1" i="0">
                <a:solidFill>
                  <a:srgbClr val="F2F2EC"/>
                </a:solidFill>
                <a:latin typeface="Segoe UI Semibold"/>
              </a:rPr>
              <a:t>A fila do atendimento</a:t>
            </a:r>
          </a:p>
        </p:txBody>
      </p:sp>
      <p:sp>
        <p:nvSpPr>
          <p:cNvPr id="17" name="TextBox 16"/>
          <p:cNvSpPr txBox="1"/>
          <p:nvPr/>
        </p:nvSpPr>
        <p:spPr>
          <a:xfrm>
            <a:off x="8446008" y="4160520"/>
            <a:ext cx="2874264" cy="1508760"/>
          </a:xfrm>
          <a:prstGeom prst="rect">
            <a:avLst/>
          </a:prstGeom>
          <a:noFill/>
        </p:spPr>
        <p:txBody>
          <a:bodyPr wrap="square" lIns="36576" tIns="18288" rIns="36576" bIns="18288" anchor="t">
            <a:spAutoFit/>
          </a:bodyPr>
          <a:lstStyle/>
          <a:p>
            <a:pPr algn="l"/>
            <a:r>
              <a:rPr sz="1450" b="0" i="0">
                <a:solidFill>
                  <a:srgbClr val="B4B8B0"/>
                </a:solidFill>
                <a:latin typeface="Segoe UI"/>
              </a:rPr>
              <a:t>A senha, o painel e a cadeira de espera formam uma experiência. Ela pode ser boa ou péssima.</a:t>
            </a:r>
          </a:p>
        </p:txBody>
      </p:sp>
      <p:sp>
        <p:nvSpPr>
          <p:cNvPr id="18" name="Oval 17"/>
          <p:cNvSpPr/>
          <p:nvPr/>
        </p:nvSpPr>
        <p:spPr>
          <a:xfrm>
            <a:off x="8436864" y="2459736"/>
            <a:ext cx="566928" cy="566928"/>
          </a:xfrm>
          <a:prstGeom prst="ellipse">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700" b="1" i="0">
                <a:solidFill>
                  <a:srgbClr val="1A1A1A"/>
                </a:solidFill>
                <a:latin typeface="Segoe UI Semibold"/>
              </a:rPr>
              <a:t>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fill="hold"/>
                                        <p:tgtEl>
                                          <p:spTgt spid="6"/>
                                        </p:tgtEl>
                                      </p:cBhvr>
                                    </p:animEffect>
                                  </p:childTnLst>
                                </p:cTn>
                              </p:par>
                              <p:par>
                                <p:cTn id="11" presetID="42" presetClass="entr" presetSubtype="0" decel="100000" fill="hold" grpId="0" nodeType="withEffect">
                                  <p:stCondLst>
                                    <p:cond delay="45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650" fill="hold"/>
                                        <p:tgtEl>
                                          <p:spTgt spid="7"/>
                                        </p:tgtEl>
                                      </p:cBhvr>
                                    </p:animEffect>
                                    <p:anim calcmode="lin" valueType="num">
                                      <p:cBhvr additive="base">
                                        <p:cTn id="14" dur="650" fill="hold"/>
                                        <p:tgtEl>
                                          <p:spTgt spid="7"/>
                                        </p:tgtEl>
                                        <p:attrNameLst>
                                          <p:attrName>ppt_x</p:attrName>
                                        </p:attrNameLst>
                                      </p:cBhvr>
                                      <p:tavLst>
                                        <p:tav tm="0">
                                          <p:val>
                                            <p:strVal val="#ppt_x"/>
                                          </p:val>
                                        </p:tav>
                                        <p:tav tm="100000">
                                          <p:val>
                                            <p:strVal val="#ppt_x"/>
                                          </p:val>
                                        </p:tav>
                                      </p:tavLst>
                                    </p:anim>
                                    <p:anim calcmode="lin" valueType="num">
                                      <p:cBhvr additive="base">
                                        <p:cTn id="15" dur="650" fill="hold"/>
                                        <p:tgtEl>
                                          <p:spTgt spid="7"/>
                                        </p:tgtEl>
                                        <p:attrNameLst>
                                          <p:attrName>ppt_y</p:attrName>
                                        </p:attrNameLst>
                                      </p:cBhvr>
                                      <p:tavLst>
                                        <p:tav tm="0">
                                          <p:val>
                                            <p:strVal val="#ppt_y+.06"/>
                                          </p:val>
                                        </p:tav>
                                        <p:tav tm="100000">
                                          <p:val>
                                            <p:strVal val="#ppt_y"/>
                                          </p:val>
                                        </p:tav>
                                      </p:tavLst>
                                    </p:anim>
                                  </p:childTnLst>
                                </p:cTn>
                              </p:par>
                              <p:par>
                                <p:cTn id="16" presetID="42" presetClass="entr" presetSubtype="0" decel="100000" fill="hold" grpId="0" nodeType="withEffect">
                                  <p:stCondLst>
                                    <p:cond delay="45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650" fill="hold"/>
                                        <p:tgtEl>
                                          <p:spTgt spid="8"/>
                                        </p:tgtEl>
                                      </p:cBhvr>
                                    </p:animEffect>
                                    <p:anim calcmode="lin" valueType="num">
                                      <p:cBhvr additive="base">
                                        <p:cTn id="19" dur="650" fill="hold"/>
                                        <p:tgtEl>
                                          <p:spTgt spid="8"/>
                                        </p:tgtEl>
                                        <p:attrNameLst>
                                          <p:attrName>ppt_x</p:attrName>
                                        </p:attrNameLst>
                                      </p:cBhvr>
                                      <p:tavLst>
                                        <p:tav tm="0">
                                          <p:val>
                                            <p:strVal val="#ppt_x"/>
                                          </p:val>
                                        </p:tav>
                                        <p:tav tm="100000">
                                          <p:val>
                                            <p:strVal val="#ppt_x"/>
                                          </p:val>
                                        </p:tav>
                                      </p:tavLst>
                                    </p:anim>
                                    <p:anim calcmode="lin" valueType="num">
                                      <p:cBhvr additive="base">
                                        <p:cTn id="20" dur="650" fill="hold"/>
                                        <p:tgtEl>
                                          <p:spTgt spid="8"/>
                                        </p:tgtEl>
                                        <p:attrNameLst>
                                          <p:attrName>ppt_y</p:attrName>
                                        </p:attrNameLst>
                                      </p:cBhvr>
                                      <p:tavLst>
                                        <p:tav tm="0">
                                          <p:val>
                                            <p:strVal val="#ppt_y+.06"/>
                                          </p:val>
                                        </p:tav>
                                        <p:tav tm="100000">
                                          <p:val>
                                            <p:strVal val="#ppt_y"/>
                                          </p:val>
                                        </p:tav>
                                      </p:tavLst>
                                    </p:anim>
                                  </p:childTnLst>
                                </p:cTn>
                              </p:par>
                              <p:par>
                                <p:cTn id="21" presetID="42" presetClass="entr" presetSubtype="0" decel="100000" fill="hold" grpId="0" nodeType="withEffect">
                                  <p:stCondLst>
                                    <p:cond delay="45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650" fill="hold"/>
                                        <p:tgtEl>
                                          <p:spTgt spid="9"/>
                                        </p:tgtEl>
                                      </p:cBhvr>
                                    </p:animEffect>
                                    <p:anim calcmode="lin" valueType="num">
                                      <p:cBhvr additive="base">
                                        <p:cTn id="24" dur="650" fill="hold"/>
                                        <p:tgtEl>
                                          <p:spTgt spid="9"/>
                                        </p:tgtEl>
                                        <p:attrNameLst>
                                          <p:attrName>ppt_x</p:attrName>
                                        </p:attrNameLst>
                                      </p:cBhvr>
                                      <p:tavLst>
                                        <p:tav tm="0">
                                          <p:val>
                                            <p:strVal val="#ppt_x"/>
                                          </p:val>
                                        </p:tav>
                                        <p:tav tm="100000">
                                          <p:val>
                                            <p:strVal val="#ppt_x"/>
                                          </p:val>
                                        </p:tav>
                                      </p:tavLst>
                                    </p:anim>
                                    <p:anim calcmode="lin" valueType="num">
                                      <p:cBhvr additive="base">
                                        <p:cTn id="25" dur="650" fill="hold"/>
                                        <p:tgtEl>
                                          <p:spTgt spid="9"/>
                                        </p:tgtEl>
                                        <p:attrNameLst>
                                          <p:attrName>ppt_y</p:attrName>
                                        </p:attrNameLst>
                                      </p:cBhvr>
                                      <p:tavLst>
                                        <p:tav tm="0">
                                          <p:val>
                                            <p:strVal val="#ppt_y+.06"/>
                                          </p:val>
                                        </p:tav>
                                        <p:tav tm="100000">
                                          <p:val>
                                            <p:strVal val="#ppt_y"/>
                                          </p:val>
                                        </p:tav>
                                      </p:tavLst>
                                    </p:anim>
                                  </p:childTnLst>
                                </p:cTn>
                              </p:par>
                              <p:par>
                                <p:cTn id="26" presetID="53" presetClass="entr" presetSubtype="16" decel="100000" fill="hold" grpId="0" nodeType="withEffect">
                                  <p:stCondLst>
                                    <p:cond delay="600"/>
                                  </p:stCondLst>
                                  <p:childTnLst>
                                    <p:set>
                                      <p:cBhvr>
                                        <p:cTn id="27" dur="1" fill="hold">
                                          <p:stCondLst>
                                            <p:cond delay="0"/>
                                          </p:stCondLst>
                                        </p:cTn>
                                        <p:tgtEl>
                                          <p:spTgt spid="10"/>
                                        </p:tgtEl>
                                        <p:attrNameLst>
                                          <p:attrName>style.visibility</p:attrName>
                                        </p:attrNameLst>
                                      </p:cBhvr>
                                      <p:to>
                                        <p:strVal val="visible"/>
                                      </p:to>
                                    </p:set>
                                    <p:anim calcmode="lin" valueType="num">
                                      <p:cBhvr additive="base">
                                        <p:cTn id="28" dur="450" fill="hold"/>
                                        <p:tgtEl>
                                          <p:spTgt spid="10"/>
                                        </p:tgtEl>
                                        <p:attrNameLst>
                                          <p:attrName>ppt_w</p:attrName>
                                        </p:attrNameLst>
                                      </p:cBhvr>
                                      <p:tavLst>
                                        <p:tav tm="0">
                                          <p:val>
                                            <p:strVal val="0"/>
                                          </p:val>
                                        </p:tav>
                                        <p:tav tm="70000">
                                          <p:val>
                                            <p:strVal val="#ppt_w*1.08"/>
                                          </p:val>
                                        </p:tav>
                                        <p:tav tm="100000">
                                          <p:val>
                                            <p:strVal val="#ppt_w"/>
                                          </p:val>
                                        </p:tav>
                                      </p:tavLst>
                                    </p:anim>
                                    <p:anim calcmode="lin" valueType="num">
                                      <p:cBhvr additive="base">
                                        <p:cTn id="29" dur="450" fill="hold"/>
                                        <p:tgtEl>
                                          <p:spTgt spid="10"/>
                                        </p:tgtEl>
                                        <p:attrNameLst>
                                          <p:attrName>ppt_h</p:attrName>
                                        </p:attrNameLst>
                                      </p:cBhvr>
                                      <p:tavLst>
                                        <p:tav tm="0">
                                          <p:val>
                                            <p:strVal val="0"/>
                                          </p:val>
                                        </p:tav>
                                        <p:tav tm="70000">
                                          <p:val>
                                            <p:strVal val="#ppt_h*1.08"/>
                                          </p:val>
                                        </p:tav>
                                        <p:tav tm="100000">
                                          <p:val>
                                            <p:strVal val="#ppt_h"/>
                                          </p:val>
                                        </p:tav>
                                      </p:tavLst>
                                    </p:anim>
                                    <p:animEffect transition="in" filter="fade">
                                      <p:cBhvr>
                                        <p:cTn id="30" dur="270" fill="hold"/>
                                        <p:tgtEl>
                                          <p:spTgt spid="10"/>
                                        </p:tgtEl>
                                      </p:cBhvr>
                                    </p:animEffect>
                                  </p:childTnLst>
                                </p:cTn>
                              </p:par>
                              <p:par>
                                <p:cTn id="31" presetID="42" presetClass="entr" presetSubtype="0" decel="100000" fill="hold" grpId="0" nodeType="withEffect">
                                  <p:stCondLst>
                                    <p:cond delay="78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650" fill="hold"/>
                                        <p:tgtEl>
                                          <p:spTgt spid="11"/>
                                        </p:tgtEl>
                                      </p:cBhvr>
                                    </p:animEffect>
                                    <p:anim calcmode="lin" valueType="num">
                                      <p:cBhvr additive="base">
                                        <p:cTn id="34" dur="650" fill="hold"/>
                                        <p:tgtEl>
                                          <p:spTgt spid="11"/>
                                        </p:tgtEl>
                                        <p:attrNameLst>
                                          <p:attrName>ppt_x</p:attrName>
                                        </p:attrNameLst>
                                      </p:cBhvr>
                                      <p:tavLst>
                                        <p:tav tm="0">
                                          <p:val>
                                            <p:strVal val="#ppt_x"/>
                                          </p:val>
                                        </p:tav>
                                        <p:tav tm="100000">
                                          <p:val>
                                            <p:strVal val="#ppt_x"/>
                                          </p:val>
                                        </p:tav>
                                      </p:tavLst>
                                    </p:anim>
                                    <p:anim calcmode="lin" valueType="num">
                                      <p:cBhvr additive="base">
                                        <p:cTn id="35" dur="650" fill="hold"/>
                                        <p:tgtEl>
                                          <p:spTgt spid="11"/>
                                        </p:tgtEl>
                                        <p:attrNameLst>
                                          <p:attrName>ppt_y</p:attrName>
                                        </p:attrNameLst>
                                      </p:cBhvr>
                                      <p:tavLst>
                                        <p:tav tm="0">
                                          <p:val>
                                            <p:strVal val="#ppt_y+.06"/>
                                          </p:val>
                                        </p:tav>
                                        <p:tav tm="100000">
                                          <p:val>
                                            <p:strVal val="#ppt_y"/>
                                          </p:val>
                                        </p:tav>
                                      </p:tavLst>
                                    </p:anim>
                                  </p:childTnLst>
                                </p:cTn>
                              </p:par>
                              <p:par>
                                <p:cTn id="36" presetID="42" presetClass="entr" presetSubtype="0" decel="100000" fill="hold" grpId="0" nodeType="withEffect">
                                  <p:stCondLst>
                                    <p:cond delay="78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650" fill="hold"/>
                                        <p:tgtEl>
                                          <p:spTgt spid="12"/>
                                        </p:tgtEl>
                                      </p:cBhvr>
                                    </p:animEffect>
                                    <p:anim calcmode="lin" valueType="num">
                                      <p:cBhvr additive="base">
                                        <p:cTn id="39" dur="650" fill="hold"/>
                                        <p:tgtEl>
                                          <p:spTgt spid="12"/>
                                        </p:tgtEl>
                                        <p:attrNameLst>
                                          <p:attrName>ppt_x</p:attrName>
                                        </p:attrNameLst>
                                      </p:cBhvr>
                                      <p:tavLst>
                                        <p:tav tm="0">
                                          <p:val>
                                            <p:strVal val="#ppt_x"/>
                                          </p:val>
                                        </p:tav>
                                        <p:tav tm="100000">
                                          <p:val>
                                            <p:strVal val="#ppt_x"/>
                                          </p:val>
                                        </p:tav>
                                      </p:tavLst>
                                    </p:anim>
                                    <p:anim calcmode="lin" valueType="num">
                                      <p:cBhvr additive="base">
                                        <p:cTn id="40" dur="650" fill="hold"/>
                                        <p:tgtEl>
                                          <p:spTgt spid="12"/>
                                        </p:tgtEl>
                                        <p:attrNameLst>
                                          <p:attrName>ppt_y</p:attrName>
                                        </p:attrNameLst>
                                      </p:cBhvr>
                                      <p:tavLst>
                                        <p:tav tm="0">
                                          <p:val>
                                            <p:strVal val="#ppt_y+.06"/>
                                          </p:val>
                                        </p:tav>
                                        <p:tav tm="100000">
                                          <p:val>
                                            <p:strVal val="#ppt_y"/>
                                          </p:val>
                                        </p:tav>
                                      </p:tavLst>
                                    </p:anim>
                                  </p:childTnLst>
                                </p:cTn>
                              </p:par>
                              <p:par>
                                <p:cTn id="41" presetID="42" presetClass="entr" presetSubtype="0" decel="100000" fill="hold" grpId="0" nodeType="withEffect">
                                  <p:stCondLst>
                                    <p:cond delay="78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650" fill="hold"/>
                                        <p:tgtEl>
                                          <p:spTgt spid="13"/>
                                        </p:tgtEl>
                                      </p:cBhvr>
                                    </p:animEffect>
                                    <p:anim calcmode="lin" valueType="num">
                                      <p:cBhvr additive="base">
                                        <p:cTn id="44" dur="650" fill="hold"/>
                                        <p:tgtEl>
                                          <p:spTgt spid="13"/>
                                        </p:tgtEl>
                                        <p:attrNameLst>
                                          <p:attrName>ppt_x</p:attrName>
                                        </p:attrNameLst>
                                      </p:cBhvr>
                                      <p:tavLst>
                                        <p:tav tm="0">
                                          <p:val>
                                            <p:strVal val="#ppt_x"/>
                                          </p:val>
                                        </p:tav>
                                        <p:tav tm="100000">
                                          <p:val>
                                            <p:strVal val="#ppt_x"/>
                                          </p:val>
                                        </p:tav>
                                      </p:tavLst>
                                    </p:anim>
                                    <p:anim calcmode="lin" valueType="num">
                                      <p:cBhvr additive="base">
                                        <p:cTn id="45" dur="650" fill="hold"/>
                                        <p:tgtEl>
                                          <p:spTgt spid="13"/>
                                        </p:tgtEl>
                                        <p:attrNameLst>
                                          <p:attrName>ppt_y</p:attrName>
                                        </p:attrNameLst>
                                      </p:cBhvr>
                                      <p:tavLst>
                                        <p:tav tm="0">
                                          <p:val>
                                            <p:strVal val="#ppt_y+.06"/>
                                          </p:val>
                                        </p:tav>
                                        <p:tav tm="100000">
                                          <p:val>
                                            <p:strVal val="#ppt_y"/>
                                          </p:val>
                                        </p:tav>
                                      </p:tavLst>
                                    </p:anim>
                                  </p:childTnLst>
                                </p:cTn>
                              </p:par>
                              <p:par>
                                <p:cTn id="46" presetID="53" presetClass="entr" presetSubtype="16" decel="100000" fill="hold" grpId="0" nodeType="withEffect">
                                  <p:stCondLst>
                                    <p:cond delay="930"/>
                                  </p:stCondLst>
                                  <p:childTnLst>
                                    <p:set>
                                      <p:cBhvr>
                                        <p:cTn id="47" dur="1" fill="hold">
                                          <p:stCondLst>
                                            <p:cond delay="0"/>
                                          </p:stCondLst>
                                        </p:cTn>
                                        <p:tgtEl>
                                          <p:spTgt spid="14"/>
                                        </p:tgtEl>
                                        <p:attrNameLst>
                                          <p:attrName>style.visibility</p:attrName>
                                        </p:attrNameLst>
                                      </p:cBhvr>
                                      <p:to>
                                        <p:strVal val="visible"/>
                                      </p:to>
                                    </p:set>
                                    <p:anim calcmode="lin" valueType="num">
                                      <p:cBhvr additive="base">
                                        <p:cTn id="48" dur="450" fill="hold"/>
                                        <p:tgtEl>
                                          <p:spTgt spid="14"/>
                                        </p:tgtEl>
                                        <p:attrNameLst>
                                          <p:attrName>ppt_w</p:attrName>
                                        </p:attrNameLst>
                                      </p:cBhvr>
                                      <p:tavLst>
                                        <p:tav tm="0">
                                          <p:val>
                                            <p:strVal val="0"/>
                                          </p:val>
                                        </p:tav>
                                        <p:tav tm="70000">
                                          <p:val>
                                            <p:strVal val="#ppt_w*1.08"/>
                                          </p:val>
                                        </p:tav>
                                        <p:tav tm="100000">
                                          <p:val>
                                            <p:strVal val="#ppt_w"/>
                                          </p:val>
                                        </p:tav>
                                      </p:tavLst>
                                    </p:anim>
                                    <p:anim calcmode="lin" valueType="num">
                                      <p:cBhvr additive="base">
                                        <p:cTn id="49" dur="450" fill="hold"/>
                                        <p:tgtEl>
                                          <p:spTgt spid="14"/>
                                        </p:tgtEl>
                                        <p:attrNameLst>
                                          <p:attrName>ppt_h</p:attrName>
                                        </p:attrNameLst>
                                      </p:cBhvr>
                                      <p:tavLst>
                                        <p:tav tm="0">
                                          <p:val>
                                            <p:strVal val="0"/>
                                          </p:val>
                                        </p:tav>
                                        <p:tav tm="70000">
                                          <p:val>
                                            <p:strVal val="#ppt_h*1.08"/>
                                          </p:val>
                                        </p:tav>
                                        <p:tav tm="100000">
                                          <p:val>
                                            <p:strVal val="#ppt_h"/>
                                          </p:val>
                                        </p:tav>
                                      </p:tavLst>
                                    </p:anim>
                                    <p:animEffect transition="in" filter="fade">
                                      <p:cBhvr>
                                        <p:cTn id="50" dur="270" fill="hold"/>
                                        <p:tgtEl>
                                          <p:spTgt spid="14"/>
                                        </p:tgtEl>
                                      </p:cBhvr>
                                    </p:animEffect>
                                  </p:childTnLst>
                                </p:cTn>
                              </p:par>
                              <p:par>
                                <p:cTn id="51" presetID="42" presetClass="entr" presetSubtype="0" decel="100000" fill="hold" grpId="0" nodeType="withEffect">
                                  <p:stCondLst>
                                    <p:cond delay="1110"/>
                                  </p:stCondLst>
                                  <p:childTnLst>
                                    <p:set>
                                      <p:cBhvr>
                                        <p:cTn id="52" dur="1" fill="hold">
                                          <p:stCondLst>
                                            <p:cond delay="0"/>
                                          </p:stCondLst>
                                        </p:cTn>
                                        <p:tgtEl>
                                          <p:spTgt spid="15"/>
                                        </p:tgtEl>
                                        <p:attrNameLst>
                                          <p:attrName>style.visibility</p:attrName>
                                        </p:attrNameLst>
                                      </p:cBhvr>
                                      <p:to>
                                        <p:strVal val="visible"/>
                                      </p:to>
                                    </p:set>
                                    <p:animEffect transition="in" filter="fade">
                                      <p:cBhvr>
                                        <p:cTn id="53" dur="650" fill="hold"/>
                                        <p:tgtEl>
                                          <p:spTgt spid="15"/>
                                        </p:tgtEl>
                                      </p:cBhvr>
                                    </p:animEffect>
                                    <p:anim calcmode="lin" valueType="num">
                                      <p:cBhvr additive="base">
                                        <p:cTn id="54" dur="650" fill="hold"/>
                                        <p:tgtEl>
                                          <p:spTgt spid="15"/>
                                        </p:tgtEl>
                                        <p:attrNameLst>
                                          <p:attrName>ppt_x</p:attrName>
                                        </p:attrNameLst>
                                      </p:cBhvr>
                                      <p:tavLst>
                                        <p:tav tm="0">
                                          <p:val>
                                            <p:strVal val="#ppt_x"/>
                                          </p:val>
                                        </p:tav>
                                        <p:tav tm="100000">
                                          <p:val>
                                            <p:strVal val="#ppt_x"/>
                                          </p:val>
                                        </p:tav>
                                      </p:tavLst>
                                    </p:anim>
                                    <p:anim calcmode="lin" valueType="num">
                                      <p:cBhvr additive="base">
                                        <p:cTn id="55" dur="650" fill="hold"/>
                                        <p:tgtEl>
                                          <p:spTgt spid="15"/>
                                        </p:tgtEl>
                                        <p:attrNameLst>
                                          <p:attrName>ppt_y</p:attrName>
                                        </p:attrNameLst>
                                      </p:cBhvr>
                                      <p:tavLst>
                                        <p:tav tm="0">
                                          <p:val>
                                            <p:strVal val="#ppt_y+.06"/>
                                          </p:val>
                                        </p:tav>
                                        <p:tav tm="100000">
                                          <p:val>
                                            <p:strVal val="#ppt_y"/>
                                          </p:val>
                                        </p:tav>
                                      </p:tavLst>
                                    </p:anim>
                                  </p:childTnLst>
                                </p:cTn>
                              </p:par>
                              <p:par>
                                <p:cTn id="56" presetID="42" presetClass="entr" presetSubtype="0" decel="100000" fill="hold" grpId="0" nodeType="withEffect">
                                  <p:stCondLst>
                                    <p:cond delay="111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650" fill="hold"/>
                                        <p:tgtEl>
                                          <p:spTgt spid="16"/>
                                        </p:tgtEl>
                                      </p:cBhvr>
                                    </p:animEffect>
                                    <p:anim calcmode="lin" valueType="num">
                                      <p:cBhvr additive="base">
                                        <p:cTn id="59" dur="650" fill="hold"/>
                                        <p:tgtEl>
                                          <p:spTgt spid="16"/>
                                        </p:tgtEl>
                                        <p:attrNameLst>
                                          <p:attrName>ppt_x</p:attrName>
                                        </p:attrNameLst>
                                      </p:cBhvr>
                                      <p:tavLst>
                                        <p:tav tm="0">
                                          <p:val>
                                            <p:strVal val="#ppt_x"/>
                                          </p:val>
                                        </p:tav>
                                        <p:tav tm="100000">
                                          <p:val>
                                            <p:strVal val="#ppt_x"/>
                                          </p:val>
                                        </p:tav>
                                      </p:tavLst>
                                    </p:anim>
                                    <p:anim calcmode="lin" valueType="num">
                                      <p:cBhvr additive="base">
                                        <p:cTn id="60" dur="650" fill="hold"/>
                                        <p:tgtEl>
                                          <p:spTgt spid="16"/>
                                        </p:tgtEl>
                                        <p:attrNameLst>
                                          <p:attrName>ppt_y</p:attrName>
                                        </p:attrNameLst>
                                      </p:cBhvr>
                                      <p:tavLst>
                                        <p:tav tm="0">
                                          <p:val>
                                            <p:strVal val="#ppt_y+.06"/>
                                          </p:val>
                                        </p:tav>
                                        <p:tav tm="100000">
                                          <p:val>
                                            <p:strVal val="#ppt_y"/>
                                          </p:val>
                                        </p:tav>
                                      </p:tavLst>
                                    </p:anim>
                                  </p:childTnLst>
                                </p:cTn>
                              </p:par>
                              <p:par>
                                <p:cTn id="61" presetID="42" presetClass="entr" presetSubtype="0" decel="100000" fill="hold" grpId="0" nodeType="withEffect">
                                  <p:stCondLst>
                                    <p:cond delay="1110"/>
                                  </p:stCondLst>
                                  <p:childTnLst>
                                    <p:set>
                                      <p:cBhvr>
                                        <p:cTn id="62" dur="1" fill="hold">
                                          <p:stCondLst>
                                            <p:cond delay="0"/>
                                          </p:stCondLst>
                                        </p:cTn>
                                        <p:tgtEl>
                                          <p:spTgt spid="17"/>
                                        </p:tgtEl>
                                        <p:attrNameLst>
                                          <p:attrName>style.visibility</p:attrName>
                                        </p:attrNameLst>
                                      </p:cBhvr>
                                      <p:to>
                                        <p:strVal val="visible"/>
                                      </p:to>
                                    </p:set>
                                    <p:animEffect transition="in" filter="fade">
                                      <p:cBhvr>
                                        <p:cTn id="63" dur="650" fill="hold"/>
                                        <p:tgtEl>
                                          <p:spTgt spid="17"/>
                                        </p:tgtEl>
                                      </p:cBhvr>
                                    </p:animEffect>
                                    <p:anim calcmode="lin" valueType="num">
                                      <p:cBhvr additive="base">
                                        <p:cTn id="64" dur="650" fill="hold"/>
                                        <p:tgtEl>
                                          <p:spTgt spid="17"/>
                                        </p:tgtEl>
                                        <p:attrNameLst>
                                          <p:attrName>ppt_x</p:attrName>
                                        </p:attrNameLst>
                                      </p:cBhvr>
                                      <p:tavLst>
                                        <p:tav tm="0">
                                          <p:val>
                                            <p:strVal val="#ppt_x"/>
                                          </p:val>
                                        </p:tav>
                                        <p:tav tm="100000">
                                          <p:val>
                                            <p:strVal val="#ppt_x"/>
                                          </p:val>
                                        </p:tav>
                                      </p:tavLst>
                                    </p:anim>
                                    <p:anim calcmode="lin" valueType="num">
                                      <p:cBhvr additive="base">
                                        <p:cTn id="65" dur="650" fill="hold"/>
                                        <p:tgtEl>
                                          <p:spTgt spid="17"/>
                                        </p:tgtEl>
                                        <p:attrNameLst>
                                          <p:attrName>ppt_y</p:attrName>
                                        </p:attrNameLst>
                                      </p:cBhvr>
                                      <p:tavLst>
                                        <p:tav tm="0">
                                          <p:val>
                                            <p:strVal val="#ppt_y+.06"/>
                                          </p:val>
                                        </p:tav>
                                        <p:tav tm="100000">
                                          <p:val>
                                            <p:strVal val="#ppt_y"/>
                                          </p:val>
                                        </p:tav>
                                      </p:tavLst>
                                    </p:anim>
                                  </p:childTnLst>
                                </p:cTn>
                              </p:par>
                              <p:par>
                                <p:cTn id="66" presetID="53" presetClass="entr" presetSubtype="16" decel="100000" fill="hold" grpId="0" nodeType="withEffect">
                                  <p:stCondLst>
                                    <p:cond delay="1260"/>
                                  </p:stCondLst>
                                  <p:childTnLst>
                                    <p:set>
                                      <p:cBhvr>
                                        <p:cTn id="67" dur="1" fill="hold">
                                          <p:stCondLst>
                                            <p:cond delay="0"/>
                                          </p:stCondLst>
                                        </p:cTn>
                                        <p:tgtEl>
                                          <p:spTgt spid="18"/>
                                        </p:tgtEl>
                                        <p:attrNameLst>
                                          <p:attrName>style.visibility</p:attrName>
                                        </p:attrNameLst>
                                      </p:cBhvr>
                                      <p:to>
                                        <p:strVal val="visible"/>
                                      </p:to>
                                    </p:set>
                                    <p:anim calcmode="lin" valueType="num">
                                      <p:cBhvr additive="base">
                                        <p:cTn id="68" dur="450" fill="hold"/>
                                        <p:tgtEl>
                                          <p:spTgt spid="18"/>
                                        </p:tgtEl>
                                        <p:attrNameLst>
                                          <p:attrName>ppt_w</p:attrName>
                                        </p:attrNameLst>
                                      </p:cBhvr>
                                      <p:tavLst>
                                        <p:tav tm="0">
                                          <p:val>
                                            <p:strVal val="0"/>
                                          </p:val>
                                        </p:tav>
                                        <p:tav tm="70000">
                                          <p:val>
                                            <p:strVal val="#ppt_w*1.08"/>
                                          </p:val>
                                        </p:tav>
                                        <p:tav tm="100000">
                                          <p:val>
                                            <p:strVal val="#ppt_w"/>
                                          </p:val>
                                        </p:tav>
                                      </p:tavLst>
                                    </p:anim>
                                    <p:anim calcmode="lin" valueType="num">
                                      <p:cBhvr additive="base">
                                        <p:cTn id="69" dur="450" fill="hold"/>
                                        <p:tgtEl>
                                          <p:spTgt spid="18"/>
                                        </p:tgtEl>
                                        <p:attrNameLst>
                                          <p:attrName>ppt_h</p:attrName>
                                        </p:attrNameLst>
                                      </p:cBhvr>
                                      <p:tavLst>
                                        <p:tav tm="0">
                                          <p:val>
                                            <p:strVal val="0"/>
                                          </p:val>
                                        </p:tav>
                                        <p:tav tm="70000">
                                          <p:val>
                                            <p:strVal val="#ppt_h*1.08"/>
                                          </p:val>
                                        </p:tav>
                                        <p:tav tm="100000">
                                          <p:val>
                                            <p:strVal val="#ppt_h"/>
                                          </p:val>
                                        </p:tav>
                                      </p:tavLst>
                                    </p:anim>
                                    <p:animEffect transition="in" filter="fade">
                                      <p:cBhvr>
                                        <p:cTn id="70" dur="270" fill="hold"/>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9CD848"/>
                </a:solidFill>
                <a:latin typeface="Segoe UI Semibold"/>
              </a:rPr>
              <a:t>MÓDULO 1  ·  DESIGN COMO FERRAMENTA DE INOVAÇÃO</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Então, o que é design?</a:t>
            </a:r>
          </a:p>
        </p:txBody>
      </p:sp>
      <p:sp>
        <p:nvSpPr>
          <p:cNvPr id="6" name="Rounded Rectangle 5"/>
          <p:cNvSpPr/>
          <p:nvPr/>
        </p:nvSpPr>
        <p:spPr>
          <a:xfrm>
            <a:off x="548640" y="1554480"/>
            <a:ext cx="5394960" cy="434340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914400" y="1783080"/>
            <a:ext cx="4663440" cy="548640"/>
          </a:xfrm>
          <a:prstGeom prst="rect">
            <a:avLst/>
          </a:prstGeom>
          <a:noFill/>
        </p:spPr>
        <p:txBody>
          <a:bodyPr wrap="square" lIns="36576" tIns="18288" rIns="36576" bIns="18288" anchor="t">
            <a:spAutoFit/>
          </a:bodyPr>
          <a:lstStyle/>
          <a:p>
            <a:pPr algn="l"/>
            <a:r>
              <a:rPr sz="2200" b="1" i="0">
                <a:solidFill>
                  <a:srgbClr val="B4B8B0"/>
                </a:solidFill>
                <a:latin typeface="Segoe UI Semibold"/>
              </a:rPr>
              <a:t>Senso comum</a:t>
            </a:r>
          </a:p>
        </p:txBody>
      </p:sp>
      <p:sp>
        <p:nvSpPr>
          <p:cNvPr id="8" name="TextBox 7"/>
          <p:cNvSpPr txBox="1"/>
          <p:nvPr/>
        </p:nvSpPr>
        <p:spPr>
          <a:xfrm>
            <a:off x="914400" y="2514600"/>
            <a:ext cx="4754880" cy="3200400"/>
          </a:xfrm>
          <a:prstGeom prst="rect">
            <a:avLst/>
          </a:prstGeom>
          <a:noFill/>
        </p:spPr>
        <p:txBody>
          <a:bodyPr wrap="square">
            <a:spAutoFit/>
          </a:bodyPr>
          <a:lstStyle/>
          <a:p>
            <a:pPr marL="292608" indent="-292608">
              <a:spcAft>
                <a:spcPts val="1400"/>
              </a:spcAft>
              <a:buClr>
                <a:srgbClr val="7D827B"/>
              </a:buClr>
              <a:buFont typeface="Arial"/>
              <a:buChar char="●"/>
            </a:pPr>
            <a:r>
              <a:rPr sz="1600">
                <a:solidFill>
                  <a:srgbClr val="F2F2EC"/>
                </a:solidFill>
                <a:latin typeface="Segoe UI"/>
              </a:rPr>
              <a:t>Deixar bonito</a:t>
            </a:r>
          </a:p>
          <a:p>
            <a:pPr marL="292608" indent="-292608">
              <a:spcAft>
                <a:spcPts val="1400"/>
              </a:spcAft>
              <a:buClr>
                <a:srgbClr val="7D827B"/>
              </a:buClr>
              <a:buFont typeface="Arial"/>
              <a:buChar char="●"/>
            </a:pPr>
            <a:r>
              <a:rPr sz="1600">
                <a:solidFill>
                  <a:srgbClr val="F2F2EC"/>
                </a:solidFill>
                <a:latin typeface="Segoe UI"/>
              </a:rPr>
              <a:t>Escolher cores e fontes</a:t>
            </a:r>
          </a:p>
          <a:p>
            <a:pPr marL="292608" indent="-292608">
              <a:spcAft>
                <a:spcPts val="1400"/>
              </a:spcAft>
              <a:buClr>
                <a:srgbClr val="7D827B"/>
              </a:buClr>
              <a:buFont typeface="Arial"/>
              <a:buChar char="●"/>
            </a:pPr>
            <a:r>
              <a:rPr sz="1600">
                <a:solidFill>
                  <a:srgbClr val="F2F2EC"/>
                </a:solidFill>
                <a:latin typeface="Segoe UI"/>
              </a:rPr>
              <a:t>Trabalho do 'pessoal da arte'</a:t>
            </a:r>
          </a:p>
          <a:p>
            <a:pPr marL="292608" indent="-292608">
              <a:buClr>
                <a:srgbClr val="7D827B"/>
              </a:buClr>
              <a:buFont typeface="Arial"/>
              <a:buChar char="●"/>
            </a:pPr>
            <a:r>
              <a:rPr sz="1600">
                <a:solidFill>
                  <a:srgbClr val="F2F2EC"/>
                </a:solidFill>
                <a:latin typeface="Segoe UI"/>
              </a:rPr>
              <a:t>Etapa final do projeto</a:t>
            </a:r>
          </a:p>
        </p:txBody>
      </p:sp>
      <p:sp>
        <p:nvSpPr>
          <p:cNvPr id="9" name="Rounded Rectangle 8"/>
          <p:cNvSpPr/>
          <p:nvPr/>
        </p:nvSpPr>
        <p:spPr>
          <a:xfrm>
            <a:off x="6263640" y="1554480"/>
            <a:ext cx="5394960" cy="4343400"/>
          </a:xfrm>
          <a:prstGeom prst="roundRect">
            <a:avLst>
              <a:gd name="adj" fmla="val 5000"/>
            </a:avLst>
          </a:prstGeom>
          <a:solidFill>
            <a:srgbClr val="2E3431"/>
          </a:solidFill>
          <a:ln w="19050">
            <a:solidFill>
              <a:srgbClr val="9CD84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629400" y="1783080"/>
            <a:ext cx="4663440" cy="548640"/>
          </a:xfrm>
          <a:prstGeom prst="rect">
            <a:avLst/>
          </a:prstGeom>
          <a:noFill/>
        </p:spPr>
        <p:txBody>
          <a:bodyPr wrap="square" lIns="36576" tIns="18288" rIns="36576" bIns="18288" anchor="t">
            <a:spAutoFit/>
          </a:bodyPr>
          <a:lstStyle/>
          <a:p>
            <a:pPr algn="l"/>
            <a:r>
              <a:rPr sz="2200" b="1" i="0">
                <a:solidFill>
                  <a:srgbClr val="9CD848"/>
                </a:solidFill>
                <a:latin typeface="Segoe UI Semibold"/>
              </a:rPr>
              <a:t>Visão de Design Thinking</a:t>
            </a:r>
          </a:p>
        </p:txBody>
      </p:sp>
      <p:sp>
        <p:nvSpPr>
          <p:cNvPr id="11" name="TextBox 10"/>
          <p:cNvSpPr txBox="1"/>
          <p:nvPr/>
        </p:nvSpPr>
        <p:spPr>
          <a:xfrm>
            <a:off x="6629400" y="2514600"/>
            <a:ext cx="4754880" cy="3200400"/>
          </a:xfrm>
          <a:prstGeom prst="rect">
            <a:avLst/>
          </a:prstGeom>
          <a:noFill/>
        </p:spPr>
        <p:txBody>
          <a:bodyPr wrap="square">
            <a:spAutoFit/>
          </a:bodyPr>
          <a:lstStyle/>
          <a:p>
            <a:pPr marL="292608" indent="-292608">
              <a:spcAft>
                <a:spcPts val="1400"/>
              </a:spcAft>
              <a:buClr>
                <a:srgbClr val="9CD848"/>
              </a:buClr>
              <a:buFont typeface="Arial"/>
              <a:buChar char="●"/>
            </a:pPr>
            <a:r>
              <a:rPr sz="1600">
                <a:solidFill>
                  <a:srgbClr val="F2F2EC"/>
                </a:solidFill>
                <a:latin typeface="Segoe UI"/>
              </a:rPr>
              <a:t>Processo para resolver problemas</a:t>
            </a:r>
          </a:p>
          <a:p>
            <a:pPr marL="292608" indent="-292608">
              <a:spcAft>
                <a:spcPts val="1400"/>
              </a:spcAft>
              <a:buClr>
                <a:srgbClr val="9CD848"/>
              </a:buClr>
              <a:buFont typeface="Arial"/>
              <a:buChar char="●"/>
            </a:pPr>
            <a:r>
              <a:rPr sz="1600">
                <a:solidFill>
                  <a:srgbClr val="F2F2EC"/>
                </a:solidFill>
                <a:latin typeface="Segoe UI"/>
              </a:rPr>
              <a:t>Une forma e função</a:t>
            </a:r>
          </a:p>
          <a:p>
            <a:pPr marL="292608" indent="-292608">
              <a:spcAft>
                <a:spcPts val="1400"/>
              </a:spcAft>
              <a:buClr>
                <a:srgbClr val="9CD848"/>
              </a:buClr>
              <a:buFont typeface="Arial"/>
              <a:buChar char="●"/>
            </a:pPr>
            <a:r>
              <a:rPr sz="1600">
                <a:solidFill>
                  <a:srgbClr val="F2F2EC"/>
                </a:solidFill>
                <a:latin typeface="Segoe UI"/>
              </a:rPr>
              <a:t>Trabalho de times multidisciplinares</a:t>
            </a:r>
          </a:p>
          <a:p>
            <a:pPr marL="292608" indent="-292608">
              <a:buClr>
                <a:srgbClr val="9CD848"/>
              </a:buClr>
              <a:buFont typeface="Arial"/>
              <a:buChar char="●"/>
            </a:pPr>
            <a:r>
              <a:rPr sz="1600">
                <a:solidFill>
                  <a:srgbClr val="F2F2EC"/>
                </a:solidFill>
                <a:latin typeface="Segoe UI"/>
              </a:rPr>
              <a:t>Começa antes de existir a solução</a:t>
            </a:r>
          </a:p>
        </p:txBody>
      </p:sp>
      <p:sp>
        <p:nvSpPr>
          <p:cNvPr id="12" name="Oval 11"/>
          <p:cNvSpPr/>
          <p:nvPr/>
        </p:nvSpPr>
        <p:spPr>
          <a:xfrm>
            <a:off x="5829300" y="3429000"/>
            <a:ext cx="548640" cy="548640"/>
          </a:xfrm>
          <a:prstGeom prst="ellipse">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400" b="1" i="0">
                <a:solidFill>
                  <a:srgbClr val="B4B8B0"/>
                </a:solidFill>
                <a:latin typeface="Segoe UI Semibold"/>
              </a:rPr>
              <a:t>vs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42" presetClass="entr" presetSubtype="0" decel="100000" fill="hold" grpId="0" nodeType="withEffect">
                                  <p:stCondLst>
                                    <p:cond delay="2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50" fill="hold"/>
                                        <p:tgtEl>
                                          <p:spTgt spid="6"/>
                                        </p:tgtEl>
                                      </p:cBhvr>
                                    </p:animEffect>
                                    <p:anim calcmode="lin" valueType="num">
                                      <p:cBhvr additive="base">
                                        <p:cTn id="11" dur="650" fill="hold"/>
                                        <p:tgtEl>
                                          <p:spTgt spid="6"/>
                                        </p:tgtEl>
                                        <p:attrNameLst>
                                          <p:attrName>ppt_x</p:attrName>
                                        </p:attrNameLst>
                                      </p:cBhvr>
                                      <p:tavLst>
                                        <p:tav tm="0">
                                          <p:val>
                                            <p:strVal val="#ppt_x"/>
                                          </p:val>
                                        </p:tav>
                                        <p:tav tm="100000">
                                          <p:val>
                                            <p:strVal val="#ppt_x"/>
                                          </p:val>
                                        </p:tav>
                                      </p:tavLst>
                                    </p:anim>
                                    <p:anim calcmode="lin" valueType="num">
                                      <p:cBhvr additive="base">
                                        <p:cTn id="12" dur="650" fill="hold"/>
                                        <p:tgtEl>
                                          <p:spTgt spid="6"/>
                                        </p:tgtEl>
                                        <p:attrNameLst>
                                          <p:attrName>ppt_y</p:attrName>
                                        </p:attrNameLst>
                                      </p:cBhvr>
                                      <p:tavLst>
                                        <p:tav tm="0">
                                          <p:val>
                                            <p:strVal val="#ppt_y+.06"/>
                                          </p:val>
                                        </p:tav>
                                        <p:tav tm="100000">
                                          <p:val>
                                            <p:strVal val="#ppt_y"/>
                                          </p:val>
                                        </p:tav>
                                      </p:tavLst>
                                    </p:anim>
                                  </p:childTnLst>
                                </p:cTn>
                              </p:par>
                              <p:par>
                                <p:cTn id="13" presetID="42" presetClass="entr" presetSubtype="0" decel="100000" fill="hold" grpId="0" nodeType="withEffect">
                                  <p:stCondLst>
                                    <p:cond delay="20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fill="hold"/>
                                        <p:tgtEl>
                                          <p:spTgt spid="7"/>
                                        </p:tgtEl>
                                      </p:cBhvr>
                                    </p:animEffect>
                                    <p:anim calcmode="lin" valueType="num">
                                      <p:cBhvr additive="base">
                                        <p:cTn id="16" dur="650" fill="hold"/>
                                        <p:tgtEl>
                                          <p:spTgt spid="7"/>
                                        </p:tgtEl>
                                        <p:attrNameLst>
                                          <p:attrName>ppt_x</p:attrName>
                                        </p:attrNameLst>
                                      </p:cBhvr>
                                      <p:tavLst>
                                        <p:tav tm="0">
                                          <p:val>
                                            <p:strVal val="#ppt_x"/>
                                          </p:val>
                                        </p:tav>
                                        <p:tav tm="100000">
                                          <p:val>
                                            <p:strVal val="#ppt_x"/>
                                          </p:val>
                                        </p:tav>
                                      </p:tavLst>
                                    </p:anim>
                                    <p:anim calcmode="lin" valueType="num">
                                      <p:cBhvr additive="base">
                                        <p:cTn id="17" dur="650" fill="hold"/>
                                        <p:tgtEl>
                                          <p:spTgt spid="7"/>
                                        </p:tgtEl>
                                        <p:attrNameLst>
                                          <p:attrName>ppt_y</p:attrName>
                                        </p:attrNameLst>
                                      </p:cBhvr>
                                      <p:tavLst>
                                        <p:tav tm="0">
                                          <p:val>
                                            <p:strVal val="#ppt_y+.06"/>
                                          </p:val>
                                        </p:tav>
                                        <p:tav tm="100000">
                                          <p:val>
                                            <p:strVal val="#ppt_y"/>
                                          </p:val>
                                        </p:tav>
                                      </p:tavLst>
                                    </p:anim>
                                  </p:childTnLst>
                                </p:cTn>
                              </p:par>
                              <p:par>
                                <p:cTn id="18" presetID="10" presetClass="entr" presetSubtype="0" fill="hold" grpId="0" nodeType="withEffect">
                                  <p:stCondLst>
                                    <p:cond delay="45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fill="hold"/>
                                        <p:tgtEl>
                                          <p:spTgt spid="8"/>
                                        </p:tgtEl>
                                      </p:cBhvr>
                                    </p:animEffect>
                                  </p:childTnLst>
                                </p:cTn>
                              </p:par>
                              <p:par>
                                <p:cTn id="21" presetID="42" presetClass="entr" presetSubtype="0" decel="100000" fill="hold" grpId="0" nodeType="withEffect">
                                  <p:stCondLst>
                                    <p:cond delay="105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650" fill="hold"/>
                                        <p:tgtEl>
                                          <p:spTgt spid="9"/>
                                        </p:tgtEl>
                                      </p:cBhvr>
                                    </p:animEffect>
                                    <p:anim calcmode="lin" valueType="num">
                                      <p:cBhvr additive="base">
                                        <p:cTn id="24" dur="650" fill="hold"/>
                                        <p:tgtEl>
                                          <p:spTgt spid="9"/>
                                        </p:tgtEl>
                                        <p:attrNameLst>
                                          <p:attrName>ppt_x</p:attrName>
                                        </p:attrNameLst>
                                      </p:cBhvr>
                                      <p:tavLst>
                                        <p:tav tm="0">
                                          <p:val>
                                            <p:strVal val="#ppt_x"/>
                                          </p:val>
                                        </p:tav>
                                        <p:tav tm="100000">
                                          <p:val>
                                            <p:strVal val="#ppt_x"/>
                                          </p:val>
                                        </p:tav>
                                      </p:tavLst>
                                    </p:anim>
                                    <p:anim calcmode="lin" valueType="num">
                                      <p:cBhvr additive="base">
                                        <p:cTn id="25" dur="650" fill="hold"/>
                                        <p:tgtEl>
                                          <p:spTgt spid="9"/>
                                        </p:tgtEl>
                                        <p:attrNameLst>
                                          <p:attrName>ppt_y</p:attrName>
                                        </p:attrNameLst>
                                      </p:cBhvr>
                                      <p:tavLst>
                                        <p:tav tm="0">
                                          <p:val>
                                            <p:strVal val="#ppt_y+.06"/>
                                          </p:val>
                                        </p:tav>
                                        <p:tav tm="100000">
                                          <p:val>
                                            <p:strVal val="#ppt_y"/>
                                          </p:val>
                                        </p:tav>
                                      </p:tavLst>
                                    </p:anim>
                                  </p:childTnLst>
                                </p:cTn>
                              </p:par>
                              <p:par>
                                <p:cTn id="26" presetID="42" presetClass="entr" presetSubtype="0" decel="100000" fill="hold" grpId="0" nodeType="withEffect">
                                  <p:stCondLst>
                                    <p:cond delay="105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650" fill="hold"/>
                                        <p:tgtEl>
                                          <p:spTgt spid="10"/>
                                        </p:tgtEl>
                                      </p:cBhvr>
                                    </p:animEffect>
                                    <p:anim calcmode="lin" valueType="num">
                                      <p:cBhvr additive="base">
                                        <p:cTn id="29" dur="650" fill="hold"/>
                                        <p:tgtEl>
                                          <p:spTgt spid="10"/>
                                        </p:tgtEl>
                                        <p:attrNameLst>
                                          <p:attrName>ppt_x</p:attrName>
                                        </p:attrNameLst>
                                      </p:cBhvr>
                                      <p:tavLst>
                                        <p:tav tm="0">
                                          <p:val>
                                            <p:strVal val="#ppt_x"/>
                                          </p:val>
                                        </p:tav>
                                        <p:tav tm="100000">
                                          <p:val>
                                            <p:strVal val="#ppt_x"/>
                                          </p:val>
                                        </p:tav>
                                      </p:tavLst>
                                    </p:anim>
                                    <p:anim calcmode="lin" valueType="num">
                                      <p:cBhvr additive="base">
                                        <p:cTn id="30" dur="650" fill="hold"/>
                                        <p:tgtEl>
                                          <p:spTgt spid="10"/>
                                        </p:tgtEl>
                                        <p:attrNameLst>
                                          <p:attrName>ppt_y</p:attrName>
                                        </p:attrNameLst>
                                      </p:cBhvr>
                                      <p:tavLst>
                                        <p:tav tm="0">
                                          <p:val>
                                            <p:strVal val="#ppt_y+.06"/>
                                          </p:val>
                                        </p:tav>
                                        <p:tav tm="100000">
                                          <p:val>
                                            <p:strVal val="#ppt_y"/>
                                          </p:val>
                                        </p:tav>
                                      </p:tavLst>
                                    </p:anim>
                                  </p:childTnLst>
                                </p:cTn>
                              </p:par>
                              <p:par>
                                <p:cTn id="31" presetID="10" presetClass="entr" presetSubtype="0" fill="hold" grpId="0" nodeType="withEffect">
                                  <p:stCondLst>
                                    <p:cond delay="130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fill="hold"/>
                                        <p:tgtEl>
                                          <p:spTgt spid="11"/>
                                        </p:tgtEl>
                                      </p:cBhvr>
                                    </p:animEffect>
                                  </p:childTnLst>
                                </p:cTn>
                              </p:par>
                              <p:par>
                                <p:cTn id="34" presetID="53" presetClass="entr" presetSubtype="16" decel="100000" fill="hold" grpId="0" nodeType="withEffect">
                                  <p:stCondLst>
                                    <p:cond delay="1700"/>
                                  </p:stCondLst>
                                  <p:childTnLst>
                                    <p:set>
                                      <p:cBhvr>
                                        <p:cTn id="35" dur="1" fill="hold">
                                          <p:stCondLst>
                                            <p:cond delay="0"/>
                                          </p:stCondLst>
                                        </p:cTn>
                                        <p:tgtEl>
                                          <p:spTgt spid="12"/>
                                        </p:tgtEl>
                                        <p:attrNameLst>
                                          <p:attrName>style.visibility</p:attrName>
                                        </p:attrNameLst>
                                      </p:cBhvr>
                                      <p:to>
                                        <p:strVal val="visible"/>
                                      </p:to>
                                    </p:set>
                                    <p:anim calcmode="lin" valueType="num">
                                      <p:cBhvr additive="base">
                                        <p:cTn id="36" dur="450" fill="hold"/>
                                        <p:tgtEl>
                                          <p:spTgt spid="12"/>
                                        </p:tgtEl>
                                        <p:attrNameLst>
                                          <p:attrName>ppt_w</p:attrName>
                                        </p:attrNameLst>
                                      </p:cBhvr>
                                      <p:tavLst>
                                        <p:tav tm="0">
                                          <p:val>
                                            <p:strVal val="0"/>
                                          </p:val>
                                        </p:tav>
                                        <p:tav tm="70000">
                                          <p:val>
                                            <p:strVal val="#ppt_w*1.08"/>
                                          </p:val>
                                        </p:tav>
                                        <p:tav tm="100000">
                                          <p:val>
                                            <p:strVal val="#ppt_w"/>
                                          </p:val>
                                        </p:tav>
                                      </p:tavLst>
                                    </p:anim>
                                    <p:anim calcmode="lin" valueType="num">
                                      <p:cBhvr additive="base">
                                        <p:cTn id="37" dur="450" fill="hold"/>
                                        <p:tgtEl>
                                          <p:spTgt spid="12"/>
                                        </p:tgtEl>
                                        <p:attrNameLst>
                                          <p:attrName>ppt_h</p:attrName>
                                        </p:attrNameLst>
                                      </p:cBhvr>
                                      <p:tavLst>
                                        <p:tav tm="0">
                                          <p:val>
                                            <p:strVal val="0"/>
                                          </p:val>
                                        </p:tav>
                                        <p:tav tm="70000">
                                          <p:val>
                                            <p:strVal val="#ppt_h*1.08"/>
                                          </p:val>
                                        </p:tav>
                                        <p:tav tm="100000">
                                          <p:val>
                                            <p:strVal val="#ppt_h"/>
                                          </p:val>
                                        </p:tav>
                                      </p:tavLst>
                                    </p:anim>
                                    <p:animEffect transition="in" filter="fade">
                                      <p:cBhvr>
                                        <p:cTn id="38" dur="270" fill="hold"/>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9CD848"/>
                </a:solidFill>
                <a:latin typeface="Segoe UI Semibold"/>
              </a:rPr>
              <a:t>MÓDULO 1  ·  DESIGN COMO FERRAMENTA DE INOVAÇÃO</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Design Centrado no Usuário (DCU)</a:t>
            </a:r>
          </a:p>
        </p:txBody>
      </p:sp>
      <p:sp>
        <p:nvSpPr>
          <p:cNvPr id="6" name="TextBox 5"/>
          <p:cNvSpPr txBox="1"/>
          <p:nvPr/>
        </p:nvSpPr>
        <p:spPr>
          <a:xfrm>
            <a:off x="548640" y="1645920"/>
            <a:ext cx="6675120" cy="4206240"/>
          </a:xfrm>
          <a:prstGeom prst="rect">
            <a:avLst/>
          </a:prstGeom>
          <a:noFill/>
        </p:spPr>
        <p:txBody>
          <a:bodyPr wrap="square">
            <a:spAutoFit/>
          </a:bodyPr>
          <a:lstStyle/>
          <a:p>
            <a:pPr marL="292608" indent="-292608">
              <a:spcAft>
                <a:spcPts val="1600"/>
              </a:spcAft>
              <a:buClr>
                <a:srgbClr val="9CD848"/>
              </a:buClr>
              <a:buFont typeface="Arial"/>
              <a:buChar char="●"/>
            </a:pPr>
            <a:r>
              <a:rPr sz="1800">
                <a:solidFill>
                  <a:srgbClr val="F2F2EC"/>
                </a:solidFill>
                <a:latin typeface="Segoe UI"/>
              </a:rPr>
              <a:t>Popularizado por Donald Norman nos anos 1980, com o livro 'O Design do Dia a Dia'</a:t>
            </a:r>
          </a:p>
          <a:p>
            <a:pPr marL="292608" indent="-292608">
              <a:spcAft>
                <a:spcPts val="1600"/>
              </a:spcAft>
              <a:buClr>
                <a:srgbClr val="9CD848"/>
              </a:buClr>
              <a:buFont typeface="Arial"/>
              <a:buChar char="●"/>
            </a:pPr>
            <a:r>
              <a:rPr sz="1800">
                <a:solidFill>
                  <a:srgbClr val="F2F2EC"/>
                </a:solidFill>
                <a:latin typeface="Segoe UI"/>
              </a:rPr>
              <a:t>Parte da pesquisa com quem vai usar a solução: comportamentos, dores, desejos</a:t>
            </a:r>
          </a:p>
          <a:p>
            <a:pPr marL="292608" indent="-292608">
              <a:spcAft>
                <a:spcPts val="1600"/>
              </a:spcAft>
              <a:buClr>
                <a:srgbClr val="9CD848"/>
              </a:buClr>
              <a:buFont typeface="Arial"/>
              <a:buChar char="●"/>
            </a:pPr>
            <a:r>
              <a:rPr sz="1800">
                <a:solidFill>
                  <a:srgbClr val="F2F2EC"/>
                </a:solidFill>
                <a:latin typeface="Segoe UI"/>
              </a:rPr>
              <a:t>As decisões são tomadas com base em evidências, não em opinião do chefe</a:t>
            </a:r>
          </a:p>
          <a:p>
            <a:pPr marL="292608" indent="-292608">
              <a:buClr>
                <a:srgbClr val="9CD848"/>
              </a:buClr>
              <a:buFont typeface="Arial"/>
              <a:buChar char="●"/>
            </a:pPr>
            <a:r>
              <a:rPr sz="1800">
                <a:solidFill>
                  <a:srgbClr val="F2F2EC"/>
                </a:solidFill>
                <a:latin typeface="Segoe UI"/>
              </a:rPr>
              <a:t>Resultado: produtos e serviços que as pessoas realmente querem usar</a:t>
            </a:r>
          </a:p>
        </p:txBody>
      </p:sp>
      <p:sp>
        <p:nvSpPr>
          <p:cNvPr id="7" name="Rounded Rectangle 6"/>
          <p:cNvSpPr/>
          <p:nvPr/>
        </p:nvSpPr>
        <p:spPr>
          <a:xfrm>
            <a:off x="7680960" y="1645920"/>
            <a:ext cx="3959352" cy="402336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955279" y="1691640"/>
            <a:ext cx="1371600" cy="1097280"/>
          </a:xfrm>
          <a:prstGeom prst="rect">
            <a:avLst/>
          </a:prstGeom>
          <a:noFill/>
        </p:spPr>
        <p:txBody>
          <a:bodyPr wrap="square" lIns="36576" tIns="18288" rIns="36576" bIns="18288" anchor="t">
            <a:spAutoFit/>
          </a:bodyPr>
          <a:lstStyle/>
          <a:p>
            <a:pPr algn="l"/>
            <a:r>
              <a:rPr sz="8000" b="1" i="0">
                <a:solidFill>
                  <a:srgbClr val="9CD848"/>
                </a:solidFill>
                <a:latin typeface="Georgia"/>
              </a:rPr>
              <a:t>“</a:t>
            </a:r>
          </a:p>
        </p:txBody>
      </p:sp>
      <p:sp>
        <p:nvSpPr>
          <p:cNvPr id="9" name="TextBox 8"/>
          <p:cNvSpPr txBox="1"/>
          <p:nvPr/>
        </p:nvSpPr>
        <p:spPr>
          <a:xfrm>
            <a:off x="8001000" y="2743200"/>
            <a:ext cx="3383280" cy="2743200"/>
          </a:xfrm>
          <a:prstGeom prst="rect">
            <a:avLst/>
          </a:prstGeom>
          <a:noFill/>
        </p:spPr>
        <p:txBody>
          <a:bodyPr wrap="square" lIns="36576" tIns="18288" rIns="36576" bIns="18288" anchor="t">
            <a:spAutoFit/>
          </a:bodyPr>
          <a:lstStyle/>
          <a:p>
            <a:pPr algn="l">
              <a:lnSpc>
                <a:spcPct val="110000"/>
              </a:lnSpc>
            </a:pPr>
            <a:r>
              <a:rPr sz="2100" b="1" i="0">
                <a:solidFill>
                  <a:srgbClr val="F2F2EC"/>
                </a:solidFill>
                <a:latin typeface="Segoe UI Semibold"/>
              </a:rPr>
              <a:t>Uma solução brilhante para o problema errado vale menos que nenhuma solução.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50" fill="hold"/>
                                        <p:tgtEl>
                                          <p:spTgt spid="6"/>
                                        </p:tgtEl>
                                      </p:cBhvr>
                                    </p:animEffect>
                                    <p:anim calcmode="lin" valueType="num">
                                      <p:cBhvr additive="base">
                                        <p:cTn id="11" dur="650" fill="hold"/>
                                        <p:tgtEl>
                                          <p:spTgt spid="6"/>
                                        </p:tgtEl>
                                        <p:attrNameLst>
                                          <p:attrName>ppt_x</p:attrName>
                                        </p:attrNameLst>
                                      </p:cBhvr>
                                      <p:tavLst>
                                        <p:tav tm="0">
                                          <p:val>
                                            <p:strVal val="#ppt_x"/>
                                          </p:val>
                                        </p:tav>
                                        <p:tav tm="100000">
                                          <p:val>
                                            <p:strVal val="#ppt_x"/>
                                          </p:val>
                                        </p:tav>
                                      </p:tavLst>
                                    </p:anim>
                                    <p:anim calcmode="lin" valueType="num">
                                      <p:cBhvr additive="base">
                                        <p:cTn id="12" dur="650" fill="hold"/>
                                        <p:tgtEl>
                                          <p:spTgt spid="6"/>
                                        </p:tgtEl>
                                        <p:attrNameLst>
                                          <p:attrName>ppt_y</p:attrName>
                                        </p:attrNameLst>
                                      </p:cBhvr>
                                      <p:tavLst>
                                        <p:tav tm="0">
                                          <p:val>
                                            <p:strVal val="#ppt_y+.06"/>
                                          </p:val>
                                        </p:tav>
                                        <p:tav tm="100000">
                                          <p:val>
                                            <p:strVal val="#ppt_y"/>
                                          </p:val>
                                        </p:tav>
                                      </p:tavLst>
                                    </p:anim>
                                  </p:childTnLst>
                                </p:cTn>
                              </p:par>
                              <p:par>
                                <p:cTn id="13" presetID="42" presetClass="entr" presetSubtype="0" decel="100000" fill="hold" grpId="0" nodeType="withEffect">
                                  <p:stCondLst>
                                    <p:cond delay="75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fill="hold"/>
                                        <p:tgtEl>
                                          <p:spTgt spid="7"/>
                                        </p:tgtEl>
                                      </p:cBhvr>
                                    </p:animEffect>
                                    <p:anim calcmode="lin" valueType="num">
                                      <p:cBhvr additive="base">
                                        <p:cTn id="16" dur="650" fill="hold"/>
                                        <p:tgtEl>
                                          <p:spTgt spid="7"/>
                                        </p:tgtEl>
                                        <p:attrNameLst>
                                          <p:attrName>ppt_x</p:attrName>
                                        </p:attrNameLst>
                                      </p:cBhvr>
                                      <p:tavLst>
                                        <p:tav tm="0">
                                          <p:val>
                                            <p:strVal val="#ppt_x"/>
                                          </p:val>
                                        </p:tav>
                                        <p:tav tm="100000">
                                          <p:val>
                                            <p:strVal val="#ppt_x"/>
                                          </p:val>
                                        </p:tav>
                                      </p:tavLst>
                                    </p:anim>
                                    <p:anim calcmode="lin" valueType="num">
                                      <p:cBhvr additive="base">
                                        <p:cTn id="17" dur="650" fill="hold"/>
                                        <p:tgtEl>
                                          <p:spTgt spid="7"/>
                                        </p:tgtEl>
                                        <p:attrNameLst>
                                          <p:attrName>ppt_y</p:attrName>
                                        </p:attrNameLst>
                                      </p:cBhvr>
                                      <p:tavLst>
                                        <p:tav tm="0">
                                          <p:val>
                                            <p:strVal val="#ppt_y+.06"/>
                                          </p:val>
                                        </p:tav>
                                        <p:tav tm="100000">
                                          <p:val>
                                            <p:strVal val="#ppt_y"/>
                                          </p:val>
                                        </p:tav>
                                      </p:tavLst>
                                    </p:anim>
                                  </p:childTnLst>
                                </p:cTn>
                              </p:par>
                              <p:par>
                                <p:cTn id="18" presetID="53" presetClass="entr" presetSubtype="16" decel="100000" fill="hold" grpId="0" nodeType="withEffect">
                                  <p:stCondLst>
                                    <p:cond delay="105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450" fill="hold"/>
                                        <p:tgtEl>
                                          <p:spTgt spid="8"/>
                                        </p:tgtEl>
                                        <p:attrNameLst>
                                          <p:attrName>ppt_w</p:attrName>
                                        </p:attrNameLst>
                                      </p:cBhvr>
                                      <p:tavLst>
                                        <p:tav tm="0">
                                          <p:val>
                                            <p:strVal val="0"/>
                                          </p:val>
                                        </p:tav>
                                        <p:tav tm="70000">
                                          <p:val>
                                            <p:strVal val="#ppt_w*1.08"/>
                                          </p:val>
                                        </p:tav>
                                        <p:tav tm="100000">
                                          <p:val>
                                            <p:strVal val="#ppt_w"/>
                                          </p:val>
                                        </p:tav>
                                      </p:tavLst>
                                    </p:anim>
                                    <p:anim calcmode="lin" valueType="num">
                                      <p:cBhvr additive="base">
                                        <p:cTn id="21" dur="450" fill="hold"/>
                                        <p:tgtEl>
                                          <p:spTgt spid="8"/>
                                        </p:tgtEl>
                                        <p:attrNameLst>
                                          <p:attrName>ppt_h</p:attrName>
                                        </p:attrNameLst>
                                      </p:cBhvr>
                                      <p:tavLst>
                                        <p:tav tm="0">
                                          <p:val>
                                            <p:strVal val="0"/>
                                          </p:val>
                                        </p:tav>
                                        <p:tav tm="70000">
                                          <p:val>
                                            <p:strVal val="#ppt_h*1.08"/>
                                          </p:val>
                                        </p:tav>
                                        <p:tav tm="100000">
                                          <p:val>
                                            <p:strVal val="#ppt_h"/>
                                          </p:val>
                                        </p:tav>
                                      </p:tavLst>
                                    </p:anim>
                                    <p:animEffect transition="in" filter="fade">
                                      <p:cBhvr>
                                        <p:cTn id="22" dur="270" fill="hold"/>
                                        <p:tgtEl>
                                          <p:spTgt spid="8"/>
                                        </p:tgtEl>
                                      </p:cBhvr>
                                    </p:animEffect>
                                  </p:childTnLst>
                                </p:cTn>
                              </p:par>
                              <p:par>
                                <p:cTn id="23" presetID="10" presetClass="entr" presetSubtype="0" fill="hold" grpId="0" nodeType="withEffect">
                                  <p:stCondLst>
                                    <p:cond delay="1250"/>
                                  </p:stCondLst>
                                  <p:iterate type="wd">
                                    <p:tmPct val="35000"/>
                                  </p:iterate>
                                  <p:childTnLst>
                                    <p:set>
                                      <p:cBhvr>
                                        <p:cTn id="24" dur="1" fill="hold">
                                          <p:stCondLst>
                                            <p:cond delay="0"/>
                                          </p:stCondLst>
                                        </p:cTn>
                                        <p:tgtEl>
                                          <p:spTgt spid="9"/>
                                        </p:tgtEl>
                                        <p:attrNameLst>
                                          <p:attrName>style.visibility</p:attrName>
                                        </p:attrNameLst>
                                      </p:cBhvr>
                                      <p:to>
                                        <p:strVal val="visible"/>
                                      </p:to>
                                    </p:set>
                                    <p:animEffect transition="in" filter="fade">
                                      <p:cBhvr>
                                        <p:cTn id="25" dur="420" fill="hold"/>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9CD848"/>
                </a:solidFill>
                <a:latin typeface="Segoe UI Semibold"/>
              </a:rPr>
              <a:t>MÓDULO 1  ·  DESIGN COMO FERRAMENTA DE INOVAÇÃO</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Por que isso importa para o seu negócio</a:t>
            </a:r>
          </a:p>
        </p:txBody>
      </p:sp>
      <p:sp>
        <p:nvSpPr>
          <p:cNvPr id="6" name="Rounded Rectangle 5"/>
          <p:cNvSpPr/>
          <p:nvPr/>
        </p:nvSpPr>
        <p:spPr>
          <a:xfrm>
            <a:off x="548640" y="1737360"/>
            <a:ext cx="3474720" cy="292608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22959" y="3474720"/>
            <a:ext cx="2926080" cy="914400"/>
          </a:xfrm>
          <a:prstGeom prst="rect">
            <a:avLst/>
          </a:prstGeom>
          <a:noFill/>
        </p:spPr>
        <p:txBody>
          <a:bodyPr wrap="square" lIns="36576" tIns="18288" rIns="36576" bIns="18288" anchor="t">
            <a:spAutoFit/>
          </a:bodyPr>
          <a:lstStyle/>
          <a:p>
            <a:pPr algn="ctr"/>
            <a:r>
              <a:rPr sz="1600" b="0" i="0">
                <a:solidFill>
                  <a:srgbClr val="B4B8B0"/>
                </a:solidFill>
                <a:latin typeface="Segoe UI"/>
              </a:rPr>
              <a:t>custo de corrigir na ideia</a:t>
            </a:r>
          </a:p>
        </p:txBody>
      </p:sp>
      <p:sp>
        <p:nvSpPr>
          <p:cNvPr id="8" name="TextBox 7"/>
          <p:cNvSpPr txBox="1"/>
          <p:nvPr/>
        </p:nvSpPr>
        <p:spPr>
          <a:xfrm>
            <a:off x="548640" y="2057400"/>
            <a:ext cx="3474720" cy="1280160"/>
          </a:xfrm>
          <a:prstGeom prst="rect">
            <a:avLst/>
          </a:prstGeom>
          <a:noFill/>
        </p:spPr>
        <p:txBody>
          <a:bodyPr wrap="square" lIns="36576" tIns="18288" rIns="36576" bIns="18288" anchor="t">
            <a:spAutoFit/>
          </a:bodyPr>
          <a:lstStyle/>
          <a:p>
            <a:pPr algn="ctr"/>
            <a:r>
              <a:rPr sz="6600" b="1" i="0">
                <a:solidFill>
                  <a:srgbClr val="9CD848"/>
                </a:solidFill>
                <a:latin typeface="Segoe UI Semibold"/>
              </a:rPr>
              <a:t>1×</a:t>
            </a:r>
          </a:p>
        </p:txBody>
      </p:sp>
      <p:cxnSp>
        <p:nvCxnSpPr>
          <p:cNvPr id="9" name="Connector 8"/>
          <p:cNvCxnSpPr/>
          <p:nvPr/>
        </p:nvCxnSpPr>
        <p:spPr>
          <a:xfrm>
            <a:off x="4041648" y="3200400"/>
            <a:ext cx="237744" cy="0"/>
          </a:xfrm>
          <a:prstGeom prst="line">
            <a:avLst/>
          </a:prstGeom>
          <a:ln w="19050">
            <a:solidFill>
              <a:srgbClr val="7D827B"/>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297679" y="1737360"/>
            <a:ext cx="3474720" cy="292608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4571999" y="3474720"/>
            <a:ext cx="2926080" cy="914400"/>
          </a:xfrm>
          <a:prstGeom prst="rect">
            <a:avLst/>
          </a:prstGeom>
          <a:noFill/>
        </p:spPr>
        <p:txBody>
          <a:bodyPr wrap="square" lIns="36576" tIns="18288" rIns="36576" bIns="18288" anchor="t">
            <a:spAutoFit/>
          </a:bodyPr>
          <a:lstStyle/>
          <a:p>
            <a:pPr algn="ctr"/>
            <a:r>
              <a:rPr sz="1600" b="0" i="0">
                <a:solidFill>
                  <a:srgbClr val="B4B8B0"/>
                </a:solidFill>
                <a:latin typeface="Segoe UI"/>
              </a:rPr>
              <a:t>custo de corrigir no desenvolvimento</a:t>
            </a:r>
          </a:p>
        </p:txBody>
      </p:sp>
      <p:sp>
        <p:nvSpPr>
          <p:cNvPr id="12" name="TextBox 11"/>
          <p:cNvSpPr txBox="1"/>
          <p:nvPr/>
        </p:nvSpPr>
        <p:spPr>
          <a:xfrm>
            <a:off x="4297679" y="2057400"/>
            <a:ext cx="3474720" cy="1280160"/>
          </a:xfrm>
          <a:prstGeom prst="rect">
            <a:avLst/>
          </a:prstGeom>
          <a:noFill/>
        </p:spPr>
        <p:txBody>
          <a:bodyPr wrap="square" lIns="36576" tIns="18288" rIns="36576" bIns="18288" anchor="t">
            <a:spAutoFit/>
          </a:bodyPr>
          <a:lstStyle/>
          <a:p>
            <a:pPr algn="ctr"/>
            <a:r>
              <a:rPr sz="6600" b="1" i="0">
                <a:solidFill>
                  <a:srgbClr val="2FA38A"/>
                </a:solidFill>
                <a:latin typeface="Segoe UI Semibold"/>
              </a:rPr>
              <a:t>10×</a:t>
            </a:r>
          </a:p>
        </p:txBody>
      </p:sp>
      <p:cxnSp>
        <p:nvCxnSpPr>
          <p:cNvPr id="13" name="Connector 12"/>
          <p:cNvCxnSpPr/>
          <p:nvPr/>
        </p:nvCxnSpPr>
        <p:spPr>
          <a:xfrm>
            <a:off x="7790688" y="3200400"/>
            <a:ext cx="237743" cy="0"/>
          </a:xfrm>
          <a:prstGeom prst="line">
            <a:avLst/>
          </a:prstGeom>
          <a:ln w="19050">
            <a:solidFill>
              <a:srgbClr val="7D827B"/>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046719" y="1737360"/>
            <a:ext cx="3474720" cy="292608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321040" y="3474720"/>
            <a:ext cx="2926080" cy="914400"/>
          </a:xfrm>
          <a:prstGeom prst="rect">
            <a:avLst/>
          </a:prstGeom>
          <a:noFill/>
        </p:spPr>
        <p:txBody>
          <a:bodyPr wrap="square" lIns="36576" tIns="18288" rIns="36576" bIns="18288" anchor="t">
            <a:spAutoFit/>
          </a:bodyPr>
          <a:lstStyle/>
          <a:p>
            <a:pPr algn="ctr"/>
            <a:r>
              <a:rPr sz="1600" b="0" i="0">
                <a:solidFill>
                  <a:srgbClr val="B4B8B0"/>
                </a:solidFill>
                <a:latin typeface="Segoe UI"/>
              </a:rPr>
              <a:t>custo de corrigir após o lançamento</a:t>
            </a:r>
          </a:p>
        </p:txBody>
      </p:sp>
      <p:sp>
        <p:nvSpPr>
          <p:cNvPr id="16" name="TextBox 15"/>
          <p:cNvSpPr txBox="1"/>
          <p:nvPr/>
        </p:nvSpPr>
        <p:spPr>
          <a:xfrm>
            <a:off x="8046719" y="2057400"/>
            <a:ext cx="3474720" cy="1280160"/>
          </a:xfrm>
          <a:prstGeom prst="rect">
            <a:avLst/>
          </a:prstGeom>
          <a:noFill/>
        </p:spPr>
        <p:txBody>
          <a:bodyPr wrap="square" lIns="36576" tIns="18288" rIns="36576" bIns="18288" anchor="t">
            <a:spAutoFit/>
          </a:bodyPr>
          <a:lstStyle/>
          <a:p>
            <a:pPr algn="ctr"/>
            <a:r>
              <a:rPr sz="6600" b="1" i="0">
                <a:solidFill>
                  <a:srgbClr val="2A9FC0"/>
                </a:solidFill>
                <a:latin typeface="Segoe UI Semibold"/>
              </a:rPr>
              <a:t>100×</a:t>
            </a:r>
          </a:p>
        </p:txBody>
      </p:sp>
      <p:sp>
        <p:nvSpPr>
          <p:cNvPr id="17" name="TextBox 16"/>
          <p:cNvSpPr txBox="1"/>
          <p:nvPr/>
        </p:nvSpPr>
        <p:spPr>
          <a:xfrm>
            <a:off x="548640" y="4983480"/>
            <a:ext cx="10972800" cy="731520"/>
          </a:xfrm>
          <a:prstGeom prst="rect">
            <a:avLst/>
          </a:prstGeom>
          <a:noFill/>
        </p:spPr>
        <p:txBody>
          <a:bodyPr wrap="square" lIns="36576" tIns="18288" rIns="36576" bIns="18288" anchor="t">
            <a:spAutoFit/>
          </a:bodyPr>
          <a:lstStyle/>
          <a:p>
            <a:pPr algn="l"/>
            <a:r>
              <a:rPr sz="1500" b="0" i="1">
                <a:solidFill>
                  <a:srgbClr val="B4B8B0"/>
                </a:solidFill>
                <a:latin typeface="Segoe UI"/>
              </a:rPr>
              <a:t>Regra prática da engenharia de produto: quanto mais tarde o erro é descoberto, mais caro ele fica.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50" fill="hold"/>
                                        <p:tgtEl>
                                          <p:spTgt spid="6"/>
                                        </p:tgtEl>
                                      </p:cBhvr>
                                    </p:animEffect>
                                    <p:anim calcmode="lin" valueType="num">
                                      <p:cBhvr additive="base">
                                        <p:cTn id="11" dur="650" fill="hold"/>
                                        <p:tgtEl>
                                          <p:spTgt spid="6"/>
                                        </p:tgtEl>
                                        <p:attrNameLst>
                                          <p:attrName>ppt_x</p:attrName>
                                        </p:attrNameLst>
                                      </p:cBhvr>
                                      <p:tavLst>
                                        <p:tav tm="0">
                                          <p:val>
                                            <p:strVal val="#ppt_x"/>
                                          </p:val>
                                        </p:tav>
                                        <p:tav tm="100000">
                                          <p:val>
                                            <p:strVal val="#ppt_x"/>
                                          </p:val>
                                        </p:tav>
                                      </p:tavLst>
                                    </p:anim>
                                    <p:anim calcmode="lin" valueType="num">
                                      <p:cBhvr additive="base">
                                        <p:cTn id="12" dur="650" fill="hold"/>
                                        <p:tgtEl>
                                          <p:spTgt spid="6"/>
                                        </p:tgtEl>
                                        <p:attrNameLst>
                                          <p:attrName>ppt_y</p:attrName>
                                        </p:attrNameLst>
                                      </p:cBhvr>
                                      <p:tavLst>
                                        <p:tav tm="0">
                                          <p:val>
                                            <p:strVal val="#ppt_y+.06"/>
                                          </p:val>
                                        </p:tav>
                                        <p:tav tm="100000">
                                          <p:val>
                                            <p:strVal val="#ppt_y"/>
                                          </p:val>
                                        </p:tav>
                                      </p:tavLst>
                                    </p:anim>
                                  </p:childTnLst>
                                </p:cTn>
                              </p:par>
                              <p:par>
                                <p:cTn id="13" presetID="42" presetClass="entr" presetSubtype="0" decel="100000" fill="hold" grpId="0" nodeType="withEffect">
                                  <p:stCondLst>
                                    <p:cond delay="25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fill="hold"/>
                                        <p:tgtEl>
                                          <p:spTgt spid="7"/>
                                        </p:tgtEl>
                                      </p:cBhvr>
                                    </p:animEffect>
                                    <p:anim calcmode="lin" valueType="num">
                                      <p:cBhvr additive="base">
                                        <p:cTn id="16" dur="650" fill="hold"/>
                                        <p:tgtEl>
                                          <p:spTgt spid="7"/>
                                        </p:tgtEl>
                                        <p:attrNameLst>
                                          <p:attrName>ppt_x</p:attrName>
                                        </p:attrNameLst>
                                      </p:cBhvr>
                                      <p:tavLst>
                                        <p:tav tm="0">
                                          <p:val>
                                            <p:strVal val="#ppt_x"/>
                                          </p:val>
                                        </p:tav>
                                        <p:tav tm="100000">
                                          <p:val>
                                            <p:strVal val="#ppt_x"/>
                                          </p:val>
                                        </p:tav>
                                      </p:tavLst>
                                    </p:anim>
                                    <p:anim calcmode="lin" valueType="num">
                                      <p:cBhvr additive="base">
                                        <p:cTn id="17" dur="650" fill="hold"/>
                                        <p:tgtEl>
                                          <p:spTgt spid="7"/>
                                        </p:tgtEl>
                                        <p:attrNameLst>
                                          <p:attrName>ppt_y</p:attrName>
                                        </p:attrNameLst>
                                      </p:cBhvr>
                                      <p:tavLst>
                                        <p:tav tm="0">
                                          <p:val>
                                            <p:strVal val="#ppt_y+.06"/>
                                          </p:val>
                                        </p:tav>
                                        <p:tav tm="100000">
                                          <p:val>
                                            <p:strVal val="#ppt_y"/>
                                          </p:val>
                                        </p:tav>
                                      </p:tavLst>
                                    </p:anim>
                                  </p:childTnLst>
                                </p:cTn>
                              </p:par>
                              <p:par>
                                <p:cTn id="18" presetID="53" presetClass="entr" presetSubtype="16" decel="100000" fill="hold" grpId="0" nodeType="withEffect">
                                  <p:stCondLst>
                                    <p:cond delay="40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50" fill="hold"/>
                                        <p:tgtEl>
                                          <p:spTgt spid="8"/>
                                        </p:tgtEl>
                                        <p:attrNameLst>
                                          <p:attrName>ppt_w</p:attrName>
                                        </p:attrNameLst>
                                      </p:cBhvr>
                                      <p:tavLst>
                                        <p:tav tm="0">
                                          <p:val>
                                            <p:strVal val="0"/>
                                          </p:val>
                                        </p:tav>
                                        <p:tav tm="70000">
                                          <p:val>
                                            <p:strVal val="#ppt_w*1.08"/>
                                          </p:val>
                                        </p:tav>
                                        <p:tav tm="100000">
                                          <p:val>
                                            <p:strVal val="#ppt_w"/>
                                          </p:val>
                                        </p:tav>
                                      </p:tavLst>
                                    </p:anim>
                                    <p:anim calcmode="lin" valueType="num">
                                      <p:cBhvr additive="base">
                                        <p:cTn id="21" dur="550" fill="hold"/>
                                        <p:tgtEl>
                                          <p:spTgt spid="8"/>
                                        </p:tgtEl>
                                        <p:attrNameLst>
                                          <p:attrName>ppt_h</p:attrName>
                                        </p:attrNameLst>
                                      </p:cBhvr>
                                      <p:tavLst>
                                        <p:tav tm="0">
                                          <p:val>
                                            <p:strVal val="0"/>
                                          </p:val>
                                        </p:tav>
                                        <p:tav tm="70000">
                                          <p:val>
                                            <p:strVal val="#ppt_h*1.08"/>
                                          </p:val>
                                        </p:tav>
                                        <p:tav tm="100000">
                                          <p:val>
                                            <p:strVal val="#ppt_h"/>
                                          </p:val>
                                        </p:tav>
                                      </p:tavLst>
                                    </p:anim>
                                    <p:animEffect transition="in" filter="fade">
                                      <p:cBhvr>
                                        <p:cTn id="22" dur="330" fill="hold"/>
                                        <p:tgtEl>
                                          <p:spTgt spid="8"/>
                                        </p:tgtEl>
                                      </p:cBhvr>
                                    </p:animEffect>
                                  </p:childTnLst>
                                </p:cTn>
                              </p:par>
                              <p:par>
                                <p:cTn id="23" presetID="22" presetClass="entr" presetSubtype="8" fill="hold" nodeType="withEffect">
                                  <p:stCondLst>
                                    <p:cond delay="65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300" fill="hold"/>
                                        <p:tgtEl>
                                          <p:spTgt spid="9"/>
                                        </p:tgtEl>
                                      </p:cBhvr>
                                    </p:animEffect>
                                  </p:childTnLst>
                                </p:cTn>
                              </p:par>
                              <p:par>
                                <p:cTn id="26" presetID="42" presetClass="entr" presetSubtype="0" decel="100000" fill="hold" grpId="0" nodeType="withEffect">
                                  <p:stCondLst>
                                    <p:cond delay="100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650" fill="hold"/>
                                        <p:tgtEl>
                                          <p:spTgt spid="10"/>
                                        </p:tgtEl>
                                      </p:cBhvr>
                                    </p:animEffect>
                                    <p:anim calcmode="lin" valueType="num">
                                      <p:cBhvr additive="base">
                                        <p:cTn id="29" dur="650" fill="hold"/>
                                        <p:tgtEl>
                                          <p:spTgt spid="10"/>
                                        </p:tgtEl>
                                        <p:attrNameLst>
                                          <p:attrName>ppt_x</p:attrName>
                                        </p:attrNameLst>
                                      </p:cBhvr>
                                      <p:tavLst>
                                        <p:tav tm="0">
                                          <p:val>
                                            <p:strVal val="#ppt_x"/>
                                          </p:val>
                                        </p:tav>
                                        <p:tav tm="100000">
                                          <p:val>
                                            <p:strVal val="#ppt_x"/>
                                          </p:val>
                                        </p:tav>
                                      </p:tavLst>
                                    </p:anim>
                                    <p:anim calcmode="lin" valueType="num">
                                      <p:cBhvr additive="base">
                                        <p:cTn id="30" dur="650" fill="hold"/>
                                        <p:tgtEl>
                                          <p:spTgt spid="10"/>
                                        </p:tgtEl>
                                        <p:attrNameLst>
                                          <p:attrName>ppt_y</p:attrName>
                                        </p:attrNameLst>
                                      </p:cBhvr>
                                      <p:tavLst>
                                        <p:tav tm="0">
                                          <p:val>
                                            <p:strVal val="#ppt_y+.06"/>
                                          </p:val>
                                        </p:tav>
                                        <p:tav tm="100000">
                                          <p:val>
                                            <p:strVal val="#ppt_y"/>
                                          </p:val>
                                        </p:tav>
                                      </p:tavLst>
                                    </p:anim>
                                  </p:childTnLst>
                                </p:cTn>
                              </p:par>
                              <p:par>
                                <p:cTn id="31" presetID="42" presetClass="entr" presetSubtype="0" decel="100000" fill="hold" grpId="0" nodeType="withEffect">
                                  <p:stCondLst>
                                    <p:cond delay="100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650" fill="hold"/>
                                        <p:tgtEl>
                                          <p:spTgt spid="11"/>
                                        </p:tgtEl>
                                      </p:cBhvr>
                                    </p:animEffect>
                                    <p:anim calcmode="lin" valueType="num">
                                      <p:cBhvr additive="base">
                                        <p:cTn id="34" dur="650" fill="hold"/>
                                        <p:tgtEl>
                                          <p:spTgt spid="11"/>
                                        </p:tgtEl>
                                        <p:attrNameLst>
                                          <p:attrName>ppt_x</p:attrName>
                                        </p:attrNameLst>
                                      </p:cBhvr>
                                      <p:tavLst>
                                        <p:tav tm="0">
                                          <p:val>
                                            <p:strVal val="#ppt_x"/>
                                          </p:val>
                                        </p:tav>
                                        <p:tav tm="100000">
                                          <p:val>
                                            <p:strVal val="#ppt_x"/>
                                          </p:val>
                                        </p:tav>
                                      </p:tavLst>
                                    </p:anim>
                                    <p:anim calcmode="lin" valueType="num">
                                      <p:cBhvr additive="base">
                                        <p:cTn id="35" dur="650" fill="hold"/>
                                        <p:tgtEl>
                                          <p:spTgt spid="11"/>
                                        </p:tgtEl>
                                        <p:attrNameLst>
                                          <p:attrName>ppt_y</p:attrName>
                                        </p:attrNameLst>
                                      </p:cBhvr>
                                      <p:tavLst>
                                        <p:tav tm="0">
                                          <p:val>
                                            <p:strVal val="#ppt_y+.06"/>
                                          </p:val>
                                        </p:tav>
                                        <p:tav tm="100000">
                                          <p:val>
                                            <p:strVal val="#ppt_y"/>
                                          </p:val>
                                        </p:tav>
                                      </p:tavLst>
                                    </p:anim>
                                  </p:childTnLst>
                                </p:cTn>
                              </p:par>
                              <p:par>
                                <p:cTn id="36" presetID="53" presetClass="entr" presetSubtype="16" decel="100000" fill="hold" grpId="0" nodeType="withEffect">
                                  <p:stCondLst>
                                    <p:cond delay="1150"/>
                                  </p:stCondLst>
                                  <p:childTnLst>
                                    <p:set>
                                      <p:cBhvr>
                                        <p:cTn id="37" dur="1" fill="hold">
                                          <p:stCondLst>
                                            <p:cond delay="0"/>
                                          </p:stCondLst>
                                        </p:cTn>
                                        <p:tgtEl>
                                          <p:spTgt spid="12"/>
                                        </p:tgtEl>
                                        <p:attrNameLst>
                                          <p:attrName>style.visibility</p:attrName>
                                        </p:attrNameLst>
                                      </p:cBhvr>
                                      <p:to>
                                        <p:strVal val="visible"/>
                                      </p:to>
                                    </p:set>
                                    <p:anim calcmode="lin" valueType="num">
                                      <p:cBhvr additive="base">
                                        <p:cTn id="38" dur="550" fill="hold"/>
                                        <p:tgtEl>
                                          <p:spTgt spid="12"/>
                                        </p:tgtEl>
                                        <p:attrNameLst>
                                          <p:attrName>ppt_w</p:attrName>
                                        </p:attrNameLst>
                                      </p:cBhvr>
                                      <p:tavLst>
                                        <p:tav tm="0">
                                          <p:val>
                                            <p:strVal val="0"/>
                                          </p:val>
                                        </p:tav>
                                        <p:tav tm="70000">
                                          <p:val>
                                            <p:strVal val="#ppt_w*1.08"/>
                                          </p:val>
                                        </p:tav>
                                        <p:tav tm="100000">
                                          <p:val>
                                            <p:strVal val="#ppt_w"/>
                                          </p:val>
                                        </p:tav>
                                      </p:tavLst>
                                    </p:anim>
                                    <p:anim calcmode="lin" valueType="num">
                                      <p:cBhvr additive="base">
                                        <p:cTn id="39" dur="550" fill="hold"/>
                                        <p:tgtEl>
                                          <p:spTgt spid="12"/>
                                        </p:tgtEl>
                                        <p:attrNameLst>
                                          <p:attrName>ppt_h</p:attrName>
                                        </p:attrNameLst>
                                      </p:cBhvr>
                                      <p:tavLst>
                                        <p:tav tm="0">
                                          <p:val>
                                            <p:strVal val="0"/>
                                          </p:val>
                                        </p:tav>
                                        <p:tav tm="70000">
                                          <p:val>
                                            <p:strVal val="#ppt_h*1.08"/>
                                          </p:val>
                                        </p:tav>
                                        <p:tav tm="100000">
                                          <p:val>
                                            <p:strVal val="#ppt_h"/>
                                          </p:val>
                                        </p:tav>
                                      </p:tavLst>
                                    </p:anim>
                                    <p:animEffect transition="in" filter="fade">
                                      <p:cBhvr>
                                        <p:cTn id="40" dur="330" fill="hold"/>
                                        <p:tgtEl>
                                          <p:spTgt spid="12"/>
                                        </p:tgtEl>
                                      </p:cBhvr>
                                    </p:animEffect>
                                  </p:childTnLst>
                                </p:cTn>
                              </p:par>
                              <p:par>
                                <p:cTn id="41" presetID="22" presetClass="entr" presetSubtype="8" fill="hold" nodeType="withEffect">
                                  <p:stCondLst>
                                    <p:cond delay="1400"/>
                                  </p:stCondLst>
                                  <p:childTnLst>
                                    <p:set>
                                      <p:cBhvr>
                                        <p:cTn id="42" dur="1" fill="hold">
                                          <p:stCondLst>
                                            <p:cond delay="0"/>
                                          </p:stCondLst>
                                        </p:cTn>
                                        <p:tgtEl>
                                          <p:spTgt spid="13"/>
                                        </p:tgtEl>
                                        <p:attrNameLst>
                                          <p:attrName>style.visibility</p:attrName>
                                        </p:attrNameLst>
                                      </p:cBhvr>
                                      <p:to>
                                        <p:strVal val="visible"/>
                                      </p:to>
                                    </p:set>
                                    <p:animEffect transition="in" filter="wipe(left)">
                                      <p:cBhvr>
                                        <p:cTn id="43" dur="300" fill="hold"/>
                                        <p:tgtEl>
                                          <p:spTgt spid="13"/>
                                        </p:tgtEl>
                                      </p:cBhvr>
                                    </p:animEffect>
                                  </p:childTnLst>
                                </p:cTn>
                              </p:par>
                              <p:par>
                                <p:cTn id="44" presetID="42" presetClass="entr" presetSubtype="0" decel="100000" fill="hold" grpId="0" nodeType="withEffect">
                                  <p:stCondLst>
                                    <p:cond delay="175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650" fill="hold"/>
                                        <p:tgtEl>
                                          <p:spTgt spid="14"/>
                                        </p:tgtEl>
                                      </p:cBhvr>
                                    </p:animEffect>
                                    <p:anim calcmode="lin" valueType="num">
                                      <p:cBhvr additive="base">
                                        <p:cTn id="47" dur="650" fill="hold"/>
                                        <p:tgtEl>
                                          <p:spTgt spid="14"/>
                                        </p:tgtEl>
                                        <p:attrNameLst>
                                          <p:attrName>ppt_x</p:attrName>
                                        </p:attrNameLst>
                                      </p:cBhvr>
                                      <p:tavLst>
                                        <p:tav tm="0">
                                          <p:val>
                                            <p:strVal val="#ppt_x"/>
                                          </p:val>
                                        </p:tav>
                                        <p:tav tm="100000">
                                          <p:val>
                                            <p:strVal val="#ppt_x"/>
                                          </p:val>
                                        </p:tav>
                                      </p:tavLst>
                                    </p:anim>
                                    <p:anim calcmode="lin" valueType="num">
                                      <p:cBhvr additive="base">
                                        <p:cTn id="48" dur="650" fill="hold"/>
                                        <p:tgtEl>
                                          <p:spTgt spid="14"/>
                                        </p:tgtEl>
                                        <p:attrNameLst>
                                          <p:attrName>ppt_y</p:attrName>
                                        </p:attrNameLst>
                                      </p:cBhvr>
                                      <p:tavLst>
                                        <p:tav tm="0">
                                          <p:val>
                                            <p:strVal val="#ppt_y+.06"/>
                                          </p:val>
                                        </p:tav>
                                        <p:tav tm="100000">
                                          <p:val>
                                            <p:strVal val="#ppt_y"/>
                                          </p:val>
                                        </p:tav>
                                      </p:tavLst>
                                    </p:anim>
                                  </p:childTnLst>
                                </p:cTn>
                              </p:par>
                              <p:par>
                                <p:cTn id="49" presetID="42" presetClass="entr" presetSubtype="0" decel="100000" fill="hold" grpId="0" nodeType="withEffect">
                                  <p:stCondLst>
                                    <p:cond delay="1750"/>
                                  </p:stCondLst>
                                  <p:childTnLst>
                                    <p:set>
                                      <p:cBhvr>
                                        <p:cTn id="50" dur="1" fill="hold">
                                          <p:stCondLst>
                                            <p:cond delay="0"/>
                                          </p:stCondLst>
                                        </p:cTn>
                                        <p:tgtEl>
                                          <p:spTgt spid="15"/>
                                        </p:tgtEl>
                                        <p:attrNameLst>
                                          <p:attrName>style.visibility</p:attrName>
                                        </p:attrNameLst>
                                      </p:cBhvr>
                                      <p:to>
                                        <p:strVal val="visible"/>
                                      </p:to>
                                    </p:set>
                                    <p:animEffect transition="in" filter="fade">
                                      <p:cBhvr>
                                        <p:cTn id="51" dur="650" fill="hold"/>
                                        <p:tgtEl>
                                          <p:spTgt spid="15"/>
                                        </p:tgtEl>
                                      </p:cBhvr>
                                    </p:animEffect>
                                    <p:anim calcmode="lin" valueType="num">
                                      <p:cBhvr additive="base">
                                        <p:cTn id="52" dur="650" fill="hold"/>
                                        <p:tgtEl>
                                          <p:spTgt spid="15"/>
                                        </p:tgtEl>
                                        <p:attrNameLst>
                                          <p:attrName>ppt_x</p:attrName>
                                        </p:attrNameLst>
                                      </p:cBhvr>
                                      <p:tavLst>
                                        <p:tav tm="0">
                                          <p:val>
                                            <p:strVal val="#ppt_x"/>
                                          </p:val>
                                        </p:tav>
                                        <p:tav tm="100000">
                                          <p:val>
                                            <p:strVal val="#ppt_x"/>
                                          </p:val>
                                        </p:tav>
                                      </p:tavLst>
                                    </p:anim>
                                    <p:anim calcmode="lin" valueType="num">
                                      <p:cBhvr additive="base">
                                        <p:cTn id="53" dur="650" fill="hold"/>
                                        <p:tgtEl>
                                          <p:spTgt spid="15"/>
                                        </p:tgtEl>
                                        <p:attrNameLst>
                                          <p:attrName>ppt_y</p:attrName>
                                        </p:attrNameLst>
                                      </p:cBhvr>
                                      <p:tavLst>
                                        <p:tav tm="0">
                                          <p:val>
                                            <p:strVal val="#ppt_y+.06"/>
                                          </p:val>
                                        </p:tav>
                                        <p:tav tm="100000">
                                          <p:val>
                                            <p:strVal val="#ppt_y"/>
                                          </p:val>
                                        </p:tav>
                                      </p:tavLst>
                                    </p:anim>
                                  </p:childTnLst>
                                </p:cTn>
                              </p:par>
                              <p:par>
                                <p:cTn id="54" presetID="53" presetClass="entr" presetSubtype="16" decel="100000" fill="hold" grpId="0" nodeType="withEffect">
                                  <p:stCondLst>
                                    <p:cond delay="1900"/>
                                  </p:stCondLst>
                                  <p:childTnLst>
                                    <p:set>
                                      <p:cBhvr>
                                        <p:cTn id="55" dur="1" fill="hold">
                                          <p:stCondLst>
                                            <p:cond delay="0"/>
                                          </p:stCondLst>
                                        </p:cTn>
                                        <p:tgtEl>
                                          <p:spTgt spid="16"/>
                                        </p:tgtEl>
                                        <p:attrNameLst>
                                          <p:attrName>style.visibility</p:attrName>
                                        </p:attrNameLst>
                                      </p:cBhvr>
                                      <p:to>
                                        <p:strVal val="visible"/>
                                      </p:to>
                                    </p:set>
                                    <p:anim calcmode="lin" valueType="num">
                                      <p:cBhvr additive="base">
                                        <p:cTn id="56" dur="550" fill="hold"/>
                                        <p:tgtEl>
                                          <p:spTgt spid="16"/>
                                        </p:tgtEl>
                                        <p:attrNameLst>
                                          <p:attrName>ppt_w</p:attrName>
                                        </p:attrNameLst>
                                      </p:cBhvr>
                                      <p:tavLst>
                                        <p:tav tm="0">
                                          <p:val>
                                            <p:strVal val="0"/>
                                          </p:val>
                                        </p:tav>
                                        <p:tav tm="70000">
                                          <p:val>
                                            <p:strVal val="#ppt_w*1.08"/>
                                          </p:val>
                                        </p:tav>
                                        <p:tav tm="100000">
                                          <p:val>
                                            <p:strVal val="#ppt_w"/>
                                          </p:val>
                                        </p:tav>
                                      </p:tavLst>
                                    </p:anim>
                                    <p:anim calcmode="lin" valueType="num">
                                      <p:cBhvr additive="base">
                                        <p:cTn id="57" dur="550" fill="hold"/>
                                        <p:tgtEl>
                                          <p:spTgt spid="16"/>
                                        </p:tgtEl>
                                        <p:attrNameLst>
                                          <p:attrName>ppt_h</p:attrName>
                                        </p:attrNameLst>
                                      </p:cBhvr>
                                      <p:tavLst>
                                        <p:tav tm="0">
                                          <p:val>
                                            <p:strVal val="0"/>
                                          </p:val>
                                        </p:tav>
                                        <p:tav tm="70000">
                                          <p:val>
                                            <p:strVal val="#ppt_h*1.08"/>
                                          </p:val>
                                        </p:tav>
                                        <p:tav tm="100000">
                                          <p:val>
                                            <p:strVal val="#ppt_h"/>
                                          </p:val>
                                        </p:tav>
                                      </p:tavLst>
                                    </p:anim>
                                    <p:animEffect transition="in" filter="fade">
                                      <p:cBhvr>
                                        <p:cTn id="58" dur="330" fill="hold"/>
                                        <p:tgtEl>
                                          <p:spTgt spid="16"/>
                                        </p:tgtEl>
                                      </p:cBhvr>
                                    </p:animEffect>
                                  </p:childTnLst>
                                </p:cTn>
                              </p:par>
                              <p:par>
                                <p:cTn id="59" presetID="10" presetClass="entr" presetSubtype="0" fill="hold" grpId="0" nodeType="withEffect">
                                  <p:stCondLst>
                                    <p:cond delay="230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500" fill="hold"/>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0" grpId="0" animBg="1"/>
      <p:bldP spid="11" grpId="0" animBg="1"/>
      <p:bldP spid="12" grpId="0" animBg="1"/>
      <p:bldP spid="14" grpId="0" animBg="1"/>
      <p:bldP spid="15" grpId="0" animBg="1"/>
      <p:bldP spid="16" grpId="0" animBg="1"/>
      <p:bldP spid="1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9CD848"/>
                </a:solidFill>
                <a:latin typeface="Segoe UI Semibold"/>
              </a:rPr>
              <a:t>MÓDULO 1  ·  DESIGN COMO FERRAMENTA DE INOVAÇÃO</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Tipos de inovação</a:t>
            </a:r>
          </a:p>
        </p:txBody>
      </p:sp>
      <p:sp>
        <p:nvSpPr>
          <p:cNvPr id="6" name="Rounded Rectangle 5"/>
          <p:cNvSpPr/>
          <p:nvPr/>
        </p:nvSpPr>
        <p:spPr>
          <a:xfrm>
            <a:off x="548640" y="1554480"/>
            <a:ext cx="5394960" cy="434340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914400" y="1783080"/>
            <a:ext cx="4663440" cy="548640"/>
          </a:xfrm>
          <a:prstGeom prst="rect">
            <a:avLst/>
          </a:prstGeom>
          <a:noFill/>
        </p:spPr>
        <p:txBody>
          <a:bodyPr wrap="square" lIns="36576" tIns="18288" rIns="36576" bIns="18288" anchor="t">
            <a:spAutoFit/>
          </a:bodyPr>
          <a:lstStyle/>
          <a:p>
            <a:pPr algn="l"/>
            <a:r>
              <a:rPr sz="2200" b="1" i="0">
                <a:solidFill>
                  <a:srgbClr val="B4B8B0"/>
                </a:solidFill>
                <a:latin typeface="Segoe UI Semibold"/>
              </a:rPr>
              <a:t>Incremental</a:t>
            </a:r>
          </a:p>
        </p:txBody>
      </p:sp>
      <p:sp>
        <p:nvSpPr>
          <p:cNvPr id="8" name="TextBox 7"/>
          <p:cNvSpPr txBox="1"/>
          <p:nvPr/>
        </p:nvSpPr>
        <p:spPr>
          <a:xfrm>
            <a:off x="914400" y="2514600"/>
            <a:ext cx="4754880" cy="3200400"/>
          </a:xfrm>
          <a:prstGeom prst="rect">
            <a:avLst/>
          </a:prstGeom>
          <a:noFill/>
        </p:spPr>
        <p:txBody>
          <a:bodyPr wrap="square">
            <a:spAutoFit/>
          </a:bodyPr>
          <a:lstStyle/>
          <a:p>
            <a:pPr marL="292608" indent="-292608">
              <a:spcAft>
                <a:spcPts val="1400"/>
              </a:spcAft>
              <a:buClr>
                <a:srgbClr val="7D827B"/>
              </a:buClr>
              <a:buFont typeface="Arial"/>
              <a:buChar char="●"/>
            </a:pPr>
            <a:r>
              <a:rPr sz="1600">
                <a:solidFill>
                  <a:srgbClr val="F2F2EC"/>
                </a:solidFill>
                <a:latin typeface="Segoe UI"/>
              </a:rPr>
              <a:t>Melhora algo que já existe</a:t>
            </a:r>
          </a:p>
          <a:p>
            <a:pPr marL="292608" indent="-292608">
              <a:spcAft>
                <a:spcPts val="1400"/>
              </a:spcAft>
              <a:buClr>
                <a:srgbClr val="7D827B"/>
              </a:buClr>
              <a:buFont typeface="Arial"/>
              <a:buChar char="●"/>
            </a:pPr>
            <a:r>
              <a:rPr sz="1600">
                <a:solidFill>
                  <a:srgbClr val="F2F2EC"/>
                </a:solidFill>
                <a:latin typeface="Segoe UI"/>
              </a:rPr>
              <a:t>Risco baixo, retorno previsível</a:t>
            </a:r>
          </a:p>
          <a:p>
            <a:pPr marL="292608" indent="-292608">
              <a:spcAft>
                <a:spcPts val="1400"/>
              </a:spcAft>
              <a:buClr>
                <a:srgbClr val="7D827B"/>
              </a:buClr>
              <a:buFont typeface="Arial"/>
              <a:buChar char="●"/>
            </a:pPr>
            <a:r>
              <a:rPr sz="1600">
                <a:solidFill>
                  <a:srgbClr val="F2F2EC"/>
                </a:solidFill>
                <a:latin typeface="Segoe UI"/>
              </a:rPr>
              <a:t>Ex.: aceitar Pix, novo sabor, app mais rápido</a:t>
            </a:r>
          </a:p>
          <a:p>
            <a:pPr marL="292608" indent="-292608">
              <a:buClr>
                <a:srgbClr val="7D827B"/>
              </a:buClr>
              <a:buFont typeface="Arial"/>
              <a:buChar char="●"/>
            </a:pPr>
            <a:r>
              <a:rPr sz="1600">
                <a:solidFill>
                  <a:srgbClr val="F2F2EC"/>
                </a:solidFill>
                <a:latin typeface="Segoe UI"/>
              </a:rPr>
              <a:t>Mantém a empresa competitiva</a:t>
            </a:r>
          </a:p>
        </p:txBody>
      </p:sp>
      <p:sp>
        <p:nvSpPr>
          <p:cNvPr id="9" name="Rounded Rectangle 8"/>
          <p:cNvSpPr/>
          <p:nvPr/>
        </p:nvSpPr>
        <p:spPr>
          <a:xfrm>
            <a:off x="6263640" y="1554480"/>
            <a:ext cx="5394960" cy="4343400"/>
          </a:xfrm>
          <a:prstGeom prst="roundRect">
            <a:avLst>
              <a:gd name="adj" fmla="val 5000"/>
            </a:avLst>
          </a:prstGeom>
          <a:solidFill>
            <a:srgbClr val="2E3431"/>
          </a:solidFill>
          <a:ln w="19050">
            <a:solidFill>
              <a:srgbClr val="9CD84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629400" y="1783080"/>
            <a:ext cx="4663440" cy="548640"/>
          </a:xfrm>
          <a:prstGeom prst="rect">
            <a:avLst/>
          </a:prstGeom>
          <a:noFill/>
        </p:spPr>
        <p:txBody>
          <a:bodyPr wrap="square" lIns="36576" tIns="18288" rIns="36576" bIns="18288" anchor="t">
            <a:spAutoFit/>
          </a:bodyPr>
          <a:lstStyle/>
          <a:p>
            <a:pPr algn="l"/>
            <a:r>
              <a:rPr sz="2200" b="1" i="0">
                <a:solidFill>
                  <a:srgbClr val="9CD848"/>
                </a:solidFill>
                <a:latin typeface="Segoe UI Semibold"/>
              </a:rPr>
              <a:t>Disruptiva</a:t>
            </a:r>
          </a:p>
        </p:txBody>
      </p:sp>
      <p:sp>
        <p:nvSpPr>
          <p:cNvPr id="11" name="TextBox 10"/>
          <p:cNvSpPr txBox="1"/>
          <p:nvPr/>
        </p:nvSpPr>
        <p:spPr>
          <a:xfrm>
            <a:off x="6629400" y="2514600"/>
            <a:ext cx="4754880" cy="3200400"/>
          </a:xfrm>
          <a:prstGeom prst="rect">
            <a:avLst/>
          </a:prstGeom>
          <a:noFill/>
        </p:spPr>
        <p:txBody>
          <a:bodyPr wrap="square">
            <a:spAutoFit/>
          </a:bodyPr>
          <a:lstStyle/>
          <a:p>
            <a:pPr marL="292608" indent="-292608">
              <a:spcAft>
                <a:spcPts val="1400"/>
              </a:spcAft>
              <a:buClr>
                <a:srgbClr val="9CD848"/>
              </a:buClr>
              <a:buFont typeface="Arial"/>
              <a:buChar char="●"/>
            </a:pPr>
            <a:r>
              <a:rPr sz="1600">
                <a:solidFill>
                  <a:srgbClr val="F2F2EC"/>
                </a:solidFill>
                <a:latin typeface="Segoe UI"/>
              </a:rPr>
              <a:t>Cria um novo jeito de fazer</a:t>
            </a:r>
          </a:p>
          <a:p>
            <a:pPr marL="292608" indent="-292608">
              <a:spcAft>
                <a:spcPts val="1400"/>
              </a:spcAft>
              <a:buClr>
                <a:srgbClr val="9CD848"/>
              </a:buClr>
              <a:buFont typeface="Arial"/>
              <a:buChar char="●"/>
            </a:pPr>
            <a:r>
              <a:rPr sz="1600">
                <a:solidFill>
                  <a:srgbClr val="F2F2EC"/>
                </a:solidFill>
                <a:latin typeface="Segoe UI"/>
              </a:rPr>
              <a:t>Risco alto, potencial de mudar o mercado</a:t>
            </a:r>
          </a:p>
          <a:p>
            <a:pPr marL="292608" indent="-292608">
              <a:spcAft>
                <a:spcPts val="1400"/>
              </a:spcAft>
              <a:buClr>
                <a:srgbClr val="9CD848"/>
              </a:buClr>
              <a:buFont typeface="Arial"/>
              <a:buChar char="●"/>
            </a:pPr>
            <a:r>
              <a:rPr sz="1600">
                <a:solidFill>
                  <a:srgbClr val="F2F2EC"/>
                </a:solidFill>
                <a:latin typeface="Segoe UI"/>
              </a:rPr>
              <a:t>Ex.: streaming vs. locadora, apps de transporte</a:t>
            </a:r>
          </a:p>
          <a:p>
            <a:pPr marL="292608" indent="-292608">
              <a:buClr>
                <a:srgbClr val="9CD848"/>
              </a:buClr>
              <a:buFont typeface="Arial"/>
              <a:buChar char="●"/>
            </a:pPr>
            <a:r>
              <a:rPr sz="1600">
                <a:solidFill>
                  <a:srgbClr val="F2F2EC"/>
                </a:solidFill>
                <a:latin typeface="Segoe UI"/>
              </a:rPr>
              <a:t>Muda hábitos das pessoas</a:t>
            </a:r>
          </a:p>
        </p:txBody>
      </p:sp>
      <p:sp>
        <p:nvSpPr>
          <p:cNvPr id="12" name="Oval 11"/>
          <p:cNvSpPr/>
          <p:nvPr/>
        </p:nvSpPr>
        <p:spPr>
          <a:xfrm>
            <a:off x="5829300" y="3429000"/>
            <a:ext cx="548640" cy="548640"/>
          </a:xfrm>
          <a:prstGeom prst="ellipse">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400" b="1" i="0">
                <a:solidFill>
                  <a:srgbClr val="B4B8B0"/>
                </a:solidFill>
                <a:latin typeface="Segoe UI Semibold"/>
              </a:rPr>
              <a:t>vs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42" presetClass="entr" presetSubtype="0" decel="100000" fill="hold" grpId="0" nodeType="withEffect">
                                  <p:stCondLst>
                                    <p:cond delay="2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50" fill="hold"/>
                                        <p:tgtEl>
                                          <p:spTgt spid="6"/>
                                        </p:tgtEl>
                                      </p:cBhvr>
                                    </p:animEffect>
                                    <p:anim calcmode="lin" valueType="num">
                                      <p:cBhvr additive="base">
                                        <p:cTn id="11" dur="650" fill="hold"/>
                                        <p:tgtEl>
                                          <p:spTgt spid="6"/>
                                        </p:tgtEl>
                                        <p:attrNameLst>
                                          <p:attrName>ppt_x</p:attrName>
                                        </p:attrNameLst>
                                      </p:cBhvr>
                                      <p:tavLst>
                                        <p:tav tm="0">
                                          <p:val>
                                            <p:strVal val="#ppt_x"/>
                                          </p:val>
                                        </p:tav>
                                        <p:tav tm="100000">
                                          <p:val>
                                            <p:strVal val="#ppt_x"/>
                                          </p:val>
                                        </p:tav>
                                      </p:tavLst>
                                    </p:anim>
                                    <p:anim calcmode="lin" valueType="num">
                                      <p:cBhvr additive="base">
                                        <p:cTn id="12" dur="650" fill="hold"/>
                                        <p:tgtEl>
                                          <p:spTgt spid="6"/>
                                        </p:tgtEl>
                                        <p:attrNameLst>
                                          <p:attrName>ppt_y</p:attrName>
                                        </p:attrNameLst>
                                      </p:cBhvr>
                                      <p:tavLst>
                                        <p:tav tm="0">
                                          <p:val>
                                            <p:strVal val="#ppt_y+.06"/>
                                          </p:val>
                                        </p:tav>
                                        <p:tav tm="100000">
                                          <p:val>
                                            <p:strVal val="#ppt_y"/>
                                          </p:val>
                                        </p:tav>
                                      </p:tavLst>
                                    </p:anim>
                                  </p:childTnLst>
                                </p:cTn>
                              </p:par>
                              <p:par>
                                <p:cTn id="13" presetID="42" presetClass="entr" presetSubtype="0" decel="100000" fill="hold" grpId="0" nodeType="withEffect">
                                  <p:stCondLst>
                                    <p:cond delay="20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fill="hold"/>
                                        <p:tgtEl>
                                          <p:spTgt spid="7"/>
                                        </p:tgtEl>
                                      </p:cBhvr>
                                    </p:animEffect>
                                    <p:anim calcmode="lin" valueType="num">
                                      <p:cBhvr additive="base">
                                        <p:cTn id="16" dur="650" fill="hold"/>
                                        <p:tgtEl>
                                          <p:spTgt spid="7"/>
                                        </p:tgtEl>
                                        <p:attrNameLst>
                                          <p:attrName>ppt_x</p:attrName>
                                        </p:attrNameLst>
                                      </p:cBhvr>
                                      <p:tavLst>
                                        <p:tav tm="0">
                                          <p:val>
                                            <p:strVal val="#ppt_x"/>
                                          </p:val>
                                        </p:tav>
                                        <p:tav tm="100000">
                                          <p:val>
                                            <p:strVal val="#ppt_x"/>
                                          </p:val>
                                        </p:tav>
                                      </p:tavLst>
                                    </p:anim>
                                    <p:anim calcmode="lin" valueType="num">
                                      <p:cBhvr additive="base">
                                        <p:cTn id="17" dur="650" fill="hold"/>
                                        <p:tgtEl>
                                          <p:spTgt spid="7"/>
                                        </p:tgtEl>
                                        <p:attrNameLst>
                                          <p:attrName>ppt_y</p:attrName>
                                        </p:attrNameLst>
                                      </p:cBhvr>
                                      <p:tavLst>
                                        <p:tav tm="0">
                                          <p:val>
                                            <p:strVal val="#ppt_y+.06"/>
                                          </p:val>
                                        </p:tav>
                                        <p:tav tm="100000">
                                          <p:val>
                                            <p:strVal val="#ppt_y"/>
                                          </p:val>
                                        </p:tav>
                                      </p:tavLst>
                                    </p:anim>
                                  </p:childTnLst>
                                </p:cTn>
                              </p:par>
                              <p:par>
                                <p:cTn id="18" presetID="10" presetClass="entr" presetSubtype="0" fill="hold" grpId="0" nodeType="withEffect">
                                  <p:stCondLst>
                                    <p:cond delay="45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fill="hold"/>
                                        <p:tgtEl>
                                          <p:spTgt spid="8"/>
                                        </p:tgtEl>
                                      </p:cBhvr>
                                    </p:animEffect>
                                  </p:childTnLst>
                                </p:cTn>
                              </p:par>
                              <p:par>
                                <p:cTn id="21" presetID="42" presetClass="entr" presetSubtype="0" decel="100000" fill="hold" grpId="0" nodeType="withEffect">
                                  <p:stCondLst>
                                    <p:cond delay="105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650" fill="hold"/>
                                        <p:tgtEl>
                                          <p:spTgt spid="9"/>
                                        </p:tgtEl>
                                      </p:cBhvr>
                                    </p:animEffect>
                                    <p:anim calcmode="lin" valueType="num">
                                      <p:cBhvr additive="base">
                                        <p:cTn id="24" dur="650" fill="hold"/>
                                        <p:tgtEl>
                                          <p:spTgt spid="9"/>
                                        </p:tgtEl>
                                        <p:attrNameLst>
                                          <p:attrName>ppt_x</p:attrName>
                                        </p:attrNameLst>
                                      </p:cBhvr>
                                      <p:tavLst>
                                        <p:tav tm="0">
                                          <p:val>
                                            <p:strVal val="#ppt_x"/>
                                          </p:val>
                                        </p:tav>
                                        <p:tav tm="100000">
                                          <p:val>
                                            <p:strVal val="#ppt_x"/>
                                          </p:val>
                                        </p:tav>
                                      </p:tavLst>
                                    </p:anim>
                                    <p:anim calcmode="lin" valueType="num">
                                      <p:cBhvr additive="base">
                                        <p:cTn id="25" dur="650" fill="hold"/>
                                        <p:tgtEl>
                                          <p:spTgt spid="9"/>
                                        </p:tgtEl>
                                        <p:attrNameLst>
                                          <p:attrName>ppt_y</p:attrName>
                                        </p:attrNameLst>
                                      </p:cBhvr>
                                      <p:tavLst>
                                        <p:tav tm="0">
                                          <p:val>
                                            <p:strVal val="#ppt_y+.06"/>
                                          </p:val>
                                        </p:tav>
                                        <p:tav tm="100000">
                                          <p:val>
                                            <p:strVal val="#ppt_y"/>
                                          </p:val>
                                        </p:tav>
                                      </p:tavLst>
                                    </p:anim>
                                  </p:childTnLst>
                                </p:cTn>
                              </p:par>
                              <p:par>
                                <p:cTn id="26" presetID="42" presetClass="entr" presetSubtype="0" decel="100000" fill="hold" grpId="0" nodeType="withEffect">
                                  <p:stCondLst>
                                    <p:cond delay="105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650" fill="hold"/>
                                        <p:tgtEl>
                                          <p:spTgt spid="10"/>
                                        </p:tgtEl>
                                      </p:cBhvr>
                                    </p:animEffect>
                                    <p:anim calcmode="lin" valueType="num">
                                      <p:cBhvr additive="base">
                                        <p:cTn id="29" dur="650" fill="hold"/>
                                        <p:tgtEl>
                                          <p:spTgt spid="10"/>
                                        </p:tgtEl>
                                        <p:attrNameLst>
                                          <p:attrName>ppt_x</p:attrName>
                                        </p:attrNameLst>
                                      </p:cBhvr>
                                      <p:tavLst>
                                        <p:tav tm="0">
                                          <p:val>
                                            <p:strVal val="#ppt_x"/>
                                          </p:val>
                                        </p:tav>
                                        <p:tav tm="100000">
                                          <p:val>
                                            <p:strVal val="#ppt_x"/>
                                          </p:val>
                                        </p:tav>
                                      </p:tavLst>
                                    </p:anim>
                                    <p:anim calcmode="lin" valueType="num">
                                      <p:cBhvr additive="base">
                                        <p:cTn id="30" dur="650" fill="hold"/>
                                        <p:tgtEl>
                                          <p:spTgt spid="10"/>
                                        </p:tgtEl>
                                        <p:attrNameLst>
                                          <p:attrName>ppt_y</p:attrName>
                                        </p:attrNameLst>
                                      </p:cBhvr>
                                      <p:tavLst>
                                        <p:tav tm="0">
                                          <p:val>
                                            <p:strVal val="#ppt_y+.06"/>
                                          </p:val>
                                        </p:tav>
                                        <p:tav tm="100000">
                                          <p:val>
                                            <p:strVal val="#ppt_y"/>
                                          </p:val>
                                        </p:tav>
                                      </p:tavLst>
                                    </p:anim>
                                  </p:childTnLst>
                                </p:cTn>
                              </p:par>
                              <p:par>
                                <p:cTn id="31" presetID="10" presetClass="entr" presetSubtype="0" fill="hold" grpId="0" nodeType="withEffect">
                                  <p:stCondLst>
                                    <p:cond delay="130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fill="hold"/>
                                        <p:tgtEl>
                                          <p:spTgt spid="11"/>
                                        </p:tgtEl>
                                      </p:cBhvr>
                                    </p:animEffect>
                                  </p:childTnLst>
                                </p:cTn>
                              </p:par>
                              <p:par>
                                <p:cTn id="34" presetID="53" presetClass="entr" presetSubtype="16" decel="100000" fill="hold" grpId="0" nodeType="withEffect">
                                  <p:stCondLst>
                                    <p:cond delay="1700"/>
                                  </p:stCondLst>
                                  <p:childTnLst>
                                    <p:set>
                                      <p:cBhvr>
                                        <p:cTn id="35" dur="1" fill="hold">
                                          <p:stCondLst>
                                            <p:cond delay="0"/>
                                          </p:stCondLst>
                                        </p:cTn>
                                        <p:tgtEl>
                                          <p:spTgt spid="12"/>
                                        </p:tgtEl>
                                        <p:attrNameLst>
                                          <p:attrName>style.visibility</p:attrName>
                                        </p:attrNameLst>
                                      </p:cBhvr>
                                      <p:to>
                                        <p:strVal val="visible"/>
                                      </p:to>
                                    </p:set>
                                    <p:anim calcmode="lin" valueType="num">
                                      <p:cBhvr additive="base">
                                        <p:cTn id="36" dur="450" fill="hold"/>
                                        <p:tgtEl>
                                          <p:spTgt spid="12"/>
                                        </p:tgtEl>
                                        <p:attrNameLst>
                                          <p:attrName>ppt_w</p:attrName>
                                        </p:attrNameLst>
                                      </p:cBhvr>
                                      <p:tavLst>
                                        <p:tav tm="0">
                                          <p:val>
                                            <p:strVal val="0"/>
                                          </p:val>
                                        </p:tav>
                                        <p:tav tm="70000">
                                          <p:val>
                                            <p:strVal val="#ppt_w*1.08"/>
                                          </p:val>
                                        </p:tav>
                                        <p:tav tm="100000">
                                          <p:val>
                                            <p:strVal val="#ppt_w"/>
                                          </p:val>
                                        </p:tav>
                                      </p:tavLst>
                                    </p:anim>
                                    <p:anim calcmode="lin" valueType="num">
                                      <p:cBhvr additive="base">
                                        <p:cTn id="37" dur="450" fill="hold"/>
                                        <p:tgtEl>
                                          <p:spTgt spid="12"/>
                                        </p:tgtEl>
                                        <p:attrNameLst>
                                          <p:attrName>ppt_h</p:attrName>
                                        </p:attrNameLst>
                                      </p:cBhvr>
                                      <p:tavLst>
                                        <p:tav tm="0">
                                          <p:val>
                                            <p:strVal val="0"/>
                                          </p:val>
                                        </p:tav>
                                        <p:tav tm="70000">
                                          <p:val>
                                            <p:strVal val="#ppt_h*1.08"/>
                                          </p:val>
                                        </p:tav>
                                        <p:tav tm="100000">
                                          <p:val>
                                            <p:strVal val="#ppt_h"/>
                                          </p:val>
                                        </p:tav>
                                      </p:tavLst>
                                    </p:anim>
                                    <p:animEffect transition="in" filter="fade">
                                      <p:cBhvr>
                                        <p:cTn id="38" dur="270" fill="hold"/>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9CD848"/>
                </a:solidFill>
                <a:latin typeface="Segoe UI Semibold"/>
              </a:rPr>
              <a:t>MÓDULO 1  ·  DESIGN COMO FERRAMENTA DE INOVAÇÃO</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Os 3 pilares de uma inovação de sucesso</a:t>
            </a:r>
          </a:p>
        </p:txBody>
      </p:sp>
      <p:sp>
        <p:nvSpPr>
          <p:cNvPr id="6" name="Oval 5"/>
          <p:cNvSpPr/>
          <p:nvPr/>
        </p:nvSpPr>
        <p:spPr>
          <a:xfrm>
            <a:off x="1508760" y="1828800"/>
            <a:ext cx="2468880" cy="2468880"/>
          </a:xfrm>
          <a:prstGeom prst="ellipse">
            <a:avLst/>
          </a:prstGeom>
          <a:solidFill>
            <a:srgbClr val="9CD8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143000" y="2331720"/>
            <a:ext cx="2011680" cy="457200"/>
          </a:xfrm>
          <a:prstGeom prst="rect">
            <a:avLst/>
          </a:prstGeom>
          <a:noFill/>
        </p:spPr>
        <p:txBody>
          <a:bodyPr wrap="square" lIns="36576" tIns="18288" rIns="36576" bIns="18288" anchor="t">
            <a:spAutoFit/>
          </a:bodyPr>
          <a:lstStyle/>
          <a:p>
            <a:pPr algn="ctr"/>
            <a:r>
              <a:rPr sz="1700" b="1" i="0">
                <a:solidFill>
                  <a:srgbClr val="F2F2EC"/>
                </a:solidFill>
                <a:latin typeface="Segoe UI Semibold"/>
              </a:rPr>
              <a:t>Desejável</a:t>
            </a:r>
          </a:p>
        </p:txBody>
      </p:sp>
      <p:sp>
        <p:nvSpPr>
          <p:cNvPr id="8" name="Oval 7"/>
          <p:cNvSpPr/>
          <p:nvPr/>
        </p:nvSpPr>
        <p:spPr>
          <a:xfrm>
            <a:off x="6697979" y="1897380"/>
            <a:ext cx="502920" cy="502920"/>
          </a:xfrm>
          <a:prstGeom prst="ellipse">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500" b="1" i="0">
                <a:solidFill>
                  <a:srgbClr val="1A1A1A"/>
                </a:solidFill>
                <a:latin typeface="Segoe UI Semibold"/>
              </a:rPr>
              <a:t>1</a:t>
            </a:r>
          </a:p>
        </p:txBody>
      </p:sp>
      <p:sp>
        <p:nvSpPr>
          <p:cNvPr id="9" name="TextBox 8"/>
          <p:cNvSpPr txBox="1"/>
          <p:nvPr/>
        </p:nvSpPr>
        <p:spPr>
          <a:xfrm>
            <a:off x="7406640" y="1783080"/>
            <a:ext cx="4206240" cy="411480"/>
          </a:xfrm>
          <a:prstGeom prst="rect">
            <a:avLst/>
          </a:prstGeom>
          <a:noFill/>
        </p:spPr>
        <p:txBody>
          <a:bodyPr wrap="square" lIns="36576" tIns="18288" rIns="36576" bIns="18288" anchor="t">
            <a:spAutoFit/>
          </a:bodyPr>
          <a:lstStyle/>
          <a:p>
            <a:pPr algn="l"/>
            <a:r>
              <a:rPr sz="1900" b="1" i="0">
                <a:solidFill>
                  <a:srgbClr val="F2F2EC"/>
                </a:solidFill>
                <a:latin typeface="Segoe UI Semibold"/>
              </a:rPr>
              <a:t>Desejável</a:t>
            </a:r>
            <a:r>
              <a:rPr sz="1300" b="0" i="0">
                <a:solidFill>
                  <a:srgbClr val="7D827B"/>
                </a:solidFill>
                <a:latin typeface="Segoe UI"/>
              </a:rPr>
              <a:t>   Pessoas</a:t>
            </a:r>
          </a:p>
        </p:txBody>
      </p:sp>
      <p:sp>
        <p:nvSpPr>
          <p:cNvPr id="10" name="TextBox 9"/>
          <p:cNvSpPr txBox="1"/>
          <p:nvPr/>
        </p:nvSpPr>
        <p:spPr>
          <a:xfrm>
            <a:off x="7406640" y="2194560"/>
            <a:ext cx="4206240" cy="640080"/>
          </a:xfrm>
          <a:prstGeom prst="rect">
            <a:avLst/>
          </a:prstGeom>
          <a:noFill/>
        </p:spPr>
        <p:txBody>
          <a:bodyPr wrap="square" lIns="36576" tIns="18288" rIns="36576" bIns="18288" anchor="t">
            <a:spAutoFit/>
          </a:bodyPr>
          <a:lstStyle/>
          <a:p>
            <a:pPr algn="l"/>
            <a:r>
              <a:rPr sz="1500" b="0" i="0">
                <a:solidFill>
                  <a:srgbClr val="B4B8B0"/>
                </a:solidFill>
                <a:latin typeface="Segoe UI"/>
              </a:rPr>
              <a:t>As pessoas querem?</a:t>
            </a:r>
          </a:p>
        </p:txBody>
      </p:sp>
      <p:sp>
        <p:nvSpPr>
          <p:cNvPr id="11" name="Oval 10"/>
          <p:cNvSpPr/>
          <p:nvPr/>
        </p:nvSpPr>
        <p:spPr>
          <a:xfrm>
            <a:off x="2926079" y="1828800"/>
            <a:ext cx="2468880" cy="2468880"/>
          </a:xfrm>
          <a:prstGeom prst="ellipse">
            <a:avLst/>
          </a:prstGeom>
          <a:solidFill>
            <a:srgbClr val="2FA38A">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3749039" y="2331720"/>
            <a:ext cx="2011680" cy="457200"/>
          </a:xfrm>
          <a:prstGeom prst="rect">
            <a:avLst/>
          </a:prstGeom>
          <a:noFill/>
        </p:spPr>
        <p:txBody>
          <a:bodyPr wrap="square" lIns="36576" tIns="18288" rIns="36576" bIns="18288" anchor="t">
            <a:spAutoFit/>
          </a:bodyPr>
          <a:lstStyle/>
          <a:p>
            <a:pPr algn="ctr"/>
            <a:r>
              <a:rPr sz="1700" b="1" i="0">
                <a:solidFill>
                  <a:srgbClr val="F2F2EC"/>
                </a:solidFill>
                <a:latin typeface="Segoe UI Semibold"/>
              </a:rPr>
              <a:t>Viável</a:t>
            </a:r>
          </a:p>
        </p:txBody>
      </p:sp>
      <p:sp>
        <p:nvSpPr>
          <p:cNvPr id="13" name="Oval 12"/>
          <p:cNvSpPr/>
          <p:nvPr/>
        </p:nvSpPr>
        <p:spPr>
          <a:xfrm>
            <a:off x="6697979" y="3131820"/>
            <a:ext cx="502920" cy="502920"/>
          </a:xfrm>
          <a:prstGeom prst="ellipse">
            <a:avLst/>
          </a:prstGeom>
          <a:solidFill>
            <a:srgbClr val="2FA38A"/>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500" b="1" i="0">
                <a:solidFill>
                  <a:srgbClr val="1A1A1A"/>
                </a:solidFill>
                <a:latin typeface="Segoe UI Semibold"/>
              </a:rPr>
              <a:t>2</a:t>
            </a:r>
          </a:p>
        </p:txBody>
      </p:sp>
      <p:sp>
        <p:nvSpPr>
          <p:cNvPr id="14" name="TextBox 13"/>
          <p:cNvSpPr txBox="1"/>
          <p:nvPr/>
        </p:nvSpPr>
        <p:spPr>
          <a:xfrm>
            <a:off x="7406640" y="3017520"/>
            <a:ext cx="4206240" cy="411480"/>
          </a:xfrm>
          <a:prstGeom prst="rect">
            <a:avLst/>
          </a:prstGeom>
          <a:noFill/>
        </p:spPr>
        <p:txBody>
          <a:bodyPr wrap="square" lIns="36576" tIns="18288" rIns="36576" bIns="18288" anchor="t">
            <a:spAutoFit/>
          </a:bodyPr>
          <a:lstStyle/>
          <a:p>
            <a:pPr algn="l"/>
            <a:r>
              <a:rPr sz="1900" b="1" i="0">
                <a:solidFill>
                  <a:srgbClr val="F2F2EC"/>
                </a:solidFill>
                <a:latin typeface="Segoe UI Semibold"/>
              </a:rPr>
              <a:t>Viável</a:t>
            </a:r>
            <a:r>
              <a:rPr sz="1300" b="0" i="0">
                <a:solidFill>
                  <a:srgbClr val="7D827B"/>
                </a:solidFill>
                <a:latin typeface="Segoe UI"/>
              </a:rPr>
              <a:t>   Negócio</a:t>
            </a:r>
          </a:p>
        </p:txBody>
      </p:sp>
      <p:sp>
        <p:nvSpPr>
          <p:cNvPr id="15" name="TextBox 14"/>
          <p:cNvSpPr txBox="1"/>
          <p:nvPr/>
        </p:nvSpPr>
        <p:spPr>
          <a:xfrm>
            <a:off x="7406640" y="3429000"/>
            <a:ext cx="4206240" cy="640080"/>
          </a:xfrm>
          <a:prstGeom prst="rect">
            <a:avLst/>
          </a:prstGeom>
          <a:noFill/>
        </p:spPr>
        <p:txBody>
          <a:bodyPr wrap="square" lIns="36576" tIns="18288" rIns="36576" bIns="18288" anchor="t">
            <a:spAutoFit/>
          </a:bodyPr>
          <a:lstStyle/>
          <a:p>
            <a:pPr algn="l"/>
            <a:r>
              <a:rPr sz="1500" b="0" i="0">
                <a:solidFill>
                  <a:srgbClr val="B4B8B0"/>
                </a:solidFill>
                <a:latin typeface="Segoe UI"/>
              </a:rPr>
              <a:t>Se paga? Gera valor ao negócio?</a:t>
            </a:r>
          </a:p>
        </p:txBody>
      </p:sp>
      <p:sp>
        <p:nvSpPr>
          <p:cNvPr id="16" name="Oval 15"/>
          <p:cNvSpPr/>
          <p:nvPr/>
        </p:nvSpPr>
        <p:spPr>
          <a:xfrm>
            <a:off x="2217420" y="3063240"/>
            <a:ext cx="2468880" cy="2468880"/>
          </a:xfrm>
          <a:prstGeom prst="ellipse">
            <a:avLst/>
          </a:prstGeom>
          <a:solidFill>
            <a:srgbClr val="2A9FC0">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2446020" y="4617720"/>
            <a:ext cx="2011680" cy="457200"/>
          </a:xfrm>
          <a:prstGeom prst="rect">
            <a:avLst/>
          </a:prstGeom>
          <a:noFill/>
        </p:spPr>
        <p:txBody>
          <a:bodyPr wrap="square" lIns="36576" tIns="18288" rIns="36576" bIns="18288" anchor="t">
            <a:spAutoFit/>
          </a:bodyPr>
          <a:lstStyle/>
          <a:p>
            <a:pPr algn="ctr"/>
            <a:r>
              <a:rPr sz="1700" b="1" i="0">
                <a:solidFill>
                  <a:srgbClr val="F2F2EC"/>
                </a:solidFill>
                <a:latin typeface="Segoe UI Semibold"/>
              </a:rPr>
              <a:t>Praticável</a:t>
            </a:r>
          </a:p>
        </p:txBody>
      </p:sp>
      <p:sp>
        <p:nvSpPr>
          <p:cNvPr id="18" name="Oval 17"/>
          <p:cNvSpPr/>
          <p:nvPr/>
        </p:nvSpPr>
        <p:spPr>
          <a:xfrm>
            <a:off x="6697979" y="4366259"/>
            <a:ext cx="502920" cy="502920"/>
          </a:xfrm>
          <a:prstGeom prst="ellipse">
            <a:avLst/>
          </a:prstGeom>
          <a:solidFill>
            <a:srgbClr val="2A9FC0"/>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500" b="1" i="0">
                <a:solidFill>
                  <a:srgbClr val="1A1A1A"/>
                </a:solidFill>
                <a:latin typeface="Segoe UI Semibold"/>
              </a:rPr>
              <a:t>3</a:t>
            </a:r>
          </a:p>
        </p:txBody>
      </p:sp>
      <p:sp>
        <p:nvSpPr>
          <p:cNvPr id="19" name="TextBox 18"/>
          <p:cNvSpPr txBox="1"/>
          <p:nvPr/>
        </p:nvSpPr>
        <p:spPr>
          <a:xfrm>
            <a:off x="7406640" y="4251959"/>
            <a:ext cx="4206240" cy="411480"/>
          </a:xfrm>
          <a:prstGeom prst="rect">
            <a:avLst/>
          </a:prstGeom>
          <a:noFill/>
        </p:spPr>
        <p:txBody>
          <a:bodyPr wrap="square" lIns="36576" tIns="18288" rIns="36576" bIns="18288" anchor="t">
            <a:spAutoFit/>
          </a:bodyPr>
          <a:lstStyle/>
          <a:p>
            <a:pPr algn="l"/>
            <a:r>
              <a:rPr sz="1900" b="1" i="0">
                <a:solidFill>
                  <a:srgbClr val="F2F2EC"/>
                </a:solidFill>
                <a:latin typeface="Segoe UI Semibold"/>
              </a:rPr>
              <a:t>Praticável</a:t>
            </a:r>
            <a:r>
              <a:rPr sz="1300" b="0" i="0">
                <a:solidFill>
                  <a:srgbClr val="7D827B"/>
                </a:solidFill>
                <a:latin typeface="Segoe UI"/>
              </a:rPr>
              <a:t>   Tecnologia</a:t>
            </a:r>
          </a:p>
        </p:txBody>
      </p:sp>
      <p:sp>
        <p:nvSpPr>
          <p:cNvPr id="20" name="TextBox 19"/>
          <p:cNvSpPr txBox="1"/>
          <p:nvPr/>
        </p:nvSpPr>
        <p:spPr>
          <a:xfrm>
            <a:off x="7406640" y="4663440"/>
            <a:ext cx="4206240" cy="640080"/>
          </a:xfrm>
          <a:prstGeom prst="rect">
            <a:avLst/>
          </a:prstGeom>
          <a:noFill/>
        </p:spPr>
        <p:txBody>
          <a:bodyPr wrap="square" lIns="36576" tIns="18288" rIns="36576" bIns="18288" anchor="t">
            <a:spAutoFit/>
          </a:bodyPr>
          <a:lstStyle/>
          <a:p>
            <a:pPr algn="l"/>
            <a:r>
              <a:rPr sz="1500" b="0" i="0">
                <a:solidFill>
                  <a:srgbClr val="B4B8B0"/>
                </a:solidFill>
                <a:latin typeface="Segoe UI"/>
              </a:rPr>
              <a:t>Conseguimos fazer com a tecnologia e recursos que temos?</a:t>
            </a:r>
          </a:p>
        </p:txBody>
      </p:sp>
      <p:sp>
        <p:nvSpPr>
          <p:cNvPr id="21" name="TextBox 20"/>
          <p:cNvSpPr txBox="1"/>
          <p:nvPr/>
        </p:nvSpPr>
        <p:spPr>
          <a:xfrm>
            <a:off x="2926080" y="3429000"/>
            <a:ext cx="1051560" cy="457200"/>
          </a:xfrm>
          <a:prstGeom prst="rect">
            <a:avLst/>
          </a:prstGeom>
          <a:noFill/>
        </p:spPr>
        <p:txBody>
          <a:bodyPr wrap="square" lIns="36576" tIns="18288" rIns="36576" bIns="18288" anchor="t">
            <a:spAutoFit/>
          </a:bodyPr>
          <a:lstStyle/>
          <a:p>
            <a:pPr algn="ctr"/>
            <a:r>
              <a:rPr sz="2400" b="0" i="0">
                <a:solidFill>
                  <a:srgbClr val="F2F2EC"/>
                </a:solidFill>
                <a:latin typeface="Segoe UI"/>
              </a:rPr>
              <a:t>★</a:t>
            </a:r>
          </a:p>
        </p:txBody>
      </p:sp>
      <p:sp>
        <p:nvSpPr>
          <p:cNvPr id="22" name="TextBox 21"/>
          <p:cNvSpPr txBox="1"/>
          <p:nvPr/>
        </p:nvSpPr>
        <p:spPr>
          <a:xfrm>
            <a:off x="6720840" y="5486400"/>
            <a:ext cx="4937760" cy="457200"/>
          </a:xfrm>
          <a:prstGeom prst="rect">
            <a:avLst/>
          </a:prstGeom>
          <a:noFill/>
        </p:spPr>
        <p:txBody>
          <a:bodyPr wrap="square" lIns="36576" tIns="18288" rIns="36576" bIns="18288" anchor="t">
            <a:spAutoFit/>
          </a:bodyPr>
          <a:lstStyle/>
          <a:p>
            <a:pPr algn="l"/>
            <a:r>
              <a:rPr sz="1500" b="1" i="0">
                <a:solidFill>
                  <a:srgbClr val="9CD848"/>
                </a:solidFill>
                <a:latin typeface="Segoe UI Semibold"/>
              </a:rPr>
              <a:t>A inovação acontece na interseção dos três.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53" presetClass="entr" presetSubtype="16" decel="100000" fill="hold" grpId="0" nodeType="withEffect">
                                  <p:stCondLst>
                                    <p:cond delay="200"/>
                                  </p:stCondLst>
                                  <p:childTnLst>
                                    <p:set>
                                      <p:cBhvr>
                                        <p:cTn id="9" dur="1" fill="hold">
                                          <p:stCondLst>
                                            <p:cond delay="0"/>
                                          </p:stCondLst>
                                        </p:cTn>
                                        <p:tgtEl>
                                          <p:spTgt spid="6"/>
                                        </p:tgtEl>
                                        <p:attrNameLst>
                                          <p:attrName>style.visibility</p:attrName>
                                        </p:attrNameLst>
                                      </p:cBhvr>
                                      <p:to>
                                        <p:strVal val="visible"/>
                                      </p:to>
                                    </p:set>
                                    <p:anim calcmode="lin" valueType="num">
                                      <p:cBhvr additive="base">
                                        <p:cTn id="10" dur="600" fill="hold"/>
                                        <p:tgtEl>
                                          <p:spTgt spid="6"/>
                                        </p:tgtEl>
                                        <p:attrNameLst>
                                          <p:attrName>ppt_w</p:attrName>
                                        </p:attrNameLst>
                                      </p:cBhvr>
                                      <p:tavLst>
                                        <p:tav tm="0">
                                          <p:val>
                                            <p:strVal val="0"/>
                                          </p:val>
                                        </p:tav>
                                        <p:tav tm="70000">
                                          <p:val>
                                            <p:strVal val="#ppt_w*1.08"/>
                                          </p:val>
                                        </p:tav>
                                        <p:tav tm="100000">
                                          <p:val>
                                            <p:strVal val="#ppt_w"/>
                                          </p:val>
                                        </p:tav>
                                      </p:tavLst>
                                    </p:anim>
                                    <p:anim calcmode="lin" valueType="num">
                                      <p:cBhvr additive="base">
                                        <p:cTn id="11" dur="600" fill="hold"/>
                                        <p:tgtEl>
                                          <p:spTgt spid="6"/>
                                        </p:tgtEl>
                                        <p:attrNameLst>
                                          <p:attrName>ppt_h</p:attrName>
                                        </p:attrNameLst>
                                      </p:cBhvr>
                                      <p:tavLst>
                                        <p:tav tm="0">
                                          <p:val>
                                            <p:strVal val="0"/>
                                          </p:val>
                                        </p:tav>
                                        <p:tav tm="70000">
                                          <p:val>
                                            <p:strVal val="#ppt_h*1.08"/>
                                          </p:val>
                                        </p:tav>
                                        <p:tav tm="100000">
                                          <p:val>
                                            <p:strVal val="#ppt_h"/>
                                          </p:val>
                                        </p:tav>
                                      </p:tavLst>
                                    </p:anim>
                                    <p:animEffect transition="in" filter="fade">
                                      <p:cBhvr>
                                        <p:cTn id="12" dur="360" fill="hold"/>
                                        <p:tgtEl>
                                          <p:spTgt spid="6"/>
                                        </p:tgtEl>
                                      </p:cBhvr>
                                    </p:animEffect>
                                  </p:childTnLst>
                                </p:cTn>
                              </p:par>
                              <p:par>
                                <p:cTn id="13" presetID="10" presetClass="entr" presetSubtype="0" fill="hold" grpId="0" nodeType="withEffect">
                                  <p:stCondLst>
                                    <p:cond delay="40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fill="hold"/>
                                        <p:tgtEl>
                                          <p:spTgt spid="7"/>
                                        </p:tgtEl>
                                      </p:cBhvr>
                                    </p:animEffect>
                                  </p:childTnLst>
                                </p:cTn>
                              </p:par>
                              <p:par>
                                <p:cTn id="16" presetID="10" presetClass="entr" presetSubtype="0" fill="hold" grpId="0" nodeType="withEffect">
                                  <p:stCondLst>
                                    <p:cond delay="40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fill="hold"/>
                                        <p:tgtEl>
                                          <p:spTgt spid="8"/>
                                        </p:tgtEl>
                                      </p:cBhvr>
                                    </p:animEffect>
                                  </p:childTnLst>
                                </p:cTn>
                              </p:par>
                              <p:par>
                                <p:cTn id="19" presetID="10" presetClass="entr" presetSubtype="0" fill="hold" grpId="0" nodeType="withEffect">
                                  <p:stCondLst>
                                    <p:cond delay="40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fill="hold"/>
                                        <p:tgtEl>
                                          <p:spTgt spid="9"/>
                                        </p:tgtEl>
                                      </p:cBhvr>
                                    </p:animEffect>
                                  </p:childTnLst>
                                </p:cTn>
                              </p:par>
                              <p:par>
                                <p:cTn id="22" presetID="10" presetClass="entr" presetSubtype="0" fill="hold" grpId="0" nodeType="withEffect">
                                  <p:stCondLst>
                                    <p:cond delay="40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fill="hold"/>
                                        <p:tgtEl>
                                          <p:spTgt spid="10"/>
                                        </p:tgtEl>
                                      </p:cBhvr>
                                    </p:animEffect>
                                  </p:childTnLst>
                                </p:cTn>
                              </p:par>
                              <p:par>
                                <p:cTn id="25" presetID="53" presetClass="entr" presetSubtype="16" decel="100000" fill="hold" grpId="0" nodeType="withEffect">
                                  <p:stCondLst>
                                    <p:cond delay="70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600" fill="hold"/>
                                        <p:tgtEl>
                                          <p:spTgt spid="11"/>
                                        </p:tgtEl>
                                        <p:attrNameLst>
                                          <p:attrName>ppt_w</p:attrName>
                                        </p:attrNameLst>
                                      </p:cBhvr>
                                      <p:tavLst>
                                        <p:tav tm="0">
                                          <p:val>
                                            <p:strVal val="0"/>
                                          </p:val>
                                        </p:tav>
                                        <p:tav tm="70000">
                                          <p:val>
                                            <p:strVal val="#ppt_w*1.08"/>
                                          </p:val>
                                        </p:tav>
                                        <p:tav tm="100000">
                                          <p:val>
                                            <p:strVal val="#ppt_w"/>
                                          </p:val>
                                        </p:tav>
                                      </p:tavLst>
                                    </p:anim>
                                    <p:anim calcmode="lin" valueType="num">
                                      <p:cBhvr additive="base">
                                        <p:cTn id="28" dur="600" fill="hold"/>
                                        <p:tgtEl>
                                          <p:spTgt spid="11"/>
                                        </p:tgtEl>
                                        <p:attrNameLst>
                                          <p:attrName>ppt_h</p:attrName>
                                        </p:attrNameLst>
                                      </p:cBhvr>
                                      <p:tavLst>
                                        <p:tav tm="0">
                                          <p:val>
                                            <p:strVal val="0"/>
                                          </p:val>
                                        </p:tav>
                                        <p:tav tm="70000">
                                          <p:val>
                                            <p:strVal val="#ppt_h*1.08"/>
                                          </p:val>
                                        </p:tav>
                                        <p:tav tm="100000">
                                          <p:val>
                                            <p:strVal val="#ppt_h"/>
                                          </p:val>
                                        </p:tav>
                                      </p:tavLst>
                                    </p:anim>
                                    <p:animEffect transition="in" filter="fade">
                                      <p:cBhvr>
                                        <p:cTn id="29" dur="360" fill="hold"/>
                                        <p:tgtEl>
                                          <p:spTgt spid="11"/>
                                        </p:tgtEl>
                                      </p:cBhvr>
                                    </p:animEffect>
                                  </p:childTnLst>
                                </p:cTn>
                              </p:par>
                              <p:par>
                                <p:cTn id="30" presetID="10" presetClass="entr" presetSubtype="0" fill="hold" grpId="0" nodeType="withEffect">
                                  <p:stCondLst>
                                    <p:cond delay="90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fill="hold"/>
                                        <p:tgtEl>
                                          <p:spTgt spid="12"/>
                                        </p:tgtEl>
                                      </p:cBhvr>
                                    </p:animEffect>
                                  </p:childTnLst>
                                </p:cTn>
                              </p:par>
                              <p:par>
                                <p:cTn id="33" presetID="10" presetClass="entr" presetSubtype="0" fill="hold" grpId="0" nodeType="withEffect">
                                  <p:stCondLst>
                                    <p:cond delay="90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fill="hold"/>
                                        <p:tgtEl>
                                          <p:spTgt spid="13"/>
                                        </p:tgtEl>
                                      </p:cBhvr>
                                    </p:animEffect>
                                  </p:childTnLst>
                                </p:cTn>
                              </p:par>
                              <p:par>
                                <p:cTn id="36" presetID="10" presetClass="entr" presetSubtype="0" fill="hold" grpId="0" nodeType="withEffect">
                                  <p:stCondLst>
                                    <p:cond delay="90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fill="hold"/>
                                        <p:tgtEl>
                                          <p:spTgt spid="14"/>
                                        </p:tgtEl>
                                      </p:cBhvr>
                                    </p:animEffect>
                                  </p:childTnLst>
                                </p:cTn>
                              </p:par>
                              <p:par>
                                <p:cTn id="39" presetID="10" presetClass="entr" presetSubtype="0" fill="hold" grpId="0" nodeType="withEffect">
                                  <p:stCondLst>
                                    <p:cond delay="90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fill="hold"/>
                                        <p:tgtEl>
                                          <p:spTgt spid="15"/>
                                        </p:tgtEl>
                                      </p:cBhvr>
                                    </p:animEffect>
                                  </p:childTnLst>
                                </p:cTn>
                              </p:par>
                              <p:par>
                                <p:cTn id="42" presetID="53" presetClass="entr" presetSubtype="16" decel="100000" fill="hold" grpId="0" nodeType="withEffect">
                                  <p:stCondLst>
                                    <p:cond delay="1200"/>
                                  </p:stCondLst>
                                  <p:childTnLst>
                                    <p:set>
                                      <p:cBhvr>
                                        <p:cTn id="43" dur="1" fill="hold">
                                          <p:stCondLst>
                                            <p:cond delay="0"/>
                                          </p:stCondLst>
                                        </p:cTn>
                                        <p:tgtEl>
                                          <p:spTgt spid="16"/>
                                        </p:tgtEl>
                                        <p:attrNameLst>
                                          <p:attrName>style.visibility</p:attrName>
                                        </p:attrNameLst>
                                      </p:cBhvr>
                                      <p:to>
                                        <p:strVal val="visible"/>
                                      </p:to>
                                    </p:set>
                                    <p:anim calcmode="lin" valueType="num">
                                      <p:cBhvr additive="base">
                                        <p:cTn id="44" dur="600" fill="hold"/>
                                        <p:tgtEl>
                                          <p:spTgt spid="16"/>
                                        </p:tgtEl>
                                        <p:attrNameLst>
                                          <p:attrName>ppt_w</p:attrName>
                                        </p:attrNameLst>
                                      </p:cBhvr>
                                      <p:tavLst>
                                        <p:tav tm="0">
                                          <p:val>
                                            <p:strVal val="0"/>
                                          </p:val>
                                        </p:tav>
                                        <p:tav tm="70000">
                                          <p:val>
                                            <p:strVal val="#ppt_w*1.08"/>
                                          </p:val>
                                        </p:tav>
                                        <p:tav tm="100000">
                                          <p:val>
                                            <p:strVal val="#ppt_w"/>
                                          </p:val>
                                        </p:tav>
                                      </p:tavLst>
                                    </p:anim>
                                    <p:anim calcmode="lin" valueType="num">
                                      <p:cBhvr additive="base">
                                        <p:cTn id="45" dur="600" fill="hold"/>
                                        <p:tgtEl>
                                          <p:spTgt spid="16"/>
                                        </p:tgtEl>
                                        <p:attrNameLst>
                                          <p:attrName>ppt_h</p:attrName>
                                        </p:attrNameLst>
                                      </p:cBhvr>
                                      <p:tavLst>
                                        <p:tav tm="0">
                                          <p:val>
                                            <p:strVal val="0"/>
                                          </p:val>
                                        </p:tav>
                                        <p:tav tm="70000">
                                          <p:val>
                                            <p:strVal val="#ppt_h*1.08"/>
                                          </p:val>
                                        </p:tav>
                                        <p:tav tm="100000">
                                          <p:val>
                                            <p:strVal val="#ppt_h"/>
                                          </p:val>
                                        </p:tav>
                                      </p:tavLst>
                                    </p:anim>
                                    <p:animEffect transition="in" filter="fade">
                                      <p:cBhvr>
                                        <p:cTn id="46" dur="360" fill="hold"/>
                                        <p:tgtEl>
                                          <p:spTgt spid="16"/>
                                        </p:tgtEl>
                                      </p:cBhvr>
                                    </p:animEffect>
                                  </p:childTnLst>
                                </p:cTn>
                              </p:par>
                              <p:par>
                                <p:cTn id="47" presetID="10" presetClass="entr" presetSubtype="0" fill="hold" grpId="0" nodeType="withEffect">
                                  <p:stCondLst>
                                    <p:cond delay="140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fill="hold"/>
                                        <p:tgtEl>
                                          <p:spTgt spid="17"/>
                                        </p:tgtEl>
                                      </p:cBhvr>
                                    </p:animEffect>
                                  </p:childTnLst>
                                </p:cTn>
                              </p:par>
                              <p:par>
                                <p:cTn id="50" presetID="10" presetClass="entr" presetSubtype="0" fill="hold" grpId="0" nodeType="withEffect">
                                  <p:stCondLst>
                                    <p:cond delay="140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fill="hold"/>
                                        <p:tgtEl>
                                          <p:spTgt spid="18"/>
                                        </p:tgtEl>
                                      </p:cBhvr>
                                    </p:animEffect>
                                  </p:childTnLst>
                                </p:cTn>
                              </p:par>
                              <p:par>
                                <p:cTn id="53" presetID="10" presetClass="entr" presetSubtype="0" fill="hold" grpId="0" nodeType="withEffect">
                                  <p:stCondLst>
                                    <p:cond delay="140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fill="hold"/>
                                        <p:tgtEl>
                                          <p:spTgt spid="19"/>
                                        </p:tgtEl>
                                      </p:cBhvr>
                                    </p:animEffect>
                                  </p:childTnLst>
                                </p:cTn>
                              </p:par>
                              <p:par>
                                <p:cTn id="56" presetID="10" presetClass="entr" presetSubtype="0" fill="hold" grpId="0" nodeType="withEffect">
                                  <p:stCondLst>
                                    <p:cond delay="140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fill="hold"/>
                                        <p:tgtEl>
                                          <p:spTgt spid="20"/>
                                        </p:tgtEl>
                                      </p:cBhvr>
                                    </p:animEffect>
                                  </p:childTnLst>
                                </p:cTn>
                              </p:par>
                              <p:par>
                                <p:cTn id="59" presetID="53" presetClass="entr" presetSubtype="16" decel="100000" fill="hold" grpId="0" nodeType="withEffect">
                                  <p:stCondLst>
                                    <p:cond delay="2200"/>
                                  </p:stCondLst>
                                  <p:childTnLst>
                                    <p:set>
                                      <p:cBhvr>
                                        <p:cTn id="60" dur="1" fill="hold">
                                          <p:stCondLst>
                                            <p:cond delay="0"/>
                                          </p:stCondLst>
                                        </p:cTn>
                                        <p:tgtEl>
                                          <p:spTgt spid="21"/>
                                        </p:tgtEl>
                                        <p:attrNameLst>
                                          <p:attrName>style.visibility</p:attrName>
                                        </p:attrNameLst>
                                      </p:cBhvr>
                                      <p:to>
                                        <p:strVal val="visible"/>
                                      </p:to>
                                    </p:set>
                                    <p:anim calcmode="lin" valueType="num">
                                      <p:cBhvr additive="base">
                                        <p:cTn id="61" dur="600" fill="hold"/>
                                        <p:tgtEl>
                                          <p:spTgt spid="21"/>
                                        </p:tgtEl>
                                        <p:attrNameLst>
                                          <p:attrName>ppt_w</p:attrName>
                                        </p:attrNameLst>
                                      </p:cBhvr>
                                      <p:tavLst>
                                        <p:tav tm="0">
                                          <p:val>
                                            <p:strVal val="0"/>
                                          </p:val>
                                        </p:tav>
                                        <p:tav tm="70000">
                                          <p:val>
                                            <p:strVal val="#ppt_w*1.08"/>
                                          </p:val>
                                        </p:tav>
                                        <p:tav tm="100000">
                                          <p:val>
                                            <p:strVal val="#ppt_w"/>
                                          </p:val>
                                        </p:tav>
                                      </p:tavLst>
                                    </p:anim>
                                    <p:anim calcmode="lin" valueType="num">
                                      <p:cBhvr additive="base">
                                        <p:cTn id="62" dur="600" fill="hold"/>
                                        <p:tgtEl>
                                          <p:spTgt spid="21"/>
                                        </p:tgtEl>
                                        <p:attrNameLst>
                                          <p:attrName>ppt_h</p:attrName>
                                        </p:attrNameLst>
                                      </p:cBhvr>
                                      <p:tavLst>
                                        <p:tav tm="0">
                                          <p:val>
                                            <p:strVal val="0"/>
                                          </p:val>
                                        </p:tav>
                                        <p:tav tm="70000">
                                          <p:val>
                                            <p:strVal val="#ppt_h*1.08"/>
                                          </p:val>
                                        </p:tav>
                                        <p:tav tm="100000">
                                          <p:val>
                                            <p:strVal val="#ppt_h"/>
                                          </p:val>
                                        </p:tav>
                                      </p:tavLst>
                                    </p:anim>
                                    <p:animEffect transition="in" filter="fade">
                                      <p:cBhvr>
                                        <p:cTn id="63" dur="360" fill="hold"/>
                                        <p:tgtEl>
                                          <p:spTgt spid="21"/>
                                        </p:tgtEl>
                                      </p:cBhvr>
                                    </p:animEffect>
                                  </p:childTnLst>
                                </p:cTn>
                              </p:par>
                              <p:par>
                                <p:cTn id="64" presetID="42" presetClass="entr" presetSubtype="0" decel="100000" fill="hold" grpId="0" nodeType="withEffect">
                                  <p:stCondLst>
                                    <p:cond delay="240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650" fill="hold"/>
                                        <p:tgtEl>
                                          <p:spTgt spid="22"/>
                                        </p:tgtEl>
                                      </p:cBhvr>
                                    </p:animEffect>
                                    <p:anim calcmode="lin" valueType="num">
                                      <p:cBhvr additive="base">
                                        <p:cTn id="67" dur="650" fill="hold"/>
                                        <p:tgtEl>
                                          <p:spTgt spid="22"/>
                                        </p:tgtEl>
                                        <p:attrNameLst>
                                          <p:attrName>ppt_x</p:attrName>
                                        </p:attrNameLst>
                                      </p:cBhvr>
                                      <p:tavLst>
                                        <p:tav tm="0">
                                          <p:val>
                                            <p:strVal val="#ppt_x"/>
                                          </p:val>
                                        </p:tav>
                                        <p:tav tm="100000">
                                          <p:val>
                                            <p:strVal val="#ppt_x"/>
                                          </p:val>
                                        </p:tav>
                                      </p:tavLst>
                                    </p:anim>
                                    <p:anim calcmode="lin" valueType="num">
                                      <p:cBhvr additive="base">
                                        <p:cTn id="68" dur="650" fill="hold"/>
                                        <p:tgtEl>
                                          <p:spTgt spid="22"/>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9CD848"/>
                </a:solidFill>
                <a:latin typeface="Segoe UI Semibold"/>
              </a:rPr>
              <a:t>MÓDULO 1  ·  DESIGN COMO FERRAMENTA DE INOVAÇÃO</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As 5 etapas do Design Thinking</a:t>
            </a:r>
          </a:p>
        </p:txBody>
      </p:sp>
      <p:sp>
        <p:nvSpPr>
          <p:cNvPr id="6" name="TextBox 5"/>
          <p:cNvSpPr txBox="1"/>
          <p:nvPr/>
        </p:nvSpPr>
        <p:spPr>
          <a:xfrm>
            <a:off x="554583" y="1481328"/>
            <a:ext cx="4279392" cy="320040"/>
          </a:xfrm>
          <a:prstGeom prst="rect">
            <a:avLst/>
          </a:prstGeom>
          <a:noFill/>
        </p:spPr>
        <p:txBody>
          <a:bodyPr wrap="square" lIns="36576" tIns="18288" rIns="36576" bIns="18288" anchor="t">
            <a:spAutoFit/>
          </a:bodyPr>
          <a:lstStyle/>
          <a:p>
            <a:pPr algn="ctr"/>
            <a:r>
              <a:rPr sz="1100" b="1" i="0" spc="200">
                <a:solidFill>
                  <a:srgbClr val="9CD848"/>
                </a:solidFill>
                <a:latin typeface="Segoe UI Semibold"/>
              </a:rPr>
              <a:t>ENTENDER O PROBLEMA</a:t>
            </a:r>
          </a:p>
        </p:txBody>
      </p:sp>
      <p:cxnSp>
        <p:nvCxnSpPr>
          <p:cNvPr id="7" name="Connector 6"/>
          <p:cNvCxnSpPr/>
          <p:nvPr/>
        </p:nvCxnSpPr>
        <p:spPr>
          <a:xfrm>
            <a:off x="646023" y="1847088"/>
            <a:ext cx="4096512" cy="0"/>
          </a:xfrm>
          <a:prstGeom prst="line">
            <a:avLst/>
          </a:prstGeom>
          <a:ln w="19050">
            <a:solidFill>
              <a:srgbClr val="9CD84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90007" y="1481328"/>
            <a:ext cx="6547104" cy="320040"/>
          </a:xfrm>
          <a:prstGeom prst="rect">
            <a:avLst/>
          </a:prstGeom>
          <a:noFill/>
        </p:spPr>
        <p:txBody>
          <a:bodyPr wrap="square" lIns="36576" tIns="18288" rIns="36576" bIns="18288" anchor="t">
            <a:spAutoFit/>
          </a:bodyPr>
          <a:lstStyle/>
          <a:p>
            <a:pPr algn="ctr"/>
            <a:r>
              <a:rPr sz="1100" b="1" i="0" spc="200">
                <a:solidFill>
                  <a:srgbClr val="2FA38A"/>
                </a:solidFill>
                <a:latin typeface="Segoe UI Semibold"/>
              </a:rPr>
              <a:t>CRIAR E VALIDAR A SOLUÇÃO</a:t>
            </a:r>
          </a:p>
        </p:txBody>
      </p:sp>
      <p:cxnSp>
        <p:nvCxnSpPr>
          <p:cNvPr id="9" name="Connector 8"/>
          <p:cNvCxnSpPr/>
          <p:nvPr/>
        </p:nvCxnSpPr>
        <p:spPr>
          <a:xfrm>
            <a:off x="5181447" y="1847088"/>
            <a:ext cx="6364224" cy="0"/>
          </a:xfrm>
          <a:prstGeom prst="line">
            <a:avLst/>
          </a:prstGeom>
          <a:ln w="19050">
            <a:solidFill>
              <a:srgbClr val="2FA38A"/>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54583" y="2103120"/>
            <a:ext cx="2011680" cy="338328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54583" y="3566160"/>
            <a:ext cx="2011680" cy="457200"/>
          </a:xfrm>
          <a:prstGeom prst="rect">
            <a:avLst/>
          </a:prstGeom>
          <a:noFill/>
        </p:spPr>
        <p:txBody>
          <a:bodyPr wrap="square" lIns="36576" tIns="18288" rIns="36576" bIns="18288" anchor="t">
            <a:spAutoFit/>
          </a:bodyPr>
          <a:lstStyle/>
          <a:p>
            <a:pPr algn="ctr"/>
            <a:r>
              <a:rPr sz="1900" b="1" i="0">
                <a:solidFill>
                  <a:srgbClr val="F2F2EC"/>
                </a:solidFill>
                <a:latin typeface="Segoe UI Semibold"/>
              </a:rPr>
              <a:t>Empatizar</a:t>
            </a:r>
          </a:p>
        </p:txBody>
      </p:sp>
      <p:sp>
        <p:nvSpPr>
          <p:cNvPr id="12" name="TextBox 11"/>
          <p:cNvSpPr txBox="1"/>
          <p:nvPr/>
        </p:nvSpPr>
        <p:spPr>
          <a:xfrm>
            <a:off x="691743" y="4114800"/>
            <a:ext cx="1737360" cy="1097280"/>
          </a:xfrm>
          <a:prstGeom prst="rect">
            <a:avLst/>
          </a:prstGeom>
          <a:noFill/>
        </p:spPr>
        <p:txBody>
          <a:bodyPr wrap="square" lIns="36576" tIns="18288" rIns="36576" bIns="18288" anchor="t">
            <a:spAutoFit/>
          </a:bodyPr>
          <a:lstStyle/>
          <a:p>
            <a:pPr algn="ctr"/>
            <a:r>
              <a:rPr sz="1400" b="0" i="0">
                <a:solidFill>
                  <a:srgbClr val="B4B8B0"/>
                </a:solidFill>
                <a:latin typeface="Segoe UI"/>
              </a:rPr>
              <a:t>Entender as pessoas e o contexto</a:t>
            </a:r>
          </a:p>
        </p:txBody>
      </p:sp>
      <p:sp>
        <p:nvSpPr>
          <p:cNvPr id="13" name="Oval 12"/>
          <p:cNvSpPr/>
          <p:nvPr/>
        </p:nvSpPr>
        <p:spPr>
          <a:xfrm>
            <a:off x="1103223" y="2423160"/>
            <a:ext cx="914400" cy="914400"/>
          </a:xfrm>
          <a:prstGeom prst="ellipse">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2600" b="1" i="0">
                <a:solidFill>
                  <a:srgbClr val="1A1A1A"/>
                </a:solidFill>
                <a:latin typeface="Segoe UI Semibold"/>
              </a:rPr>
              <a:t>1</a:t>
            </a:r>
          </a:p>
        </p:txBody>
      </p:sp>
      <p:cxnSp>
        <p:nvCxnSpPr>
          <p:cNvPr id="14" name="Connector 13"/>
          <p:cNvCxnSpPr/>
          <p:nvPr/>
        </p:nvCxnSpPr>
        <p:spPr>
          <a:xfrm>
            <a:off x="2593695" y="2880360"/>
            <a:ext cx="201168" cy="0"/>
          </a:xfrm>
          <a:prstGeom prst="line">
            <a:avLst/>
          </a:prstGeom>
          <a:ln w="25400">
            <a:solidFill>
              <a:srgbClr val="7D827B"/>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822295" y="2103120"/>
            <a:ext cx="2011680" cy="338328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2822295" y="3566160"/>
            <a:ext cx="2011680" cy="457200"/>
          </a:xfrm>
          <a:prstGeom prst="rect">
            <a:avLst/>
          </a:prstGeom>
          <a:noFill/>
        </p:spPr>
        <p:txBody>
          <a:bodyPr wrap="square" lIns="36576" tIns="18288" rIns="36576" bIns="18288" anchor="t">
            <a:spAutoFit/>
          </a:bodyPr>
          <a:lstStyle/>
          <a:p>
            <a:pPr algn="ctr"/>
            <a:r>
              <a:rPr sz="1900" b="1" i="0">
                <a:solidFill>
                  <a:srgbClr val="F2F2EC"/>
                </a:solidFill>
                <a:latin typeface="Segoe UI Semibold"/>
              </a:rPr>
              <a:t>Definir</a:t>
            </a:r>
          </a:p>
        </p:txBody>
      </p:sp>
      <p:sp>
        <p:nvSpPr>
          <p:cNvPr id="17" name="TextBox 16"/>
          <p:cNvSpPr txBox="1"/>
          <p:nvPr/>
        </p:nvSpPr>
        <p:spPr>
          <a:xfrm>
            <a:off x="2959455" y="4114800"/>
            <a:ext cx="1737360" cy="1097280"/>
          </a:xfrm>
          <a:prstGeom prst="rect">
            <a:avLst/>
          </a:prstGeom>
          <a:noFill/>
        </p:spPr>
        <p:txBody>
          <a:bodyPr wrap="square" lIns="36576" tIns="18288" rIns="36576" bIns="18288" anchor="t">
            <a:spAutoFit/>
          </a:bodyPr>
          <a:lstStyle/>
          <a:p>
            <a:pPr algn="ctr"/>
            <a:r>
              <a:rPr sz="1400" b="0" i="0">
                <a:solidFill>
                  <a:srgbClr val="B4B8B0"/>
                </a:solidFill>
                <a:latin typeface="Segoe UI"/>
              </a:rPr>
              <a:t>Encontrar o problema certo</a:t>
            </a:r>
          </a:p>
        </p:txBody>
      </p:sp>
      <p:sp>
        <p:nvSpPr>
          <p:cNvPr id="18" name="Oval 17"/>
          <p:cNvSpPr/>
          <p:nvPr/>
        </p:nvSpPr>
        <p:spPr>
          <a:xfrm>
            <a:off x="3370935" y="2423160"/>
            <a:ext cx="914400" cy="914400"/>
          </a:xfrm>
          <a:prstGeom prst="ellipse">
            <a:avLst/>
          </a:prstGeom>
          <a:solidFill>
            <a:srgbClr val="4DB35A"/>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2600" b="1" i="0">
                <a:solidFill>
                  <a:srgbClr val="1A1A1A"/>
                </a:solidFill>
                <a:latin typeface="Segoe UI Semibold"/>
              </a:rPr>
              <a:t>2</a:t>
            </a:r>
          </a:p>
        </p:txBody>
      </p:sp>
      <p:cxnSp>
        <p:nvCxnSpPr>
          <p:cNvPr id="19" name="Connector 18"/>
          <p:cNvCxnSpPr/>
          <p:nvPr/>
        </p:nvCxnSpPr>
        <p:spPr>
          <a:xfrm>
            <a:off x="4861407" y="2880360"/>
            <a:ext cx="201168" cy="0"/>
          </a:xfrm>
          <a:prstGeom prst="line">
            <a:avLst/>
          </a:prstGeom>
          <a:ln w="25400">
            <a:solidFill>
              <a:srgbClr val="7D827B"/>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090007" y="2103120"/>
            <a:ext cx="2011680" cy="338328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5090007" y="3566160"/>
            <a:ext cx="2011680" cy="457200"/>
          </a:xfrm>
          <a:prstGeom prst="rect">
            <a:avLst/>
          </a:prstGeom>
          <a:noFill/>
        </p:spPr>
        <p:txBody>
          <a:bodyPr wrap="square" lIns="36576" tIns="18288" rIns="36576" bIns="18288" anchor="t">
            <a:spAutoFit/>
          </a:bodyPr>
          <a:lstStyle/>
          <a:p>
            <a:pPr algn="ctr"/>
            <a:r>
              <a:rPr sz="1900" b="1" i="0">
                <a:solidFill>
                  <a:srgbClr val="F2F2EC"/>
                </a:solidFill>
                <a:latin typeface="Segoe UI Semibold"/>
              </a:rPr>
              <a:t>Idear</a:t>
            </a:r>
          </a:p>
        </p:txBody>
      </p:sp>
      <p:sp>
        <p:nvSpPr>
          <p:cNvPr id="22" name="TextBox 21"/>
          <p:cNvSpPr txBox="1"/>
          <p:nvPr/>
        </p:nvSpPr>
        <p:spPr>
          <a:xfrm>
            <a:off x="5227167" y="4114800"/>
            <a:ext cx="1737360" cy="1097280"/>
          </a:xfrm>
          <a:prstGeom prst="rect">
            <a:avLst/>
          </a:prstGeom>
          <a:noFill/>
        </p:spPr>
        <p:txBody>
          <a:bodyPr wrap="square" lIns="36576" tIns="18288" rIns="36576" bIns="18288" anchor="t">
            <a:spAutoFit/>
          </a:bodyPr>
          <a:lstStyle/>
          <a:p>
            <a:pPr algn="ctr"/>
            <a:r>
              <a:rPr sz="1400" b="0" i="0">
                <a:solidFill>
                  <a:srgbClr val="B4B8B0"/>
                </a:solidFill>
                <a:latin typeface="Segoe UI"/>
              </a:rPr>
              <a:t>Gerar muitas soluções</a:t>
            </a:r>
          </a:p>
        </p:txBody>
      </p:sp>
      <p:sp>
        <p:nvSpPr>
          <p:cNvPr id="23" name="Oval 22"/>
          <p:cNvSpPr/>
          <p:nvPr/>
        </p:nvSpPr>
        <p:spPr>
          <a:xfrm>
            <a:off x="5638647" y="2423160"/>
            <a:ext cx="914400" cy="914400"/>
          </a:xfrm>
          <a:prstGeom prst="ellipse">
            <a:avLst/>
          </a:prstGeom>
          <a:solidFill>
            <a:srgbClr val="2FA38A"/>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2600" b="1" i="0">
                <a:solidFill>
                  <a:srgbClr val="1A1A1A"/>
                </a:solidFill>
                <a:latin typeface="Segoe UI Semibold"/>
              </a:rPr>
              <a:t>3</a:t>
            </a:r>
          </a:p>
        </p:txBody>
      </p:sp>
      <p:cxnSp>
        <p:nvCxnSpPr>
          <p:cNvPr id="24" name="Connector 23"/>
          <p:cNvCxnSpPr/>
          <p:nvPr/>
        </p:nvCxnSpPr>
        <p:spPr>
          <a:xfrm>
            <a:off x="7129119" y="2880360"/>
            <a:ext cx="201168" cy="0"/>
          </a:xfrm>
          <a:prstGeom prst="line">
            <a:avLst/>
          </a:prstGeom>
          <a:ln w="25400">
            <a:solidFill>
              <a:srgbClr val="7D827B"/>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57719" y="2103120"/>
            <a:ext cx="2011680" cy="338328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7357719" y="3566160"/>
            <a:ext cx="2011680" cy="457200"/>
          </a:xfrm>
          <a:prstGeom prst="rect">
            <a:avLst/>
          </a:prstGeom>
          <a:noFill/>
        </p:spPr>
        <p:txBody>
          <a:bodyPr wrap="square" lIns="36576" tIns="18288" rIns="36576" bIns="18288" anchor="t">
            <a:spAutoFit/>
          </a:bodyPr>
          <a:lstStyle/>
          <a:p>
            <a:pPr algn="ctr"/>
            <a:r>
              <a:rPr sz="1900" b="1" i="0">
                <a:solidFill>
                  <a:srgbClr val="F2F2EC"/>
                </a:solidFill>
                <a:latin typeface="Segoe UI Semibold"/>
              </a:rPr>
              <a:t>Prototipar</a:t>
            </a:r>
          </a:p>
        </p:txBody>
      </p:sp>
      <p:sp>
        <p:nvSpPr>
          <p:cNvPr id="27" name="TextBox 26"/>
          <p:cNvSpPr txBox="1"/>
          <p:nvPr/>
        </p:nvSpPr>
        <p:spPr>
          <a:xfrm>
            <a:off x="7494879" y="4114800"/>
            <a:ext cx="1737360" cy="1097280"/>
          </a:xfrm>
          <a:prstGeom prst="rect">
            <a:avLst/>
          </a:prstGeom>
          <a:noFill/>
        </p:spPr>
        <p:txBody>
          <a:bodyPr wrap="square" lIns="36576" tIns="18288" rIns="36576" bIns="18288" anchor="t">
            <a:spAutoFit/>
          </a:bodyPr>
          <a:lstStyle/>
          <a:p>
            <a:pPr algn="ctr"/>
            <a:r>
              <a:rPr sz="1400" b="0" i="0">
                <a:solidFill>
                  <a:srgbClr val="B4B8B0"/>
                </a:solidFill>
                <a:latin typeface="Segoe UI"/>
              </a:rPr>
              <a:t>Tornar a ideia tangível</a:t>
            </a:r>
          </a:p>
        </p:txBody>
      </p:sp>
      <p:sp>
        <p:nvSpPr>
          <p:cNvPr id="28" name="Oval 27"/>
          <p:cNvSpPr/>
          <p:nvPr/>
        </p:nvSpPr>
        <p:spPr>
          <a:xfrm>
            <a:off x="7906359" y="2423160"/>
            <a:ext cx="914400" cy="914400"/>
          </a:xfrm>
          <a:prstGeom prst="ellipse">
            <a:avLst/>
          </a:prstGeom>
          <a:solidFill>
            <a:srgbClr val="2A9FC0"/>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2600" b="1" i="0">
                <a:solidFill>
                  <a:srgbClr val="1A1A1A"/>
                </a:solidFill>
                <a:latin typeface="Segoe UI Semibold"/>
              </a:rPr>
              <a:t>4</a:t>
            </a:r>
          </a:p>
        </p:txBody>
      </p:sp>
      <p:cxnSp>
        <p:nvCxnSpPr>
          <p:cNvPr id="29" name="Connector 28"/>
          <p:cNvCxnSpPr/>
          <p:nvPr/>
        </p:nvCxnSpPr>
        <p:spPr>
          <a:xfrm>
            <a:off x="9396831" y="2880360"/>
            <a:ext cx="201168" cy="0"/>
          </a:xfrm>
          <a:prstGeom prst="line">
            <a:avLst/>
          </a:prstGeom>
          <a:ln w="25400">
            <a:solidFill>
              <a:srgbClr val="7D827B"/>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625431" y="2103120"/>
            <a:ext cx="2011680" cy="338328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9625431" y="3566160"/>
            <a:ext cx="2011680" cy="457200"/>
          </a:xfrm>
          <a:prstGeom prst="rect">
            <a:avLst/>
          </a:prstGeom>
          <a:noFill/>
        </p:spPr>
        <p:txBody>
          <a:bodyPr wrap="square" lIns="36576" tIns="18288" rIns="36576" bIns="18288" anchor="t">
            <a:spAutoFit/>
          </a:bodyPr>
          <a:lstStyle/>
          <a:p>
            <a:pPr algn="ctr"/>
            <a:r>
              <a:rPr sz="1900" b="1" i="0">
                <a:solidFill>
                  <a:srgbClr val="F2F2EC"/>
                </a:solidFill>
                <a:latin typeface="Segoe UI Semibold"/>
              </a:rPr>
              <a:t>Testar</a:t>
            </a:r>
          </a:p>
        </p:txBody>
      </p:sp>
      <p:sp>
        <p:nvSpPr>
          <p:cNvPr id="32" name="TextBox 31"/>
          <p:cNvSpPr txBox="1"/>
          <p:nvPr/>
        </p:nvSpPr>
        <p:spPr>
          <a:xfrm>
            <a:off x="9762591" y="4114800"/>
            <a:ext cx="1737360" cy="1097280"/>
          </a:xfrm>
          <a:prstGeom prst="rect">
            <a:avLst/>
          </a:prstGeom>
          <a:noFill/>
        </p:spPr>
        <p:txBody>
          <a:bodyPr wrap="square" lIns="36576" tIns="18288" rIns="36576" bIns="18288" anchor="t">
            <a:spAutoFit/>
          </a:bodyPr>
          <a:lstStyle/>
          <a:p>
            <a:pPr algn="ctr"/>
            <a:r>
              <a:rPr sz="1400" b="0" i="0">
                <a:solidFill>
                  <a:srgbClr val="B4B8B0"/>
                </a:solidFill>
                <a:latin typeface="Segoe UI"/>
              </a:rPr>
              <a:t>Validar com pessoas reais</a:t>
            </a:r>
          </a:p>
        </p:txBody>
      </p:sp>
      <p:sp>
        <p:nvSpPr>
          <p:cNvPr id="33" name="Oval 32"/>
          <p:cNvSpPr/>
          <p:nvPr/>
        </p:nvSpPr>
        <p:spPr>
          <a:xfrm>
            <a:off x="10174071" y="2423160"/>
            <a:ext cx="914400" cy="914400"/>
          </a:xfrm>
          <a:prstGeom prst="ellipse">
            <a:avLst/>
          </a:prstGeom>
          <a:solidFill>
            <a:srgbClr val="1F7FA8"/>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2600" b="1" i="0">
                <a:solidFill>
                  <a:srgbClr val="1A1A1A"/>
                </a:solidFill>
                <a:latin typeface="Segoe UI Semibold"/>
              </a:rPr>
              <a:t>5</a:t>
            </a:r>
          </a:p>
        </p:txBody>
      </p:sp>
      <p:sp>
        <p:nvSpPr>
          <p:cNvPr id="34" name="TextBox 33"/>
          <p:cNvSpPr txBox="1"/>
          <p:nvPr/>
        </p:nvSpPr>
        <p:spPr>
          <a:xfrm>
            <a:off x="548640" y="5760720"/>
            <a:ext cx="11064240" cy="365760"/>
          </a:xfrm>
          <a:prstGeom prst="rect">
            <a:avLst/>
          </a:prstGeom>
          <a:noFill/>
        </p:spPr>
        <p:txBody>
          <a:bodyPr wrap="square" lIns="36576" tIns="18288" rIns="36576" bIns="18288" anchor="t">
            <a:spAutoFit/>
          </a:bodyPr>
          <a:lstStyle/>
          <a:p>
            <a:pPr algn="ctr"/>
            <a:r>
              <a:rPr sz="1400" b="0" i="0">
                <a:solidFill>
                  <a:srgbClr val="7D827B"/>
                </a:solidFill>
                <a:latin typeface="Segoe UI"/>
              </a:rPr>
              <a:t>Módulos 2 a 5 aprofundam cada etapa. O Módulo 6 mostra tudo junto em um caso real.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22" presetClass="entr" presetSubtype="8" fill="hold" grpId="0" nodeType="withEffect">
                                  <p:stCondLst>
                                    <p:cond delay="20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600" fill="hold"/>
                                        <p:tgtEl>
                                          <p:spTgt spid="6"/>
                                        </p:tgtEl>
                                      </p:cBhvr>
                                    </p:animEffect>
                                  </p:childTnLst>
                                </p:cTn>
                              </p:par>
                              <p:par>
                                <p:cTn id="11" presetID="22" presetClass="entr" presetSubtype="8" fill="hold" nodeType="withEffect">
                                  <p:stCondLst>
                                    <p:cond delay="20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600" fill="hold"/>
                                        <p:tgtEl>
                                          <p:spTgt spid="7"/>
                                        </p:tgtEl>
                                      </p:cBhvr>
                                    </p:animEffect>
                                  </p:childTnLst>
                                </p:cTn>
                              </p:par>
                              <p:par>
                                <p:cTn id="14" presetID="22" presetClass="entr" presetSubtype="8" fill="hold" grpId="0" nodeType="withEffect">
                                  <p:stCondLst>
                                    <p:cond delay="400"/>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600" fill="hold"/>
                                        <p:tgtEl>
                                          <p:spTgt spid="8"/>
                                        </p:tgtEl>
                                      </p:cBhvr>
                                    </p:animEffect>
                                  </p:childTnLst>
                                </p:cTn>
                              </p:par>
                              <p:par>
                                <p:cTn id="17" presetID="22" presetClass="entr" presetSubtype="8" fill="hold" nodeType="withEffect">
                                  <p:stCondLst>
                                    <p:cond delay="40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600" fill="hold"/>
                                        <p:tgtEl>
                                          <p:spTgt spid="9"/>
                                        </p:tgtEl>
                                      </p:cBhvr>
                                    </p:animEffect>
                                  </p:childTnLst>
                                </p:cTn>
                              </p:par>
                              <p:par>
                                <p:cTn id="20" presetID="42" presetClass="entr" presetSubtype="0" decel="100000" fill="hold" grpId="0" nodeType="withEffect">
                                  <p:stCondLst>
                                    <p:cond delay="65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650" fill="hold"/>
                                        <p:tgtEl>
                                          <p:spTgt spid="10"/>
                                        </p:tgtEl>
                                      </p:cBhvr>
                                    </p:animEffect>
                                    <p:anim calcmode="lin" valueType="num">
                                      <p:cBhvr additive="base">
                                        <p:cTn id="23" dur="650" fill="hold"/>
                                        <p:tgtEl>
                                          <p:spTgt spid="10"/>
                                        </p:tgtEl>
                                        <p:attrNameLst>
                                          <p:attrName>ppt_x</p:attrName>
                                        </p:attrNameLst>
                                      </p:cBhvr>
                                      <p:tavLst>
                                        <p:tav tm="0">
                                          <p:val>
                                            <p:strVal val="#ppt_x"/>
                                          </p:val>
                                        </p:tav>
                                        <p:tav tm="100000">
                                          <p:val>
                                            <p:strVal val="#ppt_x"/>
                                          </p:val>
                                        </p:tav>
                                      </p:tavLst>
                                    </p:anim>
                                    <p:anim calcmode="lin" valueType="num">
                                      <p:cBhvr additive="base">
                                        <p:cTn id="24" dur="650" fill="hold"/>
                                        <p:tgtEl>
                                          <p:spTgt spid="10"/>
                                        </p:tgtEl>
                                        <p:attrNameLst>
                                          <p:attrName>ppt_y</p:attrName>
                                        </p:attrNameLst>
                                      </p:cBhvr>
                                      <p:tavLst>
                                        <p:tav tm="0">
                                          <p:val>
                                            <p:strVal val="#ppt_y+.06"/>
                                          </p:val>
                                        </p:tav>
                                        <p:tav tm="100000">
                                          <p:val>
                                            <p:strVal val="#ppt_y"/>
                                          </p:val>
                                        </p:tav>
                                      </p:tavLst>
                                    </p:anim>
                                  </p:childTnLst>
                                </p:cTn>
                              </p:par>
                              <p:par>
                                <p:cTn id="25" presetID="42" presetClass="entr" presetSubtype="0" decel="100000" fill="hold" grpId="0" nodeType="withEffect">
                                  <p:stCondLst>
                                    <p:cond delay="65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650" fill="hold"/>
                                        <p:tgtEl>
                                          <p:spTgt spid="11"/>
                                        </p:tgtEl>
                                      </p:cBhvr>
                                    </p:animEffect>
                                    <p:anim calcmode="lin" valueType="num">
                                      <p:cBhvr additive="base">
                                        <p:cTn id="28" dur="650" fill="hold"/>
                                        <p:tgtEl>
                                          <p:spTgt spid="11"/>
                                        </p:tgtEl>
                                        <p:attrNameLst>
                                          <p:attrName>ppt_x</p:attrName>
                                        </p:attrNameLst>
                                      </p:cBhvr>
                                      <p:tavLst>
                                        <p:tav tm="0">
                                          <p:val>
                                            <p:strVal val="#ppt_x"/>
                                          </p:val>
                                        </p:tav>
                                        <p:tav tm="100000">
                                          <p:val>
                                            <p:strVal val="#ppt_x"/>
                                          </p:val>
                                        </p:tav>
                                      </p:tavLst>
                                    </p:anim>
                                    <p:anim calcmode="lin" valueType="num">
                                      <p:cBhvr additive="base">
                                        <p:cTn id="29" dur="650" fill="hold"/>
                                        <p:tgtEl>
                                          <p:spTgt spid="11"/>
                                        </p:tgtEl>
                                        <p:attrNameLst>
                                          <p:attrName>ppt_y</p:attrName>
                                        </p:attrNameLst>
                                      </p:cBhvr>
                                      <p:tavLst>
                                        <p:tav tm="0">
                                          <p:val>
                                            <p:strVal val="#ppt_y+.06"/>
                                          </p:val>
                                        </p:tav>
                                        <p:tav tm="100000">
                                          <p:val>
                                            <p:strVal val="#ppt_y"/>
                                          </p:val>
                                        </p:tav>
                                      </p:tavLst>
                                    </p:anim>
                                  </p:childTnLst>
                                </p:cTn>
                              </p:par>
                              <p:par>
                                <p:cTn id="30" presetID="42" presetClass="entr" presetSubtype="0" decel="100000" fill="hold" grpId="0" nodeType="withEffect">
                                  <p:stCondLst>
                                    <p:cond delay="65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650" fill="hold"/>
                                        <p:tgtEl>
                                          <p:spTgt spid="12"/>
                                        </p:tgtEl>
                                      </p:cBhvr>
                                    </p:animEffect>
                                    <p:anim calcmode="lin" valueType="num">
                                      <p:cBhvr additive="base">
                                        <p:cTn id="33" dur="650" fill="hold"/>
                                        <p:tgtEl>
                                          <p:spTgt spid="12"/>
                                        </p:tgtEl>
                                        <p:attrNameLst>
                                          <p:attrName>ppt_x</p:attrName>
                                        </p:attrNameLst>
                                      </p:cBhvr>
                                      <p:tavLst>
                                        <p:tav tm="0">
                                          <p:val>
                                            <p:strVal val="#ppt_x"/>
                                          </p:val>
                                        </p:tav>
                                        <p:tav tm="100000">
                                          <p:val>
                                            <p:strVal val="#ppt_x"/>
                                          </p:val>
                                        </p:tav>
                                      </p:tavLst>
                                    </p:anim>
                                    <p:anim calcmode="lin" valueType="num">
                                      <p:cBhvr additive="base">
                                        <p:cTn id="34" dur="650" fill="hold"/>
                                        <p:tgtEl>
                                          <p:spTgt spid="12"/>
                                        </p:tgtEl>
                                        <p:attrNameLst>
                                          <p:attrName>ppt_y</p:attrName>
                                        </p:attrNameLst>
                                      </p:cBhvr>
                                      <p:tavLst>
                                        <p:tav tm="0">
                                          <p:val>
                                            <p:strVal val="#ppt_y+.06"/>
                                          </p:val>
                                        </p:tav>
                                        <p:tav tm="100000">
                                          <p:val>
                                            <p:strVal val="#ppt_y"/>
                                          </p:val>
                                        </p:tav>
                                      </p:tavLst>
                                    </p:anim>
                                  </p:childTnLst>
                                </p:cTn>
                              </p:par>
                              <p:par>
                                <p:cTn id="35" presetID="53" presetClass="entr" presetSubtype="16" decel="100000" fill="hold" grpId="0" nodeType="withEffect">
                                  <p:stCondLst>
                                    <p:cond delay="77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450" fill="hold"/>
                                        <p:tgtEl>
                                          <p:spTgt spid="13"/>
                                        </p:tgtEl>
                                        <p:attrNameLst>
                                          <p:attrName>ppt_w</p:attrName>
                                        </p:attrNameLst>
                                      </p:cBhvr>
                                      <p:tavLst>
                                        <p:tav tm="0">
                                          <p:val>
                                            <p:strVal val="0"/>
                                          </p:val>
                                        </p:tav>
                                        <p:tav tm="70000">
                                          <p:val>
                                            <p:strVal val="#ppt_w*1.08"/>
                                          </p:val>
                                        </p:tav>
                                        <p:tav tm="100000">
                                          <p:val>
                                            <p:strVal val="#ppt_w"/>
                                          </p:val>
                                        </p:tav>
                                      </p:tavLst>
                                    </p:anim>
                                    <p:anim calcmode="lin" valueType="num">
                                      <p:cBhvr additive="base">
                                        <p:cTn id="38" dur="450" fill="hold"/>
                                        <p:tgtEl>
                                          <p:spTgt spid="13"/>
                                        </p:tgtEl>
                                        <p:attrNameLst>
                                          <p:attrName>ppt_h</p:attrName>
                                        </p:attrNameLst>
                                      </p:cBhvr>
                                      <p:tavLst>
                                        <p:tav tm="0">
                                          <p:val>
                                            <p:strVal val="0"/>
                                          </p:val>
                                        </p:tav>
                                        <p:tav tm="70000">
                                          <p:val>
                                            <p:strVal val="#ppt_h*1.08"/>
                                          </p:val>
                                        </p:tav>
                                        <p:tav tm="100000">
                                          <p:val>
                                            <p:strVal val="#ppt_h"/>
                                          </p:val>
                                        </p:tav>
                                      </p:tavLst>
                                    </p:anim>
                                    <p:animEffect transition="in" filter="fade">
                                      <p:cBhvr>
                                        <p:cTn id="39" dur="270" fill="hold"/>
                                        <p:tgtEl>
                                          <p:spTgt spid="13"/>
                                        </p:tgtEl>
                                      </p:cBhvr>
                                    </p:animEffect>
                                  </p:childTnLst>
                                </p:cTn>
                              </p:par>
                              <p:par>
                                <p:cTn id="40" presetID="22" presetClass="entr" presetSubtype="8" fill="hold" nodeType="withEffect">
                                  <p:stCondLst>
                                    <p:cond delay="1020"/>
                                  </p:stCondLst>
                                  <p:childTnLst>
                                    <p:set>
                                      <p:cBhvr>
                                        <p:cTn id="41" dur="1" fill="hold">
                                          <p:stCondLst>
                                            <p:cond delay="0"/>
                                          </p:stCondLst>
                                        </p:cTn>
                                        <p:tgtEl>
                                          <p:spTgt spid="14"/>
                                        </p:tgtEl>
                                        <p:attrNameLst>
                                          <p:attrName>style.visibility</p:attrName>
                                        </p:attrNameLst>
                                      </p:cBhvr>
                                      <p:to>
                                        <p:strVal val="visible"/>
                                      </p:to>
                                    </p:set>
                                    <p:animEffect transition="in" filter="wipe(left)">
                                      <p:cBhvr>
                                        <p:cTn id="42" dur="300" fill="hold"/>
                                        <p:tgtEl>
                                          <p:spTgt spid="14"/>
                                        </p:tgtEl>
                                      </p:cBhvr>
                                    </p:animEffect>
                                  </p:childTnLst>
                                </p:cTn>
                              </p:par>
                              <p:par>
                                <p:cTn id="43" presetID="42" presetClass="entr" presetSubtype="0" decel="100000" fill="hold" grpId="0" nodeType="withEffect">
                                  <p:stCondLst>
                                    <p:cond delay="132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650" fill="hold"/>
                                        <p:tgtEl>
                                          <p:spTgt spid="15"/>
                                        </p:tgtEl>
                                      </p:cBhvr>
                                    </p:animEffect>
                                    <p:anim calcmode="lin" valueType="num">
                                      <p:cBhvr additive="base">
                                        <p:cTn id="46" dur="650" fill="hold"/>
                                        <p:tgtEl>
                                          <p:spTgt spid="15"/>
                                        </p:tgtEl>
                                        <p:attrNameLst>
                                          <p:attrName>ppt_x</p:attrName>
                                        </p:attrNameLst>
                                      </p:cBhvr>
                                      <p:tavLst>
                                        <p:tav tm="0">
                                          <p:val>
                                            <p:strVal val="#ppt_x"/>
                                          </p:val>
                                        </p:tav>
                                        <p:tav tm="100000">
                                          <p:val>
                                            <p:strVal val="#ppt_x"/>
                                          </p:val>
                                        </p:tav>
                                      </p:tavLst>
                                    </p:anim>
                                    <p:anim calcmode="lin" valueType="num">
                                      <p:cBhvr additive="base">
                                        <p:cTn id="47" dur="650" fill="hold"/>
                                        <p:tgtEl>
                                          <p:spTgt spid="15"/>
                                        </p:tgtEl>
                                        <p:attrNameLst>
                                          <p:attrName>ppt_y</p:attrName>
                                        </p:attrNameLst>
                                      </p:cBhvr>
                                      <p:tavLst>
                                        <p:tav tm="0">
                                          <p:val>
                                            <p:strVal val="#ppt_y+.06"/>
                                          </p:val>
                                        </p:tav>
                                        <p:tav tm="100000">
                                          <p:val>
                                            <p:strVal val="#ppt_y"/>
                                          </p:val>
                                        </p:tav>
                                      </p:tavLst>
                                    </p:anim>
                                  </p:childTnLst>
                                </p:cTn>
                              </p:par>
                              <p:par>
                                <p:cTn id="48" presetID="42" presetClass="entr" presetSubtype="0" decel="100000" fill="hold" grpId="0" nodeType="withEffect">
                                  <p:stCondLst>
                                    <p:cond delay="132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650" fill="hold"/>
                                        <p:tgtEl>
                                          <p:spTgt spid="16"/>
                                        </p:tgtEl>
                                      </p:cBhvr>
                                    </p:animEffect>
                                    <p:anim calcmode="lin" valueType="num">
                                      <p:cBhvr additive="base">
                                        <p:cTn id="51" dur="650" fill="hold"/>
                                        <p:tgtEl>
                                          <p:spTgt spid="16"/>
                                        </p:tgtEl>
                                        <p:attrNameLst>
                                          <p:attrName>ppt_x</p:attrName>
                                        </p:attrNameLst>
                                      </p:cBhvr>
                                      <p:tavLst>
                                        <p:tav tm="0">
                                          <p:val>
                                            <p:strVal val="#ppt_x"/>
                                          </p:val>
                                        </p:tav>
                                        <p:tav tm="100000">
                                          <p:val>
                                            <p:strVal val="#ppt_x"/>
                                          </p:val>
                                        </p:tav>
                                      </p:tavLst>
                                    </p:anim>
                                    <p:anim calcmode="lin" valueType="num">
                                      <p:cBhvr additive="base">
                                        <p:cTn id="52" dur="650" fill="hold"/>
                                        <p:tgtEl>
                                          <p:spTgt spid="16"/>
                                        </p:tgtEl>
                                        <p:attrNameLst>
                                          <p:attrName>ppt_y</p:attrName>
                                        </p:attrNameLst>
                                      </p:cBhvr>
                                      <p:tavLst>
                                        <p:tav tm="0">
                                          <p:val>
                                            <p:strVal val="#ppt_y+.06"/>
                                          </p:val>
                                        </p:tav>
                                        <p:tav tm="100000">
                                          <p:val>
                                            <p:strVal val="#ppt_y"/>
                                          </p:val>
                                        </p:tav>
                                      </p:tavLst>
                                    </p:anim>
                                  </p:childTnLst>
                                </p:cTn>
                              </p:par>
                              <p:par>
                                <p:cTn id="53" presetID="42" presetClass="entr" presetSubtype="0" decel="100000" fill="hold" grpId="0" nodeType="withEffect">
                                  <p:stCondLst>
                                    <p:cond delay="132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650" fill="hold"/>
                                        <p:tgtEl>
                                          <p:spTgt spid="17"/>
                                        </p:tgtEl>
                                      </p:cBhvr>
                                    </p:animEffect>
                                    <p:anim calcmode="lin" valueType="num">
                                      <p:cBhvr additive="base">
                                        <p:cTn id="56" dur="650" fill="hold"/>
                                        <p:tgtEl>
                                          <p:spTgt spid="17"/>
                                        </p:tgtEl>
                                        <p:attrNameLst>
                                          <p:attrName>ppt_x</p:attrName>
                                        </p:attrNameLst>
                                      </p:cBhvr>
                                      <p:tavLst>
                                        <p:tav tm="0">
                                          <p:val>
                                            <p:strVal val="#ppt_x"/>
                                          </p:val>
                                        </p:tav>
                                        <p:tav tm="100000">
                                          <p:val>
                                            <p:strVal val="#ppt_x"/>
                                          </p:val>
                                        </p:tav>
                                      </p:tavLst>
                                    </p:anim>
                                    <p:anim calcmode="lin" valueType="num">
                                      <p:cBhvr additive="base">
                                        <p:cTn id="57" dur="650" fill="hold"/>
                                        <p:tgtEl>
                                          <p:spTgt spid="17"/>
                                        </p:tgtEl>
                                        <p:attrNameLst>
                                          <p:attrName>ppt_y</p:attrName>
                                        </p:attrNameLst>
                                      </p:cBhvr>
                                      <p:tavLst>
                                        <p:tav tm="0">
                                          <p:val>
                                            <p:strVal val="#ppt_y+.06"/>
                                          </p:val>
                                        </p:tav>
                                        <p:tav tm="100000">
                                          <p:val>
                                            <p:strVal val="#ppt_y"/>
                                          </p:val>
                                        </p:tav>
                                      </p:tavLst>
                                    </p:anim>
                                  </p:childTnLst>
                                </p:cTn>
                              </p:par>
                              <p:par>
                                <p:cTn id="58" presetID="53" presetClass="entr" presetSubtype="16" decel="100000" fill="hold" grpId="0" nodeType="withEffect">
                                  <p:stCondLst>
                                    <p:cond delay="1440"/>
                                  </p:stCondLst>
                                  <p:childTnLst>
                                    <p:set>
                                      <p:cBhvr>
                                        <p:cTn id="59" dur="1" fill="hold">
                                          <p:stCondLst>
                                            <p:cond delay="0"/>
                                          </p:stCondLst>
                                        </p:cTn>
                                        <p:tgtEl>
                                          <p:spTgt spid="18"/>
                                        </p:tgtEl>
                                        <p:attrNameLst>
                                          <p:attrName>style.visibility</p:attrName>
                                        </p:attrNameLst>
                                      </p:cBhvr>
                                      <p:to>
                                        <p:strVal val="visible"/>
                                      </p:to>
                                    </p:set>
                                    <p:anim calcmode="lin" valueType="num">
                                      <p:cBhvr additive="base">
                                        <p:cTn id="60" dur="450" fill="hold"/>
                                        <p:tgtEl>
                                          <p:spTgt spid="18"/>
                                        </p:tgtEl>
                                        <p:attrNameLst>
                                          <p:attrName>ppt_w</p:attrName>
                                        </p:attrNameLst>
                                      </p:cBhvr>
                                      <p:tavLst>
                                        <p:tav tm="0">
                                          <p:val>
                                            <p:strVal val="0"/>
                                          </p:val>
                                        </p:tav>
                                        <p:tav tm="70000">
                                          <p:val>
                                            <p:strVal val="#ppt_w*1.08"/>
                                          </p:val>
                                        </p:tav>
                                        <p:tav tm="100000">
                                          <p:val>
                                            <p:strVal val="#ppt_w"/>
                                          </p:val>
                                        </p:tav>
                                      </p:tavLst>
                                    </p:anim>
                                    <p:anim calcmode="lin" valueType="num">
                                      <p:cBhvr additive="base">
                                        <p:cTn id="61" dur="450" fill="hold"/>
                                        <p:tgtEl>
                                          <p:spTgt spid="18"/>
                                        </p:tgtEl>
                                        <p:attrNameLst>
                                          <p:attrName>ppt_h</p:attrName>
                                        </p:attrNameLst>
                                      </p:cBhvr>
                                      <p:tavLst>
                                        <p:tav tm="0">
                                          <p:val>
                                            <p:strVal val="0"/>
                                          </p:val>
                                        </p:tav>
                                        <p:tav tm="70000">
                                          <p:val>
                                            <p:strVal val="#ppt_h*1.08"/>
                                          </p:val>
                                        </p:tav>
                                        <p:tav tm="100000">
                                          <p:val>
                                            <p:strVal val="#ppt_h"/>
                                          </p:val>
                                        </p:tav>
                                      </p:tavLst>
                                    </p:anim>
                                    <p:animEffect transition="in" filter="fade">
                                      <p:cBhvr>
                                        <p:cTn id="62" dur="270" fill="hold"/>
                                        <p:tgtEl>
                                          <p:spTgt spid="18"/>
                                        </p:tgtEl>
                                      </p:cBhvr>
                                    </p:animEffect>
                                  </p:childTnLst>
                                </p:cTn>
                              </p:par>
                              <p:par>
                                <p:cTn id="63" presetID="22" presetClass="entr" presetSubtype="8" fill="hold" nodeType="withEffect">
                                  <p:stCondLst>
                                    <p:cond delay="1690"/>
                                  </p:stCondLst>
                                  <p:childTnLst>
                                    <p:set>
                                      <p:cBhvr>
                                        <p:cTn id="64" dur="1" fill="hold">
                                          <p:stCondLst>
                                            <p:cond delay="0"/>
                                          </p:stCondLst>
                                        </p:cTn>
                                        <p:tgtEl>
                                          <p:spTgt spid="19"/>
                                        </p:tgtEl>
                                        <p:attrNameLst>
                                          <p:attrName>style.visibility</p:attrName>
                                        </p:attrNameLst>
                                      </p:cBhvr>
                                      <p:to>
                                        <p:strVal val="visible"/>
                                      </p:to>
                                    </p:set>
                                    <p:animEffect transition="in" filter="wipe(left)">
                                      <p:cBhvr>
                                        <p:cTn id="65" dur="300" fill="hold"/>
                                        <p:tgtEl>
                                          <p:spTgt spid="19"/>
                                        </p:tgtEl>
                                      </p:cBhvr>
                                    </p:animEffect>
                                  </p:childTnLst>
                                </p:cTn>
                              </p:par>
                              <p:par>
                                <p:cTn id="66" presetID="42" presetClass="entr" presetSubtype="0" decel="100000" fill="hold" grpId="0" nodeType="withEffect">
                                  <p:stCondLst>
                                    <p:cond delay="1990"/>
                                  </p:stCondLst>
                                  <p:childTnLst>
                                    <p:set>
                                      <p:cBhvr>
                                        <p:cTn id="67" dur="1" fill="hold">
                                          <p:stCondLst>
                                            <p:cond delay="0"/>
                                          </p:stCondLst>
                                        </p:cTn>
                                        <p:tgtEl>
                                          <p:spTgt spid="20"/>
                                        </p:tgtEl>
                                        <p:attrNameLst>
                                          <p:attrName>style.visibility</p:attrName>
                                        </p:attrNameLst>
                                      </p:cBhvr>
                                      <p:to>
                                        <p:strVal val="visible"/>
                                      </p:to>
                                    </p:set>
                                    <p:animEffect transition="in" filter="fade">
                                      <p:cBhvr>
                                        <p:cTn id="68" dur="650" fill="hold"/>
                                        <p:tgtEl>
                                          <p:spTgt spid="20"/>
                                        </p:tgtEl>
                                      </p:cBhvr>
                                    </p:animEffect>
                                    <p:anim calcmode="lin" valueType="num">
                                      <p:cBhvr additive="base">
                                        <p:cTn id="69" dur="650" fill="hold"/>
                                        <p:tgtEl>
                                          <p:spTgt spid="20"/>
                                        </p:tgtEl>
                                        <p:attrNameLst>
                                          <p:attrName>ppt_x</p:attrName>
                                        </p:attrNameLst>
                                      </p:cBhvr>
                                      <p:tavLst>
                                        <p:tav tm="0">
                                          <p:val>
                                            <p:strVal val="#ppt_x"/>
                                          </p:val>
                                        </p:tav>
                                        <p:tav tm="100000">
                                          <p:val>
                                            <p:strVal val="#ppt_x"/>
                                          </p:val>
                                        </p:tav>
                                      </p:tavLst>
                                    </p:anim>
                                    <p:anim calcmode="lin" valueType="num">
                                      <p:cBhvr additive="base">
                                        <p:cTn id="70" dur="650" fill="hold"/>
                                        <p:tgtEl>
                                          <p:spTgt spid="20"/>
                                        </p:tgtEl>
                                        <p:attrNameLst>
                                          <p:attrName>ppt_y</p:attrName>
                                        </p:attrNameLst>
                                      </p:cBhvr>
                                      <p:tavLst>
                                        <p:tav tm="0">
                                          <p:val>
                                            <p:strVal val="#ppt_y+.06"/>
                                          </p:val>
                                        </p:tav>
                                        <p:tav tm="100000">
                                          <p:val>
                                            <p:strVal val="#ppt_y"/>
                                          </p:val>
                                        </p:tav>
                                      </p:tavLst>
                                    </p:anim>
                                  </p:childTnLst>
                                </p:cTn>
                              </p:par>
                              <p:par>
                                <p:cTn id="71" presetID="42" presetClass="entr" presetSubtype="0" decel="100000" fill="hold" grpId="0" nodeType="withEffect">
                                  <p:stCondLst>
                                    <p:cond delay="1990"/>
                                  </p:stCondLst>
                                  <p:childTnLst>
                                    <p:set>
                                      <p:cBhvr>
                                        <p:cTn id="72" dur="1" fill="hold">
                                          <p:stCondLst>
                                            <p:cond delay="0"/>
                                          </p:stCondLst>
                                        </p:cTn>
                                        <p:tgtEl>
                                          <p:spTgt spid="21"/>
                                        </p:tgtEl>
                                        <p:attrNameLst>
                                          <p:attrName>style.visibility</p:attrName>
                                        </p:attrNameLst>
                                      </p:cBhvr>
                                      <p:to>
                                        <p:strVal val="visible"/>
                                      </p:to>
                                    </p:set>
                                    <p:animEffect transition="in" filter="fade">
                                      <p:cBhvr>
                                        <p:cTn id="73" dur="650" fill="hold"/>
                                        <p:tgtEl>
                                          <p:spTgt spid="21"/>
                                        </p:tgtEl>
                                      </p:cBhvr>
                                    </p:animEffect>
                                    <p:anim calcmode="lin" valueType="num">
                                      <p:cBhvr additive="base">
                                        <p:cTn id="74" dur="650" fill="hold"/>
                                        <p:tgtEl>
                                          <p:spTgt spid="21"/>
                                        </p:tgtEl>
                                        <p:attrNameLst>
                                          <p:attrName>ppt_x</p:attrName>
                                        </p:attrNameLst>
                                      </p:cBhvr>
                                      <p:tavLst>
                                        <p:tav tm="0">
                                          <p:val>
                                            <p:strVal val="#ppt_x"/>
                                          </p:val>
                                        </p:tav>
                                        <p:tav tm="100000">
                                          <p:val>
                                            <p:strVal val="#ppt_x"/>
                                          </p:val>
                                        </p:tav>
                                      </p:tavLst>
                                    </p:anim>
                                    <p:anim calcmode="lin" valueType="num">
                                      <p:cBhvr additive="base">
                                        <p:cTn id="75" dur="650" fill="hold"/>
                                        <p:tgtEl>
                                          <p:spTgt spid="21"/>
                                        </p:tgtEl>
                                        <p:attrNameLst>
                                          <p:attrName>ppt_y</p:attrName>
                                        </p:attrNameLst>
                                      </p:cBhvr>
                                      <p:tavLst>
                                        <p:tav tm="0">
                                          <p:val>
                                            <p:strVal val="#ppt_y+.06"/>
                                          </p:val>
                                        </p:tav>
                                        <p:tav tm="100000">
                                          <p:val>
                                            <p:strVal val="#ppt_y"/>
                                          </p:val>
                                        </p:tav>
                                      </p:tavLst>
                                    </p:anim>
                                  </p:childTnLst>
                                </p:cTn>
                              </p:par>
                              <p:par>
                                <p:cTn id="76" presetID="42" presetClass="entr" presetSubtype="0" decel="100000" fill="hold" grpId="0" nodeType="withEffect">
                                  <p:stCondLst>
                                    <p:cond delay="1990"/>
                                  </p:stCondLst>
                                  <p:childTnLst>
                                    <p:set>
                                      <p:cBhvr>
                                        <p:cTn id="77" dur="1" fill="hold">
                                          <p:stCondLst>
                                            <p:cond delay="0"/>
                                          </p:stCondLst>
                                        </p:cTn>
                                        <p:tgtEl>
                                          <p:spTgt spid="22"/>
                                        </p:tgtEl>
                                        <p:attrNameLst>
                                          <p:attrName>style.visibility</p:attrName>
                                        </p:attrNameLst>
                                      </p:cBhvr>
                                      <p:to>
                                        <p:strVal val="visible"/>
                                      </p:to>
                                    </p:set>
                                    <p:animEffect transition="in" filter="fade">
                                      <p:cBhvr>
                                        <p:cTn id="78" dur="650" fill="hold"/>
                                        <p:tgtEl>
                                          <p:spTgt spid="22"/>
                                        </p:tgtEl>
                                      </p:cBhvr>
                                    </p:animEffect>
                                    <p:anim calcmode="lin" valueType="num">
                                      <p:cBhvr additive="base">
                                        <p:cTn id="79" dur="650" fill="hold"/>
                                        <p:tgtEl>
                                          <p:spTgt spid="22"/>
                                        </p:tgtEl>
                                        <p:attrNameLst>
                                          <p:attrName>ppt_x</p:attrName>
                                        </p:attrNameLst>
                                      </p:cBhvr>
                                      <p:tavLst>
                                        <p:tav tm="0">
                                          <p:val>
                                            <p:strVal val="#ppt_x"/>
                                          </p:val>
                                        </p:tav>
                                        <p:tav tm="100000">
                                          <p:val>
                                            <p:strVal val="#ppt_x"/>
                                          </p:val>
                                        </p:tav>
                                      </p:tavLst>
                                    </p:anim>
                                    <p:anim calcmode="lin" valueType="num">
                                      <p:cBhvr additive="base">
                                        <p:cTn id="80" dur="650" fill="hold"/>
                                        <p:tgtEl>
                                          <p:spTgt spid="22"/>
                                        </p:tgtEl>
                                        <p:attrNameLst>
                                          <p:attrName>ppt_y</p:attrName>
                                        </p:attrNameLst>
                                      </p:cBhvr>
                                      <p:tavLst>
                                        <p:tav tm="0">
                                          <p:val>
                                            <p:strVal val="#ppt_y+.06"/>
                                          </p:val>
                                        </p:tav>
                                        <p:tav tm="100000">
                                          <p:val>
                                            <p:strVal val="#ppt_y"/>
                                          </p:val>
                                        </p:tav>
                                      </p:tavLst>
                                    </p:anim>
                                  </p:childTnLst>
                                </p:cTn>
                              </p:par>
                              <p:par>
                                <p:cTn id="81" presetID="53" presetClass="entr" presetSubtype="16" decel="100000" fill="hold" grpId="0" nodeType="withEffect">
                                  <p:stCondLst>
                                    <p:cond delay="2110"/>
                                  </p:stCondLst>
                                  <p:childTnLst>
                                    <p:set>
                                      <p:cBhvr>
                                        <p:cTn id="82" dur="1" fill="hold">
                                          <p:stCondLst>
                                            <p:cond delay="0"/>
                                          </p:stCondLst>
                                        </p:cTn>
                                        <p:tgtEl>
                                          <p:spTgt spid="23"/>
                                        </p:tgtEl>
                                        <p:attrNameLst>
                                          <p:attrName>style.visibility</p:attrName>
                                        </p:attrNameLst>
                                      </p:cBhvr>
                                      <p:to>
                                        <p:strVal val="visible"/>
                                      </p:to>
                                    </p:set>
                                    <p:anim calcmode="lin" valueType="num">
                                      <p:cBhvr additive="base">
                                        <p:cTn id="83" dur="450" fill="hold"/>
                                        <p:tgtEl>
                                          <p:spTgt spid="23"/>
                                        </p:tgtEl>
                                        <p:attrNameLst>
                                          <p:attrName>ppt_w</p:attrName>
                                        </p:attrNameLst>
                                      </p:cBhvr>
                                      <p:tavLst>
                                        <p:tav tm="0">
                                          <p:val>
                                            <p:strVal val="0"/>
                                          </p:val>
                                        </p:tav>
                                        <p:tav tm="70000">
                                          <p:val>
                                            <p:strVal val="#ppt_w*1.08"/>
                                          </p:val>
                                        </p:tav>
                                        <p:tav tm="100000">
                                          <p:val>
                                            <p:strVal val="#ppt_w"/>
                                          </p:val>
                                        </p:tav>
                                      </p:tavLst>
                                    </p:anim>
                                    <p:anim calcmode="lin" valueType="num">
                                      <p:cBhvr additive="base">
                                        <p:cTn id="84" dur="450" fill="hold"/>
                                        <p:tgtEl>
                                          <p:spTgt spid="23"/>
                                        </p:tgtEl>
                                        <p:attrNameLst>
                                          <p:attrName>ppt_h</p:attrName>
                                        </p:attrNameLst>
                                      </p:cBhvr>
                                      <p:tavLst>
                                        <p:tav tm="0">
                                          <p:val>
                                            <p:strVal val="0"/>
                                          </p:val>
                                        </p:tav>
                                        <p:tav tm="70000">
                                          <p:val>
                                            <p:strVal val="#ppt_h*1.08"/>
                                          </p:val>
                                        </p:tav>
                                        <p:tav tm="100000">
                                          <p:val>
                                            <p:strVal val="#ppt_h"/>
                                          </p:val>
                                        </p:tav>
                                      </p:tavLst>
                                    </p:anim>
                                    <p:animEffect transition="in" filter="fade">
                                      <p:cBhvr>
                                        <p:cTn id="85" dur="270" fill="hold"/>
                                        <p:tgtEl>
                                          <p:spTgt spid="23"/>
                                        </p:tgtEl>
                                      </p:cBhvr>
                                    </p:animEffect>
                                  </p:childTnLst>
                                </p:cTn>
                              </p:par>
                              <p:par>
                                <p:cTn id="86" presetID="22" presetClass="entr" presetSubtype="8" fill="hold" nodeType="withEffect">
                                  <p:stCondLst>
                                    <p:cond delay="2360"/>
                                  </p:stCondLst>
                                  <p:childTnLst>
                                    <p:set>
                                      <p:cBhvr>
                                        <p:cTn id="87" dur="1" fill="hold">
                                          <p:stCondLst>
                                            <p:cond delay="0"/>
                                          </p:stCondLst>
                                        </p:cTn>
                                        <p:tgtEl>
                                          <p:spTgt spid="24"/>
                                        </p:tgtEl>
                                        <p:attrNameLst>
                                          <p:attrName>style.visibility</p:attrName>
                                        </p:attrNameLst>
                                      </p:cBhvr>
                                      <p:to>
                                        <p:strVal val="visible"/>
                                      </p:to>
                                    </p:set>
                                    <p:animEffect transition="in" filter="wipe(left)">
                                      <p:cBhvr>
                                        <p:cTn id="88" dur="300" fill="hold"/>
                                        <p:tgtEl>
                                          <p:spTgt spid="24"/>
                                        </p:tgtEl>
                                      </p:cBhvr>
                                    </p:animEffect>
                                  </p:childTnLst>
                                </p:cTn>
                              </p:par>
                              <p:par>
                                <p:cTn id="89" presetID="42" presetClass="entr" presetSubtype="0" decel="100000" fill="hold" grpId="0" nodeType="withEffect">
                                  <p:stCondLst>
                                    <p:cond delay="2660"/>
                                  </p:stCondLst>
                                  <p:childTnLst>
                                    <p:set>
                                      <p:cBhvr>
                                        <p:cTn id="90" dur="1" fill="hold">
                                          <p:stCondLst>
                                            <p:cond delay="0"/>
                                          </p:stCondLst>
                                        </p:cTn>
                                        <p:tgtEl>
                                          <p:spTgt spid="25"/>
                                        </p:tgtEl>
                                        <p:attrNameLst>
                                          <p:attrName>style.visibility</p:attrName>
                                        </p:attrNameLst>
                                      </p:cBhvr>
                                      <p:to>
                                        <p:strVal val="visible"/>
                                      </p:to>
                                    </p:set>
                                    <p:animEffect transition="in" filter="fade">
                                      <p:cBhvr>
                                        <p:cTn id="91" dur="650" fill="hold"/>
                                        <p:tgtEl>
                                          <p:spTgt spid="25"/>
                                        </p:tgtEl>
                                      </p:cBhvr>
                                    </p:animEffect>
                                    <p:anim calcmode="lin" valueType="num">
                                      <p:cBhvr additive="base">
                                        <p:cTn id="92" dur="650" fill="hold"/>
                                        <p:tgtEl>
                                          <p:spTgt spid="25"/>
                                        </p:tgtEl>
                                        <p:attrNameLst>
                                          <p:attrName>ppt_x</p:attrName>
                                        </p:attrNameLst>
                                      </p:cBhvr>
                                      <p:tavLst>
                                        <p:tav tm="0">
                                          <p:val>
                                            <p:strVal val="#ppt_x"/>
                                          </p:val>
                                        </p:tav>
                                        <p:tav tm="100000">
                                          <p:val>
                                            <p:strVal val="#ppt_x"/>
                                          </p:val>
                                        </p:tav>
                                      </p:tavLst>
                                    </p:anim>
                                    <p:anim calcmode="lin" valueType="num">
                                      <p:cBhvr additive="base">
                                        <p:cTn id="93" dur="650" fill="hold"/>
                                        <p:tgtEl>
                                          <p:spTgt spid="25"/>
                                        </p:tgtEl>
                                        <p:attrNameLst>
                                          <p:attrName>ppt_y</p:attrName>
                                        </p:attrNameLst>
                                      </p:cBhvr>
                                      <p:tavLst>
                                        <p:tav tm="0">
                                          <p:val>
                                            <p:strVal val="#ppt_y+.06"/>
                                          </p:val>
                                        </p:tav>
                                        <p:tav tm="100000">
                                          <p:val>
                                            <p:strVal val="#ppt_y"/>
                                          </p:val>
                                        </p:tav>
                                      </p:tavLst>
                                    </p:anim>
                                  </p:childTnLst>
                                </p:cTn>
                              </p:par>
                              <p:par>
                                <p:cTn id="94" presetID="42" presetClass="entr" presetSubtype="0" decel="100000" fill="hold" grpId="0" nodeType="withEffect">
                                  <p:stCondLst>
                                    <p:cond delay="2660"/>
                                  </p:stCondLst>
                                  <p:childTnLst>
                                    <p:set>
                                      <p:cBhvr>
                                        <p:cTn id="95" dur="1" fill="hold">
                                          <p:stCondLst>
                                            <p:cond delay="0"/>
                                          </p:stCondLst>
                                        </p:cTn>
                                        <p:tgtEl>
                                          <p:spTgt spid="26"/>
                                        </p:tgtEl>
                                        <p:attrNameLst>
                                          <p:attrName>style.visibility</p:attrName>
                                        </p:attrNameLst>
                                      </p:cBhvr>
                                      <p:to>
                                        <p:strVal val="visible"/>
                                      </p:to>
                                    </p:set>
                                    <p:animEffect transition="in" filter="fade">
                                      <p:cBhvr>
                                        <p:cTn id="96" dur="650" fill="hold"/>
                                        <p:tgtEl>
                                          <p:spTgt spid="26"/>
                                        </p:tgtEl>
                                      </p:cBhvr>
                                    </p:animEffect>
                                    <p:anim calcmode="lin" valueType="num">
                                      <p:cBhvr additive="base">
                                        <p:cTn id="97" dur="650" fill="hold"/>
                                        <p:tgtEl>
                                          <p:spTgt spid="26"/>
                                        </p:tgtEl>
                                        <p:attrNameLst>
                                          <p:attrName>ppt_x</p:attrName>
                                        </p:attrNameLst>
                                      </p:cBhvr>
                                      <p:tavLst>
                                        <p:tav tm="0">
                                          <p:val>
                                            <p:strVal val="#ppt_x"/>
                                          </p:val>
                                        </p:tav>
                                        <p:tav tm="100000">
                                          <p:val>
                                            <p:strVal val="#ppt_x"/>
                                          </p:val>
                                        </p:tav>
                                      </p:tavLst>
                                    </p:anim>
                                    <p:anim calcmode="lin" valueType="num">
                                      <p:cBhvr additive="base">
                                        <p:cTn id="98" dur="650" fill="hold"/>
                                        <p:tgtEl>
                                          <p:spTgt spid="26"/>
                                        </p:tgtEl>
                                        <p:attrNameLst>
                                          <p:attrName>ppt_y</p:attrName>
                                        </p:attrNameLst>
                                      </p:cBhvr>
                                      <p:tavLst>
                                        <p:tav tm="0">
                                          <p:val>
                                            <p:strVal val="#ppt_y+.06"/>
                                          </p:val>
                                        </p:tav>
                                        <p:tav tm="100000">
                                          <p:val>
                                            <p:strVal val="#ppt_y"/>
                                          </p:val>
                                        </p:tav>
                                      </p:tavLst>
                                    </p:anim>
                                  </p:childTnLst>
                                </p:cTn>
                              </p:par>
                              <p:par>
                                <p:cTn id="99" presetID="42" presetClass="entr" presetSubtype="0" decel="100000" fill="hold" grpId="0" nodeType="withEffect">
                                  <p:stCondLst>
                                    <p:cond delay="2660"/>
                                  </p:stCondLst>
                                  <p:childTnLst>
                                    <p:set>
                                      <p:cBhvr>
                                        <p:cTn id="100" dur="1" fill="hold">
                                          <p:stCondLst>
                                            <p:cond delay="0"/>
                                          </p:stCondLst>
                                        </p:cTn>
                                        <p:tgtEl>
                                          <p:spTgt spid="27"/>
                                        </p:tgtEl>
                                        <p:attrNameLst>
                                          <p:attrName>style.visibility</p:attrName>
                                        </p:attrNameLst>
                                      </p:cBhvr>
                                      <p:to>
                                        <p:strVal val="visible"/>
                                      </p:to>
                                    </p:set>
                                    <p:animEffect transition="in" filter="fade">
                                      <p:cBhvr>
                                        <p:cTn id="101" dur="650" fill="hold"/>
                                        <p:tgtEl>
                                          <p:spTgt spid="27"/>
                                        </p:tgtEl>
                                      </p:cBhvr>
                                    </p:animEffect>
                                    <p:anim calcmode="lin" valueType="num">
                                      <p:cBhvr additive="base">
                                        <p:cTn id="102" dur="650" fill="hold"/>
                                        <p:tgtEl>
                                          <p:spTgt spid="27"/>
                                        </p:tgtEl>
                                        <p:attrNameLst>
                                          <p:attrName>ppt_x</p:attrName>
                                        </p:attrNameLst>
                                      </p:cBhvr>
                                      <p:tavLst>
                                        <p:tav tm="0">
                                          <p:val>
                                            <p:strVal val="#ppt_x"/>
                                          </p:val>
                                        </p:tav>
                                        <p:tav tm="100000">
                                          <p:val>
                                            <p:strVal val="#ppt_x"/>
                                          </p:val>
                                        </p:tav>
                                      </p:tavLst>
                                    </p:anim>
                                    <p:anim calcmode="lin" valueType="num">
                                      <p:cBhvr additive="base">
                                        <p:cTn id="103" dur="650" fill="hold"/>
                                        <p:tgtEl>
                                          <p:spTgt spid="27"/>
                                        </p:tgtEl>
                                        <p:attrNameLst>
                                          <p:attrName>ppt_y</p:attrName>
                                        </p:attrNameLst>
                                      </p:cBhvr>
                                      <p:tavLst>
                                        <p:tav tm="0">
                                          <p:val>
                                            <p:strVal val="#ppt_y+.06"/>
                                          </p:val>
                                        </p:tav>
                                        <p:tav tm="100000">
                                          <p:val>
                                            <p:strVal val="#ppt_y"/>
                                          </p:val>
                                        </p:tav>
                                      </p:tavLst>
                                    </p:anim>
                                  </p:childTnLst>
                                </p:cTn>
                              </p:par>
                              <p:par>
                                <p:cTn id="104" presetID="53" presetClass="entr" presetSubtype="16" decel="100000" fill="hold" grpId="0" nodeType="withEffect">
                                  <p:stCondLst>
                                    <p:cond delay="2780"/>
                                  </p:stCondLst>
                                  <p:childTnLst>
                                    <p:set>
                                      <p:cBhvr>
                                        <p:cTn id="105" dur="1" fill="hold">
                                          <p:stCondLst>
                                            <p:cond delay="0"/>
                                          </p:stCondLst>
                                        </p:cTn>
                                        <p:tgtEl>
                                          <p:spTgt spid="28"/>
                                        </p:tgtEl>
                                        <p:attrNameLst>
                                          <p:attrName>style.visibility</p:attrName>
                                        </p:attrNameLst>
                                      </p:cBhvr>
                                      <p:to>
                                        <p:strVal val="visible"/>
                                      </p:to>
                                    </p:set>
                                    <p:anim calcmode="lin" valueType="num">
                                      <p:cBhvr additive="base">
                                        <p:cTn id="106" dur="450" fill="hold"/>
                                        <p:tgtEl>
                                          <p:spTgt spid="28"/>
                                        </p:tgtEl>
                                        <p:attrNameLst>
                                          <p:attrName>ppt_w</p:attrName>
                                        </p:attrNameLst>
                                      </p:cBhvr>
                                      <p:tavLst>
                                        <p:tav tm="0">
                                          <p:val>
                                            <p:strVal val="0"/>
                                          </p:val>
                                        </p:tav>
                                        <p:tav tm="70000">
                                          <p:val>
                                            <p:strVal val="#ppt_w*1.08"/>
                                          </p:val>
                                        </p:tav>
                                        <p:tav tm="100000">
                                          <p:val>
                                            <p:strVal val="#ppt_w"/>
                                          </p:val>
                                        </p:tav>
                                      </p:tavLst>
                                    </p:anim>
                                    <p:anim calcmode="lin" valueType="num">
                                      <p:cBhvr additive="base">
                                        <p:cTn id="107" dur="450" fill="hold"/>
                                        <p:tgtEl>
                                          <p:spTgt spid="28"/>
                                        </p:tgtEl>
                                        <p:attrNameLst>
                                          <p:attrName>ppt_h</p:attrName>
                                        </p:attrNameLst>
                                      </p:cBhvr>
                                      <p:tavLst>
                                        <p:tav tm="0">
                                          <p:val>
                                            <p:strVal val="0"/>
                                          </p:val>
                                        </p:tav>
                                        <p:tav tm="70000">
                                          <p:val>
                                            <p:strVal val="#ppt_h*1.08"/>
                                          </p:val>
                                        </p:tav>
                                        <p:tav tm="100000">
                                          <p:val>
                                            <p:strVal val="#ppt_h"/>
                                          </p:val>
                                        </p:tav>
                                      </p:tavLst>
                                    </p:anim>
                                    <p:animEffect transition="in" filter="fade">
                                      <p:cBhvr>
                                        <p:cTn id="108" dur="270" fill="hold"/>
                                        <p:tgtEl>
                                          <p:spTgt spid="28"/>
                                        </p:tgtEl>
                                      </p:cBhvr>
                                    </p:animEffect>
                                  </p:childTnLst>
                                </p:cTn>
                              </p:par>
                              <p:par>
                                <p:cTn id="109" presetID="22" presetClass="entr" presetSubtype="8" fill="hold" nodeType="withEffect">
                                  <p:stCondLst>
                                    <p:cond delay="3030"/>
                                  </p:stCondLst>
                                  <p:childTnLst>
                                    <p:set>
                                      <p:cBhvr>
                                        <p:cTn id="110" dur="1" fill="hold">
                                          <p:stCondLst>
                                            <p:cond delay="0"/>
                                          </p:stCondLst>
                                        </p:cTn>
                                        <p:tgtEl>
                                          <p:spTgt spid="29"/>
                                        </p:tgtEl>
                                        <p:attrNameLst>
                                          <p:attrName>style.visibility</p:attrName>
                                        </p:attrNameLst>
                                      </p:cBhvr>
                                      <p:to>
                                        <p:strVal val="visible"/>
                                      </p:to>
                                    </p:set>
                                    <p:animEffect transition="in" filter="wipe(left)">
                                      <p:cBhvr>
                                        <p:cTn id="111" dur="300" fill="hold"/>
                                        <p:tgtEl>
                                          <p:spTgt spid="29"/>
                                        </p:tgtEl>
                                      </p:cBhvr>
                                    </p:animEffect>
                                  </p:childTnLst>
                                </p:cTn>
                              </p:par>
                              <p:par>
                                <p:cTn id="112" presetID="42" presetClass="entr" presetSubtype="0" decel="100000" fill="hold" grpId="0" nodeType="withEffect">
                                  <p:stCondLst>
                                    <p:cond delay="333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650" fill="hold"/>
                                        <p:tgtEl>
                                          <p:spTgt spid="30"/>
                                        </p:tgtEl>
                                      </p:cBhvr>
                                    </p:animEffect>
                                    <p:anim calcmode="lin" valueType="num">
                                      <p:cBhvr additive="base">
                                        <p:cTn id="115" dur="650" fill="hold"/>
                                        <p:tgtEl>
                                          <p:spTgt spid="30"/>
                                        </p:tgtEl>
                                        <p:attrNameLst>
                                          <p:attrName>ppt_x</p:attrName>
                                        </p:attrNameLst>
                                      </p:cBhvr>
                                      <p:tavLst>
                                        <p:tav tm="0">
                                          <p:val>
                                            <p:strVal val="#ppt_x"/>
                                          </p:val>
                                        </p:tav>
                                        <p:tav tm="100000">
                                          <p:val>
                                            <p:strVal val="#ppt_x"/>
                                          </p:val>
                                        </p:tav>
                                      </p:tavLst>
                                    </p:anim>
                                    <p:anim calcmode="lin" valueType="num">
                                      <p:cBhvr additive="base">
                                        <p:cTn id="116" dur="650" fill="hold"/>
                                        <p:tgtEl>
                                          <p:spTgt spid="30"/>
                                        </p:tgtEl>
                                        <p:attrNameLst>
                                          <p:attrName>ppt_y</p:attrName>
                                        </p:attrNameLst>
                                      </p:cBhvr>
                                      <p:tavLst>
                                        <p:tav tm="0">
                                          <p:val>
                                            <p:strVal val="#ppt_y+.06"/>
                                          </p:val>
                                        </p:tav>
                                        <p:tav tm="100000">
                                          <p:val>
                                            <p:strVal val="#ppt_y"/>
                                          </p:val>
                                        </p:tav>
                                      </p:tavLst>
                                    </p:anim>
                                  </p:childTnLst>
                                </p:cTn>
                              </p:par>
                              <p:par>
                                <p:cTn id="117" presetID="42" presetClass="entr" presetSubtype="0" decel="100000" fill="hold" grpId="0" nodeType="withEffect">
                                  <p:stCondLst>
                                    <p:cond delay="3330"/>
                                  </p:stCondLst>
                                  <p:childTnLst>
                                    <p:set>
                                      <p:cBhvr>
                                        <p:cTn id="118" dur="1" fill="hold">
                                          <p:stCondLst>
                                            <p:cond delay="0"/>
                                          </p:stCondLst>
                                        </p:cTn>
                                        <p:tgtEl>
                                          <p:spTgt spid="31"/>
                                        </p:tgtEl>
                                        <p:attrNameLst>
                                          <p:attrName>style.visibility</p:attrName>
                                        </p:attrNameLst>
                                      </p:cBhvr>
                                      <p:to>
                                        <p:strVal val="visible"/>
                                      </p:to>
                                    </p:set>
                                    <p:animEffect transition="in" filter="fade">
                                      <p:cBhvr>
                                        <p:cTn id="119" dur="650" fill="hold"/>
                                        <p:tgtEl>
                                          <p:spTgt spid="31"/>
                                        </p:tgtEl>
                                      </p:cBhvr>
                                    </p:animEffect>
                                    <p:anim calcmode="lin" valueType="num">
                                      <p:cBhvr additive="base">
                                        <p:cTn id="120" dur="650" fill="hold"/>
                                        <p:tgtEl>
                                          <p:spTgt spid="31"/>
                                        </p:tgtEl>
                                        <p:attrNameLst>
                                          <p:attrName>ppt_x</p:attrName>
                                        </p:attrNameLst>
                                      </p:cBhvr>
                                      <p:tavLst>
                                        <p:tav tm="0">
                                          <p:val>
                                            <p:strVal val="#ppt_x"/>
                                          </p:val>
                                        </p:tav>
                                        <p:tav tm="100000">
                                          <p:val>
                                            <p:strVal val="#ppt_x"/>
                                          </p:val>
                                        </p:tav>
                                      </p:tavLst>
                                    </p:anim>
                                    <p:anim calcmode="lin" valueType="num">
                                      <p:cBhvr additive="base">
                                        <p:cTn id="121" dur="650" fill="hold"/>
                                        <p:tgtEl>
                                          <p:spTgt spid="31"/>
                                        </p:tgtEl>
                                        <p:attrNameLst>
                                          <p:attrName>ppt_y</p:attrName>
                                        </p:attrNameLst>
                                      </p:cBhvr>
                                      <p:tavLst>
                                        <p:tav tm="0">
                                          <p:val>
                                            <p:strVal val="#ppt_y+.06"/>
                                          </p:val>
                                        </p:tav>
                                        <p:tav tm="100000">
                                          <p:val>
                                            <p:strVal val="#ppt_y"/>
                                          </p:val>
                                        </p:tav>
                                      </p:tavLst>
                                    </p:anim>
                                  </p:childTnLst>
                                </p:cTn>
                              </p:par>
                              <p:par>
                                <p:cTn id="122" presetID="42" presetClass="entr" presetSubtype="0" decel="100000" fill="hold" grpId="0" nodeType="withEffect">
                                  <p:stCondLst>
                                    <p:cond delay="3330"/>
                                  </p:stCondLst>
                                  <p:childTnLst>
                                    <p:set>
                                      <p:cBhvr>
                                        <p:cTn id="123" dur="1" fill="hold">
                                          <p:stCondLst>
                                            <p:cond delay="0"/>
                                          </p:stCondLst>
                                        </p:cTn>
                                        <p:tgtEl>
                                          <p:spTgt spid="32"/>
                                        </p:tgtEl>
                                        <p:attrNameLst>
                                          <p:attrName>style.visibility</p:attrName>
                                        </p:attrNameLst>
                                      </p:cBhvr>
                                      <p:to>
                                        <p:strVal val="visible"/>
                                      </p:to>
                                    </p:set>
                                    <p:animEffect transition="in" filter="fade">
                                      <p:cBhvr>
                                        <p:cTn id="124" dur="650" fill="hold"/>
                                        <p:tgtEl>
                                          <p:spTgt spid="32"/>
                                        </p:tgtEl>
                                      </p:cBhvr>
                                    </p:animEffect>
                                    <p:anim calcmode="lin" valueType="num">
                                      <p:cBhvr additive="base">
                                        <p:cTn id="125" dur="650" fill="hold"/>
                                        <p:tgtEl>
                                          <p:spTgt spid="32"/>
                                        </p:tgtEl>
                                        <p:attrNameLst>
                                          <p:attrName>ppt_x</p:attrName>
                                        </p:attrNameLst>
                                      </p:cBhvr>
                                      <p:tavLst>
                                        <p:tav tm="0">
                                          <p:val>
                                            <p:strVal val="#ppt_x"/>
                                          </p:val>
                                        </p:tav>
                                        <p:tav tm="100000">
                                          <p:val>
                                            <p:strVal val="#ppt_x"/>
                                          </p:val>
                                        </p:tav>
                                      </p:tavLst>
                                    </p:anim>
                                    <p:anim calcmode="lin" valueType="num">
                                      <p:cBhvr additive="base">
                                        <p:cTn id="126" dur="650" fill="hold"/>
                                        <p:tgtEl>
                                          <p:spTgt spid="32"/>
                                        </p:tgtEl>
                                        <p:attrNameLst>
                                          <p:attrName>ppt_y</p:attrName>
                                        </p:attrNameLst>
                                      </p:cBhvr>
                                      <p:tavLst>
                                        <p:tav tm="0">
                                          <p:val>
                                            <p:strVal val="#ppt_y+.06"/>
                                          </p:val>
                                        </p:tav>
                                        <p:tav tm="100000">
                                          <p:val>
                                            <p:strVal val="#ppt_y"/>
                                          </p:val>
                                        </p:tav>
                                      </p:tavLst>
                                    </p:anim>
                                  </p:childTnLst>
                                </p:cTn>
                              </p:par>
                              <p:par>
                                <p:cTn id="127" presetID="53" presetClass="entr" presetSubtype="16" decel="100000" fill="hold" grpId="0" nodeType="withEffect">
                                  <p:stCondLst>
                                    <p:cond delay="3450"/>
                                  </p:stCondLst>
                                  <p:childTnLst>
                                    <p:set>
                                      <p:cBhvr>
                                        <p:cTn id="128" dur="1" fill="hold">
                                          <p:stCondLst>
                                            <p:cond delay="0"/>
                                          </p:stCondLst>
                                        </p:cTn>
                                        <p:tgtEl>
                                          <p:spTgt spid="33"/>
                                        </p:tgtEl>
                                        <p:attrNameLst>
                                          <p:attrName>style.visibility</p:attrName>
                                        </p:attrNameLst>
                                      </p:cBhvr>
                                      <p:to>
                                        <p:strVal val="visible"/>
                                      </p:to>
                                    </p:set>
                                    <p:anim calcmode="lin" valueType="num">
                                      <p:cBhvr additive="base">
                                        <p:cTn id="129" dur="450" fill="hold"/>
                                        <p:tgtEl>
                                          <p:spTgt spid="33"/>
                                        </p:tgtEl>
                                        <p:attrNameLst>
                                          <p:attrName>ppt_w</p:attrName>
                                        </p:attrNameLst>
                                      </p:cBhvr>
                                      <p:tavLst>
                                        <p:tav tm="0">
                                          <p:val>
                                            <p:strVal val="0"/>
                                          </p:val>
                                        </p:tav>
                                        <p:tav tm="70000">
                                          <p:val>
                                            <p:strVal val="#ppt_w*1.08"/>
                                          </p:val>
                                        </p:tav>
                                        <p:tav tm="100000">
                                          <p:val>
                                            <p:strVal val="#ppt_w"/>
                                          </p:val>
                                        </p:tav>
                                      </p:tavLst>
                                    </p:anim>
                                    <p:anim calcmode="lin" valueType="num">
                                      <p:cBhvr additive="base">
                                        <p:cTn id="130" dur="450" fill="hold"/>
                                        <p:tgtEl>
                                          <p:spTgt spid="33"/>
                                        </p:tgtEl>
                                        <p:attrNameLst>
                                          <p:attrName>ppt_h</p:attrName>
                                        </p:attrNameLst>
                                      </p:cBhvr>
                                      <p:tavLst>
                                        <p:tav tm="0">
                                          <p:val>
                                            <p:strVal val="0"/>
                                          </p:val>
                                        </p:tav>
                                        <p:tav tm="70000">
                                          <p:val>
                                            <p:strVal val="#ppt_h*1.08"/>
                                          </p:val>
                                        </p:tav>
                                        <p:tav tm="100000">
                                          <p:val>
                                            <p:strVal val="#ppt_h"/>
                                          </p:val>
                                        </p:tav>
                                      </p:tavLst>
                                    </p:anim>
                                    <p:animEffect transition="in" filter="fade">
                                      <p:cBhvr>
                                        <p:cTn id="131" dur="270" fill="hold"/>
                                        <p:tgtEl>
                                          <p:spTgt spid="33"/>
                                        </p:tgtEl>
                                      </p:cBhvr>
                                    </p:animEffect>
                                  </p:childTnLst>
                                </p:cTn>
                              </p:par>
                              <p:par>
                                <p:cTn id="132" presetID="10" presetClass="entr" presetSubtype="0" fill="hold" grpId="0" nodeType="withEffect">
                                  <p:stCondLst>
                                    <p:cond delay="3850"/>
                                  </p:stCondLst>
                                  <p:childTnLst>
                                    <p:set>
                                      <p:cBhvr>
                                        <p:cTn id="133" dur="1" fill="hold">
                                          <p:stCondLst>
                                            <p:cond delay="0"/>
                                          </p:stCondLst>
                                        </p:cTn>
                                        <p:tgtEl>
                                          <p:spTgt spid="34"/>
                                        </p:tgtEl>
                                        <p:attrNameLst>
                                          <p:attrName>style.visibility</p:attrName>
                                        </p:attrNameLst>
                                      </p:cBhvr>
                                      <p:to>
                                        <p:strVal val="visible"/>
                                      </p:to>
                                    </p:set>
                                    <p:animEffect transition="in" filter="fade">
                                      <p:cBhvr>
                                        <p:cTn id="134" dur="500" fill="hold"/>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10" grpId="0" animBg="1"/>
      <p:bldP spid="11" grpId="0" animBg="1"/>
      <p:bldP spid="12" grpId="0" animBg="1"/>
      <p:bldP spid="13" grpId="0" animBg="1"/>
      <p:bldP spid="15" grpId="0" animBg="1"/>
      <p:bldP spid="16" grpId="0" animBg="1"/>
      <p:bldP spid="17" grpId="0" animBg="1"/>
      <p:bldP spid="18" grpId="0" animBg="1"/>
      <p:bldP spid="20" grpId="0" animBg="1"/>
      <p:bldP spid="21" grpId="0" animBg="1"/>
      <p:bldP spid="22" grpId="0" animBg="1"/>
      <p:bldP spid="23" grpId="0" animBg="1"/>
      <p:bldP spid="25" grpId="0" animBg="1"/>
      <p:bldP spid="26" grpId="0" animBg="1"/>
      <p:bldP spid="27" grpId="0" animBg="1"/>
      <p:bldP spid="28" grpId="0" animBg="1"/>
      <p:bldP spid="30" grpId="0" animBg="1"/>
      <p:bldP spid="31" grpId="0" animBg="1"/>
      <p:bldP spid="32" grpId="0" animBg="1"/>
      <p:bldP spid="33" grpId="0" animBg="1"/>
      <p:bldP spid="3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9CD848"/>
                </a:solidFill>
                <a:latin typeface="Segoe UI Semibold"/>
              </a:rPr>
              <a:t>MÓDULO 1  ·  DESIGN COMO FERRAMENTA DE INOVAÇÃO</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Errar rápido para aprender rápido</a:t>
            </a:r>
          </a:p>
        </p:txBody>
      </p:sp>
      <p:sp>
        <p:nvSpPr>
          <p:cNvPr id="6" name="TextBox 5"/>
          <p:cNvSpPr txBox="1"/>
          <p:nvPr/>
        </p:nvSpPr>
        <p:spPr>
          <a:xfrm>
            <a:off x="548640" y="1645920"/>
            <a:ext cx="6675120" cy="4206240"/>
          </a:xfrm>
          <a:prstGeom prst="rect">
            <a:avLst/>
          </a:prstGeom>
          <a:noFill/>
        </p:spPr>
        <p:txBody>
          <a:bodyPr wrap="square">
            <a:spAutoFit/>
          </a:bodyPr>
          <a:lstStyle/>
          <a:p>
            <a:pPr marL="292608" indent="-292608">
              <a:spcAft>
                <a:spcPts val="1600"/>
              </a:spcAft>
              <a:buClr>
                <a:srgbClr val="9CD848"/>
              </a:buClr>
              <a:buFont typeface="Arial"/>
              <a:buChar char="●"/>
            </a:pPr>
            <a:r>
              <a:rPr sz="1800">
                <a:solidFill>
                  <a:srgbClr val="F2F2EC"/>
                </a:solidFill>
                <a:latin typeface="Segoe UI"/>
              </a:rPr>
              <a:t>Testar cedo, com protótipos simples, é mais barato do que acertar 'de primeira'</a:t>
            </a:r>
          </a:p>
          <a:p>
            <a:pPr marL="292608" indent="-292608">
              <a:spcAft>
                <a:spcPts val="1600"/>
              </a:spcAft>
              <a:buClr>
                <a:srgbClr val="9CD848"/>
              </a:buClr>
              <a:buFont typeface="Arial"/>
              <a:buChar char="●"/>
            </a:pPr>
            <a:r>
              <a:rPr sz="1800">
                <a:solidFill>
                  <a:srgbClr val="F2F2EC"/>
                </a:solidFill>
                <a:latin typeface="Segoe UI"/>
              </a:rPr>
              <a:t>Cada erro revela o que descartar e o que melhorar</a:t>
            </a:r>
          </a:p>
          <a:p>
            <a:pPr marL="292608" indent="-292608">
              <a:spcAft>
                <a:spcPts val="1600"/>
              </a:spcAft>
              <a:buClr>
                <a:srgbClr val="9CD848"/>
              </a:buClr>
              <a:buFont typeface="Arial"/>
              <a:buChar char="●"/>
            </a:pPr>
            <a:r>
              <a:rPr sz="1800">
                <a:solidFill>
                  <a:srgbClr val="F2F2EC"/>
                </a:solidFill>
                <a:latin typeface="Segoe UI"/>
              </a:rPr>
              <a:t>O objetivo não é evitar falhas, é falhar pequeno e cedo</a:t>
            </a:r>
          </a:p>
          <a:p>
            <a:pPr marL="292608" indent="-292608">
              <a:buClr>
                <a:srgbClr val="9CD848"/>
              </a:buClr>
              <a:buFont typeface="Arial"/>
              <a:buChar char="●"/>
            </a:pPr>
            <a:r>
              <a:rPr sz="1800">
                <a:solidFill>
                  <a:srgbClr val="F2F2EC"/>
                </a:solidFill>
                <a:latin typeface="Segoe UI"/>
              </a:rPr>
              <a:t>Cultura de experimentação exige segurança psicológica no time</a:t>
            </a:r>
          </a:p>
        </p:txBody>
      </p:sp>
      <p:sp>
        <p:nvSpPr>
          <p:cNvPr id="7" name="Rounded Rectangle 6"/>
          <p:cNvSpPr/>
          <p:nvPr/>
        </p:nvSpPr>
        <p:spPr>
          <a:xfrm>
            <a:off x="7680960" y="1645920"/>
            <a:ext cx="3959352" cy="402336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955279" y="1691640"/>
            <a:ext cx="1371600" cy="1097280"/>
          </a:xfrm>
          <a:prstGeom prst="rect">
            <a:avLst/>
          </a:prstGeom>
          <a:noFill/>
        </p:spPr>
        <p:txBody>
          <a:bodyPr wrap="square" lIns="36576" tIns="18288" rIns="36576" bIns="18288" anchor="t">
            <a:spAutoFit/>
          </a:bodyPr>
          <a:lstStyle/>
          <a:p>
            <a:pPr algn="l"/>
            <a:r>
              <a:rPr sz="8000" b="1" i="0">
                <a:solidFill>
                  <a:srgbClr val="9CD848"/>
                </a:solidFill>
                <a:latin typeface="Georgia"/>
              </a:rPr>
              <a:t>“</a:t>
            </a:r>
          </a:p>
        </p:txBody>
      </p:sp>
      <p:sp>
        <p:nvSpPr>
          <p:cNvPr id="9" name="TextBox 8"/>
          <p:cNvSpPr txBox="1"/>
          <p:nvPr/>
        </p:nvSpPr>
        <p:spPr>
          <a:xfrm>
            <a:off x="8001000" y="2743200"/>
            <a:ext cx="3383280" cy="2743200"/>
          </a:xfrm>
          <a:prstGeom prst="rect">
            <a:avLst/>
          </a:prstGeom>
          <a:noFill/>
        </p:spPr>
        <p:txBody>
          <a:bodyPr wrap="square" lIns="36576" tIns="18288" rIns="36576" bIns="18288" anchor="t">
            <a:spAutoFit/>
          </a:bodyPr>
          <a:lstStyle/>
          <a:p>
            <a:pPr algn="l">
              <a:lnSpc>
                <a:spcPct val="110000"/>
              </a:lnSpc>
            </a:pPr>
            <a:r>
              <a:rPr sz="2100" b="1" i="0">
                <a:solidFill>
                  <a:srgbClr val="F2F2EC"/>
                </a:solidFill>
                <a:latin typeface="Segoe UI Semibold"/>
              </a:rPr>
              <a:t>Falha barata no começo evita fracasso caro no final.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50" fill="hold"/>
                                        <p:tgtEl>
                                          <p:spTgt spid="6"/>
                                        </p:tgtEl>
                                      </p:cBhvr>
                                    </p:animEffect>
                                    <p:anim calcmode="lin" valueType="num">
                                      <p:cBhvr additive="base">
                                        <p:cTn id="11" dur="650" fill="hold"/>
                                        <p:tgtEl>
                                          <p:spTgt spid="6"/>
                                        </p:tgtEl>
                                        <p:attrNameLst>
                                          <p:attrName>ppt_x</p:attrName>
                                        </p:attrNameLst>
                                      </p:cBhvr>
                                      <p:tavLst>
                                        <p:tav tm="0">
                                          <p:val>
                                            <p:strVal val="#ppt_x"/>
                                          </p:val>
                                        </p:tav>
                                        <p:tav tm="100000">
                                          <p:val>
                                            <p:strVal val="#ppt_x"/>
                                          </p:val>
                                        </p:tav>
                                      </p:tavLst>
                                    </p:anim>
                                    <p:anim calcmode="lin" valueType="num">
                                      <p:cBhvr additive="base">
                                        <p:cTn id="12" dur="650" fill="hold"/>
                                        <p:tgtEl>
                                          <p:spTgt spid="6"/>
                                        </p:tgtEl>
                                        <p:attrNameLst>
                                          <p:attrName>ppt_y</p:attrName>
                                        </p:attrNameLst>
                                      </p:cBhvr>
                                      <p:tavLst>
                                        <p:tav tm="0">
                                          <p:val>
                                            <p:strVal val="#ppt_y+.06"/>
                                          </p:val>
                                        </p:tav>
                                        <p:tav tm="100000">
                                          <p:val>
                                            <p:strVal val="#ppt_y"/>
                                          </p:val>
                                        </p:tav>
                                      </p:tavLst>
                                    </p:anim>
                                  </p:childTnLst>
                                </p:cTn>
                              </p:par>
                              <p:par>
                                <p:cTn id="13" presetID="42" presetClass="entr" presetSubtype="0" decel="100000" fill="hold" grpId="0" nodeType="withEffect">
                                  <p:stCondLst>
                                    <p:cond delay="75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fill="hold"/>
                                        <p:tgtEl>
                                          <p:spTgt spid="7"/>
                                        </p:tgtEl>
                                      </p:cBhvr>
                                    </p:animEffect>
                                    <p:anim calcmode="lin" valueType="num">
                                      <p:cBhvr additive="base">
                                        <p:cTn id="16" dur="650" fill="hold"/>
                                        <p:tgtEl>
                                          <p:spTgt spid="7"/>
                                        </p:tgtEl>
                                        <p:attrNameLst>
                                          <p:attrName>ppt_x</p:attrName>
                                        </p:attrNameLst>
                                      </p:cBhvr>
                                      <p:tavLst>
                                        <p:tav tm="0">
                                          <p:val>
                                            <p:strVal val="#ppt_x"/>
                                          </p:val>
                                        </p:tav>
                                        <p:tav tm="100000">
                                          <p:val>
                                            <p:strVal val="#ppt_x"/>
                                          </p:val>
                                        </p:tav>
                                      </p:tavLst>
                                    </p:anim>
                                    <p:anim calcmode="lin" valueType="num">
                                      <p:cBhvr additive="base">
                                        <p:cTn id="17" dur="650" fill="hold"/>
                                        <p:tgtEl>
                                          <p:spTgt spid="7"/>
                                        </p:tgtEl>
                                        <p:attrNameLst>
                                          <p:attrName>ppt_y</p:attrName>
                                        </p:attrNameLst>
                                      </p:cBhvr>
                                      <p:tavLst>
                                        <p:tav tm="0">
                                          <p:val>
                                            <p:strVal val="#ppt_y+.06"/>
                                          </p:val>
                                        </p:tav>
                                        <p:tav tm="100000">
                                          <p:val>
                                            <p:strVal val="#ppt_y"/>
                                          </p:val>
                                        </p:tav>
                                      </p:tavLst>
                                    </p:anim>
                                  </p:childTnLst>
                                </p:cTn>
                              </p:par>
                              <p:par>
                                <p:cTn id="18" presetID="53" presetClass="entr" presetSubtype="16" decel="100000" fill="hold" grpId="0" nodeType="withEffect">
                                  <p:stCondLst>
                                    <p:cond delay="105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450" fill="hold"/>
                                        <p:tgtEl>
                                          <p:spTgt spid="8"/>
                                        </p:tgtEl>
                                        <p:attrNameLst>
                                          <p:attrName>ppt_w</p:attrName>
                                        </p:attrNameLst>
                                      </p:cBhvr>
                                      <p:tavLst>
                                        <p:tav tm="0">
                                          <p:val>
                                            <p:strVal val="0"/>
                                          </p:val>
                                        </p:tav>
                                        <p:tav tm="70000">
                                          <p:val>
                                            <p:strVal val="#ppt_w*1.08"/>
                                          </p:val>
                                        </p:tav>
                                        <p:tav tm="100000">
                                          <p:val>
                                            <p:strVal val="#ppt_w"/>
                                          </p:val>
                                        </p:tav>
                                      </p:tavLst>
                                    </p:anim>
                                    <p:anim calcmode="lin" valueType="num">
                                      <p:cBhvr additive="base">
                                        <p:cTn id="21" dur="450" fill="hold"/>
                                        <p:tgtEl>
                                          <p:spTgt spid="8"/>
                                        </p:tgtEl>
                                        <p:attrNameLst>
                                          <p:attrName>ppt_h</p:attrName>
                                        </p:attrNameLst>
                                      </p:cBhvr>
                                      <p:tavLst>
                                        <p:tav tm="0">
                                          <p:val>
                                            <p:strVal val="0"/>
                                          </p:val>
                                        </p:tav>
                                        <p:tav tm="70000">
                                          <p:val>
                                            <p:strVal val="#ppt_h*1.08"/>
                                          </p:val>
                                        </p:tav>
                                        <p:tav tm="100000">
                                          <p:val>
                                            <p:strVal val="#ppt_h"/>
                                          </p:val>
                                        </p:tav>
                                      </p:tavLst>
                                    </p:anim>
                                    <p:animEffect transition="in" filter="fade">
                                      <p:cBhvr>
                                        <p:cTn id="22" dur="270" fill="hold"/>
                                        <p:tgtEl>
                                          <p:spTgt spid="8"/>
                                        </p:tgtEl>
                                      </p:cBhvr>
                                    </p:animEffect>
                                  </p:childTnLst>
                                </p:cTn>
                              </p:par>
                              <p:par>
                                <p:cTn id="23" presetID="10" presetClass="entr" presetSubtype="0" fill="hold" grpId="0" nodeType="withEffect">
                                  <p:stCondLst>
                                    <p:cond delay="1250"/>
                                  </p:stCondLst>
                                  <p:iterate type="wd">
                                    <p:tmPct val="35000"/>
                                  </p:iterate>
                                  <p:childTnLst>
                                    <p:set>
                                      <p:cBhvr>
                                        <p:cTn id="24" dur="1" fill="hold">
                                          <p:stCondLst>
                                            <p:cond delay="0"/>
                                          </p:stCondLst>
                                        </p:cTn>
                                        <p:tgtEl>
                                          <p:spTgt spid="9"/>
                                        </p:tgtEl>
                                        <p:attrNameLst>
                                          <p:attrName>style.visibility</p:attrName>
                                        </p:attrNameLst>
                                      </p:cBhvr>
                                      <p:to>
                                        <p:strVal val="visible"/>
                                      </p:to>
                                    </p:set>
                                    <p:animEffect transition="in" filter="fade">
                                      <p:cBhvr>
                                        <p:cTn id="25" dur="420" fill="hold"/>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9CD848"/>
                </a:solidFill>
                <a:latin typeface="Segoe UI Semibold"/>
              </a:rPr>
              <a:t>MÓDULO 1  ·  DESIGN COMO FERRAMENTA DE INOVAÇÃO</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O processo não é uma linha reta</a:t>
            </a:r>
          </a:p>
        </p:txBody>
      </p:sp>
      <p:sp>
        <p:nvSpPr>
          <p:cNvPr id="6" name="Rounded Rectangle 5"/>
          <p:cNvSpPr/>
          <p:nvPr/>
        </p:nvSpPr>
        <p:spPr>
          <a:xfrm>
            <a:off x="655167" y="3291840"/>
            <a:ext cx="1920240" cy="640080"/>
          </a:xfrm>
          <a:prstGeom prst="roundRect">
            <a:avLst>
              <a:gd name="adj" fmla="val 50000"/>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500" b="1" i="0">
                <a:solidFill>
                  <a:srgbClr val="1A1A1A"/>
                </a:solidFill>
                <a:latin typeface="Segoe UI Semibold"/>
              </a:rPr>
              <a:t>Empatizar</a:t>
            </a:r>
          </a:p>
        </p:txBody>
      </p:sp>
      <p:cxnSp>
        <p:nvCxnSpPr>
          <p:cNvPr id="7" name="Connector 6"/>
          <p:cNvCxnSpPr/>
          <p:nvPr/>
        </p:nvCxnSpPr>
        <p:spPr>
          <a:xfrm>
            <a:off x="2602839" y="3611880"/>
            <a:ext cx="265176" cy="0"/>
          </a:xfrm>
          <a:prstGeom prst="line">
            <a:avLst/>
          </a:prstGeom>
          <a:ln w="25400">
            <a:solidFill>
              <a:srgbClr val="7D827B"/>
            </a:solidFill>
            <a:tailEnd type="triangle"/>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895447" y="3291840"/>
            <a:ext cx="1920240" cy="640080"/>
          </a:xfrm>
          <a:prstGeom prst="roundRect">
            <a:avLst>
              <a:gd name="adj" fmla="val 50000"/>
            </a:avLst>
          </a:prstGeom>
          <a:solidFill>
            <a:srgbClr val="4DB35A"/>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500" b="1" i="0">
                <a:solidFill>
                  <a:srgbClr val="1A1A1A"/>
                </a:solidFill>
                <a:latin typeface="Segoe UI Semibold"/>
              </a:rPr>
              <a:t>Definir</a:t>
            </a:r>
          </a:p>
        </p:txBody>
      </p:sp>
      <p:cxnSp>
        <p:nvCxnSpPr>
          <p:cNvPr id="9" name="Connector 8"/>
          <p:cNvCxnSpPr/>
          <p:nvPr/>
        </p:nvCxnSpPr>
        <p:spPr>
          <a:xfrm>
            <a:off x="4843119" y="3611880"/>
            <a:ext cx="265176" cy="0"/>
          </a:xfrm>
          <a:prstGeom prst="line">
            <a:avLst/>
          </a:prstGeom>
          <a:ln w="25400">
            <a:solidFill>
              <a:srgbClr val="7D827B"/>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135727" y="3291840"/>
            <a:ext cx="1920240" cy="640080"/>
          </a:xfrm>
          <a:prstGeom prst="roundRect">
            <a:avLst>
              <a:gd name="adj" fmla="val 50000"/>
            </a:avLst>
          </a:prstGeom>
          <a:solidFill>
            <a:srgbClr val="2FA38A"/>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500" b="1" i="0">
                <a:solidFill>
                  <a:srgbClr val="1A1A1A"/>
                </a:solidFill>
                <a:latin typeface="Segoe UI Semibold"/>
              </a:rPr>
              <a:t>Idear</a:t>
            </a:r>
          </a:p>
        </p:txBody>
      </p:sp>
      <p:cxnSp>
        <p:nvCxnSpPr>
          <p:cNvPr id="11" name="Connector 10"/>
          <p:cNvCxnSpPr/>
          <p:nvPr/>
        </p:nvCxnSpPr>
        <p:spPr>
          <a:xfrm>
            <a:off x="7083399" y="3611880"/>
            <a:ext cx="265176" cy="0"/>
          </a:xfrm>
          <a:prstGeom prst="line">
            <a:avLst/>
          </a:prstGeom>
          <a:ln w="25400">
            <a:solidFill>
              <a:srgbClr val="7D827B"/>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376007" y="3291840"/>
            <a:ext cx="1920240" cy="640080"/>
          </a:xfrm>
          <a:prstGeom prst="roundRect">
            <a:avLst>
              <a:gd name="adj" fmla="val 50000"/>
            </a:avLst>
          </a:prstGeom>
          <a:solidFill>
            <a:srgbClr val="2A9FC0"/>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500" b="1" i="0">
                <a:solidFill>
                  <a:srgbClr val="1A1A1A"/>
                </a:solidFill>
                <a:latin typeface="Segoe UI Semibold"/>
              </a:rPr>
              <a:t>Prototipar</a:t>
            </a:r>
          </a:p>
        </p:txBody>
      </p:sp>
      <p:cxnSp>
        <p:nvCxnSpPr>
          <p:cNvPr id="13" name="Connector 12"/>
          <p:cNvCxnSpPr/>
          <p:nvPr/>
        </p:nvCxnSpPr>
        <p:spPr>
          <a:xfrm>
            <a:off x="9323679" y="3611880"/>
            <a:ext cx="265176" cy="0"/>
          </a:xfrm>
          <a:prstGeom prst="line">
            <a:avLst/>
          </a:prstGeom>
          <a:ln w="25400">
            <a:solidFill>
              <a:srgbClr val="7D827B"/>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616287" y="3291840"/>
            <a:ext cx="1920240" cy="640080"/>
          </a:xfrm>
          <a:prstGeom prst="roundRect">
            <a:avLst>
              <a:gd name="adj" fmla="val 50000"/>
            </a:avLst>
          </a:prstGeom>
          <a:solidFill>
            <a:srgbClr val="1F7FA8"/>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500" b="1" i="0">
                <a:solidFill>
                  <a:srgbClr val="1A1A1A"/>
                </a:solidFill>
                <a:latin typeface="Segoe UI Semibold"/>
              </a:rPr>
              <a:t>Testar</a:t>
            </a:r>
          </a:p>
        </p:txBody>
      </p:sp>
      <p:sp>
        <p:nvSpPr>
          <p:cNvPr id="15" name="Arc 14"/>
          <p:cNvSpPr/>
          <p:nvPr/>
        </p:nvSpPr>
        <p:spPr>
          <a:xfrm>
            <a:off x="3855567" y="1920240"/>
            <a:ext cx="6720840" cy="2743200"/>
          </a:xfrm>
          <a:prstGeom prst="arc">
            <a:avLst>
              <a:gd name="adj1" fmla="val 10800000"/>
              <a:gd name="adj2" fmla="val 0"/>
            </a:avLst>
          </a:prstGeom>
          <a:noFill/>
          <a:ln w="19050">
            <a:solidFill>
              <a:srgbClr val="B4B8B0"/>
            </a:solidFill>
            <a:prstDash val="dash"/>
            <a:headEnd type="triangle"/>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Arc 15"/>
          <p:cNvSpPr/>
          <p:nvPr/>
        </p:nvSpPr>
        <p:spPr>
          <a:xfrm>
            <a:off x="6095847" y="2468880"/>
            <a:ext cx="2240280" cy="1645920"/>
          </a:xfrm>
          <a:prstGeom prst="arc">
            <a:avLst>
              <a:gd name="adj1" fmla="val 10800000"/>
              <a:gd name="adj2" fmla="val 0"/>
            </a:avLst>
          </a:prstGeom>
          <a:noFill/>
          <a:ln w="19050">
            <a:solidFill>
              <a:srgbClr val="B4B8B0"/>
            </a:solidFill>
            <a:prstDash val="dash"/>
            <a:headEnd type="triangle"/>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Arc 16"/>
          <p:cNvSpPr/>
          <p:nvPr/>
        </p:nvSpPr>
        <p:spPr>
          <a:xfrm>
            <a:off x="1615287" y="1371600"/>
            <a:ext cx="8961120" cy="3840480"/>
          </a:xfrm>
          <a:prstGeom prst="arc">
            <a:avLst>
              <a:gd name="adj1" fmla="val 10800000"/>
              <a:gd name="adj2" fmla="val 0"/>
            </a:avLst>
          </a:prstGeom>
          <a:noFill/>
          <a:ln w="19050">
            <a:solidFill>
              <a:srgbClr val="B4B8B0"/>
            </a:solidFill>
            <a:prstDash val="dash"/>
            <a:headEnd type="triangle"/>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97280" y="4343400"/>
            <a:ext cx="9966960" cy="1371600"/>
          </a:xfrm>
          <a:prstGeom prst="rect">
            <a:avLst/>
          </a:prstGeom>
          <a:noFill/>
        </p:spPr>
        <p:txBody>
          <a:bodyPr wrap="square" lIns="36576" tIns="18288" rIns="36576" bIns="18288" anchor="t">
            <a:spAutoFit/>
          </a:bodyPr>
          <a:lstStyle/>
          <a:p>
            <a:pPr algn="ctr"/>
            <a:r>
              <a:rPr sz="1700" b="0" i="0">
                <a:solidFill>
                  <a:srgbClr val="B4B8B0"/>
                </a:solidFill>
                <a:latin typeface="Segoe UI"/>
              </a:rPr>
              <a:t>Um teste pode mostrar que o problema foi mal definido. Uma ideia pode exigir voltar à pesquisa. Ir e voltar entre as etapas é normal: é assim que o aprendizado acontece.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53" presetClass="entr" presetSubtype="16" decel="100000" fill="hold" grpId="0" nodeType="withEffect">
                                  <p:stCondLst>
                                    <p:cond delay="250"/>
                                  </p:stCondLst>
                                  <p:childTnLst>
                                    <p:set>
                                      <p:cBhvr>
                                        <p:cTn id="9" dur="1" fill="hold">
                                          <p:stCondLst>
                                            <p:cond delay="0"/>
                                          </p:stCondLst>
                                        </p:cTn>
                                        <p:tgtEl>
                                          <p:spTgt spid="6"/>
                                        </p:tgtEl>
                                        <p:attrNameLst>
                                          <p:attrName>style.visibility</p:attrName>
                                        </p:attrNameLst>
                                      </p:cBhvr>
                                      <p:to>
                                        <p:strVal val="visible"/>
                                      </p:to>
                                    </p:set>
                                    <p:anim calcmode="lin" valueType="num">
                                      <p:cBhvr additive="base">
                                        <p:cTn id="10" dur="450" fill="hold"/>
                                        <p:tgtEl>
                                          <p:spTgt spid="6"/>
                                        </p:tgtEl>
                                        <p:attrNameLst>
                                          <p:attrName>ppt_w</p:attrName>
                                        </p:attrNameLst>
                                      </p:cBhvr>
                                      <p:tavLst>
                                        <p:tav tm="0">
                                          <p:val>
                                            <p:strVal val="0"/>
                                          </p:val>
                                        </p:tav>
                                        <p:tav tm="70000">
                                          <p:val>
                                            <p:strVal val="#ppt_w*1.08"/>
                                          </p:val>
                                        </p:tav>
                                        <p:tav tm="100000">
                                          <p:val>
                                            <p:strVal val="#ppt_w"/>
                                          </p:val>
                                        </p:tav>
                                      </p:tavLst>
                                    </p:anim>
                                    <p:anim calcmode="lin" valueType="num">
                                      <p:cBhvr additive="base">
                                        <p:cTn id="11" dur="450" fill="hold"/>
                                        <p:tgtEl>
                                          <p:spTgt spid="6"/>
                                        </p:tgtEl>
                                        <p:attrNameLst>
                                          <p:attrName>ppt_h</p:attrName>
                                        </p:attrNameLst>
                                      </p:cBhvr>
                                      <p:tavLst>
                                        <p:tav tm="0">
                                          <p:val>
                                            <p:strVal val="0"/>
                                          </p:val>
                                        </p:tav>
                                        <p:tav tm="70000">
                                          <p:val>
                                            <p:strVal val="#ppt_h*1.08"/>
                                          </p:val>
                                        </p:tav>
                                        <p:tav tm="100000">
                                          <p:val>
                                            <p:strVal val="#ppt_h"/>
                                          </p:val>
                                        </p:tav>
                                      </p:tavLst>
                                    </p:anim>
                                    <p:animEffect transition="in" filter="fade">
                                      <p:cBhvr>
                                        <p:cTn id="12" dur="270" fill="hold"/>
                                        <p:tgtEl>
                                          <p:spTgt spid="6"/>
                                        </p:tgtEl>
                                      </p:cBhvr>
                                    </p:animEffect>
                                  </p:childTnLst>
                                </p:cTn>
                              </p:par>
                              <p:par>
                                <p:cTn id="13" presetID="22" presetClass="entr" presetSubtype="8" fill="hold" nodeType="withEffect">
                                  <p:stCondLst>
                                    <p:cond delay="37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250" fill="hold"/>
                                        <p:tgtEl>
                                          <p:spTgt spid="7"/>
                                        </p:tgtEl>
                                      </p:cBhvr>
                                    </p:animEffect>
                                  </p:childTnLst>
                                </p:cTn>
                              </p:par>
                              <p:par>
                                <p:cTn id="16" presetID="53" presetClass="entr" presetSubtype="16" decel="100000" fill="hold" grpId="0" nodeType="withEffect">
                                  <p:stCondLst>
                                    <p:cond delay="52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450" fill="hold"/>
                                        <p:tgtEl>
                                          <p:spTgt spid="8"/>
                                        </p:tgtEl>
                                        <p:attrNameLst>
                                          <p:attrName>ppt_w</p:attrName>
                                        </p:attrNameLst>
                                      </p:cBhvr>
                                      <p:tavLst>
                                        <p:tav tm="0">
                                          <p:val>
                                            <p:strVal val="0"/>
                                          </p:val>
                                        </p:tav>
                                        <p:tav tm="70000">
                                          <p:val>
                                            <p:strVal val="#ppt_w*1.08"/>
                                          </p:val>
                                        </p:tav>
                                        <p:tav tm="100000">
                                          <p:val>
                                            <p:strVal val="#ppt_w"/>
                                          </p:val>
                                        </p:tav>
                                      </p:tavLst>
                                    </p:anim>
                                    <p:anim calcmode="lin" valueType="num">
                                      <p:cBhvr additive="base">
                                        <p:cTn id="19" dur="450" fill="hold"/>
                                        <p:tgtEl>
                                          <p:spTgt spid="8"/>
                                        </p:tgtEl>
                                        <p:attrNameLst>
                                          <p:attrName>ppt_h</p:attrName>
                                        </p:attrNameLst>
                                      </p:cBhvr>
                                      <p:tavLst>
                                        <p:tav tm="0">
                                          <p:val>
                                            <p:strVal val="0"/>
                                          </p:val>
                                        </p:tav>
                                        <p:tav tm="70000">
                                          <p:val>
                                            <p:strVal val="#ppt_h*1.08"/>
                                          </p:val>
                                        </p:tav>
                                        <p:tav tm="100000">
                                          <p:val>
                                            <p:strVal val="#ppt_h"/>
                                          </p:val>
                                        </p:tav>
                                      </p:tavLst>
                                    </p:anim>
                                    <p:animEffect transition="in" filter="fade">
                                      <p:cBhvr>
                                        <p:cTn id="20" dur="270" fill="hold"/>
                                        <p:tgtEl>
                                          <p:spTgt spid="8"/>
                                        </p:tgtEl>
                                      </p:cBhvr>
                                    </p:animEffect>
                                  </p:childTnLst>
                                </p:cTn>
                              </p:par>
                              <p:par>
                                <p:cTn id="21" presetID="22" presetClass="entr" presetSubtype="8" fill="hold" nodeType="withEffect">
                                  <p:stCondLst>
                                    <p:cond delay="640"/>
                                  </p:stCondLst>
                                  <p:childTnLst>
                                    <p:set>
                                      <p:cBhvr>
                                        <p:cTn id="22" dur="1" fill="hold">
                                          <p:stCondLst>
                                            <p:cond delay="0"/>
                                          </p:stCondLst>
                                        </p:cTn>
                                        <p:tgtEl>
                                          <p:spTgt spid="9"/>
                                        </p:tgtEl>
                                        <p:attrNameLst>
                                          <p:attrName>style.visibility</p:attrName>
                                        </p:attrNameLst>
                                      </p:cBhvr>
                                      <p:to>
                                        <p:strVal val="visible"/>
                                      </p:to>
                                    </p:set>
                                    <p:animEffect transition="in" filter="wipe(left)">
                                      <p:cBhvr>
                                        <p:cTn id="23" dur="250" fill="hold"/>
                                        <p:tgtEl>
                                          <p:spTgt spid="9"/>
                                        </p:tgtEl>
                                      </p:cBhvr>
                                    </p:animEffect>
                                  </p:childTnLst>
                                </p:cTn>
                              </p:par>
                              <p:par>
                                <p:cTn id="24" presetID="53" presetClass="entr" presetSubtype="16" decel="100000" fill="hold" grpId="0" nodeType="withEffect">
                                  <p:stCondLst>
                                    <p:cond delay="790"/>
                                  </p:stCondLst>
                                  <p:childTnLst>
                                    <p:set>
                                      <p:cBhvr>
                                        <p:cTn id="25" dur="1" fill="hold">
                                          <p:stCondLst>
                                            <p:cond delay="0"/>
                                          </p:stCondLst>
                                        </p:cTn>
                                        <p:tgtEl>
                                          <p:spTgt spid="10"/>
                                        </p:tgtEl>
                                        <p:attrNameLst>
                                          <p:attrName>style.visibility</p:attrName>
                                        </p:attrNameLst>
                                      </p:cBhvr>
                                      <p:to>
                                        <p:strVal val="visible"/>
                                      </p:to>
                                    </p:set>
                                    <p:anim calcmode="lin" valueType="num">
                                      <p:cBhvr additive="base">
                                        <p:cTn id="26" dur="450" fill="hold"/>
                                        <p:tgtEl>
                                          <p:spTgt spid="10"/>
                                        </p:tgtEl>
                                        <p:attrNameLst>
                                          <p:attrName>ppt_w</p:attrName>
                                        </p:attrNameLst>
                                      </p:cBhvr>
                                      <p:tavLst>
                                        <p:tav tm="0">
                                          <p:val>
                                            <p:strVal val="0"/>
                                          </p:val>
                                        </p:tav>
                                        <p:tav tm="70000">
                                          <p:val>
                                            <p:strVal val="#ppt_w*1.08"/>
                                          </p:val>
                                        </p:tav>
                                        <p:tav tm="100000">
                                          <p:val>
                                            <p:strVal val="#ppt_w"/>
                                          </p:val>
                                        </p:tav>
                                      </p:tavLst>
                                    </p:anim>
                                    <p:anim calcmode="lin" valueType="num">
                                      <p:cBhvr additive="base">
                                        <p:cTn id="27" dur="450" fill="hold"/>
                                        <p:tgtEl>
                                          <p:spTgt spid="10"/>
                                        </p:tgtEl>
                                        <p:attrNameLst>
                                          <p:attrName>ppt_h</p:attrName>
                                        </p:attrNameLst>
                                      </p:cBhvr>
                                      <p:tavLst>
                                        <p:tav tm="0">
                                          <p:val>
                                            <p:strVal val="0"/>
                                          </p:val>
                                        </p:tav>
                                        <p:tav tm="70000">
                                          <p:val>
                                            <p:strVal val="#ppt_h*1.08"/>
                                          </p:val>
                                        </p:tav>
                                        <p:tav tm="100000">
                                          <p:val>
                                            <p:strVal val="#ppt_h"/>
                                          </p:val>
                                        </p:tav>
                                      </p:tavLst>
                                    </p:anim>
                                    <p:animEffect transition="in" filter="fade">
                                      <p:cBhvr>
                                        <p:cTn id="28" dur="270" fill="hold"/>
                                        <p:tgtEl>
                                          <p:spTgt spid="10"/>
                                        </p:tgtEl>
                                      </p:cBhvr>
                                    </p:animEffect>
                                  </p:childTnLst>
                                </p:cTn>
                              </p:par>
                              <p:par>
                                <p:cTn id="29" presetID="22" presetClass="entr" presetSubtype="8" fill="hold" nodeType="withEffect">
                                  <p:stCondLst>
                                    <p:cond delay="910"/>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250" fill="hold"/>
                                        <p:tgtEl>
                                          <p:spTgt spid="11"/>
                                        </p:tgtEl>
                                      </p:cBhvr>
                                    </p:animEffect>
                                  </p:childTnLst>
                                </p:cTn>
                              </p:par>
                              <p:par>
                                <p:cTn id="32" presetID="53" presetClass="entr" presetSubtype="16" decel="100000" fill="hold" grpId="0" nodeType="withEffect">
                                  <p:stCondLst>
                                    <p:cond delay="1060"/>
                                  </p:stCondLst>
                                  <p:childTnLst>
                                    <p:set>
                                      <p:cBhvr>
                                        <p:cTn id="33" dur="1" fill="hold">
                                          <p:stCondLst>
                                            <p:cond delay="0"/>
                                          </p:stCondLst>
                                        </p:cTn>
                                        <p:tgtEl>
                                          <p:spTgt spid="12"/>
                                        </p:tgtEl>
                                        <p:attrNameLst>
                                          <p:attrName>style.visibility</p:attrName>
                                        </p:attrNameLst>
                                      </p:cBhvr>
                                      <p:to>
                                        <p:strVal val="visible"/>
                                      </p:to>
                                    </p:set>
                                    <p:anim calcmode="lin" valueType="num">
                                      <p:cBhvr additive="base">
                                        <p:cTn id="34" dur="450" fill="hold"/>
                                        <p:tgtEl>
                                          <p:spTgt spid="12"/>
                                        </p:tgtEl>
                                        <p:attrNameLst>
                                          <p:attrName>ppt_w</p:attrName>
                                        </p:attrNameLst>
                                      </p:cBhvr>
                                      <p:tavLst>
                                        <p:tav tm="0">
                                          <p:val>
                                            <p:strVal val="0"/>
                                          </p:val>
                                        </p:tav>
                                        <p:tav tm="70000">
                                          <p:val>
                                            <p:strVal val="#ppt_w*1.08"/>
                                          </p:val>
                                        </p:tav>
                                        <p:tav tm="100000">
                                          <p:val>
                                            <p:strVal val="#ppt_w"/>
                                          </p:val>
                                        </p:tav>
                                      </p:tavLst>
                                    </p:anim>
                                    <p:anim calcmode="lin" valueType="num">
                                      <p:cBhvr additive="base">
                                        <p:cTn id="35" dur="450" fill="hold"/>
                                        <p:tgtEl>
                                          <p:spTgt spid="12"/>
                                        </p:tgtEl>
                                        <p:attrNameLst>
                                          <p:attrName>ppt_h</p:attrName>
                                        </p:attrNameLst>
                                      </p:cBhvr>
                                      <p:tavLst>
                                        <p:tav tm="0">
                                          <p:val>
                                            <p:strVal val="0"/>
                                          </p:val>
                                        </p:tav>
                                        <p:tav tm="70000">
                                          <p:val>
                                            <p:strVal val="#ppt_h*1.08"/>
                                          </p:val>
                                        </p:tav>
                                        <p:tav tm="100000">
                                          <p:val>
                                            <p:strVal val="#ppt_h"/>
                                          </p:val>
                                        </p:tav>
                                      </p:tavLst>
                                    </p:anim>
                                    <p:animEffect transition="in" filter="fade">
                                      <p:cBhvr>
                                        <p:cTn id="36" dur="270" fill="hold"/>
                                        <p:tgtEl>
                                          <p:spTgt spid="12"/>
                                        </p:tgtEl>
                                      </p:cBhvr>
                                    </p:animEffect>
                                  </p:childTnLst>
                                </p:cTn>
                              </p:par>
                              <p:par>
                                <p:cTn id="37" presetID="22" presetClass="entr" presetSubtype="8" fill="hold" nodeType="withEffect">
                                  <p:stCondLst>
                                    <p:cond delay="1180"/>
                                  </p:stCondLst>
                                  <p:childTnLst>
                                    <p:set>
                                      <p:cBhvr>
                                        <p:cTn id="38" dur="1" fill="hold">
                                          <p:stCondLst>
                                            <p:cond delay="0"/>
                                          </p:stCondLst>
                                        </p:cTn>
                                        <p:tgtEl>
                                          <p:spTgt spid="13"/>
                                        </p:tgtEl>
                                        <p:attrNameLst>
                                          <p:attrName>style.visibility</p:attrName>
                                        </p:attrNameLst>
                                      </p:cBhvr>
                                      <p:to>
                                        <p:strVal val="visible"/>
                                      </p:to>
                                    </p:set>
                                    <p:animEffect transition="in" filter="wipe(left)">
                                      <p:cBhvr>
                                        <p:cTn id="39" dur="250" fill="hold"/>
                                        <p:tgtEl>
                                          <p:spTgt spid="13"/>
                                        </p:tgtEl>
                                      </p:cBhvr>
                                    </p:animEffect>
                                  </p:childTnLst>
                                </p:cTn>
                              </p:par>
                              <p:par>
                                <p:cTn id="40" presetID="53" presetClass="entr" presetSubtype="16" decel="100000" fill="hold" grpId="0" nodeType="withEffect">
                                  <p:stCondLst>
                                    <p:cond delay="1330"/>
                                  </p:stCondLst>
                                  <p:childTnLst>
                                    <p:set>
                                      <p:cBhvr>
                                        <p:cTn id="41" dur="1" fill="hold">
                                          <p:stCondLst>
                                            <p:cond delay="0"/>
                                          </p:stCondLst>
                                        </p:cTn>
                                        <p:tgtEl>
                                          <p:spTgt spid="14"/>
                                        </p:tgtEl>
                                        <p:attrNameLst>
                                          <p:attrName>style.visibility</p:attrName>
                                        </p:attrNameLst>
                                      </p:cBhvr>
                                      <p:to>
                                        <p:strVal val="visible"/>
                                      </p:to>
                                    </p:set>
                                    <p:anim calcmode="lin" valueType="num">
                                      <p:cBhvr additive="base">
                                        <p:cTn id="42" dur="450" fill="hold"/>
                                        <p:tgtEl>
                                          <p:spTgt spid="14"/>
                                        </p:tgtEl>
                                        <p:attrNameLst>
                                          <p:attrName>ppt_w</p:attrName>
                                        </p:attrNameLst>
                                      </p:cBhvr>
                                      <p:tavLst>
                                        <p:tav tm="0">
                                          <p:val>
                                            <p:strVal val="0"/>
                                          </p:val>
                                        </p:tav>
                                        <p:tav tm="70000">
                                          <p:val>
                                            <p:strVal val="#ppt_w*1.08"/>
                                          </p:val>
                                        </p:tav>
                                        <p:tav tm="100000">
                                          <p:val>
                                            <p:strVal val="#ppt_w"/>
                                          </p:val>
                                        </p:tav>
                                      </p:tavLst>
                                    </p:anim>
                                    <p:anim calcmode="lin" valueType="num">
                                      <p:cBhvr additive="base">
                                        <p:cTn id="43" dur="450" fill="hold"/>
                                        <p:tgtEl>
                                          <p:spTgt spid="14"/>
                                        </p:tgtEl>
                                        <p:attrNameLst>
                                          <p:attrName>ppt_h</p:attrName>
                                        </p:attrNameLst>
                                      </p:cBhvr>
                                      <p:tavLst>
                                        <p:tav tm="0">
                                          <p:val>
                                            <p:strVal val="0"/>
                                          </p:val>
                                        </p:tav>
                                        <p:tav tm="70000">
                                          <p:val>
                                            <p:strVal val="#ppt_h*1.08"/>
                                          </p:val>
                                        </p:tav>
                                        <p:tav tm="100000">
                                          <p:val>
                                            <p:strVal val="#ppt_h"/>
                                          </p:val>
                                        </p:tav>
                                      </p:tavLst>
                                    </p:anim>
                                    <p:animEffect transition="in" filter="fade">
                                      <p:cBhvr>
                                        <p:cTn id="44" dur="270" fill="hold"/>
                                        <p:tgtEl>
                                          <p:spTgt spid="14"/>
                                        </p:tgtEl>
                                      </p:cBhvr>
                                    </p:animEffect>
                                  </p:childTnLst>
                                </p:cTn>
                              </p:par>
                              <p:par>
                                <p:cTn id="45" presetID="22" presetClass="entr" presetSubtype="8" fill="hold" grpId="0" nodeType="withEffect">
                                  <p:stCondLst>
                                    <p:cond delay="1780"/>
                                  </p:stCondLst>
                                  <p:childTnLst>
                                    <p:set>
                                      <p:cBhvr>
                                        <p:cTn id="46" dur="1" fill="hold">
                                          <p:stCondLst>
                                            <p:cond delay="0"/>
                                          </p:stCondLst>
                                        </p:cTn>
                                        <p:tgtEl>
                                          <p:spTgt spid="15"/>
                                        </p:tgtEl>
                                        <p:attrNameLst>
                                          <p:attrName>style.visibility</p:attrName>
                                        </p:attrNameLst>
                                      </p:cBhvr>
                                      <p:to>
                                        <p:strVal val="visible"/>
                                      </p:to>
                                    </p:set>
                                    <p:animEffect transition="in" filter="wipe(left)">
                                      <p:cBhvr>
                                        <p:cTn id="47" dur="700" fill="hold"/>
                                        <p:tgtEl>
                                          <p:spTgt spid="15"/>
                                        </p:tgtEl>
                                      </p:cBhvr>
                                    </p:animEffect>
                                  </p:childTnLst>
                                </p:cTn>
                              </p:par>
                              <p:par>
                                <p:cTn id="48" presetID="22" presetClass="entr" presetSubtype="8" fill="hold" grpId="0" nodeType="withEffect">
                                  <p:stCondLst>
                                    <p:cond delay="2230"/>
                                  </p:stCondLst>
                                  <p:childTnLst>
                                    <p:set>
                                      <p:cBhvr>
                                        <p:cTn id="49" dur="1" fill="hold">
                                          <p:stCondLst>
                                            <p:cond delay="0"/>
                                          </p:stCondLst>
                                        </p:cTn>
                                        <p:tgtEl>
                                          <p:spTgt spid="16"/>
                                        </p:tgtEl>
                                        <p:attrNameLst>
                                          <p:attrName>style.visibility</p:attrName>
                                        </p:attrNameLst>
                                      </p:cBhvr>
                                      <p:to>
                                        <p:strVal val="visible"/>
                                      </p:to>
                                    </p:set>
                                    <p:animEffect transition="in" filter="wipe(left)">
                                      <p:cBhvr>
                                        <p:cTn id="50" dur="700" fill="hold"/>
                                        <p:tgtEl>
                                          <p:spTgt spid="16"/>
                                        </p:tgtEl>
                                      </p:cBhvr>
                                    </p:animEffect>
                                  </p:childTnLst>
                                </p:cTn>
                              </p:par>
                              <p:par>
                                <p:cTn id="51" presetID="22" presetClass="entr" presetSubtype="8" fill="hold" grpId="0" nodeType="withEffect">
                                  <p:stCondLst>
                                    <p:cond delay="2680"/>
                                  </p:stCondLst>
                                  <p:childTnLst>
                                    <p:set>
                                      <p:cBhvr>
                                        <p:cTn id="52" dur="1" fill="hold">
                                          <p:stCondLst>
                                            <p:cond delay="0"/>
                                          </p:stCondLst>
                                        </p:cTn>
                                        <p:tgtEl>
                                          <p:spTgt spid="17"/>
                                        </p:tgtEl>
                                        <p:attrNameLst>
                                          <p:attrName>style.visibility</p:attrName>
                                        </p:attrNameLst>
                                      </p:cBhvr>
                                      <p:to>
                                        <p:strVal val="visible"/>
                                      </p:to>
                                    </p:set>
                                    <p:animEffect transition="in" filter="wipe(left)">
                                      <p:cBhvr>
                                        <p:cTn id="53" dur="700" fill="hold"/>
                                        <p:tgtEl>
                                          <p:spTgt spid="17"/>
                                        </p:tgtEl>
                                      </p:cBhvr>
                                    </p:animEffect>
                                  </p:childTnLst>
                                </p:cTn>
                              </p:par>
                              <p:par>
                                <p:cTn id="54" presetID="10" presetClass="entr" presetSubtype="0" fill="hold" grpId="0" nodeType="withEffect">
                                  <p:stCondLst>
                                    <p:cond delay="368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500" fill="hold"/>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10" grpId="0" animBg="1"/>
      <p:bldP spid="12" grpId="0" animBg="1"/>
      <p:bldP spid="14" grpId="0" animBg="1"/>
      <p:bldP spid="15" grpId="0" animBg="1"/>
      <p:bldP spid="16" grpId="0" animBg="1"/>
      <p:bldP spid="17" grpId="0" animBg="1"/>
      <p:bldP spid="1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6035040" y="-320040"/>
            <a:ext cx="5852160" cy="5486400"/>
          </a:xfrm>
          <a:prstGeom prst="rect">
            <a:avLst/>
          </a:prstGeom>
          <a:noFill/>
        </p:spPr>
        <p:txBody>
          <a:bodyPr wrap="square" lIns="36576" tIns="18288" rIns="36576" bIns="18288" anchor="t">
            <a:spAutoFit/>
          </a:bodyPr>
          <a:lstStyle/>
          <a:p>
            <a:pPr algn="r"/>
            <a:r>
              <a:rPr sz="33000" b="1" i="0">
                <a:solidFill>
                  <a:srgbClr val="242826"/>
                </a:solidFill>
                <a:latin typeface="Segoe UI Semibold"/>
              </a:rPr>
              <a:t>01</a:t>
            </a:r>
          </a:p>
        </p:txBody>
      </p:sp>
      <p:sp>
        <p:nvSpPr>
          <p:cNvPr id="3" name="Rectangle 2"/>
          <p:cNvSpPr/>
          <p:nvPr/>
        </p:nvSpPr>
        <p:spPr>
          <a:xfrm>
            <a:off x="822960" y="2331720"/>
            <a:ext cx="82296" cy="1417320"/>
          </a:xfrm>
          <a:prstGeom prst="rect">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188720" y="1783080"/>
            <a:ext cx="8229600" cy="365760"/>
          </a:xfrm>
          <a:prstGeom prst="rect">
            <a:avLst/>
          </a:prstGeom>
          <a:noFill/>
        </p:spPr>
        <p:txBody>
          <a:bodyPr wrap="square" lIns="36576" tIns="18288" rIns="36576" bIns="18288" anchor="t">
            <a:spAutoFit/>
          </a:bodyPr>
          <a:lstStyle/>
          <a:p>
            <a:pPr algn="l"/>
            <a:r>
              <a:rPr sz="1200" b="1" i="0" spc="300">
                <a:solidFill>
                  <a:srgbClr val="9CD848"/>
                </a:solidFill>
                <a:latin typeface="Segoe UI Semibold"/>
              </a:rPr>
              <a:t>PARA LEVAR  ·  MÓDULO 1</a:t>
            </a:r>
          </a:p>
        </p:txBody>
      </p:sp>
      <p:sp>
        <p:nvSpPr>
          <p:cNvPr id="5" name="TextBox 4"/>
          <p:cNvSpPr txBox="1"/>
          <p:nvPr/>
        </p:nvSpPr>
        <p:spPr>
          <a:xfrm>
            <a:off x="1188720" y="2240280"/>
            <a:ext cx="10241280" cy="1645920"/>
          </a:xfrm>
          <a:prstGeom prst="rect">
            <a:avLst/>
          </a:prstGeom>
          <a:noFill/>
        </p:spPr>
        <p:txBody>
          <a:bodyPr wrap="square" lIns="36576" tIns="18288" rIns="36576" bIns="18288" anchor="t">
            <a:spAutoFit/>
          </a:bodyPr>
          <a:lstStyle/>
          <a:p>
            <a:pPr algn="l">
              <a:lnSpc>
                <a:spcPct val="105000"/>
              </a:lnSpc>
            </a:pPr>
            <a:r>
              <a:rPr sz="4800" b="1" i="0">
                <a:solidFill>
                  <a:srgbClr val="F2F2EC"/>
                </a:solidFill>
                <a:latin typeface="Segoe UI Semibold"/>
              </a:rPr>
              <a:t>Inovação não começa na tecnologia.</a:t>
            </a:r>
          </a:p>
          <a:p>
            <a:pPr algn="l">
              <a:lnSpc>
                <a:spcPct val="105000"/>
              </a:lnSpc>
            </a:pPr>
            <a:r>
              <a:rPr sz="4800" b="1" i="0">
                <a:solidFill>
                  <a:srgbClr val="F2F2EC"/>
                </a:solidFill>
                <a:latin typeface="Segoe UI Semibold"/>
              </a:rPr>
              <a:t>Começa em </a:t>
            </a:r>
            <a:r>
              <a:rPr sz="4800" b="1" i="0">
                <a:solidFill>
                  <a:srgbClr val="9CD848"/>
                </a:solidFill>
                <a:latin typeface="Segoe UI Semibold"/>
              </a:rPr>
              <a:t>uma pessoa</a:t>
            </a:r>
            <a:r>
              <a:rPr sz="4800" b="1" i="0">
                <a:solidFill>
                  <a:srgbClr val="F2F2EC"/>
                </a:solidFill>
                <a:latin typeface="Segoe UI Semibold"/>
              </a:rPr>
              <a:t>.</a:t>
            </a:r>
          </a:p>
        </p:txBody>
      </p:sp>
      <p:sp>
        <p:nvSpPr>
          <p:cNvPr id="6" name="Rectangle 5"/>
          <p:cNvSpPr/>
          <p:nvPr/>
        </p:nvSpPr>
        <p:spPr>
          <a:xfrm>
            <a:off x="1188720" y="4160520"/>
            <a:ext cx="2377440" cy="54864"/>
          </a:xfrm>
          <a:prstGeom prst="rect">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188720" y="4389120"/>
            <a:ext cx="9875520" cy="731520"/>
          </a:xfrm>
          <a:prstGeom prst="rect">
            <a:avLst/>
          </a:prstGeom>
          <a:noFill/>
        </p:spPr>
        <p:txBody>
          <a:bodyPr wrap="square" lIns="36576" tIns="18288" rIns="36576" bIns="18288" anchor="t">
            <a:spAutoFit/>
          </a:bodyPr>
          <a:lstStyle/>
          <a:p>
            <a:pPr algn="l"/>
            <a:r>
              <a:rPr sz="1800" b="0" i="0">
                <a:solidFill>
                  <a:srgbClr val="B4B8B0"/>
                </a:solidFill>
                <a:latin typeface="Segoe UI"/>
              </a:rPr>
              <a:t>Antes de perguntar o que dá para construir, pergunte para quem e por quê.</a:t>
            </a:r>
          </a:p>
        </p:txBody>
      </p:sp>
      <p:sp>
        <p:nvSpPr>
          <p:cNvPr id="8" name="TextBox 7"/>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400" fill="hold"/>
                                        <p:tgtEl>
                                          <p:spTgt spid="2"/>
                                        </p:tgtEl>
                                      </p:cBhvr>
                                    </p:animEffect>
                                  </p:childTnLst>
                                </p:cTn>
                              </p:par>
                              <p:par>
                                <p:cTn id="8" presetID="22" presetClass="entr" presetSubtype="4" fill="hold" grpId="0" nodeType="withEffect">
                                  <p:stCondLst>
                                    <p:cond delay="300"/>
                                  </p:stCondLst>
                                  <p:childTnLst>
                                    <p:set>
                                      <p:cBhvr>
                                        <p:cTn id="9" dur="1" fill="hold">
                                          <p:stCondLst>
                                            <p:cond delay="0"/>
                                          </p:stCondLst>
                                        </p:cTn>
                                        <p:tgtEl>
                                          <p:spTgt spid="3"/>
                                        </p:tgtEl>
                                        <p:attrNameLst>
                                          <p:attrName>style.visibility</p:attrName>
                                        </p:attrNameLst>
                                      </p:cBhvr>
                                      <p:to>
                                        <p:strVal val="visible"/>
                                      </p:to>
                                    </p:set>
                                    <p:animEffect transition="in" filter="wipe(down)">
                                      <p:cBhvr>
                                        <p:cTn id="10" dur="700" fill="hold"/>
                                        <p:tgtEl>
                                          <p:spTgt spid="3"/>
                                        </p:tgtEl>
                                      </p:cBhvr>
                                    </p:animEffect>
                                  </p:childTnLst>
                                </p:cTn>
                              </p:par>
                              <p:par>
                                <p:cTn id="11" presetID="10" presetClass="entr" presetSubtype="0" fill="hold" grpId="0" nodeType="withEffect">
                                  <p:stCondLst>
                                    <p:cond delay="65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fill="hold"/>
                                        <p:tgtEl>
                                          <p:spTgt spid="4"/>
                                        </p:tgtEl>
                                      </p:cBhvr>
                                    </p:animEffect>
                                  </p:childTnLst>
                                </p:cTn>
                              </p:par>
                              <p:par>
                                <p:cTn id="14" presetID="10" presetClass="entr" presetSubtype="0" fill="hold" grpId="0" nodeType="withEffect">
                                  <p:stCondLst>
                                    <p:cond delay="950"/>
                                  </p:stCondLst>
                                  <p:iterate type="wd">
                                    <p:tmPct val="45000"/>
                                  </p:iterate>
                                  <p:childTnLst>
                                    <p:set>
                                      <p:cBhvr>
                                        <p:cTn id="15" dur="1" fill="hold">
                                          <p:stCondLst>
                                            <p:cond delay="0"/>
                                          </p:stCondLst>
                                        </p:cTn>
                                        <p:tgtEl>
                                          <p:spTgt spid="5"/>
                                        </p:tgtEl>
                                        <p:attrNameLst>
                                          <p:attrName>style.visibility</p:attrName>
                                        </p:attrNameLst>
                                      </p:cBhvr>
                                      <p:to>
                                        <p:strVal val="visible"/>
                                      </p:to>
                                    </p:set>
                                    <p:animEffect transition="in" filter="fade">
                                      <p:cBhvr>
                                        <p:cTn id="16" dur="500" fill="hold"/>
                                        <p:tgtEl>
                                          <p:spTgt spid="5"/>
                                        </p:tgtEl>
                                      </p:cBhvr>
                                    </p:animEffect>
                                  </p:childTnLst>
                                </p:cTn>
                              </p:par>
                              <p:par>
                                <p:cTn id="17" presetID="22" presetClass="entr" presetSubtype="8" fill="hold" grpId="0" nodeType="withEffect">
                                  <p:stCondLst>
                                    <p:cond delay="3650"/>
                                  </p:stCondLst>
                                  <p:childTnLst>
                                    <p:set>
                                      <p:cBhvr>
                                        <p:cTn id="18" dur="1" fill="hold">
                                          <p:stCondLst>
                                            <p:cond delay="0"/>
                                          </p:stCondLst>
                                        </p:cTn>
                                        <p:tgtEl>
                                          <p:spTgt spid="6"/>
                                        </p:tgtEl>
                                        <p:attrNameLst>
                                          <p:attrName>style.visibility</p:attrName>
                                        </p:attrNameLst>
                                      </p:cBhvr>
                                      <p:to>
                                        <p:strVal val="visible"/>
                                      </p:to>
                                    </p:set>
                                    <p:animEffect transition="in" filter="wipe(left)">
                                      <p:cBhvr>
                                        <p:cTn id="19" dur="800" fill="hold"/>
                                        <p:tgtEl>
                                          <p:spTgt spid="6"/>
                                        </p:tgtEl>
                                      </p:cBhvr>
                                    </p:animEffect>
                                  </p:childTnLst>
                                </p:cTn>
                              </p:par>
                              <p:par>
                                <p:cTn id="20" presetID="42" presetClass="entr" presetSubtype="0" decel="100000" fill="hold" grpId="0" nodeType="withEffect">
                                  <p:stCondLst>
                                    <p:cond delay="395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650" fill="hold"/>
                                        <p:tgtEl>
                                          <p:spTgt spid="7"/>
                                        </p:tgtEl>
                                      </p:cBhvr>
                                    </p:animEffect>
                                    <p:anim calcmode="lin" valueType="num">
                                      <p:cBhvr additive="base">
                                        <p:cTn id="23" dur="650" fill="hold"/>
                                        <p:tgtEl>
                                          <p:spTgt spid="7"/>
                                        </p:tgtEl>
                                        <p:attrNameLst>
                                          <p:attrName>ppt_x</p:attrName>
                                        </p:attrNameLst>
                                      </p:cBhvr>
                                      <p:tavLst>
                                        <p:tav tm="0">
                                          <p:val>
                                            <p:strVal val="#ppt_x"/>
                                          </p:val>
                                        </p:tav>
                                        <p:tav tm="100000">
                                          <p:val>
                                            <p:strVal val="#ppt_x"/>
                                          </p:val>
                                        </p:tav>
                                      </p:tavLst>
                                    </p:anim>
                                    <p:anim calcmode="lin" valueType="num">
                                      <p:cBhvr additive="base">
                                        <p:cTn id="24" dur="650" fill="hold"/>
                                        <p:tgtEl>
                                          <p:spTgt spid="7"/>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9CD848"/>
                </a:solidFill>
                <a:latin typeface="Segoe UI Semibold"/>
              </a:rPr>
              <a:t>MÓDULO 1  ·  DINÂMICA</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Dinâmica 1 — Caça ao mau design</a:t>
            </a:r>
          </a:p>
        </p:txBody>
      </p:sp>
      <p:sp>
        <p:nvSpPr>
          <p:cNvPr id="6" name="Rounded Rectangle 5"/>
          <p:cNvSpPr/>
          <p:nvPr/>
        </p:nvSpPr>
        <p:spPr>
          <a:xfrm>
            <a:off x="548640" y="1554480"/>
            <a:ext cx="3566160" cy="4343400"/>
          </a:xfrm>
          <a:prstGeom prst="roundRect">
            <a:avLst>
              <a:gd name="adj" fmla="val 5000"/>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68680" y="1783080"/>
            <a:ext cx="3017520" cy="365760"/>
          </a:xfrm>
          <a:prstGeom prst="rect">
            <a:avLst/>
          </a:prstGeom>
          <a:noFill/>
        </p:spPr>
        <p:txBody>
          <a:bodyPr wrap="square" lIns="36576" tIns="18288" rIns="36576" bIns="18288" anchor="t">
            <a:spAutoFit/>
          </a:bodyPr>
          <a:lstStyle/>
          <a:p>
            <a:pPr algn="l"/>
            <a:r>
              <a:rPr sz="1100" b="1" i="0" spc="200">
                <a:solidFill>
                  <a:srgbClr val="1A1A1A"/>
                </a:solidFill>
                <a:latin typeface="Segoe UI Semibold"/>
              </a:rPr>
              <a:t>DURAÇÃO</a:t>
            </a:r>
          </a:p>
        </p:txBody>
      </p:sp>
      <p:sp>
        <p:nvSpPr>
          <p:cNvPr id="8" name="TextBox 7"/>
          <p:cNvSpPr txBox="1"/>
          <p:nvPr/>
        </p:nvSpPr>
        <p:spPr>
          <a:xfrm>
            <a:off x="868680" y="2057400"/>
            <a:ext cx="3017520" cy="914400"/>
          </a:xfrm>
          <a:prstGeom prst="rect">
            <a:avLst/>
          </a:prstGeom>
          <a:noFill/>
        </p:spPr>
        <p:txBody>
          <a:bodyPr wrap="square" lIns="36576" tIns="18288" rIns="36576" bIns="18288" anchor="t">
            <a:spAutoFit/>
          </a:bodyPr>
          <a:lstStyle/>
          <a:p>
            <a:pPr algn="l"/>
            <a:r>
              <a:rPr sz="4400" b="1" i="0">
                <a:solidFill>
                  <a:srgbClr val="1A1A1A"/>
                </a:solidFill>
                <a:latin typeface="Segoe UI Semibold"/>
              </a:rPr>
              <a:t>15 min</a:t>
            </a:r>
          </a:p>
        </p:txBody>
      </p:sp>
      <p:sp>
        <p:nvSpPr>
          <p:cNvPr id="9" name="TextBox 8"/>
          <p:cNvSpPr txBox="1"/>
          <p:nvPr/>
        </p:nvSpPr>
        <p:spPr>
          <a:xfrm>
            <a:off x="868680" y="3108960"/>
            <a:ext cx="3017520" cy="365760"/>
          </a:xfrm>
          <a:prstGeom prst="rect">
            <a:avLst/>
          </a:prstGeom>
          <a:noFill/>
        </p:spPr>
        <p:txBody>
          <a:bodyPr wrap="square" lIns="36576" tIns="18288" rIns="36576" bIns="18288" anchor="t">
            <a:spAutoFit/>
          </a:bodyPr>
          <a:lstStyle/>
          <a:p>
            <a:pPr algn="l"/>
            <a:r>
              <a:rPr sz="1100" b="1" i="0" spc="200">
                <a:solidFill>
                  <a:srgbClr val="1A1A1A"/>
                </a:solidFill>
                <a:latin typeface="Segoe UI Semibold"/>
              </a:rPr>
              <a:t>OBJETIVO</a:t>
            </a:r>
          </a:p>
        </p:txBody>
      </p:sp>
      <p:sp>
        <p:nvSpPr>
          <p:cNvPr id="10" name="TextBox 9"/>
          <p:cNvSpPr txBox="1"/>
          <p:nvPr/>
        </p:nvSpPr>
        <p:spPr>
          <a:xfrm>
            <a:off x="868680" y="3429000"/>
            <a:ext cx="3017520" cy="1463040"/>
          </a:xfrm>
          <a:prstGeom prst="rect">
            <a:avLst/>
          </a:prstGeom>
          <a:noFill/>
        </p:spPr>
        <p:txBody>
          <a:bodyPr wrap="square" lIns="36576" tIns="18288" rIns="36576" bIns="18288" anchor="t">
            <a:spAutoFit/>
          </a:bodyPr>
          <a:lstStyle/>
          <a:p>
            <a:pPr algn="l"/>
            <a:r>
              <a:rPr sz="1500" b="0" i="0">
                <a:solidFill>
                  <a:srgbClr val="1A1A1A"/>
                </a:solidFill>
                <a:latin typeface="Segoe UI"/>
              </a:rPr>
              <a:t>Treinar o olhar para problemas de uso no dia a dia.</a:t>
            </a:r>
          </a:p>
        </p:txBody>
      </p:sp>
      <p:sp>
        <p:nvSpPr>
          <p:cNvPr id="11" name="TextBox 10"/>
          <p:cNvSpPr txBox="1"/>
          <p:nvPr/>
        </p:nvSpPr>
        <p:spPr>
          <a:xfrm>
            <a:off x="868680" y="4892040"/>
            <a:ext cx="3017520" cy="822960"/>
          </a:xfrm>
          <a:prstGeom prst="rect">
            <a:avLst/>
          </a:prstGeom>
          <a:noFill/>
        </p:spPr>
        <p:txBody>
          <a:bodyPr wrap="square" lIns="36576" tIns="18288" rIns="36576" bIns="18288" anchor="t">
            <a:spAutoFit/>
          </a:bodyPr>
          <a:lstStyle/>
          <a:p>
            <a:pPr algn="l"/>
            <a:r>
              <a:rPr sz="1200" b="1" i="0">
                <a:solidFill>
                  <a:srgbClr val="1A1A1A"/>
                </a:solidFill>
                <a:latin typeface="Segoe UI Semibold"/>
              </a:rPr>
              <a:t>Materiais: </a:t>
            </a:r>
            <a:r>
              <a:rPr sz="1200" b="0" i="0">
                <a:solidFill>
                  <a:srgbClr val="1A1A1A"/>
                </a:solidFill>
                <a:latin typeface="Segoe UI"/>
              </a:rPr>
              <a:t>Post-its e canetas</a:t>
            </a:r>
          </a:p>
        </p:txBody>
      </p:sp>
      <p:sp>
        <p:nvSpPr>
          <p:cNvPr id="12" name="Oval 11"/>
          <p:cNvSpPr/>
          <p:nvPr/>
        </p:nvSpPr>
        <p:spPr>
          <a:xfrm>
            <a:off x="4480560" y="1760219"/>
            <a:ext cx="457200" cy="457200"/>
          </a:xfrm>
          <a:prstGeom prst="ellipse">
            <a:avLst/>
          </a:prstGeom>
          <a:solidFill>
            <a:srgbClr val="2E3431"/>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400" b="1" i="0">
                <a:solidFill>
                  <a:srgbClr val="9CD848"/>
                </a:solidFill>
                <a:latin typeface="Segoe UI Semibold"/>
              </a:rPr>
              <a:t>1</a:t>
            </a:r>
          </a:p>
        </p:txBody>
      </p:sp>
      <p:sp>
        <p:nvSpPr>
          <p:cNvPr id="13" name="TextBox 12"/>
          <p:cNvSpPr txBox="1"/>
          <p:nvPr/>
        </p:nvSpPr>
        <p:spPr>
          <a:xfrm>
            <a:off x="5120640" y="1554480"/>
            <a:ext cx="6492240" cy="868680"/>
          </a:xfrm>
          <a:prstGeom prst="rect">
            <a:avLst/>
          </a:prstGeom>
          <a:noFill/>
        </p:spPr>
        <p:txBody>
          <a:bodyPr wrap="square" lIns="36576" tIns="18288" rIns="36576" bIns="18288" anchor="ctr">
            <a:spAutoFit/>
          </a:bodyPr>
          <a:lstStyle/>
          <a:p>
            <a:pPr algn="l"/>
            <a:r>
              <a:rPr sz="1600" b="0" i="0">
                <a:solidFill>
                  <a:srgbClr val="F2F2EC"/>
                </a:solidFill>
                <a:latin typeface="Segoe UI"/>
              </a:rPr>
              <a:t>Em duplas, lembrem 3 experiências ruins (produto, serviço, sistema, processo interno)</a:t>
            </a:r>
          </a:p>
        </p:txBody>
      </p:sp>
      <p:sp>
        <p:nvSpPr>
          <p:cNvPr id="14" name="Oval 13"/>
          <p:cNvSpPr/>
          <p:nvPr/>
        </p:nvSpPr>
        <p:spPr>
          <a:xfrm>
            <a:off x="4480560" y="2628900"/>
            <a:ext cx="457200" cy="457200"/>
          </a:xfrm>
          <a:prstGeom prst="ellipse">
            <a:avLst/>
          </a:prstGeom>
          <a:solidFill>
            <a:srgbClr val="2E3431"/>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400" b="1" i="0">
                <a:solidFill>
                  <a:srgbClr val="9CD848"/>
                </a:solidFill>
                <a:latin typeface="Segoe UI Semibold"/>
              </a:rPr>
              <a:t>2</a:t>
            </a:r>
          </a:p>
        </p:txBody>
      </p:sp>
      <p:sp>
        <p:nvSpPr>
          <p:cNvPr id="15" name="TextBox 14"/>
          <p:cNvSpPr txBox="1"/>
          <p:nvPr/>
        </p:nvSpPr>
        <p:spPr>
          <a:xfrm>
            <a:off x="5120640" y="2423160"/>
            <a:ext cx="6492240" cy="868680"/>
          </a:xfrm>
          <a:prstGeom prst="rect">
            <a:avLst/>
          </a:prstGeom>
          <a:noFill/>
        </p:spPr>
        <p:txBody>
          <a:bodyPr wrap="square" lIns="36576" tIns="18288" rIns="36576" bIns="18288" anchor="ctr">
            <a:spAutoFit/>
          </a:bodyPr>
          <a:lstStyle/>
          <a:p>
            <a:pPr algn="l"/>
            <a:r>
              <a:rPr sz="1600" b="0" i="0">
                <a:solidFill>
                  <a:srgbClr val="F2F2EC"/>
                </a:solidFill>
                <a:latin typeface="Segoe UI"/>
              </a:rPr>
              <a:t>Para cada uma, escrevam em um post-it: o que aconteceu e qual seria a causa de design</a:t>
            </a:r>
          </a:p>
        </p:txBody>
      </p:sp>
      <p:sp>
        <p:nvSpPr>
          <p:cNvPr id="16" name="Oval 15"/>
          <p:cNvSpPr/>
          <p:nvPr/>
        </p:nvSpPr>
        <p:spPr>
          <a:xfrm>
            <a:off x="4480560" y="3497579"/>
            <a:ext cx="457200" cy="457200"/>
          </a:xfrm>
          <a:prstGeom prst="ellipse">
            <a:avLst/>
          </a:prstGeom>
          <a:solidFill>
            <a:srgbClr val="2E3431"/>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400" b="1" i="0">
                <a:solidFill>
                  <a:srgbClr val="9CD848"/>
                </a:solidFill>
                <a:latin typeface="Segoe UI Semibold"/>
              </a:rPr>
              <a:t>3</a:t>
            </a:r>
          </a:p>
        </p:txBody>
      </p:sp>
      <p:sp>
        <p:nvSpPr>
          <p:cNvPr id="17" name="TextBox 16"/>
          <p:cNvSpPr txBox="1"/>
          <p:nvPr/>
        </p:nvSpPr>
        <p:spPr>
          <a:xfrm>
            <a:off x="5120640" y="3291839"/>
            <a:ext cx="6492240" cy="868680"/>
          </a:xfrm>
          <a:prstGeom prst="rect">
            <a:avLst/>
          </a:prstGeom>
          <a:noFill/>
        </p:spPr>
        <p:txBody>
          <a:bodyPr wrap="square" lIns="36576" tIns="18288" rIns="36576" bIns="18288" anchor="ctr">
            <a:spAutoFit/>
          </a:bodyPr>
          <a:lstStyle/>
          <a:p>
            <a:pPr algn="l"/>
            <a:r>
              <a:rPr sz="1600" b="0" i="0">
                <a:solidFill>
                  <a:srgbClr val="F2F2EC"/>
                </a:solidFill>
                <a:latin typeface="Segoe UI"/>
              </a:rPr>
              <a:t>Escolham a melhor e compartilhem em 1 minuto com a turma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42" presetClass="entr" presetSubtype="0" decel="100000" fill="hold" grpId="0" nodeType="withEffect">
                                  <p:stCondLst>
                                    <p:cond delay="2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50" fill="hold"/>
                                        <p:tgtEl>
                                          <p:spTgt spid="6"/>
                                        </p:tgtEl>
                                      </p:cBhvr>
                                    </p:animEffect>
                                    <p:anim calcmode="lin" valueType="num">
                                      <p:cBhvr additive="base">
                                        <p:cTn id="11" dur="650" fill="hold"/>
                                        <p:tgtEl>
                                          <p:spTgt spid="6"/>
                                        </p:tgtEl>
                                        <p:attrNameLst>
                                          <p:attrName>ppt_x</p:attrName>
                                        </p:attrNameLst>
                                      </p:cBhvr>
                                      <p:tavLst>
                                        <p:tav tm="0">
                                          <p:val>
                                            <p:strVal val="#ppt_x"/>
                                          </p:val>
                                        </p:tav>
                                        <p:tav tm="100000">
                                          <p:val>
                                            <p:strVal val="#ppt_x"/>
                                          </p:val>
                                        </p:tav>
                                      </p:tavLst>
                                    </p:anim>
                                    <p:anim calcmode="lin" valueType="num">
                                      <p:cBhvr additive="base">
                                        <p:cTn id="12" dur="650" fill="hold"/>
                                        <p:tgtEl>
                                          <p:spTgt spid="6"/>
                                        </p:tgtEl>
                                        <p:attrNameLst>
                                          <p:attrName>ppt_y</p:attrName>
                                        </p:attrNameLst>
                                      </p:cBhvr>
                                      <p:tavLst>
                                        <p:tav tm="0">
                                          <p:val>
                                            <p:strVal val="#ppt_y+.06"/>
                                          </p:val>
                                        </p:tav>
                                        <p:tav tm="100000">
                                          <p:val>
                                            <p:strVal val="#ppt_y"/>
                                          </p:val>
                                        </p:tav>
                                      </p:tavLst>
                                    </p:anim>
                                  </p:childTnLst>
                                </p:cTn>
                              </p:par>
                              <p:par>
                                <p:cTn id="13" presetID="42" presetClass="entr" presetSubtype="0" decel="100000" fill="hold" grpId="0" nodeType="withEffect">
                                  <p:stCondLst>
                                    <p:cond delay="20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fill="hold"/>
                                        <p:tgtEl>
                                          <p:spTgt spid="7"/>
                                        </p:tgtEl>
                                      </p:cBhvr>
                                    </p:animEffect>
                                    <p:anim calcmode="lin" valueType="num">
                                      <p:cBhvr additive="base">
                                        <p:cTn id="16" dur="650" fill="hold"/>
                                        <p:tgtEl>
                                          <p:spTgt spid="7"/>
                                        </p:tgtEl>
                                        <p:attrNameLst>
                                          <p:attrName>ppt_x</p:attrName>
                                        </p:attrNameLst>
                                      </p:cBhvr>
                                      <p:tavLst>
                                        <p:tav tm="0">
                                          <p:val>
                                            <p:strVal val="#ppt_x"/>
                                          </p:val>
                                        </p:tav>
                                        <p:tav tm="100000">
                                          <p:val>
                                            <p:strVal val="#ppt_x"/>
                                          </p:val>
                                        </p:tav>
                                      </p:tavLst>
                                    </p:anim>
                                    <p:anim calcmode="lin" valueType="num">
                                      <p:cBhvr additive="base">
                                        <p:cTn id="17" dur="650" fill="hold"/>
                                        <p:tgtEl>
                                          <p:spTgt spid="7"/>
                                        </p:tgtEl>
                                        <p:attrNameLst>
                                          <p:attrName>ppt_y</p:attrName>
                                        </p:attrNameLst>
                                      </p:cBhvr>
                                      <p:tavLst>
                                        <p:tav tm="0">
                                          <p:val>
                                            <p:strVal val="#ppt_y+.06"/>
                                          </p:val>
                                        </p:tav>
                                        <p:tav tm="100000">
                                          <p:val>
                                            <p:strVal val="#ppt_y"/>
                                          </p:val>
                                        </p:tav>
                                      </p:tavLst>
                                    </p:anim>
                                  </p:childTnLst>
                                </p:cTn>
                              </p:par>
                              <p:par>
                                <p:cTn id="18" presetID="53" presetClass="entr" presetSubtype="16" decel="100000" fill="hold" grpId="0" nodeType="withEffect">
                                  <p:stCondLst>
                                    <p:cond delay="50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50" fill="hold"/>
                                        <p:tgtEl>
                                          <p:spTgt spid="8"/>
                                        </p:tgtEl>
                                        <p:attrNameLst>
                                          <p:attrName>ppt_w</p:attrName>
                                        </p:attrNameLst>
                                      </p:cBhvr>
                                      <p:tavLst>
                                        <p:tav tm="0">
                                          <p:val>
                                            <p:strVal val="0"/>
                                          </p:val>
                                        </p:tav>
                                        <p:tav tm="70000">
                                          <p:val>
                                            <p:strVal val="#ppt_w*1.08"/>
                                          </p:val>
                                        </p:tav>
                                        <p:tav tm="100000">
                                          <p:val>
                                            <p:strVal val="#ppt_w"/>
                                          </p:val>
                                        </p:tav>
                                      </p:tavLst>
                                    </p:anim>
                                    <p:anim calcmode="lin" valueType="num">
                                      <p:cBhvr additive="base">
                                        <p:cTn id="21" dur="550" fill="hold"/>
                                        <p:tgtEl>
                                          <p:spTgt spid="8"/>
                                        </p:tgtEl>
                                        <p:attrNameLst>
                                          <p:attrName>ppt_h</p:attrName>
                                        </p:attrNameLst>
                                      </p:cBhvr>
                                      <p:tavLst>
                                        <p:tav tm="0">
                                          <p:val>
                                            <p:strVal val="0"/>
                                          </p:val>
                                        </p:tav>
                                        <p:tav tm="70000">
                                          <p:val>
                                            <p:strVal val="#ppt_h*1.08"/>
                                          </p:val>
                                        </p:tav>
                                        <p:tav tm="100000">
                                          <p:val>
                                            <p:strVal val="#ppt_h"/>
                                          </p:val>
                                        </p:tav>
                                      </p:tavLst>
                                    </p:anim>
                                    <p:animEffect transition="in" filter="fade">
                                      <p:cBhvr>
                                        <p:cTn id="22" dur="330" fill="hold"/>
                                        <p:tgtEl>
                                          <p:spTgt spid="8"/>
                                        </p:tgtEl>
                                      </p:cBhvr>
                                    </p:animEffect>
                                  </p:childTnLst>
                                </p:cTn>
                              </p:par>
                              <p:par>
                                <p:cTn id="23" presetID="10" presetClass="entr" presetSubtype="0" fill="hold" grpId="0" nodeType="withEffect">
                                  <p:stCondLst>
                                    <p:cond delay="75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fill="hold"/>
                                        <p:tgtEl>
                                          <p:spTgt spid="9"/>
                                        </p:tgtEl>
                                      </p:cBhvr>
                                    </p:animEffect>
                                  </p:childTnLst>
                                </p:cTn>
                              </p:par>
                              <p:par>
                                <p:cTn id="26" presetID="10" presetClass="entr" presetSubtype="0" fill="hold" grpId="0" nodeType="withEffect">
                                  <p:stCondLst>
                                    <p:cond delay="75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fill="hold"/>
                                        <p:tgtEl>
                                          <p:spTgt spid="10"/>
                                        </p:tgtEl>
                                      </p:cBhvr>
                                    </p:animEffect>
                                  </p:childTnLst>
                                </p:cTn>
                              </p:par>
                              <p:par>
                                <p:cTn id="29" presetID="10" presetClass="entr" presetSubtype="0" fill="hold" grpId="0" nodeType="withEffect">
                                  <p:stCondLst>
                                    <p:cond delay="75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fill="hold"/>
                                        <p:tgtEl>
                                          <p:spTgt spid="11"/>
                                        </p:tgtEl>
                                      </p:cBhvr>
                                    </p:animEffect>
                                  </p:childTnLst>
                                </p:cTn>
                              </p:par>
                              <p:par>
                                <p:cTn id="32" presetID="42" presetClass="entr" presetSubtype="0" decel="100000" fill="hold" grpId="0" nodeType="withEffect">
                                  <p:stCondLst>
                                    <p:cond delay="95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650" fill="hold"/>
                                        <p:tgtEl>
                                          <p:spTgt spid="12"/>
                                        </p:tgtEl>
                                      </p:cBhvr>
                                    </p:animEffect>
                                    <p:anim calcmode="lin" valueType="num">
                                      <p:cBhvr additive="base">
                                        <p:cTn id="35" dur="650" fill="hold"/>
                                        <p:tgtEl>
                                          <p:spTgt spid="12"/>
                                        </p:tgtEl>
                                        <p:attrNameLst>
                                          <p:attrName>ppt_x</p:attrName>
                                        </p:attrNameLst>
                                      </p:cBhvr>
                                      <p:tavLst>
                                        <p:tav tm="0">
                                          <p:val>
                                            <p:strVal val="#ppt_x"/>
                                          </p:val>
                                        </p:tav>
                                        <p:tav tm="100000">
                                          <p:val>
                                            <p:strVal val="#ppt_x"/>
                                          </p:val>
                                        </p:tav>
                                      </p:tavLst>
                                    </p:anim>
                                    <p:anim calcmode="lin" valueType="num">
                                      <p:cBhvr additive="base">
                                        <p:cTn id="36" dur="650" fill="hold"/>
                                        <p:tgtEl>
                                          <p:spTgt spid="12"/>
                                        </p:tgtEl>
                                        <p:attrNameLst>
                                          <p:attrName>ppt_y</p:attrName>
                                        </p:attrNameLst>
                                      </p:cBhvr>
                                      <p:tavLst>
                                        <p:tav tm="0">
                                          <p:val>
                                            <p:strVal val="#ppt_y+.06"/>
                                          </p:val>
                                        </p:tav>
                                        <p:tav tm="100000">
                                          <p:val>
                                            <p:strVal val="#ppt_y"/>
                                          </p:val>
                                        </p:tav>
                                      </p:tavLst>
                                    </p:anim>
                                  </p:childTnLst>
                                </p:cTn>
                              </p:par>
                              <p:par>
                                <p:cTn id="37" presetID="42" presetClass="entr" presetSubtype="0" decel="100000" fill="hold" grpId="0" nodeType="withEffect">
                                  <p:stCondLst>
                                    <p:cond delay="95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650" fill="hold"/>
                                        <p:tgtEl>
                                          <p:spTgt spid="13"/>
                                        </p:tgtEl>
                                      </p:cBhvr>
                                    </p:animEffect>
                                    <p:anim calcmode="lin" valueType="num">
                                      <p:cBhvr additive="base">
                                        <p:cTn id="40" dur="650" fill="hold"/>
                                        <p:tgtEl>
                                          <p:spTgt spid="13"/>
                                        </p:tgtEl>
                                        <p:attrNameLst>
                                          <p:attrName>ppt_x</p:attrName>
                                        </p:attrNameLst>
                                      </p:cBhvr>
                                      <p:tavLst>
                                        <p:tav tm="0">
                                          <p:val>
                                            <p:strVal val="#ppt_x"/>
                                          </p:val>
                                        </p:tav>
                                        <p:tav tm="100000">
                                          <p:val>
                                            <p:strVal val="#ppt_x"/>
                                          </p:val>
                                        </p:tav>
                                      </p:tavLst>
                                    </p:anim>
                                    <p:anim calcmode="lin" valueType="num">
                                      <p:cBhvr additive="base">
                                        <p:cTn id="41" dur="650" fill="hold"/>
                                        <p:tgtEl>
                                          <p:spTgt spid="13"/>
                                        </p:tgtEl>
                                        <p:attrNameLst>
                                          <p:attrName>ppt_y</p:attrName>
                                        </p:attrNameLst>
                                      </p:cBhvr>
                                      <p:tavLst>
                                        <p:tav tm="0">
                                          <p:val>
                                            <p:strVal val="#ppt_y+.06"/>
                                          </p:val>
                                        </p:tav>
                                        <p:tav tm="100000">
                                          <p:val>
                                            <p:strVal val="#ppt_y"/>
                                          </p:val>
                                        </p:tav>
                                      </p:tavLst>
                                    </p:anim>
                                  </p:childTnLst>
                                </p:cTn>
                              </p:par>
                              <p:par>
                                <p:cTn id="42" presetID="42" presetClass="entr" presetSubtype="0" decel="100000" fill="hold" grpId="0" nodeType="withEffect">
                                  <p:stCondLst>
                                    <p:cond delay="115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650" fill="hold"/>
                                        <p:tgtEl>
                                          <p:spTgt spid="14"/>
                                        </p:tgtEl>
                                      </p:cBhvr>
                                    </p:animEffect>
                                    <p:anim calcmode="lin" valueType="num">
                                      <p:cBhvr additive="base">
                                        <p:cTn id="45" dur="650" fill="hold"/>
                                        <p:tgtEl>
                                          <p:spTgt spid="14"/>
                                        </p:tgtEl>
                                        <p:attrNameLst>
                                          <p:attrName>ppt_x</p:attrName>
                                        </p:attrNameLst>
                                      </p:cBhvr>
                                      <p:tavLst>
                                        <p:tav tm="0">
                                          <p:val>
                                            <p:strVal val="#ppt_x"/>
                                          </p:val>
                                        </p:tav>
                                        <p:tav tm="100000">
                                          <p:val>
                                            <p:strVal val="#ppt_x"/>
                                          </p:val>
                                        </p:tav>
                                      </p:tavLst>
                                    </p:anim>
                                    <p:anim calcmode="lin" valueType="num">
                                      <p:cBhvr additive="base">
                                        <p:cTn id="46" dur="650" fill="hold"/>
                                        <p:tgtEl>
                                          <p:spTgt spid="14"/>
                                        </p:tgtEl>
                                        <p:attrNameLst>
                                          <p:attrName>ppt_y</p:attrName>
                                        </p:attrNameLst>
                                      </p:cBhvr>
                                      <p:tavLst>
                                        <p:tav tm="0">
                                          <p:val>
                                            <p:strVal val="#ppt_y+.06"/>
                                          </p:val>
                                        </p:tav>
                                        <p:tav tm="100000">
                                          <p:val>
                                            <p:strVal val="#ppt_y"/>
                                          </p:val>
                                        </p:tav>
                                      </p:tavLst>
                                    </p:anim>
                                  </p:childTnLst>
                                </p:cTn>
                              </p:par>
                              <p:par>
                                <p:cTn id="47" presetID="42" presetClass="entr" presetSubtype="0" decel="100000" fill="hold" grpId="0" nodeType="withEffect">
                                  <p:stCondLst>
                                    <p:cond delay="115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650" fill="hold"/>
                                        <p:tgtEl>
                                          <p:spTgt spid="15"/>
                                        </p:tgtEl>
                                      </p:cBhvr>
                                    </p:animEffect>
                                    <p:anim calcmode="lin" valueType="num">
                                      <p:cBhvr additive="base">
                                        <p:cTn id="50" dur="650" fill="hold"/>
                                        <p:tgtEl>
                                          <p:spTgt spid="15"/>
                                        </p:tgtEl>
                                        <p:attrNameLst>
                                          <p:attrName>ppt_x</p:attrName>
                                        </p:attrNameLst>
                                      </p:cBhvr>
                                      <p:tavLst>
                                        <p:tav tm="0">
                                          <p:val>
                                            <p:strVal val="#ppt_x"/>
                                          </p:val>
                                        </p:tav>
                                        <p:tav tm="100000">
                                          <p:val>
                                            <p:strVal val="#ppt_x"/>
                                          </p:val>
                                        </p:tav>
                                      </p:tavLst>
                                    </p:anim>
                                    <p:anim calcmode="lin" valueType="num">
                                      <p:cBhvr additive="base">
                                        <p:cTn id="51" dur="650" fill="hold"/>
                                        <p:tgtEl>
                                          <p:spTgt spid="15"/>
                                        </p:tgtEl>
                                        <p:attrNameLst>
                                          <p:attrName>ppt_y</p:attrName>
                                        </p:attrNameLst>
                                      </p:cBhvr>
                                      <p:tavLst>
                                        <p:tav tm="0">
                                          <p:val>
                                            <p:strVal val="#ppt_y+.06"/>
                                          </p:val>
                                        </p:tav>
                                        <p:tav tm="100000">
                                          <p:val>
                                            <p:strVal val="#ppt_y"/>
                                          </p:val>
                                        </p:tav>
                                      </p:tavLst>
                                    </p:anim>
                                  </p:childTnLst>
                                </p:cTn>
                              </p:par>
                              <p:par>
                                <p:cTn id="52" presetID="42" presetClass="entr" presetSubtype="0" decel="100000" fill="hold" grpId="0" nodeType="withEffect">
                                  <p:stCondLst>
                                    <p:cond delay="1350"/>
                                  </p:stCondLst>
                                  <p:childTnLst>
                                    <p:set>
                                      <p:cBhvr>
                                        <p:cTn id="53" dur="1" fill="hold">
                                          <p:stCondLst>
                                            <p:cond delay="0"/>
                                          </p:stCondLst>
                                        </p:cTn>
                                        <p:tgtEl>
                                          <p:spTgt spid="16"/>
                                        </p:tgtEl>
                                        <p:attrNameLst>
                                          <p:attrName>style.visibility</p:attrName>
                                        </p:attrNameLst>
                                      </p:cBhvr>
                                      <p:to>
                                        <p:strVal val="visible"/>
                                      </p:to>
                                    </p:set>
                                    <p:animEffect transition="in" filter="fade">
                                      <p:cBhvr>
                                        <p:cTn id="54" dur="650" fill="hold"/>
                                        <p:tgtEl>
                                          <p:spTgt spid="16"/>
                                        </p:tgtEl>
                                      </p:cBhvr>
                                    </p:animEffect>
                                    <p:anim calcmode="lin" valueType="num">
                                      <p:cBhvr additive="base">
                                        <p:cTn id="55" dur="650" fill="hold"/>
                                        <p:tgtEl>
                                          <p:spTgt spid="16"/>
                                        </p:tgtEl>
                                        <p:attrNameLst>
                                          <p:attrName>ppt_x</p:attrName>
                                        </p:attrNameLst>
                                      </p:cBhvr>
                                      <p:tavLst>
                                        <p:tav tm="0">
                                          <p:val>
                                            <p:strVal val="#ppt_x"/>
                                          </p:val>
                                        </p:tav>
                                        <p:tav tm="100000">
                                          <p:val>
                                            <p:strVal val="#ppt_x"/>
                                          </p:val>
                                        </p:tav>
                                      </p:tavLst>
                                    </p:anim>
                                    <p:anim calcmode="lin" valueType="num">
                                      <p:cBhvr additive="base">
                                        <p:cTn id="56" dur="650" fill="hold"/>
                                        <p:tgtEl>
                                          <p:spTgt spid="16"/>
                                        </p:tgtEl>
                                        <p:attrNameLst>
                                          <p:attrName>ppt_y</p:attrName>
                                        </p:attrNameLst>
                                      </p:cBhvr>
                                      <p:tavLst>
                                        <p:tav tm="0">
                                          <p:val>
                                            <p:strVal val="#ppt_y+.06"/>
                                          </p:val>
                                        </p:tav>
                                        <p:tav tm="100000">
                                          <p:val>
                                            <p:strVal val="#ppt_y"/>
                                          </p:val>
                                        </p:tav>
                                      </p:tavLst>
                                    </p:anim>
                                  </p:childTnLst>
                                </p:cTn>
                              </p:par>
                              <p:par>
                                <p:cTn id="57" presetID="42" presetClass="entr" presetSubtype="0" decel="100000" fill="hold" grpId="0" nodeType="withEffect">
                                  <p:stCondLst>
                                    <p:cond delay="1350"/>
                                  </p:stCondLst>
                                  <p:childTnLst>
                                    <p:set>
                                      <p:cBhvr>
                                        <p:cTn id="58" dur="1" fill="hold">
                                          <p:stCondLst>
                                            <p:cond delay="0"/>
                                          </p:stCondLst>
                                        </p:cTn>
                                        <p:tgtEl>
                                          <p:spTgt spid="17"/>
                                        </p:tgtEl>
                                        <p:attrNameLst>
                                          <p:attrName>style.visibility</p:attrName>
                                        </p:attrNameLst>
                                      </p:cBhvr>
                                      <p:to>
                                        <p:strVal val="visible"/>
                                      </p:to>
                                    </p:set>
                                    <p:animEffect transition="in" filter="fade">
                                      <p:cBhvr>
                                        <p:cTn id="59" dur="650" fill="hold"/>
                                        <p:tgtEl>
                                          <p:spTgt spid="17"/>
                                        </p:tgtEl>
                                      </p:cBhvr>
                                    </p:animEffect>
                                    <p:anim calcmode="lin" valueType="num">
                                      <p:cBhvr additive="base">
                                        <p:cTn id="60" dur="650" fill="hold"/>
                                        <p:tgtEl>
                                          <p:spTgt spid="17"/>
                                        </p:tgtEl>
                                        <p:attrNameLst>
                                          <p:attrName>ppt_x</p:attrName>
                                        </p:attrNameLst>
                                      </p:cBhvr>
                                      <p:tavLst>
                                        <p:tav tm="0">
                                          <p:val>
                                            <p:strVal val="#ppt_x"/>
                                          </p:val>
                                        </p:tav>
                                        <p:tav tm="100000">
                                          <p:val>
                                            <p:strVal val="#ppt_x"/>
                                          </p:val>
                                        </p:tav>
                                      </p:tavLst>
                                    </p:anim>
                                    <p:anim calcmode="lin" valueType="num">
                                      <p:cBhvr additive="base">
                                        <p:cTn id="61" dur="650" fill="hold"/>
                                        <p:tgtEl>
                                          <p:spTgt spid="17"/>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411480" y="868680"/>
            <a:ext cx="4572000" cy="1828800"/>
          </a:xfrm>
          <a:prstGeom prst="rect">
            <a:avLst/>
          </a:prstGeom>
          <a:noFill/>
        </p:spPr>
        <p:txBody>
          <a:bodyPr wrap="square" lIns="36576" tIns="18288" rIns="36576" bIns="18288" anchor="t">
            <a:spAutoFit/>
          </a:bodyPr>
          <a:lstStyle/>
          <a:p>
            <a:pPr algn="l"/>
            <a:r>
              <a:rPr sz="12000" b="1" i="0">
                <a:solidFill>
                  <a:srgbClr val="9CD848"/>
                </a:solidFill>
                <a:latin typeface="Segoe UI Semibold"/>
              </a:rPr>
              <a:t>02</a:t>
            </a:r>
          </a:p>
        </p:txBody>
      </p:sp>
      <p:sp>
        <p:nvSpPr>
          <p:cNvPr id="3" name="TextBox 2"/>
          <p:cNvSpPr txBox="1"/>
          <p:nvPr/>
        </p:nvSpPr>
        <p:spPr>
          <a:xfrm>
            <a:off x="548640" y="502920"/>
            <a:ext cx="4572000" cy="365760"/>
          </a:xfrm>
          <a:prstGeom prst="rect">
            <a:avLst/>
          </a:prstGeom>
          <a:noFill/>
        </p:spPr>
        <p:txBody>
          <a:bodyPr wrap="square" lIns="36576" tIns="18288" rIns="36576" bIns="18288" anchor="t">
            <a:spAutoFit/>
          </a:bodyPr>
          <a:lstStyle/>
          <a:p>
            <a:pPr algn="l"/>
            <a:r>
              <a:rPr sz="1200" b="1" i="0" spc="250">
                <a:solidFill>
                  <a:srgbClr val="9CD848"/>
                </a:solidFill>
                <a:latin typeface="Segoe UI Semibold"/>
              </a:rPr>
              <a:t>ENCONTRO 1  ·  MÓDULO 2</a:t>
            </a:r>
          </a:p>
        </p:txBody>
      </p:sp>
      <p:sp>
        <p:nvSpPr>
          <p:cNvPr id="4" name="TextBox 3"/>
          <p:cNvSpPr txBox="1"/>
          <p:nvPr/>
        </p:nvSpPr>
        <p:spPr>
          <a:xfrm>
            <a:off x="548640" y="2331720"/>
            <a:ext cx="6766560" cy="1280160"/>
          </a:xfrm>
          <a:prstGeom prst="rect">
            <a:avLst/>
          </a:prstGeom>
          <a:noFill/>
        </p:spPr>
        <p:txBody>
          <a:bodyPr wrap="square" lIns="36576" tIns="18288" rIns="36576" bIns="18288" anchor="b">
            <a:spAutoFit/>
          </a:bodyPr>
          <a:lstStyle/>
          <a:p>
            <a:pPr algn="l">
              <a:lnSpc>
                <a:spcPct val="95000"/>
              </a:lnSpc>
            </a:pPr>
            <a:r>
              <a:rPr sz="3800" b="1" i="0">
                <a:solidFill>
                  <a:srgbClr val="F2F2EC"/>
                </a:solidFill>
                <a:latin typeface="Segoe UI Semibold"/>
              </a:rPr>
              <a:t>Empatizar</a:t>
            </a:r>
          </a:p>
        </p:txBody>
      </p:sp>
      <p:sp>
        <p:nvSpPr>
          <p:cNvPr id="5" name="TextBox 4"/>
          <p:cNvSpPr txBox="1"/>
          <p:nvPr/>
        </p:nvSpPr>
        <p:spPr>
          <a:xfrm>
            <a:off x="548640" y="3675887"/>
            <a:ext cx="6766560" cy="457200"/>
          </a:xfrm>
          <a:prstGeom prst="rect">
            <a:avLst/>
          </a:prstGeom>
          <a:noFill/>
        </p:spPr>
        <p:txBody>
          <a:bodyPr wrap="square" lIns="36576" tIns="18288" rIns="36576" bIns="18288" anchor="t">
            <a:spAutoFit/>
          </a:bodyPr>
          <a:lstStyle/>
          <a:p>
            <a:pPr algn="l"/>
            <a:r>
              <a:rPr sz="1800" b="0" i="0">
                <a:solidFill>
                  <a:srgbClr val="B4B8B0"/>
                </a:solidFill>
                <a:latin typeface="Segoe UI"/>
              </a:rPr>
              <a:t>Entender as pessoas</a:t>
            </a:r>
          </a:p>
        </p:txBody>
      </p:sp>
      <p:sp>
        <p:nvSpPr>
          <p:cNvPr id="6" name="Rounded Rectangle 5"/>
          <p:cNvSpPr/>
          <p:nvPr/>
        </p:nvSpPr>
        <p:spPr>
          <a:xfrm>
            <a:off x="7589520" y="2103120"/>
            <a:ext cx="4069080" cy="342900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863840" y="2286000"/>
            <a:ext cx="3657600" cy="365760"/>
          </a:xfrm>
          <a:prstGeom prst="rect">
            <a:avLst/>
          </a:prstGeom>
          <a:noFill/>
        </p:spPr>
        <p:txBody>
          <a:bodyPr wrap="square" lIns="36576" tIns="18288" rIns="36576" bIns="18288" anchor="t">
            <a:spAutoFit/>
          </a:bodyPr>
          <a:lstStyle/>
          <a:p>
            <a:pPr algn="l"/>
            <a:r>
              <a:rPr sz="1100" b="1" i="0" spc="200">
                <a:solidFill>
                  <a:srgbClr val="9CD848"/>
                </a:solidFill>
                <a:latin typeface="Segoe UI Semibold"/>
              </a:rPr>
              <a:t>OBJETIVOS</a:t>
            </a:r>
          </a:p>
        </p:txBody>
      </p:sp>
      <p:sp>
        <p:nvSpPr>
          <p:cNvPr id="8" name="TextBox 7"/>
          <p:cNvSpPr txBox="1"/>
          <p:nvPr/>
        </p:nvSpPr>
        <p:spPr>
          <a:xfrm>
            <a:off x="7863840" y="2651760"/>
            <a:ext cx="3611880" cy="2834640"/>
          </a:xfrm>
          <a:prstGeom prst="rect">
            <a:avLst/>
          </a:prstGeom>
          <a:noFill/>
        </p:spPr>
        <p:txBody>
          <a:bodyPr wrap="square">
            <a:spAutoFit/>
          </a:bodyPr>
          <a:lstStyle/>
          <a:p>
            <a:pPr marL="292608" indent="-292608">
              <a:spcAft>
                <a:spcPts val="800"/>
              </a:spcAft>
              <a:buClr>
                <a:srgbClr val="9CD848"/>
              </a:buClr>
              <a:buFont typeface="Arial"/>
              <a:buChar char="●"/>
            </a:pPr>
            <a:r>
              <a:rPr sz="1350">
                <a:solidFill>
                  <a:srgbClr val="F2F2EC"/>
                </a:solidFill>
                <a:latin typeface="Segoe UI"/>
              </a:rPr>
              <a:t>Entender o papel da empatia no processo</a:t>
            </a:r>
          </a:p>
          <a:p>
            <a:pPr marL="292608" indent="-292608">
              <a:spcAft>
                <a:spcPts val="800"/>
              </a:spcAft>
              <a:buClr>
                <a:srgbClr val="9CD848"/>
              </a:buClr>
              <a:buFont typeface="Arial"/>
              <a:buChar char="●"/>
            </a:pPr>
            <a:r>
              <a:rPr sz="1350">
                <a:solidFill>
                  <a:srgbClr val="F2F2EC"/>
                </a:solidFill>
                <a:latin typeface="Segoe UI"/>
              </a:rPr>
              <a:t>Escolher entre pesquisa qualitativa, quantitativa e secundária</a:t>
            </a:r>
          </a:p>
          <a:p>
            <a:pPr marL="292608" indent="-292608">
              <a:spcAft>
                <a:spcPts val="800"/>
              </a:spcAft>
              <a:buClr>
                <a:srgbClr val="9CD848"/>
              </a:buClr>
              <a:buFont typeface="Arial"/>
              <a:buChar char="●"/>
            </a:pPr>
            <a:r>
              <a:rPr sz="1350">
                <a:solidFill>
                  <a:srgbClr val="F2F2EC"/>
                </a:solidFill>
                <a:latin typeface="Segoe UI"/>
              </a:rPr>
              <a:t>Planejar uma pesquisa com Matriz CSD e screener</a:t>
            </a:r>
          </a:p>
          <a:p>
            <a:pPr marL="292608" indent="-292608">
              <a:buClr>
                <a:srgbClr val="9CD848"/>
              </a:buClr>
              <a:buFont typeface="Arial"/>
              <a:buChar char="●"/>
            </a:pPr>
            <a:r>
              <a:rPr sz="1350">
                <a:solidFill>
                  <a:srgbClr val="F2F2EC"/>
                </a:solidFill>
                <a:latin typeface="Segoe UI"/>
              </a:rPr>
              <a:t>Sintetizar achados em grupos de afinidade e personas</a:t>
            </a:r>
          </a:p>
        </p:txBody>
      </p:sp>
      <p:sp>
        <p:nvSpPr>
          <p:cNvPr id="9" name="Rounded Rectangle 8"/>
          <p:cNvSpPr/>
          <p:nvPr/>
        </p:nvSpPr>
        <p:spPr>
          <a:xfrm>
            <a:off x="548640" y="4983480"/>
            <a:ext cx="1221638" cy="310896"/>
          </a:xfrm>
          <a:prstGeom prst="roundRect">
            <a:avLst>
              <a:gd name="adj" fmla="val 50000"/>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000" b="1" i="0">
                <a:solidFill>
                  <a:srgbClr val="1A1A1A"/>
                </a:solidFill>
                <a:latin typeface="Segoe UI Semibold"/>
              </a:rPr>
              <a:t>Empatizar</a:t>
            </a:r>
          </a:p>
        </p:txBody>
      </p:sp>
      <p:sp>
        <p:nvSpPr>
          <p:cNvPr id="10" name="Rounded Rectangle 9"/>
          <p:cNvSpPr/>
          <p:nvPr/>
        </p:nvSpPr>
        <p:spPr>
          <a:xfrm>
            <a:off x="1843430" y="4983480"/>
            <a:ext cx="1221638" cy="310896"/>
          </a:xfrm>
          <a:prstGeom prst="roundRect">
            <a:avLst>
              <a:gd name="adj" fmla="val 50000"/>
            </a:avLst>
          </a:prstGeom>
          <a:solidFill>
            <a:srgbClr val="242826"/>
          </a:solidFill>
          <a:ln w="12700">
            <a:solidFill>
              <a:srgbClr val="3A413D"/>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000" b="0" i="0">
                <a:solidFill>
                  <a:srgbClr val="B4B8B0"/>
                </a:solidFill>
                <a:latin typeface="Segoe UI"/>
              </a:rPr>
              <a:t>Definir</a:t>
            </a:r>
          </a:p>
        </p:txBody>
      </p:sp>
      <p:sp>
        <p:nvSpPr>
          <p:cNvPr id="11" name="Rounded Rectangle 10"/>
          <p:cNvSpPr/>
          <p:nvPr/>
        </p:nvSpPr>
        <p:spPr>
          <a:xfrm>
            <a:off x="3138220" y="4983480"/>
            <a:ext cx="1221638" cy="310896"/>
          </a:xfrm>
          <a:prstGeom prst="roundRect">
            <a:avLst>
              <a:gd name="adj" fmla="val 50000"/>
            </a:avLst>
          </a:prstGeom>
          <a:solidFill>
            <a:srgbClr val="242826"/>
          </a:solidFill>
          <a:ln w="12700">
            <a:solidFill>
              <a:srgbClr val="3A413D"/>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000" b="0" i="0">
                <a:solidFill>
                  <a:srgbClr val="B4B8B0"/>
                </a:solidFill>
                <a:latin typeface="Segoe UI"/>
              </a:rPr>
              <a:t>Idear</a:t>
            </a:r>
          </a:p>
        </p:txBody>
      </p:sp>
      <p:sp>
        <p:nvSpPr>
          <p:cNvPr id="12" name="Rounded Rectangle 11"/>
          <p:cNvSpPr/>
          <p:nvPr/>
        </p:nvSpPr>
        <p:spPr>
          <a:xfrm>
            <a:off x="4433011" y="4983480"/>
            <a:ext cx="1221638" cy="310896"/>
          </a:xfrm>
          <a:prstGeom prst="roundRect">
            <a:avLst>
              <a:gd name="adj" fmla="val 50000"/>
            </a:avLst>
          </a:prstGeom>
          <a:solidFill>
            <a:srgbClr val="242826"/>
          </a:solidFill>
          <a:ln w="12700">
            <a:solidFill>
              <a:srgbClr val="3A413D"/>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000" b="0" i="0">
                <a:solidFill>
                  <a:srgbClr val="B4B8B0"/>
                </a:solidFill>
                <a:latin typeface="Segoe UI"/>
              </a:rPr>
              <a:t>Prototipar</a:t>
            </a:r>
          </a:p>
        </p:txBody>
      </p:sp>
      <p:sp>
        <p:nvSpPr>
          <p:cNvPr id="13" name="Rounded Rectangle 12"/>
          <p:cNvSpPr/>
          <p:nvPr/>
        </p:nvSpPr>
        <p:spPr>
          <a:xfrm>
            <a:off x="5727801" y="4983480"/>
            <a:ext cx="1221638" cy="310896"/>
          </a:xfrm>
          <a:prstGeom prst="roundRect">
            <a:avLst>
              <a:gd name="adj" fmla="val 50000"/>
            </a:avLst>
          </a:prstGeom>
          <a:solidFill>
            <a:srgbClr val="242826"/>
          </a:solidFill>
          <a:ln w="12700">
            <a:solidFill>
              <a:srgbClr val="3A413D"/>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000" b="0" i="0">
                <a:solidFill>
                  <a:srgbClr val="B4B8B0"/>
                </a:solidFill>
                <a:latin typeface="Segoe UI"/>
              </a:rPr>
              <a:t>Testar</a:t>
            </a:r>
          </a:p>
        </p:txBody>
      </p:sp>
      <p:sp>
        <p:nvSpPr>
          <p:cNvPr id="14" name="Rounded Rectangle 13">
            <a:hlinkClick r:id="rId3" action="ppaction://hlinksldjump"/>
          </p:cNvPr>
          <p:cNvSpPr/>
          <p:nvPr/>
        </p:nvSpPr>
        <p:spPr>
          <a:xfrm>
            <a:off x="548640" y="4297680"/>
            <a:ext cx="3017520" cy="502920"/>
          </a:xfrm>
          <a:prstGeom prst="roundRect">
            <a:avLst>
              <a:gd name="adj" fmla="val 50000"/>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400" b="1" i="0">
                <a:solidFill>
                  <a:srgbClr val="1A1A1A"/>
                </a:solidFill>
                <a:latin typeface="Segoe UI Semibold"/>
              </a:rPr>
              <a:t>▶  Assistir vídeo do módulo</a:t>
            </a:r>
          </a:p>
        </p:txBody>
      </p:sp>
      <p:cxnSp>
        <p:nvCxnSpPr>
          <p:cNvPr id="15" name="Connector 14"/>
          <p:cNvCxnSpPr/>
          <p:nvPr/>
        </p:nvCxnSpPr>
        <p:spPr>
          <a:xfrm>
            <a:off x="9418320" y="640080"/>
            <a:ext cx="1609344" cy="0"/>
          </a:xfrm>
          <a:prstGeom prst="line">
            <a:avLst/>
          </a:prstGeom>
          <a:ln w="30734">
            <a:solidFill>
              <a:srgbClr val="9CD84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418320" y="1092708"/>
            <a:ext cx="1106424" cy="0"/>
          </a:xfrm>
          <a:prstGeom prst="line">
            <a:avLst/>
          </a:prstGeom>
          <a:ln w="30734">
            <a:solidFill>
              <a:srgbClr val="9CD84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524744" y="1092708"/>
            <a:ext cx="352044" cy="352044"/>
          </a:xfrm>
          <a:prstGeom prst="line">
            <a:avLst/>
          </a:prstGeom>
          <a:ln w="30734">
            <a:solidFill>
              <a:srgbClr val="9CD84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876788" y="1444752"/>
            <a:ext cx="854964" cy="0"/>
          </a:xfrm>
          <a:prstGeom prst="line">
            <a:avLst/>
          </a:prstGeom>
          <a:ln w="30734">
            <a:solidFill>
              <a:srgbClr val="9CD84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9418320" y="1545336"/>
            <a:ext cx="603504" cy="0"/>
          </a:xfrm>
          <a:prstGeom prst="line">
            <a:avLst/>
          </a:prstGeom>
          <a:ln w="30734">
            <a:solidFill>
              <a:srgbClr val="9CD84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021824" y="1545336"/>
            <a:ext cx="301752" cy="352044"/>
          </a:xfrm>
          <a:prstGeom prst="line">
            <a:avLst/>
          </a:prstGeom>
          <a:ln w="30734">
            <a:solidFill>
              <a:srgbClr val="9CD84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0323576" y="1897380"/>
            <a:ext cx="1005840" cy="0"/>
          </a:xfrm>
          <a:prstGeom prst="line">
            <a:avLst/>
          </a:prstGeom>
          <a:ln w="30734">
            <a:solidFill>
              <a:srgbClr val="9CD848"/>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11027664" y="529437"/>
            <a:ext cx="221284" cy="221284"/>
          </a:xfrm>
          <a:prstGeom prst="ellipse">
            <a:avLst/>
          </a:prstGeom>
          <a:solidFill>
            <a:srgbClr val="1A1A1A"/>
          </a:solidFill>
          <a:ln w="30734">
            <a:solidFill>
              <a:srgbClr val="9CD84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11731752" y="1334109"/>
            <a:ext cx="221284" cy="221284"/>
          </a:xfrm>
          <a:prstGeom prst="ellipse">
            <a:avLst/>
          </a:prstGeom>
          <a:solidFill>
            <a:srgbClr val="1A1A1A"/>
          </a:solidFill>
          <a:ln w="30734">
            <a:solidFill>
              <a:srgbClr val="9CD84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11329416" y="1786737"/>
            <a:ext cx="221284" cy="221284"/>
          </a:xfrm>
          <a:prstGeom prst="ellipse">
            <a:avLst/>
          </a:prstGeom>
          <a:solidFill>
            <a:srgbClr val="1A1A1A"/>
          </a:solidFill>
          <a:ln w="30734">
            <a:solidFill>
              <a:srgbClr val="9CD84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700" fill="hold"/>
                                        <p:tgtEl>
                                          <p:spTgt spid="2"/>
                                        </p:tgtEl>
                                        <p:attrNameLst>
                                          <p:attrName>ppt_w</p:attrName>
                                        </p:attrNameLst>
                                      </p:cBhvr>
                                      <p:tavLst>
                                        <p:tav tm="0">
                                          <p:val>
                                            <p:strVal val="0"/>
                                          </p:val>
                                        </p:tav>
                                        <p:tav tm="70000">
                                          <p:val>
                                            <p:strVal val="#ppt_w*1.08"/>
                                          </p:val>
                                        </p:tav>
                                        <p:tav tm="100000">
                                          <p:val>
                                            <p:strVal val="#ppt_w"/>
                                          </p:val>
                                        </p:tav>
                                      </p:tavLst>
                                    </p:anim>
                                    <p:anim calcmode="lin" valueType="num">
                                      <p:cBhvr additive="base">
                                        <p:cTn id="8" dur="700" fill="hold"/>
                                        <p:tgtEl>
                                          <p:spTgt spid="2"/>
                                        </p:tgtEl>
                                        <p:attrNameLst>
                                          <p:attrName>ppt_h</p:attrName>
                                        </p:attrNameLst>
                                      </p:cBhvr>
                                      <p:tavLst>
                                        <p:tav tm="0">
                                          <p:val>
                                            <p:strVal val="0"/>
                                          </p:val>
                                        </p:tav>
                                        <p:tav tm="70000">
                                          <p:val>
                                            <p:strVal val="#ppt_h*1.08"/>
                                          </p:val>
                                        </p:tav>
                                        <p:tav tm="100000">
                                          <p:val>
                                            <p:strVal val="#ppt_h"/>
                                          </p:val>
                                        </p:tav>
                                      </p:tavLst>
                                    </p:anim>
                                    <p:animEffect transition="in" filter="fade">
                                      <p:cBhvr>
                                        <p:cTn id="9" dur="420" fill="hold"/>
                                        <p:tgtEl>
                                          <p:spTgt spid="2"/>
                                        </p:tgtEl>
                                      </p:cBhvr>
                                    </p:animEffect>
                                  </p:childTnLst>
                                </p:cTn>
                              </p:par>
                              <p:par>
                                <p:cTn id="10" presetID="10" presetClass="entr" presetSubtype="0" fill="hold" grpId="0" nodeType="withEffect">
                                  <p:stCondLst>
                                    <p:cond delay="30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fill="hold"/>
                                        <p:tgtEl>
                                          <p:spTgt spid="3"/>
                                        </p:tgtEl>
                                      </p:cBhvr>
                                    </p:animEffect>
                                  </p:childTnLst>
                                </p:cTn>
                              </p:par>
                              <p:par>
                                <p:cTn id="13" presetID="42" presetClass="entr" presetSubtype="0" decel="100000" fill="hold" grpId="0" nodeType="withEffect">
                                  <p:stCondLst>
                                    <p:cond delay="45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650" fill="hold"/>
                                        <p:tgtEl>
                                          <p:spTgt spid="4"/>
                                        </p:tgtEl>
                                      </p:cBhvr>
                                    </p:animEffect>
                                    <p:anim calcmode="lin" valueType="num">
                                      <p:cBhvr additive="base">
                                        <p:cTn id="16" dur="650" fill="hold"/>
                                        <p:tgtEl>
                                          <p:spTgt spid="4"/>
                                        </p:tgtEl>
                                        <p:attrNameLst>
                                          <p:attrName>ppt_x</p:attrName>
                                        </p:attrNameLst>
                                      </p:cBhvr>
                                      <p:tavLst>
                                        <p:tav tm="0">
                                          <p:val>
                                            <p:strVal val="#ppt_x"/>
                                          </p:val>
                                        </p:tav>
                                        <p:tav tm="100000">
                                          <p:val>
                                            <p:strVal val="#ppt_x"/>
                                          </p:val>
                                        </p:tav>
                                      </p:tavLst>
                                    </p:anim>
                                    <p:anim calcmode="lin" valueType="num">
                                      <p:cBhvr additive="base">
                                        <p:cTn id="17" dur="650" fill="hold"/>
                                        <p:tgtEl>
                                          <p:spTgt spid="4"/>
                                        </p:tgtEl>
                                        <p:attrNameLst>
                                          <p:attrName>ppt_y</p:attrName>
                                        </p:attrNameLst>
                                      </p:cBhvr>
                                      <p:tavLst>
                                        <p:tav tm="0">
                                          <p:val>
                                            <p:strVal val="#ppt_y+.06"/>
                                          </p:val>
                                        </p:tav>
                                        <p:tav tm="100000">
                                          <p:val>
                                            <p:strVal val="#ppt_y"/>
                                          </p:val>
                                        </p:tav>
                                      </p:tavLst>
                                    </p:anim>
                                  </p:childTnLst>
                                </p:cTn>
                              </p:par>
                              <p:par>
                                <p:cTn id="18" presetID="42" presetClass="entr" presetSubtype="0" decel="100000" fill="hold" grpId="0" nodeType="withEffect">
                                  <p:stCondLst>
                                    <p:cond delay="65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650" fill="hold"/>
                                        <p:tgtEl>
                                          <p:spTgt spid="5"/>
                                        </p:tgtEl>
                                      </p:cBhvr>
                                    </p:animEffect>
                                    <p:anim calcmode="lin" valueType="num">
                                      <p:cBhvr additive="base">
                                        <p:cTn id="21" dur="650" fill="hold"/>
                                        <p:tgtEl>
                                          <p:spTgt spid="5"/>
                                        </p:tgtEl>
                                        <p:attrNameLst>
                                          <p:attrName>ppt_x</p:attrName>
                                        </p:attrNameLst>
                                      </p:cBhvr>
                                      <p:tavLst>
                                        <p:tav tm="0">
                                          <p:val>
                                            <p:strVal val="#ppt_x"/>
                                          </p:val>
                                        </p:tav>
                                        <p:tav tm="100000">
                                          <p:val>
                                            <p:strVal val="#ppt_x"/>
                                          </p:val>
                                        </p:tav>
                                      </p:tavLst>
                                    </p:anim>
                                    <p:anim calcmode="lin" valueType="num">
                                      <p:cBhvr additive="base">
                                        <p:cTn id="22" dur="650" fill="hold"/>
                                        <p:tgtEl>
                                          <p:spTgt spid="5"/>
                                        </p:tgtEl>
                                        <p:attrNameLst>
                                          <p:attrName>ppt_y</p:attrName>
                                        </p:attrNameLst>
                                      </p:cBhvr>
                                      <p:tavLst>
                                        <p:tav tm="0">
                                          <p:val>
                                            <p:strVal val="#ppt_y+.06"/>
                                          </p:val>
                                        </p:tav>
                                        <p:tav tm="100000">
                                          <p:val>
                                            <p:strVal val="#ppt_y"/>
                                          </p:val>
                                        </p:tav>
                                      </p:tavLst>
                                    </p:anim>
                                  </p:childTnLst>
                                </p:cTn>
                              </p:par>
                              <p:par>
                                <p:cTn id="23" presetID="42" presetClass="entr" presetSubtype="0" decel="100000" fill="hold" grpId="0" nodeType="withEffect">
                                  <p:stCondLst>
                                    <p:cond delay="95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650" fill="hold"/>
                                        <p:tgtEl>
                                          <p:spTgt spid="6"/>
                                        </p:tgtEl>
                                      </p:cBhvr>
                                    </p:animEffect>
                                    <p:anim calcmode="lin" valueType="num">
                                      <p:cBhvr additive="base">
                                        <p:cTn id="26" dur="650" fill="hold"/>
                                        <p:tgtEl>
                                          <p:spTgt spid="6"/>
                                        </p:tgtEl>
                                        <p:attrNameLst>
                                          <p:attrName>ppt_x</p:attrName>
                                        </p:attrNameLst>
                                      </p:cBhvr>
                                      <p:tavLst>
                                        <p:tav tm="0">
                                          <p:val>
                                            <p:strVal val="#ppt_x"/>
                                          </p:val>
                                        </p:tav>
                                        <p:tav tm="100000">
                                          <p:val>
                                            <p:strVal val="#ppt_x"/>
                                          </p:val>
                                        </p:tav>
                                      </p:tavLst>
                                    </p:anim>
                                    <p:anim calcmode="lin" valueType="num">
                                      <p:cBhvr additive="base">
                                        <p:cTn id="27" dur="650" fill="hold"/>
                                        <p:tgtEl>
                                          <p:spTgt spid="6"/>
                                        </p:tgtEl>
                                        <p:attrNameLst>
                                          <p:attrName>ppt_y</p:attrName>
                                        </p:attrNameLst>
                                      </p:cBhvr>
                                      <p:tavLst>
                                        <p:tav tm="0">
                                          <p:val>
                                            <p:strVal val="#ppt_y+.06"/>
                                          </p:val>
                                        </p:tav>
                                        <p:tav tm="100000">
                                          <p:val>
                                            <p:strVal val="#ppt_y"/>
                                          </p:val>
                                        </p:tav>
                                      </p:tavLst>
                                    </p:anim>
                                  </p:childTnLst>
                                </p:cTn>
                              </p:par>
                              <p:par>
                                <p:cTn id="28" presetID="42" presetClass="entr" presetSubtype="0" decel="100000" fill="hold" grpId="0" nodeType="withEffect">
                                  <p:stCondLst>
                                    <p:cond delay="95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650" fill="hold"/>
                                        <p:tgtEl>
                                          <p:spTgt spid="7"/>
                                        </p:tgtEl>
                                      </p:cBhvr>
                                    </p:animEffect>
                                    <p:anim calcmode="lin" valueType="num">
                                      <p:cBhvr additive="base">
                                        <p:cTn id="31" dur="650" fill="hold"/>
                                        <p:tgtEl>
                                          <p:spTgt spid="7"/>
                                        </p:tgtEl>
                                        <p:attrNameLst>
                                          <p:attrName>ppt_x</p:attrName>
                                        </p:attrNameLst>
                                      </p:cBhvr>
                                      <p:tavLst>
                                        <p:tav tm="0">
                                          <p:val>
                                            <p:strVal val="#ppt_x"/>
                                          </p:val>
                                        </p:tav>
                                        <p:tav tm="100000">
                                          <p:val>
                                            <p:strVal val="#ppt_x"/>
                                          </p:val>
                                        </p:tav>
                                      </p:tavLst>
                                    </p:anim>
                                    <p:anim calcmode="lin" valueType="num">
                                      <p:cBhvr additive="base">
                                        <p:cTn id="32" dur="650" fill="hold"/>
                                        <p:tgtEl>
                                          <p:spTgt spid="7"/>
                                        </p:tgtEl>
                                        <p:attrNameLst>
                                          <p:attrName>ppt_y</p:attrName>
                                        </p:attrNameLst>
                                      </p:cBhvr>
                                      <p:tavLst>
                                        <p:tav tm="0">
                                          <p:val>
                                            <p:strVal val="#ppt_y+.06"/>
                                          </p:val>
                                        </p:tav>
                                        <p:tav tm="100000">
                                          <p:val>
                                            <p:strVal val="#ppt_y"/>
                                          </p:val>
                                        </p:tav>
                                      </p:tavLst>
                                    </p:anim>
                                  </p:childTnLst>
                                </p:cTn>
                              </p:par>
                              <p:par>
                                <p:cTn id="33" presetID="10" presetClass="entr" presetSubtype="0" fill="hold" grpId="0" nodeType="withEffect">
                                  <p:stCondLst>
                                    <p:cond delay="125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500" fill="hold"/>
                                        <p:tgtEl>
                                          <p:spTgt spid="8"/>
                                        </p:tgtEl>
                                      </p:cBhvr>
                                    </p:animEffect>
                                  </p:childTnLst>
                                </p:cTn>
                              </p:par>
                              <p:par>
                                <p:cTn id="36" presetID="22" presetClass="entr" presetSubtype="8" fill="hold" grpId="0" nodeType="withEffect">
                                  <p:stCondLst>
                                    <p:cond delay="1450"/>
                                  </p:stCondLst>
                                  <p:childTnLst>
                                    <p:set>
                                      <p:cBhvr>
                                        <p:cTn id="37" dur="1" fill="hold">
                                          <p:stCondLst>
                                            <p:cond delay="0"/>
                                          </p:stCondLst>
                                        </p:cTn>
                                        <p:tgtEl>
                                          <p:spTgt spid="9"/>
                                        </p:tgtEl>
                                        <p:attrNameLst>
                                          <p:attrName>style.visibility</p:attrName>
                                        </p:attrNameLst>
                                      </p:cBhvr>
                                      <p:to>
                                        <p:strVal val="visible"/>
                                      </p:to>
                                    </p:set>
                                    <p:animEffect transition="in" filter="wipe(left)">
                                      <p:cBhvr>
                                        <p:cTn id="38" dur="600" fill="hold"/>
                                        <p:tgtEl>
                                          <p:spTgt spid="9"/>
                                        </p:tgtEl>
                                      </p:cBhvr>
                                    </p:animEffect>
                                  </p:childTnLst>
                                </p:cTn>
                              </p:par>
                              <p:par>
                                <p:cTn id="39" presetID="22" presetClass="entr" presetSubtype="8" fill="hold" grpId="0" nodeType="withEffect">
                                  <p:stCondLst>
                                    <p:cond delay="145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1" dur="600" fill="hold"/>
                                        <p:tgtEl>
                                          <p:spTgt spid="10"/>
                                        </p:tgtEl>
                                      </p:cBhvr>
                                    </p:animEffect>
                                  </p:childTnLst>
                                </p:cTn>
                              </p:par>
                              <p:par>
                                <p:cTn id="42" presetID="22" presetClass="entr" presetSubtype="8" fill="hold" grpId="0" nodeType="withEffect">
                                  <p:stCondLst>
                                    <p:cond delay="1450"/>
                                  </p:stCondLst>
                                  <p:childTnLst>
                                    <p:set>
                                      <p:cBhvr>
                                        <p:cTn id="43" dur="1" fill="hold">
                                          <p:stCondLst>
                                            <p:cond delay="0"/>
                                          </p:stCondLst>
                                        </p:cTn>
                                        <p:tgtEl>
                                          <p:spTgt spid="11"/>
                                        </p:tgtEl>
                                        <p:attrNameLst>
                                          <p:attrName>style.visibility</p:attrName>
                                        </p:attrNameLst>
                                      </p:cBhvr>
                                      <p:to>
                                        <p:strVal val="visible"/>
                                      </p:to>
                                    </p:set>
                                    <p:animEffect transition="in" filter="wipe(left)">
                                      <p:cBhvr>
                                        <p:cTn id="44" dur="600" fill="hold"/>
                                        <p:tgtEl>
                                          <p:spTgt spid="11"/>
                                        </p:tgtEl>
                                      </p:cBhvr>
                                    </p:animEffect>
                                  </p:childTnLst>
                                </p:cTn>
                              </p:par>
                              <p:par>
                                <p:cTn id="45" presetID="22" presetClass="entr" presetSubtype="8" fill="hold" grpId="0" nodeType="withEffect">
                                  <p:stCondLst>
                                    <p:cond delay="1450"/>
                                  </p:stCondLst>
                                  <p:childTnLst>
                                    <p:set>
                                      <p:cBhvr>
                                        <p:cTn id="46" dur="1" fill="hold">
                                          <p:stCondLst>
                                            <p:cond delay="0"/>
                                          </p:stCondLst>
                                        </p:cTn>
                                        <p:tgtEl>
                                          <p:spTgt spid="12"/>
                                        </p:tgtEl>
                                        <p:attrNameLst>
                                          <p:attrName>style.visibility</p:attrName>
                                        </p:attrNameLst>
                                      </p:cBhvr>
                                      <p:to>
                                        <p:strVal val="visible"/>
                                      </p:to>
                                    </p:set>
                                    <p:animEffect transition="in" filter="wipe(left)">
                                      <p:cBhvr>
                                        <p:cTn id="47" dur="600" fill="hold"/>
                                        <p:tgtEl>
                                          <p:spTgt spid="12"/>
                                        </p:tgtEl>
                                      </p:cBhvr>
                                    </p:animEffect>
                                  </p:childTnLst>
                                </p:cTn>
                              </p:par>
                              <p:par>
                                <p:cTn id="48" presetID="22" presetClass="entr" presetSubtype="8" fill="hold" grpId="0" nodeType="withEffect">
                                  <p:stCondLst>
                                    <p:cond delay="1450"/>
                                  </p:stCondLst>
                                  <p:childTnLst>
                                    <p:set>
                                      <p:cBhvr>
                                        <p:cTn id="49" dur="1" fill="hold">
                                          <p:stCondLst>
                                            <p:cond delay="0"/>
                                          </p:stCondLst>
                                        </p:cTn>
                                        <p:tgtEl>
                                          <p:spTgt spid="13"/>
                                        </p:tgtEl>
                                        <p:attrNameLst>
                                          <p:attrName>style.visibility</p:attrName>
                                        </p:attrNameLst>
                                      </p:cBhvr>
                                      <p:to>
                                        <p:strVal val="visible"/>
                                      </p:to>
                                    </p:set>
                                    <p:animEffect transition="in" filter="wipe(left)">
                                      <p:cBhvr>
                                        <p:cTn id="50" dur="600" fill="hold"/>
                                        <p:tgtEl>
                                          <p:spTgt spid="13"/>
                                        </p:tgtEl>
                                      </p:cBhvr>
                                    </p:animEffect>
                                  </p:childTnLst>
                                </p:cTn>
                              </p:par>
                              <p:par>
                                <p:cTn id="51" presetID="53" presetClass="entr" presetSubtype="16" decel="100000" fill="hold" grpId="0" nodeType="withEffect">
                                  <p:stCondLst>
                                    <p:cond delay="1700"/>
                                  </p:stCondLst>
                                  <p:childTnLst>
                                    <p:set>
                                      <p:cBhvr>
                                        <p:cTn id="52" dur="1" fill="hold">
                                          <p:stCondLst>
                                            <p:cond delay="0"/>
                                          </p:stCondLst>
                                        </p:cTn>
                                        <p:tgtEl>
                                          <p:spTgt spid="14"/>
                                        </p:tgtEl>
                                        <p:attrNameLst>
                                          <p:attrName>style.visibility</p:attrName>
                                        </p:attrNameLst>
                                      </p:cBhvr>
                                      <p:to>
                                        <p:strVal val="visible"/>
                                      </p:to>
                                    </p:set>
                                    <p:anim calcmode="lin" valueType="num">
                                      <p:cBhvr additive="base">
                                        <p:cTn id="53" dur="450" fill="hold"/>
                                        <p:tgtEl>
                                          <p:spTgt spid="14"/>
                                        </p:tgtEl>
                                        <p:attrNameLst>
                                          <p:attrName>ppt_w</p:attrName>
                                        </p:attrNameLst>
                                      </p:cBhvr>
                                      <p:tavLst>
                                        <p:tav tm="0">
                                          <p:val>
                                            <p:strVal val="0"/>
                                          </p:val>
                                        </p:tav>
                                        <p:tav tm="70000">
                                          <p:val>
                                            <p:strVal val="#ppt_w*1.08"/>
                                          </p:val>
                                        </p:tav>
                                        <p:tav tm="100000">
                                          <p:val>
                                            <p:strVal val="#ppt_w"/>
                                          </p:val>
                                        </p:tav>
                                      </p:tavLst>
                                    </p:anim>
                                    <p:anim calcmode="lin" valueType="num">
                                      <p:cBhvr additive="base">
                                        <p:cTn id="54" dur="450" fill="hold"/>
                                        <p:tgtEl>
                                          <p:spTgt spid="14"/>
                                        </p:tgtEl>
                                        <p:attrNameLst>
                                          <p:attrName>ppt_h</p:attrName>
                                        </p:attrNameLst>
                                      </p:cBhvr>
                                      <p:tavLst>
                                        <p:tav tm="0">
                                          <p:val>
                                            <p:strVal val="0"/>
                                          </p:val>
                                        </p:tav>
                                        <p:tav tm="70000">
                                          <p:val>
                                            <p:strVal val="#ppt_h*1.08"/>
                                          </p:val>
                                        </p:tav>
                                        <p:tav tm="100000">
                                          <p:val>
                                            <p:strVal val="#ppt_h"/>
                                          </p:val>
                                        </p:tav>
                                      </p:tavLst>
                                    </p:anim>
                                    <p:animEffect transition="in" filter="fade">
                                      <p:cBhvr>
                                        <p:cTn id="55" dur="270" fill="hold"/>
                                        <p:tgtEl>
                                          <p:spTgt spid="14"/>
                                        </p:tgtEl>
                                      </p:cBhvr>
                                    </p:animEffect>
                                  </p:childTnLst>
                                </p:cTn>
                              </p:par>
                              <p:par>
                                <p:cTn id="56" presetID="22" presetClass="entr" presetSubtype="8" fill="hold" nodeType="withEffect">
                                  <p:stCondLst>
                                    <p:cond delay="1850"/>
                                  </p:stCondLst>
                                  <p:childTnLst>
                                    <p:set>
                                      <p:cBhvr>
                                        <p:cTn id="57" dur="1" fill="hold">
                                          <p:stCondLst>
                                            <p:cond delay="0"/>
                                          </p:stCondLst>
                                        </p:cTn>
                                        <p:tgtEl>
                                          <p:spTgt spid="15"/>
                                        </p:tgtEl>
                                        <p:attrNameLst>
                                          <p:attrName>style.visibility</p:attrName>
                                        </p:attrNameLst>
                                      </p:cBhvr>
                                      <p:to>
                                        <p:strVal val="visible"/>
                                      </p:to>
                                    </p:set>
                                    <p:animEffect transition="in" filter="wipe(left)">
                                      <p:cBhvr>
                                        <p:cTn id="58" dur="900" fill="hold"/>
                                        <p:tgtEl>
                                          <p:spTgt spid="15"/>
                                        </p:tgtEl>
                                      </p:cBhvr>
                                    </p:animEffect>
                                  </p:childTnLst>
                                </p:cTn>
                              </p:par>
                              <p:par>
                                <p:cTn id="59" presetID="22" presetClass="entr" presetSubtype="8" fill="hold" nodeType="withEffect">
                                  <p:stCondLst>
                                    <p:cond delay="1850"/>
                                  </p:stCondLst>
                                  <p:childTnLst>
                                    <p:set>
                                      <p:cBhvr>
                                        <p:cTn id="60" dur="1" fill="hold">
                                          <p:stCondLst>
                                            <p:cond delay="0"/>
                                          </p:stCondLst>
                                        </p:cTn>
                                        <p:tgtEl>
                                          <p:spTgt spid="16"/>
                                        </p:tgtEl>
                                        <p:attrNameLst>
                                          <p:attrName>style.visibility</p:attrName>
                                        </p:attrNameLst>
                                      </p:cBhvr>
                                      <p:to>
                                        <p:strVal val="visible"/>
                                      </p:to>
                                    </p:set>
                                    <p:animEffect transition="in" filter="wipe(left)">
                                      <p:cBhvr>
                                        <p:cTn id="61" dur="900" fill="hold"/>
                                        <p:tgtEl>
                                          <p:spTgt spid="16"/>
                                        </p:tgtEl>
                                      </p:cBhvr>
                                    </p:animEffect>
                                  </p:childTnLst>
                                </p:cTn>
                              </p:par>
                              <p:par>
                                <p:cTn id="62" presetID="22" presetClass="entr" presetSubtype="8" fill="hold" nodeType="withEffect">
                                  <p:stCondLst>
                                    <p:cond delay="1850"/>
                                  </p:stCondLst>
                                  <p:childTnLst>
                                    <p:set>
                                      <p:cBhvr>
                                        <p:cTn id="63" dur="1" fill="hold">
                                          <p:stCondLst>
                                            <p:cond delay="0"/>
                                          </p:stCondLst>
                                        </p:cTn>
                                        <p:tgtEl>
                                          <p:spTgt spid="17"/>
                                        </p:tgtEl>
                                        <p:attrNameLst>
                                          <p:attrName>style.visibility</p:attrName>
                                        </p:attrNameLst>
                                      </p:cBhvr>
                                      <p:to>
                                        <p:strVal val="visible"/>
                                      </p:to>
                                    </p:set>
                                    <p:animEffect transition="in" filter="wipe(left)">
                                      <p:cBhvr>
                                        <p:cTn id="64" dur="900" fill="hold"/>
                                        <p:tgtEl>
                                          <p:spTgt spid="17"/>
                                        </p:tgtEl>
                                      </p:cBhvr>
                                    </p:animEffect>
                                  </p:childTnLst>
                                </p:cTn>
                              </p:par>
                              <p:par>
                                <p:cTn id="65" presetID="22" presetClass="entr" presetSubtype="8" fill="hold" nodeType="withEffect">
                                  <p:stCondLst>
                                    <p:cond delay="1850"/>
                                  </p:stCondLst>
                                  <p:childTnLst>
                                    <p:set>
                                      <p:cBhvr>
                                        <p:cTn id="66" dur="1" fill="hold">
                                          <p:stCondLst>
                                            <p:cond delay="0"/>
                                          </p:stCondLst>
                                        </p:cTn>
                                        <p:tgtEl>
                                          <p:spTgt spid="18"/>
                                        </p:tgtEl>
                                        <p:attrNameLst>
                                          <p:attrName>style.visibility</p:attrName>
                                        </p:attrNameLst>
                                      </p:cBhvr>
                                      <p:to>
                                        <p:strVal val="visible"/>
                                      </p:to>
                                    </p:set>
                                    <p:animEffect transition="in" filter="wipe(left)">
                                      <p:cBhvr>
                                        <p:cTn id="67" dur="900" fill="hold"/>
                                        <p:tgtEl>
                                          <p:spTgt spid="18"/>
                                        </p:tgtEl>
                                      </p:cBhvr>
                                    </p:animEffect>
                                  </p:childTnLst>
                                </p:cTn>
                              </p:par>
                              <p:par>
                                <p:cTn id="68" presetID="22" presetClass="entr" presetSubtype="8" fill="hold" nodeType="withEffect">
                                  <p:stCondLst>
                                    <p:cond delay="1850"/>
                                  </p:stCondLst>
                                  <p:childTnLst>
                                    <p:set>
                                      <p:cBhvr>
                                        <p:cTn id="69" dur="1" fill="hold">
                                          <p:stCondLst>
                                            <p:cond delay="0"/>
                                          </p:stCondLst>
                                        </p:cTn>
                                        <p:tgtEl>
                                          <p:spTgt spid="19"/>
                                        </p:tgtEl>
                                        <p:attrNameLst>
                                          <p:attrName>style.visibility</p:attrName>
                                        </p:attrNameLst>
                                      </p:cBhvr>
                                      <p:to>
                                        <p:strVal val="visible"/>
                                      </p:to>
                                    </p:set>
                                    <p:animEffect transition="in" filter="wipe(left)">
                                      <p:cBhvr>
                                        <p:cTn id="70" dur="900" fill="hold"/>
                                        <p:tgtEl>
                                          <p:spTgt spid="19"/>
                                        </p:tgtEl>
                                      </p:cBhvr>
                                    </p:animEffect>
                                  </p:childTnLst>
                                </p:cTn>
                              </p:par>
                              <p:par>
                                <p:cTn id="71" presetID="22" presetClass="entr" presetSubtype="8" fill="hold" nodeType="withEffect">
                                  <p:stCondLst>
                                    <p:cond delay="1850"/>
                                  </p:stCondLst>
                                  <p:childTnLst>
                                    <p:set>
                                      <p:cBhvr>
                                        <p:cTn id="72" dur="1" fill="hold">
                                          <p:stCondLst>
                                            <p:cond delay="0"/>
                                          </p:stCondLst>
                                        </p:cTn>
                                        <p:tgtEl>
                                          <p:spTgt spid="20"/>
                                        </p:tgtEl>
                                        <p:attrNameLst>
                                          <p:attrName>style.visibility</p:attrName>
                                        </p:attrNameLst>
                                      </p:cBhvr>
                                      <p:to>
                                        <p:strVal val="visible"/>
                                      </p:to>
                                    </p:set>
                                    <p:animEffect transition="in" filter="wipe(left)">
                                      <p:cBhvr>
                                        <p:cTn id="73" dur="900" fill="hold"/>
                                        <p:tgtEl>
                                          <p:spTgt spid="20"/>
                                        </p:tgtEl>
                                      </p:cBhvr>
                                    </p:animEffect>
                                  </p:childTnLst>
                                </p:cTn>
                              </p:par>
                              <p:par>
                                <p:cTn id="74" presetID="22" presetClass="entr" presetSubtype="8" fill="hold" nodeType="withEffect">
                                  <p:stCondLst>
                                    <p:cond delay="1850"/>
                                  </p:stCondLst>
                                  <p:childTnLst>
                                    <p:set>
                                      <p:cBhvr>
                                        <p:cTn id="75" dur="1" fill="hold">
                                          <p:stCondLst>
                                            <p:cond delay="0"/>
                                          </p:stCondLst>
                                        </p:cTn>
                                        <p:tgtEl>
                                          <p:spTgt spid="21"/>
                                        </p:tgtEl>
                                        <p:attrNameLst>
                                          <p:attrName>style.visibility</p:attrName>
                                        </p:attrNameLst>
                                      </p:cBhvr>
                                      <p:to>
                                        <p:strVal val="visible"/>
                                      </p:to>
                                    </p:set>
                                    <p:animEffect transition="in" filter="wipe(left)">
                                      <p:cBhvr>
                                        <p:cTn id="76" dur="900" fill="hold"/>
                                        <p:tgtEl>
                                          <p:spTgt spid="21"/>
                                        </p:tgtEl>
                                      </p:cBhvr>
                                    </p:animEffect>
                                  </p:childTnLst>
                                </p:cTn>
                              </p:par>
                              <p:par>
                                <p:cTn id="77" presetID="53" presetClass="entr" presetSubtype="16" decel="100000" fill="hold" grpId="0" nodeType="withEffect">
                                  <p:stCondLst>
                                    <p:cond delay="2600"/>
                                  </p:stCondLst>
                                  <p:childTnLst>
                                    <p:set>
                                      <p:cBhvr>
                                        <p:cTn id="78" dur="1" fill="hold">
                                          <p:stCondLst>
                                            <p:cond delay="0"/>
                                          </p:stCondLst>
                                        </p:cTn>
                                        <p:tgtEl>
                                          <p:spTgt spid="22"/>
                                        </p:tgtEl>
                                        <p:attrNameLst>
                                          <p:attrName>style.visibility</p:attrName>
                                        </p:attrNameLst>
                                      </p:cBhvr>
                                      <p:to>
                                        <p:strVal val="visible"/>
                                      </p:to>
                                    </p:set>
                                    <p:anim calcmode="lin" valueType="num">
                                      <p:cBhvr additive="base">
                                        <p:cTn id="79" dur="450" fill="hold"/>
                                        <p:tgtEl>
                                          <p:spTgt spid="22"/>
                                        </p:tgtEl>
                                        <p:attrNameLst>
                                          <p:attrName>ppt_w</p:attrName>
                                        </p:attrNameLst>
                                      </p:cBhvr>
                                      <p:tavLst>
                                        <p:tav tm="0">
                                          <p:val>
                                            <p:strVal val="0"/>
                                          </p:val>
                                        </p:tav>
                                        <p:tav tm="70000">
                                          <p:val>
                                            <p:strVal val="#ppt_w*1.08"/>
                                          </p:val>
                                        </p:tav>
                                        <p:tav tm="100000">
                                          <p:val>
                                            <p:strVal val="#ppt_w"/>
                                          </p:val>
                                        </p:tav>
                                      </p:tavLst>
                                    </p:anim>
                                    <p:anim calcmode="lin" valueType="num">
                                      <p:cBhvr additive="base">
                                        <p:cTn id="80" dur="450" fill="hold"/>
                                        <p:tgtEl>
                                          <p:spTgt spid="22"/>
                                        </p:tgtEl>
                                        <p:attrNameLst>
                                          <p:attrName>ppt_h</p:attrName>
                                        </p:attrNameLst>
                                      </p:cBhvr>
                                      <p:tavLst>
                                        <p:tav tm="0">
                                          <p:val>
                                            <p:strVal val="0"/>
                                          </p:val>
                                        </p:tav>
                                        <p:tav tm="70000">
                                          <p:val>
                                            <p:strVal val="#ppt_h*1.08"/>
                                          </p:val>
                                        </p:tav>
                                        <p:tav tm="100000">
                                          <p:val>
                                            <p:strVal val="#ppt_h"/>
                                          </p:val>
                                        </p:tav>
                                      </p:tavLst>
                                    </p:anim>
                                    <p:animEffect transition="in" filter="fade">
                                      <p:cBhvr>
                                        <p:cTn id="81" dur="270" fill="hold"/>
                                        <p:tgtEl>
                                          <p:spTgt spid="22"/>
                                        </p:tgtEl>
                                      </p:cBhvr>
                                    </p:animEffect>
                                  </p:childTnLst>
                                </p:cTn>
                              </p:par>
                              <p:par>
                                <p:cTn id="82" presetID="53" presetClass="entr" presetSubtype="16" decel="100000" fill="hold" grpId="0" nodeType="withEffect">
                                  <p:stCondLst>
                                    <p:cond delay="2720"/>
                                  </p:stCondLst>
                                  <p:childTnLst>
                                    <p:set>
                                      <p:cBhvr>
                                        <p:cTn id="83" dur="1" fill="hold">
                                          <p:stCondLst>
                                            <p:cond delay="0"/>
                                          </p:stCondLst>
                                        </p:cTn>
                                        <p:tgtEl>
                                          <p:spTgt spid="23"/>
                                        </p:tgtEl>
                                        <p:attrNameLst>
                                          <p:attrName>style.visibility</p:attrName>
                                        </p:attrNameLst>
                                      </p:cBhvr>
                                      <p:to>
                                        <p:strVal val="visible"/>
                                      </p:to>
                                    </p:set>
                                    <p:anim calcmode="lin" valueType="num">
                                      <p:cBhvr additive="base">
                                        <p:cTn id="84" dur="450" fill="hold"/>
                                        <p:tgtEl>
                                          <p:spTgt spid="23"/>
                                        </p:tgtEl>
                                        <p:attrNameLst>
                                          <p:attrName>ppt_w</p:attrName>
                                        </p:attrNameLst>
                                      </p:cBhvr>
                                      <p:tavLst>
                                        <p:tav tm="0">
                                          <p:val>
                                            <p:strVal val="0"/>
                                          </p:val>
                                        </p:tav>
                                        <p:tav tm="70000">
                                          <p:val>
                                            <p:strVal val="#ppt_w*1.08"/>
                                          </p:val>
                                        </p:tav>
                                        <p:tav tm="100000">
                                          <p:val>
                                            <p:strVal val="#ppt_w"/>
                                          </p:val>
                                        </p:tav>
                                      </p:tavLst>
                                    </p:anim>
                                    <p:anim calcmode="lin" valueType="num">
                                      <p:cBhvr additive="base">
                                        <p:cTn id="85" dur="450" fill="hold"/>
                                        <p:tgtEl>
                                          <p:spTgt spid="23"/>
                                        </p:tgtEl>
                                        <p:attrNameLst>
                                          <p:attrName>ppt_h</p:attrName>
                                        </p:attrNameLst>
                                      </p:cBhvr>
                                      <p:tavLst>
                                        <p:tav tm="0">
                                          <p:val>
                                            <p:strVal val="0"/>
                                          </p:val>
                                        </p:tav>
                                        <p:tav tm="70000">
                                          <p:val>
                                            <p:strVal val="#ppt_h*1.08"/>
                                          </p:val>
                                        </p:tav>
                                        <p:tav tm="100000">
                                          <p:val>
                                            <p:strVal val="#ppt_h"/>
                                          </p:val>
                                        </p:tav>
                                      </p:tavLst>
                                    </p:anim>
                                    <p:animEffect transition="in" filter="fade">
                                      <p:cBhvr>
                                        <p:cTn id="86" dur="270" fill="hold"/>
                                        <p:tgtEl>
                                          <p:spTgt spid="23"/>
                                        </p:tgtEl>
                                      </p:cBhvr>
                                    </p:animEffect>
                                  </p:childTnLst>
                                </p:cTn>
                              </p:par>
                              <p:par>
                                <p:cTn id="87" presetID="53" presetClass="entr" presetSubtype="16" decel="100000" fill="hold" grpId="0" nodeType="withEffect">
                                  <p:stCondLst>
                                    <p:cond delay="2840"/>
                                  </p:stCondLst>
                                  <p:childTnLst>
                                    <p:set>
                                      <p:cBhvr>
                                        <p:cTn id="88" dur="1" fill="hold">
                                          <p:stCondLst>
                                            <p:cond delay="0"/>
                                          </p:stCondLst>
                                        </p:cTn>
                                        <p:tgtEl>
                                          <p:spTgt spid="24"/>
                                        </p:tgtEl>
                                        <p:attrNameLst>
                                          <p:attrName>style.visibility</p:attrName>
                                        </p:attrNameLst>
                                      </p:cBhvr>
                                      <p:to>
                                        <p:strVal val="visible"/>
                                      </p:to>
                                    </p:set>
                                    <p:anim calcmode="lin" valueType="num">
                                      <p:cBhvr additive="base">
                                        <p:cTn id="89" dur="450" fill="hold"/>
                                        <p:tgtEl>
                                          <p:spTgt spid="24"/>
                                        </p:tgtEl>
                                        <p:attrNameLst>
                                          <p:attrName>ppt_w</p:attrName>
                                        </p:attrNameLst>
                                      </p:cBhvr>
                                      <p:tavLst>
                                        <p:tav tm="0">
                                          <p:val>
                                            <p:strVal val="0"/>
                                          </p:val>
                                        </p:tav>
                                        <p:tav tm="70000">
                                          <p:val>
                                            <p:strVal val="#ppt_w*1.08"/>
                                          </p:val>
                                        </p:tav>
                                        <p:tav tm="100000">
                                          <p:val>
                                            <p:strVal val="#ppt_w"/>
                                          </p:val>
                                        </p:tav>
                                      </p:tavLst>
                                    </p:anim>
                                    <p:anim calcmode="lin" valueType="num">
                                      <p:cBhvr additive="base">
                                        <p:cTn id="90" dur="450" fill="hold"/>
                                        <p:tgtEl>
                                          <p:spTgt spid="24"/>
                                        </p:tgtEl>
                                        <p:attrNameLst>
                                          <p:attrName>ppt_h</p:attrName>
                                        </p:attrNameLst>
                                      </p:cBhvr>
                                      <p:tavLst>
                                        <p:tav tm="0">
                                          <p:val>
                                            <p:strVal val="0"/>
                                          </p:val>
                                        </p:tav>
                                        <p:tav tm="70000">
                                          <p:val>
                                            <p:strVal val="#ppt_h*1.08"/>
                                          </p:val>
                                        </p:tav>
                                        <p:tav tm="100000">
                                          <p:val>
                                            <p:strVal val="#ppt_h"/>
                                          </p:val>
                                        </p:tav>
                                      </p:tavLst>
                                    </p:anim>
                                    <p:animEffect transition="in" filter="fade">
                                      <p:cBhvr>
                                        <p:cTn id="91" dur="270" fill="hold"/>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22" grpId="0" animBg="1"/>
      <p:bldP spid="23" grpId="0" animBg="1"/>
      <p:bldP spid="24"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9CD848"/>
                </a:solidFill>
                <a:latin typeface="Segoe UI Semibold"/>
              </a:rPr>
              <a:t>VÍDEO  ·  MÓDULO 2</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5"/>
          <a:stretch>
            <a:fillRect/>
          </a:stretch>
        </p:blipFill>
        <p:spPr>
          <a:xfrm>
            <a:off x="11167567" y="6291072"/>
            <a:ext cx="585673" cy="384048"/>
          </a:xfrm>
          <a:prstGeom prst="rect">
            <a:avLst/>
          </a:prstGeom>
        </p:spPr>
      </p:pic>
      <p:sp>
        <p:nvSpPr>
          <p:cNvPr id="5" name="TextBox 4"/>
          <p:cNvSpPr txBox="1"/>
          <p:nvPr/>
        </p:nvSpPr>
        <p:spPr>
          <a:xfrm>
            <a:off x="548640" y="603504"/>
            <a:ext cx="8778240" cy="548640"/>
          </a:xfrm>
          <a:prstGeom prst="rect">
            <a:avLst/>
          </a:prstGeom>
          <a:noFill/>
        </p:spPr>
        <p:txBody>
          <a:bodyPr wrap="square" lIns="36576" tIns="18288" rIns="36576" bIns="18288" anchor="t">
            <a:spAutoFit/>
          </a:bodyPr>
          <a:lstStyle/>
          <a:p>
            <a:pPr algn="l"/>
            <a:r>
              <a:rPr sz="2100" b="1" i="0">
                <a:solidFill>
                  <a:srgbClr val="F2F2EC"/>
                </a:solidFill>
                <a:latin typeface="Segoe UI Semibold"/>
              </a:rPr>
              <a:t>Casos e Inovações: debate com Design Thinking</a:t>
            </a:r>
          </a:p>
        </p:txBody>
      </p:sp>
      <p:sp>
        <p:nvSpPr>
          <p:cNvPr id="10" name="Rounded Rectangle 9">
            <a:hlinkClick r:id="rId6" action="ppaction://hlinksldjump"/>
          </p:cNvPr>
          <p:cNvSpPr/>
          <p:nvPr/>
        </p:nvSpPr>
        <p:spPr>
          <a:xfrm>
            <a:off x="9448495" y="566928"/>
            <a:ext cx="2194560" cy="502920"/>
          </a:xfrm>
          <a:prstGeom prst="roundRect">
            <a:avLst>
              <a:gd name="adj" fmla="val 50000"/>
            </a:avLst>
          </a:prstGeom>
          <a:solidFill>
            <a:srgbClr val="2E343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400" b="1" i="0">
                <a:solidFill>
                  <a:srgbClr val="F2F2EC"/>
                </a:solidFill>
                <a:latin typeface="Segoe UI Semibold"/>
              </a:rPr>
              <a:t>↩  Voltar</a:t>
            </a:r>
          </a:p>
        </p:txBody>
      </p:sp>
      <p:pic>
        <p:nvPicPr>
          <p:cNvPr id="11" name="Vídeo M2">
            <a:hlinkClick r:id="" action="ppaction://media"/>
          </p:cNvPr>
          <p:cNvPicPr>
            <a:picLocks noChangeAspect="1"/>
          </p:cNvPicPr>
          <p:nvPr>
            <a:videoFile r:link="rId2"/>
            <p:extLst>
              <p:ext uri="{DAA4B4D4-6D71-4841-9C94-3DE7FCFB9230}">
                <p14:media xmlns:p14="http://schemas.microsoft.com/office/powerpoint/2010/main" r:link="rId1"/>
              </p:ext>
            </p:extLst>
          </p:nvPr>
        </p:nvPicPr>
        <p:blipFill>
          <a:blip r:embed="rId7"/>
          <a:stretch>
            <a:fillRect/>
          </a:stretch>
        </p:blipFill>
        <p:spPr>
          <a:xfrm>
            <a:off x="1706727" y="1325880"/>
            <a:ext cx="8778240" cy="4937760"/>
          </a:xfrm>
          <a:prstGeom prst="rect">
            <a:avLst/>
          </a:prstGeom>
        </p:spPr>
      </p:pic>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1066"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11"/>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11"/>
                                        </p:tgtEl>
                                      </p:cBhvr>
                                    </p:cmd>
                                  </p:childTnLst>
                                </p:cTn>
                              </p:par>
                            </p:childTnLst>
                          </p:cTn>
                        </p:par>
                      </p:childTnLst>
                    </p:cTn>
                  </p:par>
                </p:childTnLst>
              </p:cTn>
              <p:nextCondLst>
                <p:cond evt="onClick" delay="0">
                  <p:tgtEl>
                    <p:spTgt spid="11"/>
                  </p:tgtEl>
                </p:cond>
              </p:nextCondLst>
            </p:seq>
            <p:video>
              <p:cMediaNode vol="80000">
                <p:cTn id="12" fill="hold" display="0">
                  <p:stCondLst>
                    <p:cond delay="indefinite"/>
                  </p:stCondLst>
                </p:cTn>
                <p:tgtEl>
                  <p:spTgt spid="11"/>
                </p:tgtEl>
              </p:cMediaNode>
            </p:vide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9CD848"/>
                </a:solidFill>
                <a:latin typeface="Segoe UI Semibold"/>
              </a:rPr>
              <a:t>MÓDULO 2  ·  EMPATIZAR</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914400" y="1188720"/>
            <a:ext cx="1828800" cy="1828800"/>
          </a:xfrm>
          <a:prstGeom prst="rect">
            <a:avLst/>
          </a:prstGeom>
          <a:noFill/>
        </p:spPr>
        <p:txBody>
          <a:bodyPr wrap="square" lIns="36576" tIns="18288" rIns="36576" bIns="18288" anchor="t">
            <a:spAutoFit/>
          </a:bodyPr>
          <a:lstStyle/>
          <a:p>
            <a:pPr algn="l"/>
            <a:r>
              <a:rPr sz="16000" b="1" i="0">
                <a:solidFill>
                  <a:srgbClr val="9CD848"/>
                </a:solidFill>
                <a:latin typeface="Georgia"/>
              </a:rPr>
              <a:t>“</a:t>
            </a:r>
          </a:p>
        </p:txBody>
      </p:sp>
      <p:sp>
        <p:nvSpPr>
          <p:cNvPr id="6" name="TextBox 5"/>
          <p:cNvSpPr txBox="1"/>
          <p:nvPr/>
        </p:nvSpPr>
        <p:spPr>
          <a:xfrm>
            <a:off x="1463040" y="2377440"/>
            <a:ext cx="9326880" cy="2194560"/>
          </a:xfrm>
          <a:prstGeom prst="rect">
            <a:avLst/>
          </a:prstGeom>
          <a:noFill/>
        </p:spPr>
        <p:txBody>
          <a:bodyPr wrap="square" lIns="36576" tIns="18288" rIns="36576" bIns="18288" anchor="t">
            <a:spAutoFit/>
          </a:bodyPr>
          <a:lstStyle/>
          <a:p>
            <a:pPr algn="l">
              <a:lnSpc>
                <a:spcPct val="105000"/>
              </a:lnSpc>
            </a:pPr>
            <a:r>
              <a:rPr sz="4000" b="1" i="0">
                <a:solidFill>
                  <a:srgbClr val="F2F2EC"/>
                </a:solidFill>
                <a:latin typeface="Segoe UI Semibold"/>
              </a:rPr>
              <a:t>Você não é o seu cliente.</a:t>
            </a:r>
          </a:p>
        </p:txBody>
      </p:sp>
      <p:sp>
        <p:nvSpPr>
          <p:cNvPr id="7" name="TextBox 6"/>
          <p:cNvSpPr txBox="1"/>
          <p:nvPr/>
        </p:nvSpPr>
        <p:spPr>
          <a:xfrm>
            <a:off x="1463040" y="4663440"/>
            <a:ext cx="9144000" cy="457200"/>
          </a:xfrm>
          <a:prstGeom prst="rect">
            <a:avLst/>
          </a:prstGeom>
          <a:noFill/>
        </p:spPr>
        <p:txBody>
          <a:bodyPr wrap="square" lIns="36576" tIns="18288" rIns="36576" bIns="18288" anchor="t">
            <a:spAutoFit/>
          </a:bodyPr>
          <a:lstStyle/>
          <a:p>
            <a:pPr algn="l"/>
            <a:r>
              <a:rPr sz="1600" b="0" i="0">
                <a:solidFill>
                  <a:srgbClr val="B4B8B0"/>
                </a:solidFill>
                <a:latin typeface="Segoe UI"/>
              </a:rPr>
              <a:t>— Regra de ouro da pesquisa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decel="10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600" fill="hold"/>
                                        <p:tgtEl>
                                          <p:spTgt spid="5"/>
                                        </p:tgtEl>
                                        <p:attrNameLst>
                                          <p:attrName>ppt_w</p:attrName>
                                        </p:attrNameLst>
                                      </p:cBhvr>
                                      <p:tavLst>
                                        <p:tav tm="0">
                                          <p:val>
                                            <p:strVal val="0"/>
                                          </p:val>
                                        </p:tav>
                                        <p:tav tm="70000">
                                          <p:val>
                                            <p:strVal val="#ppt_w*1.08"/>
                                          </p:val>
                                        </p:tav>
                                        <p:tav tm="100000">
                                          <p:val>
                                            <p:strVal val="#ppt_w"/>
                                          </p:val>
                                        </p:tav>
                                      </p:tavLst>
                                    </p:anim>
                                    <p:anim calcmode="lin" valueType="num">
                                      <p:cBhvr additive="base">
                                        <p:cTn id="8" dur="600" fill="hold"/>
                                        <p:tgtEl>
                                          <p:spTgt spid="5"/>
                                        </p:tgtEl>
                                        <p:attrNameLst>
                                          <p:attrName>ppt_h</p:attrName>
                                        </p:attrNameLst>
                                      </p:cBhvr>
                                      <p:tavLst>
                                        <p:tav tm="0">
                                          <p:val>
                                            <p:strVal val="0"/>
                                          </p:val>
                                        </p:tav>
                                        <p:tav tm="70000">
                                          <p:val>
                                            <p:strVal val="#ppt_h*1.08"/>
                                          </p:val>
                                        </p:tav>
                                        <p:tav tm="100000">
                                          <p:val>
                                            <p:strVal val="#ppt_h"/>
                                          </p:val>
                                        </p:tav>
                                      </p:tavLst>
                                    </p:anim>
                                    <p:animEffect transition="in" filter="fade">
                                      <p:cBhvr>
                                        <p:cTn id="9" dur="360" fill="hold"/>
                                        <p:tgtEl>
                                          <p:spTgt spid="5"/>
                                        </p:tgtEl>
                                      </p:cBhvr>
                                    </p:animEffect>
                                  </p:childTnLst>
                                </p:cTn>
                              </p:par>
                              <p:par>
                                <p:cTn id="10" presetID="10" presetClass="entr" presetSubtype="0" fill="hold" grpId="0" nodeType="withEffect">
                                  <p:stCondLst>
                                    <p:cond delay="350"/>
                                  </p:stCondLst>
                                  <p:iterate type="wd">
                                    <p:tmPct val="35000"/>
                                  </p:iterate>
                                  <p:childTnLst>
                                    <p:set>
                                      <p:cBhvr>
                                        <p:cTn id="11" dur="1" fill="hold">
                                          <p:stCondLst>
                                            <p:cond delay="0"/>
                                          </p:stCondLst>
                                        </p:cTn>
                                        <p:tgtEl>
                                          <p:spTgt spid="6"/>
                                        </p:tgtEl>
                                        <p:attrNameLst>
                                          <p:attrName>style.visibility</p:attrName>
                                        </p:attrNameLst>
                                      </p:cBhvr>
                                      <p:to>
                                        <p:strVal val="visible"/>
                                      </p:to>
                                    </p:set>
                                    <p:animEffect transition="in" filter="fade">
                                      <p:cBhvr>
                                        <p:cTn id="12" dur="420" fill="hold"/>
                                        <p:tgtEl>
                                          <p:spTgt spid="6"/>
                                        </p:tgtEl>
                                      </p:cBhvr>
                                    </p:animEffect>
                                  </p:childTnLst>
                                </p:cTn>
                              </p:par>
                              <p:par>
                                <p:cTn id="13" presetID="42" presetClass="entr" presetSubtype="0" decel="100000" fill="hold" grpId="0" nodeType="withEffect">
                                  <p:stCondLst>
                                    <p:cond delay="1805"/>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fill="hold"/>
                                        <p:tgtEl>
                                          <p:spTgt spid="7"/>
                                        </p:tgtEl>
                                      </p:cBhvr>
                                    </p:animEffect>
                                    <p:anim calcmode="lin" valueType="num">
                                      <p:cBhvr additive="base">
                                        <p:cTn id="16" dur="650" fill="hold"/>
                                        <p:tgtEl>
                                          <p:spTgt spid="7"/>
                                        </p:tgtEl>
                                        <p:attrNameLst>
                                          <p:attrName>ppt_x</p:attrName>
                                        </p:attrNameLst>
                                      </p:cBhvr>
                                      <p:tavLst>
                                        <p:tav tm="0">
                                          <p:val>
                                            <p:strVal val="#ppt_x"/>
                                          </p:val>
                                        </p:tav>
                                        <p:tav tm="100000">
                                          <p:val>
                                            <p:strVal val="#ppt_x"/>
                                          </p:val>
                                        </p:tav>
                                      </p:tavLst>
                                    </p:anim>
                                    <p:anim calcmode="lin" valueType="num">
                                      <p:cBhvr additive="base">
                                        <p:cTn id="17" dur="650" fill="hold"/>
                                        <p:tgtEl>
                                          <p:spTgt spid="7"/>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9CD848"/>
                </a:solidFill>
                <a:latin typeface="Segoe UI Semibold"/>
              </a:rPr>
              <a:t>MÓDULO 2  ·  EMPATIZAR</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O que é empatizar</a:t>
            </a:r>
          </a:p>
        </p:txBody>
      </p:sp>
      <p:sp>
        <p:nvSpPr>
          <p:cNvPr id="6" name="TextBox 5"/>
          <p:cNvSpPr txBox="1"/>
          <p:nvPr/>
        </p:nvSpPr>
        <p:spPr>
          <a:xfrm>
            <a:off x="548640" y="1645920"/>
            <a:ext cx="6675120" cy="4206240"/>
          </a:xfrm>
          <a:prstGeom prst="rect">
            <a:avLst/>
          </a:prstGeom>
          <a:noFill/>
        </p:spPr>
        <p:txBody>
          <a:bodyPr wrap="square">
            <a:spAutoFit/>
          </a:bodyPr>
          <a:lstStyle/>
          <a:p>
            <a:pPr marL="292608" indent="-292608">
              <a:spcAft>
                <a:spcPts val="1600"/>
              </a:spcAft>
              <a:buClr>
                <a:srgbClr val="9CD848"/>
              </a:buClr>
              <a:buFont typeface="Arial"/>
              <a:buChar char="●"/>
            </a:pPr>
            <a:r>
              <a:rPr sz="1800">
                <a:solidFill>
                  <a:srgbClr val="F2F2EC"/>
                </a:solidFill>
                <a:latin typeface="Segoe UI"/>
              </a:rPr>
              <a:t>Empatia é compreender o que o outro sente e pensa, a partir do contexto dele</a:t>
            </a:r>
          </a:p>
          <a:p>
            <a:pPr marL="292608" indent="-292608">
              <a:spcAft>
                <a:spcPts val="1600"/>
              </a:spcAft>
              <a:buClr>
                <a:srgbClr val="9CD848"/>
              </a:buClr>
              <a:buFont typeface="Arial"/>
              <a:buChar char="●"/>
            </a:pPr>
            <a:r>
              <a:rPr sz="1800">
                <a:solidFill>
                  <a:srgbClr val="F2F2EC"/>
                </a:solidFill>
                <a:latin typeface="Segoe UI"/>
              </a:rPr>
              <a:t>No Design Thinking, é a etapa de pesquisa: mergulhar no mundo de quem vive o problema</a:t>
            </a:r>
          </a:p>
          <a:p>
            <a:pPr marL="292608" indent="-292608">
              <a:spcAft>
                <a:spcPts val="1600"/>
              </a:spcAft>
              <a:buClr>
                <a:srgbClr val="9CD848"/>
              </a:buClr>
              <a:buFont typeface="Arial"/>
              <a:buChar char="●"/>
            </a:pPr>
            <a:r>
              <a:rPr sz="1800">
                <a:solidFill>
                  <a:srgbClr val="F2F2EC"/>
                </a:solidFill>
                <a:latin typeface="Segoe UI"/>
              </a:rPr>
              <a:t>Substitui achismos por evidências</a:t>
            </a:r>
          </a:p>
          <a:p>
            <a:pPr marL="292608" indent="-292608">
              <a:buClr>
                <a:srgbClr val="9CD848"/>
              </a:buClr>
              <a:buFont typeface="Arial"/>
              <a:buChar char="●"/>
            </a:pPr>
            <a:r>
              <a:rPr sz="1800">
                <a:solidFill>
                  <a:srgbClr val="F2F2EC"/>
                </a:solidFill>
                <a:latin typeface="Segoe UI"/>
              </a:rPr>
              <a:t>Revela necessidades que nem o próprio cliente sabe verbalizar</a:t>
            </a:r>
          </a:p>
        </p:txBody>
      </p:sp>
      <p:sp>
        <p:nvSpPr>
          <p:cNvPr id="7" name="Rounded Rectangle 6"/>
          <p:cNvSpPr/>
          <p:nvPr/>
        </p:nvSpPr>
        <p:spPr>
          <a:xfrm>
            <a:off x="7680960" y="1645920"/>
            <a:ext cx="3959352" cy="402336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955279" y="1691640"/>
            <a:ext cx="1371600" cy="1097280"/>
          </a:xfrm>
          <a:prstGeom prst="rect">
            <a:avLst/>
          </a:prstGeom>
          <a:noFill/>
        </p:spPr>
        <p:txBody>
          <a:bodyPr wrap="square" lIns="36576" tIns="18288" rIns="36576" bIns="18288" anchor="t">
            <a:spAutoFit/>
          </a:bodyPr>
          <a:lstStyle/>
          <a:p>
            <a:pPr algn="l"/>
            <a:r>
              <a:rPr sz="8000" b="1" i="0">
                <a:solidFill>
                  <a:srgbClr val="9CD848"/>
                </a:solidFill>
                <a:latin typeface="Georgia"/>
              </a:rPr>
              <a:t>“</a:t>
            </a:r>
          </a:p>
        </p:txBody>
      </p:sp>
      <p:sp>
        <p:nvSpPr>
          <p:cNvPr id="9" name="TextBox 8"/>
          <p:cNvSpPr txBox="1"/>
          <p:nvPr/>
        </p:nvSpPr>
        <p:spPr>
          <a:xfrm>
            <a:off x="8001000" y="2743200"/>
            <a:ext cx="3383280" cy="2743200"/>
          </a:xfrm>
          <a:prstGeom prst="rect">
            <a:avLst/>
          </a:prstGeom>
          <a:noFill/>
        </p:spPr>
        <p:txBody>
          <a:bodyPr wrap="square" lIns="36576" tIns="18288" rIns="36576" bIns="18288" anchor="t">
            <a:spAutoFit/>
          </a:bodyPr>
          <a:lstStyle/>
          <a:p>
            <a:pPr algn="l">
              <a:lnSpc>
                <a:spcPct val="110000"/>
              </a:lnSpc>
            </a:pPr>
            <a:r>
              <a:rPr sz="2100" b="1" i="0">
                <a:solidFill>
                  <a:srgbClr val="F2F2EC"/>
                </a:solidFill>
                <a:latin typeface="Segoe UI Semibold"/>
              </a:rPr>
              <a:t>Ouvir mais, supor menos.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50" fill="hold"/>
                                        <p:tgtEl>
                                          <p:spTgt spid="6"/>
                                        </p:tgtEl>
                                      </p:cBhvr>
                                    </p:animEffect>
                                    <p:anim calcmode="lin" valueType="num">
                                      <p:cBhvr additive="base">
                                        <p:cTn id="11" dur="650" fill="hold"/>
                                        <p:tgtEl>
                                          <p:spTgt spid="6"/>
                                        </p:tgtEl>
                                        <p:attrNameLst>
                                          <p:attrName>ppt_x</p:attrName>
                                        </p:attrNameLst>
                                      </p:cBhvr>
                                      <p:tavLst>
                                        <p:tav tm="0">
                                          <p:val>
                                            <p:strVal val="#ppt_x"/>
                                          </p:val>
                                        </p:tav>
                                        <p:tav tm="100000">
                                          <p:val>
                                            <p:strVal val="#ppt_x"/>
                                          </p:val>
                                        </p:tav>
                                      </p:tavLst>
                                    </p:anim>
                                    <p:anim calcmode="lin" valueType="num">
                                      <p:cBhvr additive="base">
                                        <p:cTn id="12" dur="650" fill="hold"/>
                                        <p:tgtEl>
                                          <p:spTgt spid="6"/>
                                        </p:tgtEl>
                                        <p:attrNameLst>
                                          <p:attrName>ppt_y</p:attrName>
                                        </p:attrNameLst>
                                      </p:cBhvr>
                                      <p:tavLst>
                                        <p:tav tm="0">
                                          <p:val>
                                            <p:strVal val="#ppt_y+.06"/>
                                          </p:val>
                                        </p:tav>
                                        <p:tav tm="100000">
                                          <p:val>
                                            <p:strVal val="#ppt_y"/>
                                          </p:val>
                                        </p:tav>
                                      </p:tavLst>
                                    </p:anim>
                                  </p:childTnLst>
                                </p:cTn>
                              </p:par>
                              <p:par>
                                <p:cTn id="13" presetID="42" presetClass="entr" presetSubtype="0" decel="100000" fill="hold" grpId="0" nodeType="withEffect">
                                  <p:stCondLst>
                                    <p:cond delay="75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fill="hold"/>
                                        <p:tgtEl>
                                          <p:spTgt spid="7"/>
                                        </p:tgtEl>
                                      </p:cBhvr>
                                    </p:animEffect>
                                    <p:anim calcmode="lin" valueType="num">
                                      <p:cBhvr additive="base">
                                        <p:cTn id="16" dur="650" fill="hold"/>
                                        <p:tgtEl>
                                          <p:spTgt spid="7"/>
                                        </p:tgtEl>
                                        <p:attrNameLst>
                                          <p:attrName>ppt_x</p:attrName>
                                        </p:attrNameLst>
                                      </p:cBhvr>
                                      <p:tavLst>
                                        <p:tav tm="0">
                                          <p:val>
                                            <p:strVal val="#ppt_x"/>
                                          </p:val>
                                        </p:tav>
                                        <p:tav tm="100000">
                                          <p:val>
                                            <p:strVal val="#ppt_x"/>
                                          </p:val>
                                        </p:tav>
                                      </p:tavLst>
                                    </p:anim>
                                    <p:anim calcmode="lin" valueType="num">
                                      <p:cBhvr additive="base">
                                        <p:cTn id="17" dur="650" fill="hold"/>
                                        <p:tgtEl>
                                          <p:spTgt spid="7"/>
                                        </p:tgtEl>
                                        <p:attrNameLst>
                                          <p:attrName>ppt_y</p:attrName>
                                        </p:attrNameLst>
                                      </p:cBhvr>
                                      <p:tavLst>
                                        <p:tav tm="0">
                                          <p:val>
                                            <p:strVal val="#ppt_y+.06"/>
                                          </p:val>
                                        </p:tav>
                                        <p:tav tm="100000">
                                          <p:val>
                                            <p:strVal val="#ppt_y"/>
                                          </p:val>
                                        </p:tav>
                                      </p:tavLst>
                                    </p:anim>
                                  </p:childTnLst>
                                </p:cTn>
                              </p:par>
                              <p:par>
                                <p:cTn id="18" presetID="53" presetClass="entr" presetSubtype="16" decel="100000" fill="hold" grpId="0" nodeType="withEffect">
                                  <p:stCondLst>
                                    <p:cond delay="105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450" fill="hold"/>
                                        <p:tgtEl>
                                          <p:spTgt spid="8"/>
                                        </p:tgtEl>
                                        <p:attrNameLst>
                                          <p:attrName>ppt_w</p:attrName>
                                        </p:attrNameLst>
                                      </p:cBhvr>
                                      <p:tavLst>
                                        <p:tav tm="0">
                                          <p:val>
                                            <p:strVal val="0"/>
                                          </p:val>
                                        </p:tav>
                                        <p:tav tm="70000">
                                          <p:val>
                                            <p:strVal val="#ppt_w*1.08"/>
                                          </p:val>
                                        </p:tav>
                                        <p:tav tm="100000">
                                          <p:val>
                                            <p:strVal val="#ppt_w"/>
                                          </p:val>
                                        </p:tav>
                                      </p:tavLst>
                                    </p:anim>
                                    <p:anim calcmode="lin" valueType="num">
                                      <p:cBhvr additive="base">
                                        <p:cTn id="21" dur="450" fill="hold"/>
                                        <p:tgtEl>
                                          <p:spTgt spid="8"/>
                                        </p:tgtEl>
                                        <p:attrNameLst>
                                          <p:attrName>ppt_h</p:attrName>
                                        </p:attrNameLst>
                                      </p:cBhvr>
                                      <p:tavLst>
                                        <p:tav tm="0">
                                          <p:val>
                                            <p:strVal val="0"/>
                                          </p:val>
                                        </p:tav>
                                        <p:tav tm="70000">
                                          <p:val>
                                            <p:strVal val="#ppt_h*1.08"/>
                                          </p:val>
                                        </p:tav>
                                        <p:tav tm="100000">
                                          <p:val>
                                            <p:strVal val="#ppt_h"/>
                                          </p:val>
                                        </p:tav>
                                      </p:tavLst>
                                    </p:anim>
                                    <p:animEffect transition="in" filter="fade">
                                      <p:cBhvr>
                                        <p:cTn id="22" dur="270" fill="hold"/>
                                        <p:tgtEl>
                                          <p:spTgt spid="8"/>
                                        </p:tgtEl>
                                      </p:cBhvr>
                                    </p:animEffect>
                                  </p:childTnLst>
                                </p:cTn>
                              </p:par>
                              <p:par>
                                <p:cTn id="23" presetID="10" presetClass="entr" presetSubtype="0" fill="hold" grpId="0" nodeType="withEffect">
                                  <p:stCondLst>
                                    <p:cond delay="1250"/>
                                  </p:stCondLst>
                                  <p:iterate type="wd">
                                    <p:tmPct val="35000"/>
                                  </p:iterate>
                                  <p:childTnLst>
                                    <p:set>
                                      <p:cBhvr>
                                        <p:cTn id="24" dur="1" fill="hold">
                                          <p:stCondLst>
                                            <p:cond delay="0"/>
                                          </p:stCondLst>
                                        </p:cTn>
                                        <p:tgtEl>
                                          <p:spTgt spid="9"/>
                                        </p:tgtEl>
                                        <p:attrNameLst>
                                          <p:attrName>style.visibility</p:attrName>
                                        </p:attrNameLst>
                                      </p:cBhvr>
                                      <p:to>
                                        <p:strVal val="visible"/>
                                      </p:to>
                                    </p:set>
                                    <p:animEffect transition="in" filter="fade">
                                      <p:cBhvr>
                                        <p:cTn id="25" dur="420" fill="hold"/>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9CD848"/>
                </a:solidFill>
                <a:latin typeface="Segoe UI Semibold"/>
              </a:rPr>
              <a:t>MÓDULO 2  ·  EMPATIZAR</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O que as pessoas dizem x o que fazem</a:t>
            </a:r>
          </a:p>
        </p:txBody>
      </p:sp>
      <p:sp>
        <p:nvSpPr>
          <p:cNvPr id="6" name="Rounded Rectangle 5"/>
          <p:cNvSpPr/>
          <p:nvPr/>
        </p:nvSpPr>
        <p:spPr>
          <a:xfrm>
            <a:off x="548640" y="1554480"/>
            <a:ext cx="5394960" cy="434340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914400" y="1783080"/>
            <a:ext cx="4663440" cy="548640"/>
          </a:xfrm>
          <a:prstGeom prst="rect">
            <a:avLst/>
          </a:prstGeom>
          <a:noFill/>
        </p:spPr>
        <p:txBody>
          <a:bodyPr wrap="square" lIns="36576" tIns="18288" rIns="36576" bIns="18288" anchor="t">
            <a:spAutoFit/>
          </a:bodyPr>
          <a:lstStyle/>
          <a:p>
            <a:pPr algn="l"/>
            <a:r>
              <a:rPr sz="2200" b="1" i="0">
                <a:solidFill>
                  <a:srgbClr val="B4B8B0"/>
                </a:solidFill>
                <a:latin typeface="Segoe UI Semibold"/>
              </a:rPr>
              <a:t>Pesquisa atitudinal</a:t>
            </a:r>
          </a:p>
        </p:txBody>
      </p:sp>
      <p:sp>
        <p:nvSpPr>
          <p:cNvPr id="8" name="TextBox 7"/>
          <p:cNvSpPr txBox="1"/>
          <p:nvPr/>
        </p:nvSpPr>
        <p:spPr>
          <a:xfrm>
            <a:off x="914400" y="2514600"/>
            <a:ext cx="4754880" cy="3200400"/>
          </a:xfrm>
          <a:prstGeom prst="rect">
            <a:avLst/>
          </a:prstGeom>
          <a:noFill/>
        </p:spPr>
        <p:txBody>
          <a:bodyPr wrap="square">
            <a:spAutoFit/>
          </a:bodyPr>
          <a:lstStyle/>
          <a:p>
            <a:pPr marL="292608" indent="-292608">
              <a:spcAft>
                <a:spcPts val="1400"/>
              </a:spcAft>
              <a:buClr>
                <a:srgbClr val="7D827B"/>
              </a:buClr>
              <a:buFont typeface="Arial"/>
              <a:buChar char="●"/>
            </a:pPr>
            <a:r>
              <a:rPr sz="1600">
                <a:solidFill>
                  <a:srgbClr val="F2F2EC"/>
                </a:solidFill>
                <a:latin typeface="Segoe UI"/>
              </a:rPr>
              <a:t>Foca no que as pessoas DIZEM</a:t>
            </a:r>
          </a:p>
          <a:p>
            <a:pPr marL="292608" indent="-292608">
              <a:spcAft>
                <a:spcPts val="1400"/>
              </a:spcAft>
              <a:buClr>
                <a:srgbClr val="7D827B"/>
              </a:buClr>
              <a:buFont typeface="Arial"/>
              <a:buChar char="●"/>
            </a:pPr>
            <a:r>
              <a:rPr sz="1600">
                <a:solidFill>
                  <a:srgbClr val="F2F2EC"/>
                </a:solidFill>
                <a:latin typeface="Segoe UI"/>
              </a:rPr>
              <a:t>Entrevistas, questionários, grupos</a:t>
            </a:r>
          </a:p>
          <a:p>
            <a:pPr marL="292608" indent="-292608">
              <a:spcAft>
                <a:spcPts val="1400"/>
              </a:spcAft>
              <a:buClr>
                <a:srgbClr val="7D827B"/>
              </a:buClr>
              <a:buFont typeface="Arial"/>
              <a:buChar char="●"/>
            </a:pPr>
            <a:r>
              <a:rPr sz="1600">
                <a:solidFill>
                  <a:srgbClr val="F2F2EC"/>
                </a:solidFill>
                <a:latin typeface="Segoe UI"/>
              </a:rPr>
              <a:t>Revela opiniões, crenças e motivações</a:t>
            </a:r>
          </a:p>
          <a:p>
            <a:pPr marL="292608" indent="-292608">
              <a:buClr>
                <a:srgbClr val="7D827B"/>
              </a:buClr>
              <a:buFont typeface="Arial"/>
              <a:buChar char="●"/>
            </a:pPr>
            <a:r>
              <a:rPr sz="1600">
                <a:solidFill>
                  <a:srgbClr val="F2F2EC"/>
                </a:solidFill>
                <a:latin typeface="Segoe UI"/>
              </a:rPr>
              <a:t>Cuidado: nem sempre bate com a prática</a:t>
            </a:r>
          </a:p>
        </p:txBody>
      </p:sp>
      <p:sp>
        <p:nvSpPr>
          <p:cNvPr id="9" name="Rounded Rectangle 8"/>
          <p:cNvSpPr/>
          <p:nvPr/>
        </p:nvSpPr>
        <p:spPr>
          <a:xfrm>
            <a:off x="6263640" y="1554480"/>
            <a:ext cx="5394960" cy="4343400"/>
          </a:xfrm>
          <a:prstGeom prst="roundRect">
            <a:avLst>
              <a:gd name="adj" fmla="val 5000"/>
            </a:avLst>
          </a:prstGeom>
          <a:solidFill>
            <a:srgbClr val="2E3431"/>
          </a:solidFill>
          <a:ln w="19050">
            <a:solidFill>
              <a:srgbClr val="9CD84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629400" y="1783080"/>
            <a:ext cx="4663440" cy="548640"/>
          </a:xfrm>
          <a:prstGeom prst="rect">
            <a:avLst/>
          </a:prstGeom>
          <a:noFill/>
        </p:spPr>
        <p:txBody>
          <a:bodyPr wrap="square" lIns="36576" tIns="18288" rIns="36576" bIns="18288" anchor="t">
            <a:spAutoFit/>
          </a:bodyPr>
          <a:lstStyle/>
          <a:p>
            <a:pPr algn="l"/>
            <a:r>
              <a:rPr sz="2200" b="1" i="0">
                <a:solidFill>
                  <a:srgbClr val="9CD848"/>
                </a:solidFill>
                <a:latin typeface="Segoe UI Semibold"/>
              </a:rPr>
              <a:t>Pesquisa comportamental</a:t>
            </a:r>
          </a:p>
        </p:txBody>
      </p:sp>
      <p:sp>
        <p:nvSpPr>
          <p:cNvPr id="11" name="TextBox 10"/>
          <p:cNvSpPr txBox="1"/>
          <p:nvPr/>
        </p:nvSpPr>
        <p:spPr>
          <a:xfrm>
            <a:off x="6629400" y="2514600"/>
            <a:ext cx="4754880" cy="3200400"/>
          </a:xfrm>
          <a:prstGeom prst="rect">
            <a:avLst/>
          </a:prstGeom>
          <a:noFill/>
        </p:spPr>
        <p:txBody>
          <a:bodyPr wrap="square">
            <a:spAutoFit/>
          </a:bodyPr>
          <a:lstStyle/>
          <a:p>
            <a:pPr marL="292608" indent="-292608">
              <a:spcAft>
                <a:spcPts val="1400"/>
              </a:spcAft>
              <a:buClr>
                <a:srgbClr val="9CD848"/>
              </a:buClr>
              <a:buFont typeface="Arial"/>
              <a:buChar char="●"/>
            </a:pPr>
            <a:r>
              <a:rPr sz="1600">
                <a:solidFill>
                  <a:srgbClr val="F2F2EC"/>
                </a:solidFill>
                <a:latin typeface="Segoe UI"/>
              </a:rPr>
              <a:t>Foca no que as pessoas FAZEM</a:t>
            </a:r>
          </a:p>
          <a:p>
            <a:pPr marL="292608" indent="-292608">
              <a:spcAft>
                <a:spcPts val="1400"/>
              </a:spcAft>
              <a:buClr>
                <a:srgbClr val="9CD848"/>
              </a:buClr>
              <a:buFont typeface="Arial"/>
              <a:buChar char="●"/>
            </a:pPr>
            <a:r>
              <a:rPr sz="1600">
                <a:solidFill>
                  <a:srgbClr val="F2F2EC"/>
                </a:solidFill>
                <a:latin typeface="Segoe UI"/>
              </a:rPr>
              <a:t>Observação, dados de uso, testes</a:t>
            </a:r>
          </a:p>
          <a:p>
            <a:pPr marL="292608" indent="-292608">
              <a:spcAft>
                <a:spcPts val="1400"/>
              </a:spcAft>
              <a:buClr>
                <a:srgbClr val="9CD848"/>
              </a:buClr>
              <a:buFont typeface="Arial"/>
              <a:buChar char="●"/>
            </a:pPr>
            <a:r>
              <a:rPr sz="1600">
                <a:solidFill>
                  <a:srgbClr val="F2F2EC"/>
                </a:solidFill>
                <a:latin typeface="Segoe UI"/>
              </a:rPr>
              <a:t>Revela o comportamento real</a:t>
            </a:r>
          </a:p>
          <a:p>
            <a:pPr marL="292608" indent="-292608">
              <a:buClr>
                <a:srgbClr val="9CD848"/>
              </a:buClr>
              <a:buFont typeface="Arial"/>
              <a:buChar char="●"/>
            </a:pPr>
            <a:r>
              <a:rPr sz="1600">
                <a:solidFill>
                  <a:srgbClr val="F2F2EC"/>
                </a:solidFill>
                <a:latin typeface="Segoe UI"/>
              </a:rPr>
              <a:t>Mostra o 'como', mas nem sempre o 'porquê'</a:t>
            </a:r>
          </a:p>
        </p:txBody>
      </p:sp>
      <p:sp>
        <p:nvSpPr>
          <p:cNvPr id="12" name="Oval 11"/>
          <p:cNvSpPr/>
          <p:nvPr/>
        </p:nvSpPr>
        <p:spPr>
          <a:xfrm>
            <a:off x="5829300" y="3429000"/>
            <a:ext cx="548640" cy="548640"/>
          </a:xfrm>
          <a:prstGeom prst="ellipse">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400" b="1" i="0">
                <a:solidFill>
                  <a:srgbClr val="B4B8B0"/>
                </a:solidFill>
                <a:latin typeface="Segoe UI Semibold"/>
              </a:rPr>
              <a:t>vs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42" presetClass="entr" presetSubtype="0" decel="100000" fill="hold" grpId="0" nodeType="withEffect">
                                  <p:stCondLst>
                                    <p:cond delay="2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50" fill="hold"/>
                                        <p:tgtEl>
                                          <p:spTgt spid="6"/>
                                        </p:tgtEl>
                                      </p:cBhvr>
                                    </p:animEffect>
                                    <p:anim calcmode="lin" valueType="num">
                                      <p:cBhvr additive="base">
                                        <p:cTn id="11" dur="650" fill="hold"/>
                                        <p:tgtEl>
                                          <p:spTgt spid="6"/>
                                        </p:tgtEl>
                                        <p:attrNameLst>
                                          <p:attrName>ppt_x</p:attrName>
                                        </p:attrNameLst>
                                      </p:cBhvr>
                                      <p:tavLst>
                                        <p:tav tm="0">
                                          <p:val>
                                            <p:strVal val="#ppt_x"/>
                                          </p:val>
                                        </p:tav>
                                        <p:tav tm="100000">
                                          <p:val>
                                            <p:strVal val="#ppt_x"/>
                                          </p:val>
                                        </p:tav>
                                      </p:tavLst>
                                    </p:anim>
                                    <p:anim calcmode="lin" valueType="num">
                                      <p:cBhvr additive="base">
                                        <p:cTn id="12" dur="650" fill="hold"/>
                                        <p:tgtEl>
                                          <p:spTgt spid="6"/>
                                        </p:tgtEl>
                                        <p:attrNameLst>
                                          <p:attrName>ppt_y</p:attrName>
                                        </p:attrNameLst>
                                      </p:cBhvr>
                                      <p:tavLst>
                                        <p:tav tm="0">
                                          <p:val>
                                            <p:strVal val="#ppt_y+.06"/>
                                          </p:val>
                                        </p:tav>
                                        <p:tav tm="100000">
                                          <p:val>
                                            <p:strVal val="#ppt_y"/>
                                          </p:val>
                                        </p:tav>
                                      </p:tavLst>
                                    </p:anim>
                                  </p:childTnLst>
                                </p:cTn>
                              </p:par>
                              <p:par>
                                <p:cTn id="13" presetID="42" presetClass="entr" presetSubtype="0" decel="100000" fill="hold" grpId="0" nodeType="withEffect">
                                  <p:stCondLst>
                                    <p:cond delay="20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fill="hold"/>
                                        <p:tgtEl>
                                          <p:spTgt spid="7"/>
                                        </p:tgtEl>
                                      </p:cBhvr>
                                    </p:animEffect>
                                    <p:anim calcmode="lin" valueType="num">
                                      <p:cBhvr additive="base">
                                        <p:cTn id="16" dur="650" fill="hold"/>
                                        <p:tgtEl>
                                          <p:spTgt spid="7"/>
                                        </p:tgtEl>
                                        <p:attrNameLst>
                                          <p:attrName>ppt_x</p:attrName>
                                        </p:attrNameLst>
                                      </p:cBhvr>
                                      <p:tavLst>
                                        <p:tav tm="0">
                                          <p:val>
                                            <p:strVal val="#ppt_x"/>
                                          </p:val>
                                        </p:tav>
                                        <p:tav tm="100000">
                                          <p:val>
                                            <p:strVal val="#ppt_x"/>
                                          </p:val>
                                        </p:tav>
                                      </p:tavLst>
                                    </p:anim>
                                    <p:anim calcmode="lin" valueType="num">
                                      <p:cBhvr additive="base">
                                        <p:cTn id="17" dur="650" fill="hold"/>
                                        <p:tgtEl>
                                          <p:spTgt spid="7"/>
                                        </p:tgtEl>
                                        <p:attrNameLst>
                                          <p:attrName>ppt_y</p:attrName>
                                        </p:attrNameLst>
                                      </p:cBhvr>
                                      <p:tavLst>
                                        <p:tav tm="0">
                                          <p:val>
                                            <p:strVal val="#ppt_y+.06"/>
                                          </p:val>
                                        </p:tav>
                                        <p:tav tm="100000">
                                          <p:val>
                                            <p:strVal val="#ppt_y"/>
                                          </p:val>
                                        </p:tav>
                                      </p:tavLst>
                                    </p:anim>
                                  </p:childTnLst>
                                </p:cTn>
                              </p:par>
                              <p:par>
                                <p:cTn id="18" presetID="10" presetClass="entr" presetSubtype="0" fill="hold" grpId="0" nodeType="withEffect">
                                  <p:stCondLst>
                                    <p:cond delay="45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fill="hold"/>
                                        <p:tgtEl>
                                          <p:spTgt spid="8"/>
                                        </p:tgtEl>
                                      </p:cBhvr>
                                    </p:animEffect>
                                  </p:childTnLst>
                                </p:cTn>
                              </p:par>
                              <p:par>
                                <p:cTn id="21" presetID="42" presetClass="entr" presetSubtype="0" decel="100000" fill="hold" grpId="0" nodeType="withEffect">
                                  <p:stCondLst>
                                    <p:cond delay="105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650" fill="hold"/>
                                        <p:tgtEl>
                                          <p:spTgt spid="9"/>
                                        </p:tgtEl>
                                      </p:cBhvr>
                                    </p:animEffect>
                                    <p:anim calcmode="lin" valueType="num">
                                      <p:cBhvr additive="base">
                                        <p:cTn id="24" dur="650" fill="hold"/>
                                        <p:tgtEl>
                                          <p:spTgt spid="9"/>
                                        </p:tgtEl>
                                        <p:attrNameLst>
                                          <p:attrName>ppt_x</p:attrName>
                                        </p:attrNameLst>
                                      </p:cBhvr>
                                      <p:tavLst>
                                        <p:tav tm="0">
                                          <p:val>
                                            <p:strVal val="#ppt_x"/>
                                          </p:val>
                                        </p:tav>
                                        <p:tav tm="100000">
                                          <p:val>
                                            <p:strVal val="#ppt_x"/>
                                          </p:val>
                                        </p:tav>
                                      </p:tavLst>
                                    </p:anim>
                                    <p:anim calcmode="lin" valueType="num">
                                      <p:cBhvr additive="base">
                                        <p:cTn id="25" dur="650" fill="hold"/>
                                        <p:tgtEl>
                                          <p:spTgt spid="9"/>
                                        </p:tgtEl>
                                        <p:attrNameLst>
                                          <p:attrName>ppt_y</p:attrName>
                                        </p:attrNameLst>
                                      </p:cBhvr>
                                      <p:tavLst>
                                        <p:tav tm="0">
                                          <p:val>
                                            <p:strVal val="#ppt_y+.06"/>
                                          </p:val>
                                        </p:tav>
                                        <p:tav tm="100000">
                                          <p:val>
                                            <p:strVal val="#ppt_y"/>
                                          </p:val>
                                        </p:tav>
                                      </p:tavLst>
                                    </p:anim>
                                  </p:childTnLst>
                                </p:cTn>
                              </p:par>
                              <p:par>
                                <p:cTn id="26" presetID="42" presetClass="entr" presetSubtype="0" decel="100000" fill="hold" grpId="0" nodeType="withEffect">
                                  <p:stCondLst>
                                    <p:cond delay="105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650" fill="hold"/>
                                        <p:tgtEl>
                                          <p:spTgt spid="10"/>
                                        </p:tgtEl>
                                      </p:cBhvr>
                                    </p:animEffect>
                                    <p:anim calcmode="lin" valueType="num">
                                      <p:cBhvr additive="base">
                                        <p:cTn id="29" dur="650" fill="hold"/>
                                        <p:tgtEl>
                                          <p:spTgt spid="10"/>
                                        </p:tgtEl>
                                        <p:attrNameLst>
                                          <p:attrName>ppt_x</p:attrName>
                                        </p:attrNameLst>
                                      </p:cBhvr>
                                      <p:tavLst>
                                        <p:tav tm="0">
                                          <p:val>
                                            <p:strVal val="#ppt_x"/>
                                          </p:val>
                                        </p:tav>
                                        <p:tav tm="100000">
                                          <p:val>
                                            <p:strVal val="#ppt_x"/>
                                          </p:val>
                                        </p:tav>
                                      </p:tavLst>
                                    </p:anim>
                                    <p:anim calcmode="lin" valueType="num">
                                      <p:cBhvr additive="base">
                                        <p:cTn id="30" dur="650" fill="hold"/>
                                        <p:tgtEl>
                                          <p:spTgt spid="10"/>
                                        </p:tgtEl>
                                        <p:attrNameLst>
                                          <p:attrName>ppt_y</p:attrName>
                                        </p:attrNameLst>
                                      </p:cBhvr>
                                      <p:tavLst>
                                        <p:tav tm="0">
                                          <p:val>
                                            <p:strVal val="#ppt_y+.06"/>
                                          </p:val>
                                        </p:tav>
                                        <p:tav tm="100000">
                                          <p:val>
                                            <p:strVal val="#ppt_y"/>
                                          </p:val>
                                        </p:tav>
                                      </p:tavLst>
                                    </p:anim>
                                  </p:childTnLst>
                                </p:cTn>
                              </p:par>
                              <p:par>
                                <p:cTn id="31" presetID="10" presetClass="entr" presetSubtype="0" fill="hold" grpId="0" nodeType="withEffect">
                                  <p:stCondLst>
                                    <p:cond delay="130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fill="hold"/>
                                        <p:tgtEl>
                                          <p:spTgt spid="11"/>
                                        </p:tgtEl>
                                      </p:cBhvr>
                                    </p:animEffect>
                                  </p:childTnLst>
                                </p:cTn>
                              </p:par>
                              <p:par>
                                <p:cTn id="34" presetID="53" presetClass="entr" presetSubtype="16" decel="100000" fill="hold" grpId="0" nodeType="withEffect">
                                  <p:stCondLst>
                                    <p:cond delay="1700"/>
                                  </p:stCondLst>
                                  <p:childTnLst>
                                    <p:set>
                                      <p:cBhvr>
                                        <p:cTn id="35" dur="1" fill="hold">
                                          <p:stCondLst>
                                            <p:cond delay="0"/>
                                          </p:stCondLst>
                                        </p:cTn>
                                        <p:tgtEl>
                                          <p:spTgt spid="12"/>
                                        </p:tgtEl>
                                        <p:attrNameLst>
                                          <p:attrName>style.visibility</p:attrName>
                                        </p:attrNameLst>
                                      </p:cBhvr>
                                      <p:to>
                                        <p:strVal val="visible"/>
                                      </p:to>
                                    </p:set>
                                    <p:anim calcmode="lin" valueType="num">
                                      <p:cBhvr additive="base">
                                        <p:cTn id="36" dur="450" fill="hold"/>
                                        <p:tgtEl>
                                          <p:spTgt spid="12"/>
                                        </p:tgtEl>
                                        <p:attrNameLst>
                                          <p:attrName>ppt_w</p:attrName>
                                        </p:attrNameLst>
                                      </p:cBhvr>
                                      <p:tavLst>
                                        <p:tav tm="0">
                                          <p:val>
                                            <p:strVal val="0"/>
                                          </p:val>
                                        </p:tav>
                                        <p:tav tm="70000">
                                          <p:val>
                                            <p:strVal val="#ppt_w*1.08"/>
                                          </p:val>
                                        </p:tav>
                                        <p:tav tm="100000">
                                          <p:val>
                                            <p:strVal val="#ppt_w"/>
                                          </p:val>
                                        </p:tav>
                                      </p:tavLst>
                                    </p:anim>
                                    <p:anim calcmode="lin" valueType="num">
                                      <p:cBhvr additive="base">
                                        <p:cTn id="37" dur="450" fill="hold"/>
                                        <p:tgtEl>
                                          <p:spTgt spid="12"/>
                                        </p:tgtEl>
                                        <p:attrNameLst>
                                          <p:attrName>ppt_h</p:attrName>
                                        </p:attrNameLst>
                                      </p:cBhvr>
                                      <p:tavLst>
                                        <p:tav tm="0">
                                          <p:val>
                                            <p:strVal val="0"/>
                                          </p:val>
                                        </p:tav>
                                        <p:tav tm="70000">
                                          <p:val>
                                            <p:strVal val="#ppt_h*1.08"/>
                                          </p:val>
                                        </p:tav>
                                        <p:tav tm="100000">
                                          <p:val>
                                            <p:strVal val="#ppt_h"/>
                                          </p:val>
                                        </p:tav>
                                      </p:tavLst>
                                    </p:anim>
                                    <p:animEffect transition="in" filter="fade">
                                      <p:cBhvr>
                                        <p:cTn id="38" dur="270" fill="hold"/>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9CD848"/>
                </a:solidFill>
                <a:latin typeface="Segoe UI Semibold"/>
              </a:rPr>
              <a:t>MÓDULO 2  ·  EMPATIZAR</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Qualitativa x Quantitativa</a:t>
            </a:r>
          </a:p>
        </p:txBody>
      </p:sp>
      <p:sp>
        <p:nvSpPr>
          <p:cNvPr id="6" name="Rounded Rectangle 5"/>
          <p:cNvSpPr/>
          <p:nvPr/>
        </p:nvSpPr>
        <p:spPr>
          <a:xfrm>
            <a:off x="548640" y="1554480"/>
            <a:ext cx="5394960" cy="434340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914400" y="1783080"/>
            <a:ext cx="4663440" cy="548640"/>
          </a:xfrm>
          <a:prstGeom prst="rect">
            <a:avLst/>
          </a:prstGeom>
          <a:noFill/>
        </p:spPr>
        <p:txBody>
          <a:bodyPr wrap="square" lIns="36576" tIns="18288" rIns="36576" bIns="18288" anchor="t">
            <a:spAutoFit/>
          </a:bodyPr>
          <a:lstStyle/>
          <a:p>
            <a:pPr algn="l"/>
            <a:r>
              <a:rPr sz="2200" b="1" i="0">
                <a:solidFill>
                  <a:srgbClr val="B4B8B0"/>
                </a:solidFill>
                <a:latin typeface="Segoe UI Semibold"/>
              </a:rPr>
              <a:t>Qualitativa: o porquê</a:t>
            </a:r>
          </a:p>
        </p:txBody>
      </p:sp>
      <p:sp>
        <p:nvSpPr>
          <p:cNvPr id="8" name="TextBox 7"/>
          <p:cNvSpPr txBox="1"/>
          <p:nvPr/>
        </p:nvSpPr>
        <p:spPr>
          <a:xfrm>
            <a:off x="914400" y="2514600"/>
            <a:ext cx="4754880" cy="3200400"/>
          </a:xfrm>
          <a:prstGeom prst="rect">
            <a:avLst/>
          </a:prstGeom>
          <a:noFill/>
        </p:spPr>
        <p:txBody>
          <a:bodyPr wrap="square">
            <a:spAutoFit/>
          </a:bodyPr>
          <a:lstStyle/>
          <a:p>
            <a:pPr marL="292608" indent="-292608">
              <a:spcAft>
                <a:spcPts val="1400"/>
              </a:spcAft>
              <a:buClr>
                <a:srgbClr val="7D827B"/>
              </a:buClr>
              <a:buFont typeface="Arial"/>
              <a:buChar char="●"/>
            </a:pPr>
            <a:r>
              <a:rPr sz="1600">
                <a:solidFill>
                  <a:srgbClr val="F2F2EC"/>
                </a:solidFill>
                <a:latin typeface="Segoe UI"/>
              </a:rPr>
              <a:t>Poucas pessoas, muita profundidade</a:t>
            </a:r>
          </a:p>
          <a:p>
            <a:pPr marL="292608" indent="-292608">
              <a:spcAft>
                <a:spcPts val="1400"/>
              </a:spcAft>
              <a:buClr>
                <a:srgbClr val="7D827B"/>
              </a:buClr>
              <a:buFont typeface="Arial"/>
              <a:buChar char="●"/>
            </a:pPr>
            <a:r>
              <a:rPr sz="1600">
                <a:solidFill>
                  <a:srgbClr val="F2F2EC"/>
                </a:solidFill>
                <a:latin typeface="Segoe UI"/>
              </a:rPr>
              <a:t>Entrevistas, observação, diários</a:t>
            </a:r>
          </a:p>
          <a:p>
            <a:pPr marL="292608" indent="-292608">
              <a:spcAft>
                <a:spcPts val="1400"/>
              </a:spcAft>
              <a:buClr>
                <a:srgbClr val="7D827B"/>
              </a:buClr>
              <a:buFont typeface="Arial"/>
              <a:buChar char="●"/>
            </a:pPr>
            <a:r>
              <a:rPr sz="1600">
                <a:solidFill>
                  <a:srgbClr val="F2F2EC"/>
                </a:solidFill>
                <a:latin typeface="Segoe UI"/>
              </a:rPr>
              <a:t>Descobre motivos e contextos</a:t>
            </a:r>
          </a:p>
          <a:p>
            <a:pPr marL="292608" indent="-292608">
              <a:buClr>
                <a:srgbClr val="7D827B"/>
              </a:buClr>
              <a:buFont typeface="Arial"/>
              <a:buChar char="●"/>
            </a:pPr>
            <a:r>
              <a:rPr sz="1600">
                <a:solidFill>
                  <a:srgbClr val="F2F2EC"/>
                </a:solidFill>
                <a:latin typeface="Segoe UI"/>
              </a:rPr>
              <a:t>5 a 8 entrevistas já revelam padrões</a:t>
            </a:r>
          </a:p>
        </p:txBody>
      </p:sp>
      <p:sp>
        <p:nvSpPr>
          <p:cNvPr id="9" name="Rounded Rectangle 8"/>
          <p:cNvSpPr/>
          <p:nvPr/>
        </p:nvSpPr>
        <p:spPr>
          <a:xfrm>
            <a:off x="6263640" y="1554480"/>
            <a:ext cx="5394960" cy="4343400"/>
          </a:xfrm>
          <a:prstGeom prst="roundRect">
            <a:avLst>
              <a:gd name="adj" fmla="val 5000"/>
            </a:avLst>
          </a:prstGeom>
          <a:solidFill>
            <a:srgbClr val="2E3431"/>
          </a:solidFill>
          <a:ln w="19050">
            <a:solidFill>
              <a:srgbClr val="9CD84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629400" y="1783080"/>
            <a:ext cx="4663440" cy="548640"/>
          </a:xfrm>
          <a:prstGeom prst="rect">
            <a:avLst/>
          </a:prstGeom>
          <a:noFill/>
        </p:spPr>
        <p:txBody>
          <a:bodyPr wrap="square" lIns="36576" tIns="18288" rIns="36576" bIns="18288" anchor="t">
            <a:spAutoFit/>
          </a:bodyPr>
          <a:lstStyle/>
          <a:p>
            <a:pPr algn="l"/>
            <a:r>
              <a:rPr sz="2200" b="1" i="0">
                <a:solidFill>
                  <a:srgbClr val="9CD848"/>
                </a:solidFill>
                <a:latin typeface="Segoe UI Semibold"/>
              </a:rPr>
              <a:t>Quantitativa: o quanto</a:t>
            </a:r>
          </a:p>
        </p:txBody>
      </p:sp>
      <p:sp>
        <p:nvSpPr>
          <p:cNvPr id="11" name="TextBox 10"/>
          <p:cNvSpPr txBox="1"/>
          <p:nvPr/>
        </p:nvSpPr>
        <p:spPr>
          <a:xfrm>
            <a:off x="6629400" y="2514600"/>
            <a:ext cx="4754880" cy="3200400"/>
          </a:xfrm>
          <a:prstGeom prst="rect">
            <a:avLst/>
          </a:prstGeom>
          <a:noFill/>
        </p:spPr>
        <p:txBody>
          <a:bodyPr wrap="square">
            <a:spAutoFit/>
          </a:bodyPr>
          <a:lstStyle/>
          <a:p>
            <a:pPr marL="292608" indent="-292608">
              <a:spcAft>
                <a:spcPts val="1400"/>
              </a:spcAft>
              <a:buClr>
                <a:srgbClr val="9CD848"/>
              </a:buClr>
              <a:buFont typeface="Arial"/>
              <a:buChar char="●"/>
            </a:pPr>
            <a:r>
              <a:rPr sz="1600">
                <a:solidFill>
                  <a:srgbClr val="F2F2EC"/>
                </a:solidFill>
                <a:latin typeface="Segoe UI"/>
              </a:rPr>
              <a:t>Muitas pessoas, respostas objetivas</a:t>
            </a:r>
          </a:p>
          <a:p>
            <a:pPr marL="292608" indent="-292608">
              <a:spcAft>
                <a:spcPts val="1400"/>
              </a:spcAft>
              <a:buClr>
                <a:srgbClr val="9CD848"/>
              </a:buClr>
              <a:buFont typeface="Arial"/>
              <a:buChar char="●"/>
            </a:pPr>
            <a:r>
              <a:rPr sz="1600">
                <a:solidFill>
                  <a:srgbClr val="F2F2EC"/>
                </a:solidFill>
                <a:latin typeface="Segoe UI"/>
              </a:rPr>
              <a:t>Questionários, dados, métricas</a:t>
            </a:r>
          </a:p>
          <a:p>
            <a:pPr marL="292608" indent="-292608">
              <a:spcAft>
                <a:spcPts val="1400"/>
              </a:spcAft>
              <a:buClr>
                <a:srgbClr val="9CD848"/>
              </a:buClr>
              <a:buFont typeface="Arial"/>
              <a:buChar char="●"/>
            </a:pPr>
            <a:r>
              <a:rPr sz="1600">
                <a:solidFill>
                  <a:srgbClr val="F2F2EC"/>
                </a:solidFill>
                <a:latin typeface="Segoe UI"/>
              </a:rPr>
              <a:t>Mede tamanho e frequência</a:t>
            </a:r>
          </a:p>
          <a:p>
            <a:pPr marL="292608" indent="-292608">
              <a:buClr>
                <a:srgbClr val="9CD848"/>
              </a:buClr>
              <a:buFont typeface="Arial"/>
              <a:buChar char="●"/>
            </a:pPr>
            <a:r>
              <a:rPr sz="1600">
                <a:solidFill>
                  <a:srgbClr val="F2F2EC"/>
                </a:solidFill>
                <a:latin typeface="Segoe UI"/>
              </a:rPr>
              <a:t>Confirma o que a qualitativa descobriu</a:t>
            </a:r>
          </a:p>
        </p:txBody>
      </p:sp>
      <p:sp>
        <p:nvSpPr>
          <p:cNvPr id="12" name="Oval 11"/>
          <p:cNvSpPr/>
          <p:nvPr/>
        </p:nvSpPr>
        <p:spPr>
          <a:xfrm>
            <a:off x="5829300" y="3429000"/>
            <a:ext cx="548640" cy="548640"/>
          </a:xfrm>
          <a:prstGeom prst="ellipse">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400" b="1" i="0">
                <a:solidFill>
                  <a:srgbClr val="B4B8B0"/>
                </a:solidFill>
                <a:latin typeface="Segoe UI Semibold"/>
              </a:rPr>
              <a:t>vs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42" presetClass="entr" presetSubtype="0" decel="100000" fill="hold" grpId="0" nodeType="withEffect">
                                  <p:stCondLst>
                                    <p:cond delay="2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50" fill="hold"/>
                                        <p:tgtEl>
                                          <p:spTgt spid="6"/>
                                        </p:tgtEl>
                                      </p:cBhvr>
                                    </p:animEffect>
                                    <p:anim calcmode="lin" valueType="num">
                                      <p:cBhvr additive="base">
                                        <p:cTn id="11" dur="650" fill="hold"/>
                                        <p:tgtEl>
                                          <p:spTgt spid="6"/>
                                        </p:tgtEl>
                                        <p:attrNameLst>
                                          <p:attrName>ppt_x</p:attrName>
                                        </p:attrNameLst>
                                      </p:cBhvr>
                                      <p:tavLst>
                                        <p:tav tm="0">
                                          <p:val>
                                            <p:strVal val="#ppt_x"/>
                                          </p:val>
                                        </p:tav>
                                        <p:tav tm="100000">
                                          <p:val>
                                            <p:strVal val="#ppt_x"/>
                                          </p:val>
                                        </p:tav>
                                      </p:tavLst>
                                    </p:anim>
                                    <p:anim calcmode="lin" valueType="num">
                                      <p:cBhvr additive="base">
                                        <p:cTn id="12" dur="650" fill="hold"/>
                                        <p:tgtEl>
                                          <p:spTgt spid="6"/>
                                        </p:tgtEl>
                                        <p:attrNameLst>
                                          <p:attrName>ppt_y</p:attrName>
                                        </p:attrNameLst>
                                      </p:cBhvr>
                                      <p:tavLst>
                                        <p:tav tm="0">
                                          <p:val>
                                            <p:strVal val="#ppt_y+.06"/>
                                          </p:val>
                                        </p:tav>
                                        <p:tav tm="100000">
                                          <p:val>
                                            <p:strVal val="#ppt_y"/>
                                          </p:val>
                                        </p:tav>
                                      </p:tavLst>
                                    </p:anim>
                                  </p:childTnLst>
                                </p:cTn>
                              </p:par>
                              <p:par>
                                <p:cTn id="13" presetID="42" presetClass="entr" presetSubtype="0" decel="100000" fill="hold" grpId="0" nodeType="withEffect">
                                  <p:stCondLst>
                                    <p:cond delay="20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fill="hold"/>
                                        <p:tgtEl>
                                          <p:spTgt spid="7"/>
                                        </p:tgtEl>
                                      </p:cBhvr>
                                    </p:animEffect>
                                    <p:anim calcmode="lin" valueType="num">
                                      <p:cBhvr additive="base">
                                        <p:cTn id="16" dur="650" fill="hold"/>
                                        <p:tgtEl>
                                          <p:spTgt spid="7"/>
                                        </p:tgtEl>
                                        <p:attrNameLst>
                                          <p:attrName>ppt_x</p:attrName>
                                        </p:attrNameLst>
                                      </p:cBhvr>
                                      <p:tavLst>
                                        <p:tav tm="0">
                                          <p:val>
                                            <p:strVal val="#ppt_x"/>
                                          </p:val>
                                        </p:tav>
                                        <p:tav tm="100000">
                                          <p:val>
                                            <p:strVal val="#ppt_x"/>
                                          </p:val>
                                        </p:tav>
                                      </p:tavLst>
                                    </p:anim>
                                    <p:anim calcmode="lin" valueType="num">
                                      <p:cBhvr additive="base">
                                        <p:cTn id="17" dur="650" fill="hold"/>
                                        <p:tgtEl>
                                          <p:spTgt spid="7"/>
                                        </p:tgtEl>
                                        <p:attrNameLst>
                                          <p:attrName>ppt_y</p:attrName>
                                        </p:attrNameLst>
                                      </p:cBhvr>
                                      <p:tavLst>
                                        <p:tav tm="0">
                                          <p:val>
                                            <p:strVal val="#ppt_y+.06"/>
                                          </p:val>
                                        </p:tav>
                                        <p:tav tm="100000">
                                          <p:val>
                                            <p:strVal val="#ppt_y"/>
                                          </p:val>
                                        </p:tav>
                                      </p:tavLst>
                                    </p:anim>
                                  </p:childTnLst>
                                </p:cTn>
                              </p:par>
                              <p:par>
                                <p:cTn id="18" presetID="10" presetClass="entr" presetSubtype="0" fill="hold" grpId="0" nodeType="withEffect">
                                  <p:stCondLst>
                                    <p:cond delay="45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fill="hold"/>
                                        <p:tgtEl>
                                          <p:spTgt spid="8"/>
                                        </p:tgtEl>
                                      </p:cBhvr>
                                    </p:animEffect>
                                  </p:childTnLst>
                                </p:cTn>
                              </p:par>
                              <p:par>
                                <p:cTn id="21" presetID="42" presetClass="entr" presetSubtype="0" decel="100000" fill="hold" grpId="0" nodeType="withEffect">
                                  <p:stCondLst>
                                    <p:cond delay="105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650" fill="hold"/>
                                        <p:tgtEl>
                                          <p:spTgt spid="9"/>
                                        </p:tgtEl>
                                      </p:cBhvr>
                                    </p:animEffect>
                                    <p:anim calcmode="lin" valueType="num">
                                      <p:cBhvr additive="base">
                                        <p:cTn id="24" dur="650" fill="hold"/>
                                        <p:tgtEl>
                                          <p:spTgt spid="9"/>
                                        </p:tgtEl>
                                        <p:attrNameLst>
                                          <p:attrName>ppt_x</p:attrName>
                                        </p:attrNameLst>
                                      </p:cBhvr>
                                      <p:tavLst>
                                        <p:tav tm="0">
                                          <p:val>
                                            <p:strVal val="#ppt_x"/>
                                          </p:val>
                                        </p:tav>
                                        <p:tav tm="100000">
                                          <p:val>
                                            <p:strVal val="#ppt_x"/>
                                          </p:val>
                                        </p:tav>
                                      </p:tavLst>
                                    </p:anim>
                                    <p:anim calcmode="lin" valueType="num">
                                      <p:cBhvr additive="base">
                                        <p:cTn id="25" dur="650" fill="hold"/>
                                        <p:tgtEl>
                                          <p:spTgt spid="9"/>
                                        </p:tgtEl>
                                        <p:attrNameLst>
                                          <p:attrName>ppt_y</p:attrName>
                                        </p:attrNameLst>
                                      </p:cBhvr>
                                      <p:tavLst>
                                        <p:tav tm="0">
                                          <p:val>
                                            <p:strVal val="#ppt_y+.06"/>
                                          </p:val>
                                        </p:tav>
                                        <p:tav tm="100000">
                                          <p:val>
                                            <p:strVal val="#ppt_y"/>
                                          </p:val>
                                        </p:tav>
                                      </p:tavLst>
                                    </p:anim>
                                  </p:childTnLst>
                                </p:cTn>
                              </p:par>
                              <p:par>
                                <p:cTn id="26" presetID="42" presetClass="entr" presetSubtype="0" decel="100000" fill="hold" grpId="0" nodeType="withEffect">
                                  <p:stCondLst>
                                    <p:cond delay="105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650" fill="hold"/>
                                        <p:tgtEl>
                                          <p:spTgt spid="10"/>
                                        </p:tgtEl>
                                      </p:cBhvr>
                                    </p:animEffect>
                                    <p:anim calcmode="lin" valueType="num">
                                      <p:cBhvr additive="base">
                                        <p:cTn id="29" dur="650" fill="hold"/>
                                        <p:tgtEl>
                                          <p:spTgt spid="10"/>
                                        </p:tgtEl>
                                        <p:attrNameLst>
                                          <p:attrName>ppt_x</p:attrName>
                                        </p:attrNameLst>
                                      </p:cBhvr>
                                      <p:tavLst>
                                        <p:tav tm="0">
                                          <p:val>
                                            <p:strVal val="#ppt_x"/>
                                          </p:val>
                                        </p:tav>
                                        <p:tav tm="100000">
                                          <p:val>
                                            <p:strVal val="#ppt_x"/>
                                          </p:val>
                                        </p:tav>
                                      </p:tavLst>
                                    </p:anim>
                                    <p:anim calcmode="lin" valueType="num">
                                      <p:cBhvr additive="base">
                                        <p:cTn id="30" dur="650" fill="hold"/>
                                        <p:tgtEl>
                                          <p:spTgt spid="10"/>
                                        </p:tgtEl>
                                        <p:attrNameLst>
                                          <p:attrName>ppt_y</p:attrName>
                                        </p:attrNameLst>
                                      </p:cBhvr>
                                      <p:tavLst>
                                        <p:tav tm="0">
                                          <p:val>
                                            <p:strVal val="#ppt_y+.06"/>
                                          </p:val>
                                        </p:tav>
                                        <p:tav tm="100000">
                                          <p:val>
                                            <p:strVal val="#ppt_y"/>
                                          </p:val>
                                        </p:tav>
                                      </p:tavLst>
                                    </p:anim>
                                  </p:childTnLst>
                                </p:cTn>
                              </p:par>
                              <p:par>
                                <p:cTn id="31" presetID="10" presetClass="entr" presetSubtype="0" fill="hold" grpId="0" nodeType="withEffect">
                                  <p:stCondLst>
                                    <p:cond delay="130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fill="hold"/>
                                        <p:tgtEl>
                                          <p:spTgt spid="11"/>
                                        </p:tgtEl>
                                      </p:cBhvr>
                                    </p:animEffect>
                                  </p:childTnLst>
                                </p:cTn>
                              </p:par>
                              <p:par>
                                <p:cTn id="34" presetID="53" presetClass="entr" presetSubtype="16" decel="100000" fill="hold" grpId="0" nodeType="withEffect">
                                  <p:stCondLst>
                                    <p:cond delay="1700"/>
                                  </p:stCondLst>
                                  <p:childTnLst>
                                    <p:set>
                                      <p:cBhvr>
                                        <p:cTn id="35" dur="1" fill="hold">
                                          <p:stCondLst>
                                            <p:cond delay="0"/>
                                          </p:stCondLst>
                                        </p:cTn>
                                        <p:tgtEl>
                                          <p:spTgt spid="12"/>
                                        </p:tgtEl>
                                        <p:attrNameLst>
                                          <p:attrName>style.visibility</p:attrName>
                                        </p:attrNameLst>
                                      </p:cBhvr>
                                      <p:to>
                                        <p:strVal val="visible"/>
                                      </p:to>
                                    </p:set>
                                    <p:anim calcmode="lin" valueType="num">
                                      <p:cBhvr additive="base">
                                        <p:cTn id="36" dur="450" fill="hold"/>
                                        <p:tgtEl>
                                          <p:spTgt spid="12"/>
                                        </p:tgtEl>
                                        <p:attrNameLst>
                                          <p:attrName>ppt_w</p:attrName>
                                        </p:attrNameLst>
                                      </p:cBhvr>
                                      <p:tavLst>
                                        <p:tav tm="0">
                                          <p:val>
                                            <p:strVal val="0"/>
                                          </p:val>
                                        </p:tav>
                                        <p:tav tm="70000">
                                          <p:val>
                                            <p:strVal val="#ppt_w*1.08"/>
                                          </p:val>
                                        </p:tav>
                                        <p:tav tm="100000">
                                          <p:val>
                                            <p:strVal val="#ppt_w"/>
                                          </p:val>
                                        </p:tav>
                                      </p:tavLst>
                                    </p:anim>
                                    <p:anim calcmode="lin" valueType="num">
                                      <p:cBhvr additive="base">
                                        <p:cTn id="37" dur="450" fill="hold"/>
                                        <p:tgtEl>
                                          <p:spTgt spid="12"/>
                                        </p:tgtEl>
                                        <p:attrNameLst>
                                          <p:attrName>ppt_h</p:attrName>
                                        </p:attrNameLst>
                                      </p:cBhvr>
                                      <p:tavLst>
                                        <p:tav tm="0">
                                          <p:val>
                                            <p:strVal val="0"/>
                                          </p:val>
                                        </p:tav>
                                        <p:tav tm="70000">
                                          <p:val>
                                            <p:strVal val="#ppt_h*1.08"/>
                                          </p:val>
                                        </p:tav>
                                        <p:tav tm="100000">
                                          <p:val>
                                            <p:strVal val="#ppt_h"/>
                                          </p:val>
                                        </p:tav>
                                      </p:tavLst>
                                    </p:anim>
                                    <p:animEffect transition="in" filter="fade">
                                      <p:cBhvr>
                                        <p:cTn id="38" dur="270" fill="hold"/>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9CD848"/>
                </a:solidFill>
                <a:latin typeface="Segoe UI Semibold"/>
              </a:rPr>
              <a:t>MÓDULO 2  ·  EMPATIZAR</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Pesquisa secundária: não comece do zero</a:t>
            </a:r>
          </a:p>
        </p:txBody>
      </p:sp>
      <p:sp>
        <p:nvSpPr>
          <p:cNvPr id="6" name="TextBox 5"/>
          <p:cNvSpPr txBox="1"/>
          <p:nvPr/>
        </p:nvSpPr>
        <p:spPr>
          <a:xfrm>
            <a:off x="548640" y="1645920"/>
            <a:ext cx="6675120" cy="4206240"/>
          </a:xfrm>
          <a:prstGeom prst="rect">
            <a:avLst/>
          </a:prstGeom>
          <a:noFill/>
        </p:spPr>
        <p:txBody>
          <a:bodyPr wrap="square">
            <a:spAutoFit/>
          </a:bodyPr>
          <a:lstStyle/>
          <a:p>
            <a:pPr marL="292608" indent="-292608">
              <a:spcAft>
                <a:spcPts val="1600"/>
              </a:spcAft>
              <a:buClr>
                <a:srgbClr val="9CD848"/>
              </a:buClr>
              <a:buFont typeface="Arial"/>
              <a:buChar char="●"/>
            </a:pPr>
            <a:r>
              <a:rPr sz="1800">
                <a:solidFill>
                  <a:srgbClr val="F2F2EC"/>
                </a:solidFill>
                <a:latin typeface="Segoe UI"/>
              </a:rPr>
              <a:t>Dados que já existem: relatórios de mercado, IBGE, Sebrae, estudos do setor</a:t>
            </a:r>
          </a:p>
          <a:p>
            <a:pPr marL="292608" indent="-292608">
              <a:spcAft>
                <a:spcPts val="1600"/>
              </a:spcAft>
              <a:buClr>
                <a:srgbClr val="9CD848"/>
              </a:buClr>
              <a:buFont typeface="Arial"/>
              <a:buChar char="●"/>
            </a:pPr>
            <a:r>
              <a:rPr sz="1800">
                <a:solidFill>
                  <a:srgbClr val="F2F2EC"/>
                </a:solidFill>
                <a:latin typeface="Segoe UI"/>
              </a:rPr>
              <a:t>Dados internos: SAC, reclamações, avaliações online, vendas, planilhas</a:t>
            </a:r>
          </a:p>
          <a:p>
            <a:pPr marL="292608" indent="-292608">
              <a:spcAft>
                <a:spcPts val="1600"/>
              </a:spcAft>
              <a:buClr>
                <a:srgbClr val="9CD848"/>
              </a:buClr>
              <a:buFont typeface="Arial"/>
              <a:buChar char="●"/>
            </a:pPr>
            <a:r>
              <a:rPr sz="1800">
                <a:solidFill>
                  <a:srgbClr val="F2F2EC"/>
                </a:solidFill>
                <a:latin typeface="Segoe UI"/>
              </a:rPr>
              <a:t>Concorrentes: como eles resolvem o mesmo problema?</a:t>
            </a:r>
          </a:p>
          <a:p>
            <a:pPr marL="292608" indent="-292608">
              <a:buClr>
                <a:srgbClr val="9CD848"/>
              </a:buClr>
              <a:buFont typeface="Arial"/>
              <a:buChar char="●"/>
            </a:pPr>
            <a:r>
              <a:rPr sz="1800">
                <a:solidFill>
                  <a:srgbClr val="F2F2EC"/>
                </a:solidFill>
                <a:latin typeface="Segoe UI"/>
              </a:rPr>
              <a:t>Barata e rápida: ajuda a formular boas perguntas para a pesquisa primária</a:t>
            </a:r>
          </a:p>
        </p:txBody>
      </p:sp>
      <p:sp>
        <p:nvSpPr>
          <p:cNvPr id="7" name="Rounded Rectangle 6"/>
          <p:cNvSpPr/>
          <p:nvPr/>
        </p:nvSpPr>
        <p:spPr>
          <a:xfrm>
            <a:off x="7680960" y="1645920"/>
            <a:ext cx="3959352" cy="402336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955279" y="1691640"/>
            <a:ext cx="1371600" cy="1097280"/>
          </a:xfrm>
          <a:prstGeom prst="rect">
            <a:avLst/>
          </a:prstGeom>
          <a:noFill/>
        </p:spPr>
        <p:txBody>
          <a:bodyPr wrap="square" lIns="36576" tIns="18288" rIns="36576" bIns="18288" anchor="t">
            <a:spAutoFit/>
          </a:bodyPr>
          <a:lstStyle/>
          <a:p>
            <a:pPr algn="l"/>
            <a:r>
              <a:rPr sz="8000" b="1" i="0">
                <a:solidFill>
                  <a:srgbClr val="9CD848"/>
                </a:solidFill>
                <a:latin typeface="Georgia"/>
              </a:rPr>
              <a:t>“</a:t>
            </a:r>
          </a:p>
        </p:txBody>
      </p:sp>
      <p:sp>
        <p:nvSpPr>
          <p:cNvPr id="9" name="TextBox 8"/>
          <p:cNvSpPr txBox="1"/>
          <p:nvPr/>
        </p:nvSpPr>
        <p:spPr>
          <a:xfrm>
            <a:off x="8001000" y="2743200"/>
            <a:ext cx="3383280" cy="2743200"/>
          </a:xfrm>
          <a:prstGeom prst="rect">
            <a:avLst/>
          </a:prstGeom>
          <a:noFill/>
        </p:spPr>
        <p:txBody>
          <a:bodyPr wrap="square" lIns="36576" tIns="18288" rIns="36576" bIns="18288" anchor="t">
            <a:spAutoFit/>
          </a:bodyPr>
          <a:lstStyle/>
          <a:p>
            <a:pPr algn="l">
              <a:lnSpc>
                <a:spcPct val="110000"/>
              </a:lnSpc>
            </a:pPr>
            <a:r>
              <a:rPr sz="2100" b="1" i="0">
                <a:solidFill>
                  <a:srgbClr val="F2F2EC"/>
                </a:solidFill>
                <a:latin typeface="Segoe UI Semibold"/>
              </a:rPr>
              <a:t>As reclamações do seu cliente são pesquisa gratuita.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50" fill="hold"/>
                                        <p:tgtEl>
                                          <p:spTgt spid="6"/>
                                        </p:tgtEl>
                                      </p:cBhvr>
                                    </p:animEffect>
                                    <p:anim calcmode="lin" valueType="num">
                                      <p:cBhvr additive="base">
                                        <p:cTn id="11" dur="650" fill="hold"/>
                                        <p:tgtEl>
                                          <p:spTgt spid="6"/>
                                        </p:tgtEl>
                                        <p:attrNameLst>
                                          <p:attrName>ppt_x</p:attrName>
                                        </p:attrNameLst>
                                      </p:cBhvr>
                                      <p:tavLst>
                                        <p:tav tm="0">
                                          <p:val>
                                            <p:strVal val="#ppt_x"/>
                                          </p:val>
                                        </p:tav>
                                        <p:tav tm="100000">
                                          <p:val>
                                            <p:strVal val="#ppt_x"/>
                                          </p:val>
                                        </p:tav>
                                      </p:tavLst>
                                    </p:anim>
                                    <p:anim calcmode="lin" valueType="num">
                                      <p:cBhvr additive="base">
                                        <p:cTn id="12" dur="650" fill="hold"/>
                                        <p:tgtEl>
                                          <p:spTgt spid="6"/>
                                        </p:tgtEl>
                                        <p:attrNameLst>
                                          <p:attrName>ppt_y</p:attrName>
                                        </p:attrNameLst>
                                      </p:cBhvr>
                                      <p:tavLst>
                                        <p:tav tm="0">
                                          <p:val>
                                            <p:strVal val="#ppt_y+.06"/>
                                          </p:val>
                                        </p:tav>
                                        <p:tav tm="100000">
                                          <p:val>
                                            <p:strVal val="#ppt_y"/>
                                          </p:val>
                                        </p:tav>
                                      </p:tavLst>
                                    </p:anim>
                                  </p:childTnLst>
                                </p:cTn>
                              </p:par>
                              <p:par>
                                <p:cTn id="13" presetID="42" presetClass="entr" presetSubtype="0" decel="100000" fill="hold" grpId="0" nodeType="withEffect">
                                  <p:stCondLst>
                                    <p:cond delay="75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fill="hold"/>
                                        <p:tgtEl>
                                          <p:spTgt spid="7"/>
                                        </p:tgtEl>
                                      </p:cBhvr>
                                    </p:animEffect>
                                    <p:anim calcmode="lin" valueType="num">
                                      <p:cBhvr additive="base">
                                        <p:cTn id="16" dur="650" fill="hold"/>
                                        <p:tgtEl>
                                          <p:spTgt spid="7"/>
                                        </p:tgtEl>
                                        <p:attrNameLst>
                                          <p:attrName>ppt_x</p:attrName>
                                        </p:attrNameLst>
                                      </p:cBhvr>
                                      <p:tavLst>
                                        <p:tav tm="0">
                                          <p:val>
                                            <p:strVal val="#ppt_x"/>
                                          </p:val>
                                        </p:tav>
                                        <p:tav tm="100000">
                                          <p:val>
                                            <p:strVal val="#ppt_x"/>
                                          </p:val>
                                        </p:tav>
                                      </p:tavLst>
                                    </p:anim>
                                    <p:anim calcmode="lin" valueType="num">
                                      <p:cBhvr additive="base">
                                        <p:cTn id="17" dur="650" fill="hold"/>
                                        <p:tgtEl>
                                          <p:spTgt spid="7"/>
                                        </p:tgtEl>
                                        <p:attrNameLst>
                                          <p:attrName>ppt_y</p:attrName>
                                        </p:attrNameLst>
                                      </p:cBhvr>
                                      <p:tavLst>
                                        <p:tav tm="0">
                                          <p:val>
                                            <p:strVal val="#ppt_y+.06"/>
                                          </p:val>
                                        </p:tav>
                                        <p:tav tm="100000">
                                          <p:val>
                                            <p:strVal val="#ppt_y"/>
                                          </p:val>
                                        </p:tav>
                                      </p:tavLst>
                                    </p:anim>
                                  </p:childTnLst>
                                </p:cTn>
                              </p:par>
                              <p:par>
                                <p:cTn id="18" presetID="53" presetClass="entr" presetSubtype="16" decel="100000" fill="hold" grpId="0" nodeType="withEffect">
                                  <p:stCondLst>
                                    <p:cond delay="105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450" fill="hold"/>
                                        <p:tgtEl>
                                          <p:spTgt spid="8"/>
                                        </p:tgtEl>
                                        <p:attrNameLst>
                                          <p:attrName>ppt_w</p:attrName>
                                        </p:attrNameLst>
                                      </p:cBhvr>
                                      <p:tavLst>
                                        <p:tav tm="0">
                                          <p:val>
                                            <p:strVal val="0"/>
                                          </p:val>
                                        </p:tav>
                                        <p:tav tm="70000">
                                          <p:val>
                                            <p:strVal val="#ppt_w*1.08"/>
                                          </p:val>
                                        </p:tav>
                                        <p:tav tm="100000">
                                          <p:val>
                                            <p:strVal val="#ppt_w"/>
                                          </p:val>
                                        </p:tav>
                                      </p:tavLst>
                                    </p:anim>
                                    <p:anim calcmode="lin" valueType="num">
                                      <p:cBhvr additive="base">
                                        <p:cTn id="21" dur="450" fill="hold"/>
                                        <p:tgtEl>
                                          <p:spTgt spid="8"/>
                                        </p:tgtEl>
                                        <p:attrNameLst>
                                          <p:attrName>ppt_h</p:attrName>
                                        </p:attrNameLst>
                                      </p:cBhvr>
                                      <p:tavLst>
                                        <p:tav tm="0">
                                          <p:val>
                                            <p:strVal val="0"/>
                                          </p:val>
                                        </p:tav>
                                        <p:tav tm="70000">
                                          <p:val>
                                            <p:strVal val="#ppt_h*1.08"/>
                                          </p:val>
                                        </p:tav>
                                        <p:tav tm="100000">
                                          <p:val>
                                            <p:strVal val="#ppt_h"/>
                                          </p:val>
                                        </p:tav>
                                      </p:tavLst>
                                    </p:anim>
                                    <p:animEffect transition="in" filter="fade">
                                      <p:cBhvr>
                                        <p:cTn id="22" dur="270" fill="hold"/>
                                        <p:tgtEl>
                                          <p:spTgt spid="8"/>
                                        </p:tgtEl>
                                      </p:cBhvr>
                                    </p:animEffect>
                                  </p:childTnLst>
                                </p:cTn>
                              </p:par>
                              <p:par>
                                <p:cTn id="23" presetID="10" presetClass="entr" presetSubtype="0" fill="hold" grpId="0" nodeType="withEffect">
                                  <p:stCondLst>
                                    <p:cond delay="1250"/>
                                  </p:stCondLst>
                                  <p:iterate type="wd">
                                    <p:tmPct val="35000"/>
                                  </p:iterate>
                                  <p:childTnLst>
                                    <p:set>
                                      <p:cBhvr>
                                        <p:cTn id="24" dur="1" fill="hold">
                                          <p:stCondLst>
                                            <p:cond delay="0"/>
                                          </p:stCondLst>
                                        </p:cTn>
                                        <p:tgtEl>
                                          <p:spTgt spid="9"/>
                                        </p:tgtEl>
                                        <p:attrNameLst>
                                          <p:attrName>style.visibility</p:attrName>
                                        </p:attrNameLst>
                                      </p:cBhvr>
                                      <p:to>
                                        <p:strVal val="visible"/>
                                      </p:to>
                                    </p:set>
                                    <p:animEffect transition="in" filter="fade">
                                      <p:cBhvr>
                                        <p:cTn id="25" dur="420" fill="hold"/>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9CD848"/>
                </a:solidFill>
                <a:latin typeface="Segoe UI Semibold"/>
              </a:rPr>
              <a:t>MÓDULO 2  ·  EMPATIZAR</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Matriz CSD: organize o que você sabe</a:t>
            </a:r>
          </a:p>
        </p:txBody>
      </p:sp>
      <p:sp>
        <p:nvSpPr>
          <p:cNvPr id="6" name="Rounded Rectangle 5"/>
          <p:cNvSpPr/>
          <p:nvPr/>
        </p:nvSpPr>
        <p:spPr>
          <a:xfrm>
            <a:off x="548640" y="1554480"/>
            <a:ext cx="3474720" cy="4389120"/>
          </a:xfrm>
          <a:prstGeom prst="roundRect">
            <a:avLst>
              <a:gd name="adj" fmla="val 4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777240" y="1737360"/>
            <a:ext cx="640080" cy="640080"/>
          </a:xfrm>
          <a:prstGeom prst="ellipse">
            <a:avLst/>
          </a:prstGeom>
          <a:solidFill>
            <a:srgbClr val="4DB35A"/>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2200" b="1" i="0">
                <a:solidFill>
                  <a:srgbClr val="1A1A1A"/>
                </a:solidFill>
                <a:latin typeface="Segoe UI Semibold"/>
              </a:rPr>
              <a:t>C</a:t>
            </a:r>
          </a:p>
        </p:txBody>
      </p:sp>
      <p:sp>
        <p:nvSpPr>
          <p:cNvPr id="8" name="TextBox 7"/>
          <p:cNvSpPr txBox="1"/>
          <p:nvPr/>
        </p:nvSpPr>
        <p:spPr>
          <a:xfrm>
            <a:off x="1554480" y="1764792"/>
            <a:ext cx="2377440" cy="457200"/>
          </a:xfrm>
          <a:prstGeom prst="rect">
            <a:avLst/>
          </a:prstGeom>
          <a:noFill/>
        </p:spPr>
        <p:txBody>
          <a:bodyPr wrap="square" lIns="36576" tIns="18288" rIns="36576" bIns="18288" anchor="t">
            <a:spAutoFit/>
          </a:bodyPr>
          <a:lstStyle/>
          <a:p>
            <a:pPr algn="l"/>
            <a:r>
              <a:rPr sz="2100" b="1" i="0">
                <a:solidFill>
                  <a:srgbClr val="F2F2EC"/>
                </a:solidFill>
                <a:latin typeface="Segoe UI Semibold"/>
              </a:rPr>
              <a:t>Certezas</a:t>
            </a:r>
          </a:p>
        </p:txBody>
      </p:sp>
      <p:sp>
        <p:nvSpPr>
          <p:cNvPr id="9" name="TextBox 8"/>
          <p:cNvSpPr txBox="1"/>
          <p:nvPr/>
        </p:nvSpPr>
        <p:spPr>
          <a:xfrm>
            <a:off x="1554480" y="2176272"/>
            <a:ext cx="2377440" cy="548640"/>
          </a:xfrm>
          <a:prstGeom prst="rect">
            <a:avLst/>
          </a:prstGeom>
          <a:noFill/>
        </p:spPr>
        <p:txBody>
          <a:bodyPr wrap="square" lIns="36576" tIns="18288" rIns="36576" bIns="18288" anchor="t">
            <a:spAutoFit/>
          </a:bodyPr>
          <a:lstStyle/>
          <a:p>
            <a:pPr algn="l"/>
            <a:r>
              <a:rPr sz="1200" b="0" i="0">
                <a:solidFill>
                  <a:srgbClr val="B4B8B0"/>
                </a:solidFill>
                <a:latin typeface="Segoe UI"/>
              </a:rPr>
              <a:t>O que já sabemos com evidência</a:t>
            </a:r>
          </a:p>
        </p:txBody>
      </p:sp>
      <p:sp>
        <p:nvSpPr>
          <p:cNvPr id="10" name="Rounded Rectangle 9"/>
          <p:cNvSpPr/>
          <p:nvPr/>
        </p:nvSpPr>
        <p:spPr>
          <a:xfrm>
            <a:off x="4297679" y="1554480"/>
            <a:ext cx="3474720" cy="4389120"/>
          </a:xfrm>
          <a:prstGeom prst="roundRect">
            <a:avLst>
              <a:gd name="adj" fmla="val 4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4526279" y="1737360"/>
            <a:ext cx="640080" cy="640080"/>
          </a:xfrm>
          <a:prstGeom prst="ellipse">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2200" b="1" i="0">
                <a:solidFill>
                  <a:srgbClr val="1A1A1A"/>
                </a:solidFill>
                <a:latin typeface="Segoe UI Semibold"/>
              </a:rPr>
              <a:t>S</a:t>
            </a:r>
          </a:p>
        </p:txBody>
      </p:sp>
      <p:sp>
        <p:nvSpPr>
          <p:cNvPr id="12" name="TextBox 11"/>
          <p:cNvSpPr txBox="1"/>
          <p:nvPr/>
        </p:nvSpPr>
        <p:spPr>
          <a:xfrm>
            <a:off x="5303519" y="1764792"/>
            <a:ext cx="2377440" cy="457200"/>
          </a:xfrm>
          <a:prstGeom prst="rect">
            <a:avLst/>
          </a:prstGeom>
          <a:noFill/>
        </p:spPr>
        <p:txBody>
          <a:bodyPr wrap="square" lIns="36576" tIns="18288" rIns="36576" bIns="18288" anchor="t">
            <a:spAutoFit/>
          </a:bodyPr>
          <a:lstStyle/>
          <a:p>
            <a:pPr algn="l"/>
            <a:r>
              <a:rPr sz="2100" b="1" i="0">
                <a:solidFill>
                  <a:srgbClr val="F2F2EC"/>
                </a:solidFill>
                <a:latin typeface="Segoe UI Semibold"/>
              </a:rPr>
              <a:t>Suposições</a:t>
            </a:r>
          </a:p>
        </p:txBody>
      </p:sp>
      <p:sp>
        <p:nvSpPr>
          <p:cNvPr id="13" name="TextBox 12"/>
          <p:cNvSpPr txBox="1"/>
          <p:nvPr/>
        </p:nvSpPr>
        <p:spPr>
          <a:xfrm>
            <a:off x="5303519" y="2176272"/>
            <a:ext cx="2377440" cy="548640"/>
          </a:xfrm>
          <a:prstGeom prst="rect">
            <a:avLst/>
          </a:prstGeom>
          <a:noFill/>
        </p:spPr>
        <p:txBody>
          <a:bodyPr wrap="square" lIns="36576" tIns="18288" rIns="36576" bIns="18288" anchor="t">
            <a:spAutoFit/>
          </a:bodyPr>
          <a:lstStyle/>
          <a:p>
            <a:pPr algn="l"/>
            <a:r>
              <a:rPr sz="1200" b="0" i="0">
                <a:solidFill>
                  <a:srgbClr val="B4B8B0"/>
                </a:solidFill>
                <a:latin typeface="Segoe UI"/>
              </a:rPr>
              <a:t>O que achamos, mas não comprovamos</a:t>
            </a:r>
          </a:p>
        </p:txBody>
      </p:sp>
      <p:sp>
        <p:nvSpPr>
          <p:cNvPr id="14" name="Rounded Rectangle 13"/>
          <p:cNvSpPr/>
          <p:nvPr/>
        </p:nvSpPr>
        <p:spPr>
          <a:xfrm>
            <a:off x="8046719" y="1554480"/>
            <a:ext cx="3474720" cy="4389120"/>
          </a:xfrm>
          <a:prstGeom prst="roundRect">
            <a:avLst>
              <a:gd name="adj" fmla="val 4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8275319" y="1737360"/>
            <a:ext cx="640080" cy="640080"/>
          </a:xfrm>
          <a:prstGeom prst="ellipse">
            <a:avLst/>
          </a:prstGeom>
          <a:solidFill>
            <a:srgbClr val="2A9FC0"/>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2200" b="1" i="0">
                <a:solidFill>
                  <a:srgbClr val="1A1A1A"/>
                </a:solidFill>
                <a:latin typeface="Segoe UI Semibold"/>
              </a:rPr>
              <a:t>D</a:t>
            </a:r>
          </a:p>
        </p:txBody>
      </p:sp>
      <p:sp>
        <p:nvSpPr>
          <p:cNvPr id="16" name="TextBox 15"/>
          <p:cNvSpPr txBox="1"/>
          <p:nvPr/>
        </p:nvSpPr>
        <p:spPr>
          <a:xfrm>
            <a:off x="9052559" y="1764792"/>
            <a:ext cx="2377440" cy="457200"/>
          </a:xfrm>
          <a:prstGeom prst="rect">
            <a:avLst/>
          </a:prstGeom>
          <a:noFill/>
        </p:spPr>
        <p:txBody>
          <a:bodyPr wrap="square" lIns="36576" tIns="18288" rIns="36576" bIns="18288" anchor="t">
            <a:spAutoFit/>
          </a:bodyPr>
          <a:lstStyle/>
          <a:p>
            <a:pPr algn="l"/>
            <a:r>
              <a:rPr sz="2100" b="1" i="0">
                <a:solidFill>
                  <a:srgbClr val="F2F2EC"/>
                </a:solidFill>
                <a:latin typeface="Segoe UI Semibold"/>
              </a:rPr>
              <a:t>Dúvidas</a:t>
            </a:r>
          </a:p>
        </p:txBody>
      </p:sp>
      <p:sp>
        <p:nvSpPr>
          <p:cNvPr id="17" name="TextBox 16"/>
          <p:cNvSpPr txBox="1"/>
          <p:nvPr/>
        </p:nvSpPr>
        <p:spPr>
          <a:xfrm>
            <a:off x="9052559" y="2176272"/>
            <a:ext cx="2377440" cy="548640"/>
          </a:xfrm>
          <a:prstGeom prst="rect">
            <a:avLst/>
          </a:prstGeom>
          <a:noFill/>
        </p:spPr>
        <p:txBody>
          <a:bodyPr wrap="square" lIns="36576" tIns="18288" rIns="36576" bIns="18288" anchor="t">
            <a:spAutoFit/>
          </a:bodyPr>
          <a:lstStyle/>
          <a:p>
            <a:pPr algn="l"/>
            <a:r>
              <a:rPr sz="1200" b="0" i="0">
                <a:solidFill>
                  <a:srgbClr val="B4B8B0"/>
                </a:solidFill>
                <a:latin typeface="Segoe UI"/>
              </a:rPr>
              <a:t>O que não sabemos e precisamos descobrir</a:t>
            </a:r>
          </a:p>
        </p:txBody>
      </p:sp>
      <p:sp>
        <p:nvSpPr>
          <p:cNvPr id="18" name="Rectangle 17"/>
          <p:cNvSpPr/>
          <p:nvPr/>
        </p:nvSpPr>
        <p:spPr>
          <a:xfrm rot="21510000">
            <a:off x="868680" y="2971800"/>
            <a:ext cx="2743200" cy="1188720"/>
          </a:xfrm>
          <a:prstGeom prst="rect">
            <a:avLst/>
          </a:prstGeom>
          <a:solidFill>
            <a:srgbClr val="4DB35A"/>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400" b="1" i="0">
                <a:solidFill>
                  <a:srgbClr val="1A1A1A"/>
                </a:solidFill>
                <a:latin typeface="Segoe UI Semibold"/>
              </a:rPr>
              <a:t>Temos 1.200 clientes ativos</a:t>
            </a:r>
          </a:p>
        </p:txBody>
      </p:sp>
      <p:sp>
        <p:nvSpPr>
          <p:cNvPr id="19" name="Rectangle 18"/>
          <p:cNvSpPr/>
          <p:nvPr/>
        </p:nvSpPr>
        <p:spPr>
          <a:xfrm rot="72000">
            <a:off x="978407" y="4389120"/>
            <a:ext cx="2743200" cy="1188720"/>
          </a:xfrm>
          <a:prstGeom prst="rect">
            <a:avLst/>
          </a:prstGeom>
          <a:solidFill>
            <a:srgbClr val="4DB35A"/>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400" b="1" i="0">
                <a:solidFill>
                  <a:srgbClr val="1A1A1A"/>
                </a:solidFill>
                <a:latin typeface="Segoe UI Semibold"/>
              </a:rPr>
              <a:t>O pico de atendimento é às segundas</a:t>
            </a:r>
          </a:p>
        </p:txBody>
      </p:sp>
      <p:sp>
        <p:nvSpPr>
          <p:cNvPr id="20" name="Rectangle 19"/>
          <p:cNvSpPr/>
          <p:nvPr/>
        </p:nvSpPr>
        <p:spPr>
          <a:xfrm rot="21510000">
            <a:off x="4617719" y="2971800"/>
            <a:ext cx="2743200" cy="1188720"/>
          </a:xfrm>
          <a:prstGeom prst="rect">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400" b="1" i="0">
                <a:solidFill>
                  <a:srgbClr val="1A1A1A"/>
                </a:solidFill>
                <a:latin typeface="Segoe UI Semibold"/>
              </a:rPr>
              <a:t>Clientes preferem WhatsApp</a:t>
            </a:r>
          </a:p>
        </p:txBody>
      </p:sp>
      <p:sp>
        <p:nvSpPr>
          <p:cNvPr id="21" name="Rectangle 20"/>
          <p:cNvSpPr/>
          <p:nvPr/>
        </p:nvSpPr>
        <p:spPr>
          <a:xfrm rot="72000">
            <a:off x="4727447" y="4389120"/>
            <a:ext cx="2743200" cy="1188720"/>
          </a:xfrm>
          <a:prstGeom prst="rect">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400" b="1" i="0">
                <a:solidFill>
                  <a:srgbClr val="1A1A1A"/>
                </a:solidFill>
                <a:latin typeface="Segoe UI Semibold"/>
              </a:rPr>
              <a:t>O preço é o motivo das desistências</a:t>
            </a:r>
          </a:p>
        </p:txBody>
      </p:sp>
      <p:sp>
        <p:nvSpPr>
          <p:cNvPr id="22" name="Rectangle 21"/>
          <p:cNvSpPr/>
          <p:nvPr/>
        </p:nvSpPr>
        <p:spPr>
          <a:xfrm rot="21510000">
            <a:off x="8366759" y="2971800"/>
            <a:ext cx="2743200" cy="1188720"/>
          </a:xfrm>
          <a:prstGeom prst="rect">
            <a:avLst/>
          </a:prstGeom>
          <a:solidFill>
            <a:srgbClr val="2A9FC0"/>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400" b="1" i="0">
                <a:solidFill>
                  <a:srgbClr val="1A1A1A"/>
                </a:solidFill>
                <a:latin typeface="Segoe UI Semibold"/>
              </a:rPr>
              <a:t>Por que clientes não voltam?</a:t>
            </a:r>
          </a:p>
        </p:txBody>
      </p:sp>
      <p:sp>
        <p:nvSpPr>
          <p:cNvPr id="23" name="Rectangle 22"/>
          <p:cNvSpPr/>
          <p:nvPr/>
        </p:nvSpPr>
        <p:spPr>
          <a:xfrm rot="72000">
            <a:off x="8476487" y="4389120"/>
            <a:ext cx="2743200" cy="1188720"/>
          </a:xfrm>
          <a:prstGeom prst="rect">
            <a:avLst/>
          </a:prstGeom>
          <a:solidFill>
            <a:srgbClr val="2A9FC0"/>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400" b="1" i="0">
                <a:solidFill>
                  <a:srgbClr val="1A1A1A"/>
                </a:solidFill>
                <a:latin typeface="Segoe UI Semibold"/>
              </a:rPr>
              <a:t>Quem decide a compra?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42" presetClass="entr" presetSubtype="0" decel="100000" fill="hold" grpId="0" nodeType="withEffect">
                                  <p:stCondLst>
                                    <p:cond delay="2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50" fill="hold"/>
                                        <p:tgtEl>
                                          <p:spTgt spid="6"/>
                                        </p:tgtEl>
                                      </p:cBhvr>
                                    </p:animEffect>
                                    <p:anim calcmode="lin" valueType="num">
                                      <p:cBhvr additive="base">
                                        <p:cTn id="11" dur="650" fill="hold"/>
                                        <p:tgtEl>
                                          <p:spTgt spid="6"/>
                                        </p:tgtEl>
                                        <p:attrNameLst>
                                          <p:attrName>ppt_x</p:attrName>
                                        </p:attrNameLst>
                                      </p:cBhvr>
                                      <p:tavLst>
                                        <p:tav tm="0">
                                          <p:val>
                                            <p:strVal val="#ppt_x"/>
                                          </p:val>
                                        </p:tav>
                                        <p:tav tm="100000">
                                          <p:val>
                                            <p:strVal val="#ppt_x"/>
                                          </p:val>
                                        </p:tav>
                                      </p:tavLst>
                                    </p:anim>
                                    <p:anim calcmode="lin" valueType="num">
                                      <p:cBhvr additive="base">
                                        <p:cTn id="12" dur="650" fill="hold"/>
                                        <p:tgtEl>
                                          <p:spTgt spid="6"/>
                                        </p:tgtEl>
                                        <p:attrNameLst>
                                          <p:attrName>ppt_y</p:attrName>
                                        </p:attrNameLst>
                                      </p:cBhvr>
                                      <p:tavLst>
                                        <p:tav tm="0">
                                          <p:val>
                                            <p:strVal val="#ppt_y+.06"/>
                                          </p:val>
                                        </p:tav>
                                        <p:tav tm="100000">
                                          <p:val>
                                            <p:strVal val="#ppt_y"/>
                                          </p:val>
                                        </p:tav>
                                      </p:tavLst>
                                    </p:anim>
                                  </p:childTnLst>
                                </p:cTn>
                              </p:par>
                              <p:par>
                                <p:cTn id="13" presetID="42" presetClass="entr" presetSubtype="0" decel="100000" fill="hold" grpId="0" nodeType="withEffect">
                                  <p:stCondLst>
                                    <p:cond delay="20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fill="hold"/>
                                        <p:tgtEl>
                                          <p:spTgt spid="7"/>
                                        </p:tgtEl>
                                      </p:cBhvr>
                                    </p:animEffect>
                                    <p:anim calcmode="lin" valueType="num">
                                      <p:cBhvr additive="base">
                                        <p:cTn id="16" dur="650" fill="hold"/>
                                        <p:tgtEl>
                                          <p:spTgt spid="7"/>
                                        </p:tgtEl>
                                        <p:attrNameLst>
                                          <p:attrName>ppt_x</p:attrName>
                                        </p:attrNameLst>
                                      </p:cBhvr>
                                      <p:tavLst>
                                        <p:tav tm="0">
                                          <p:val>
                                            <p:strVal val="#ppt_x"/>
                                          </p:val>
                                        </p:tav>
                                        <p:tav tm="100000">
                                          <p:val>
                                            <p:strVal val="#ppt_x"/>
                                          </p:val>
                                        </p:tav>
                                      </p:tavLst>
                                    </p:anim>
                                    <p:anim calcmode="lin" valueType="num">
                                      <p:cBhvr additive="base">
                                        <p:cTn id="17" dur="650" fill="hold"/>
                                        <p:tgtEl>
                                          <p:spTgt spid="7"/>
                                        </p:tgtEl>
                                        <p:attrNameLst>
                                          <p:attrName>ppt_y</p:attrName>
                                        </p:attrNameLst>
                                      </p:cBhvr>
                                      <p:tavLst>
                                        <p:tav tm="0">
                                          <p:val>
                                            <p:strVal val="#ppt_y+.06"/>
                                          </p:val>
                                        </p:tav>
                                        <p:tav tm="100000">
                                          <p:val>
                                            <p:strVal val="#ppt_y"/>
                                          </p:val>
                                        </p:tav>
                                      </p:tavLst>
                                    </p:anim>
                                  </p:childTnLst>
                                </p:cTn>
                              </p:par>
                              <p:par>
                                <p:cTn id="18" presetID="42" presetClass="entr" presetSubtype="0" decel="100000" fill="hold" grpId="0" nodeType="withEffect">
                                  <p:stCondLst>
                                    <p:cond delay="20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650" fill="hold"/>
                                        <p:tgtEl>
                                          <p:spTgt spid="8"/>
                                        </p:tgtEl>
                                      </p:cBhvr>
                                    </p:animEffect>
                                    <p:anim calcmode="lin" valueType="num">
                                      <p:cBhvr additive="base">
                                        <p:cTn id="21" dur="650" fill="hold"/>
                                        <p:tgtEl>
                                          <p:spTgt spid="8"/>
                                        </p:tgtEl>
                                        <p:attrNameLst>
                                          <p:attrName>ppt_x</p:attrName>
                                        </p:attrNameLst>
                                      </p:cBhvr>
                                      <p:tavLst>
                                        <p:tav tm="0">
                                          <p:val>
                                            <p:strVal val="#ppt_x"/>
                                          </p:val>
                                        </p:tav>
                                        <p:tav tm="100000">
                                          <p:val>
                                            <p:strVal val="#ppt_x"/>
                                          </p:val>
                                        </p:tav>
                                      </p:tavLst>
                                    </p:anim>
                                    <p:anim calcmode="lin" valueType="num">
                                      <p:cBhvr additive="base">
                                        <p:cTn id="22" dur="650" fill="hold"/>
                                        <p:tgtEl>
                                          <p:spTgt spid="8"/>
                                        </p:tgtEl>
                                        <p:attrNameLst>
                                          <p:attrName>ppt_y</p:attrName>
                                        </p:attrNameLst>
                                      </p:cBhvr>
                                      <p:tavLst>
                                        <p:tav tm="0">
                                          <p:val>
                                            <p:strVal val="#ppt_y+.06"/>
                                          </p:val>
                                        </p:tav>
                                        <p:tav tm="100000">
                                          <p:val>
                                            <p:strVal val="#ppt_y"/>
                                          </p:val>
                                        </p:tav>
                                      </p:tavLst>
                                    </p:anim>
                                  </p:childTnLst>
                                </p:cTn>
                              </p:par>
                              <p:par>
                                <p:cTn id="23" presetID="42" presetClass="entr" presetSubtype="0" decel="100000" fill="hold" grpId="0" nodeType="withEffect">
                                  <p:stCondLst>
                                    <p:cond delay="2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650" fill="hold"/>
                                        <p:tgtEl>
                                          <p:spTgt spid="9"/>
                                        </p:tgtEl>
                                      </p:cBhvr>
                                    </p:animEffect>
                                    <p:anim calcmode="lin" valueType="num">
                                      <p:cBhvr additive="base">
                                        <p:cTn id="26" dur="650" fill="hold"/>
                                        <p:tgtEl>
                                          <p:spTgt spid="9"/>
                                        </p:tgtEl>
                                        <p:attrNameLst>
                                          <p:attrName>ppt_x</p:attrName>
                                        </p:attrNameLst>
                                      </p:cBhvr>
                                      <p:tavLst>
                                        <p:tav tm="0">
                                          <p:val>
                                            <p:strVal val="#ppt_x"/>
                                          </p:val>
                                        </p:tav>
                                        <p:tav tm="100000">
                                          <p:val>
                                            <p:strVal val="#ppt_x"/>
                                          </p:val>
                                        </p:tav>
                                      </p:tavLst>
                                    </p:anim>
                                    <p:anim calcmode="lin" valueType="num">
                                      <p:cBhvr additive="base">
                                        <p:cTn id="27" dur="650" fill="hold"/>
                                        <p:tgtEl>
                                          <p:spTgt spid="9"/>
                                        </p:tgtEl>
                                        <p:attrNameLst>
                                          <p:attrName>ppt_y</p:attrName>
                                        </p:attrNameLst>
                                      </p:cBhvr>
                                      <p:tavLst>
                                        <p:tav tm="0">
                                          <p:val>
                                            <p:strVal val="#ppt_y+.06"/>
                                          </p:val>
                                        </p:tav>
                                        <p:tav tm="100000">
                                          <p:val>
                                            <p:strVal val="#ppt_y"/>
                                          </p:val>
                                        </p:tav>
                                      </p:tavLst>
                                    </p:anim>
                                  </p:childTnLst>
                                </p:cTn>
                              </p:par>
                              <p:par>
                                <p:cTn id="28" presetID="42" presetClass="entr" presetSubtype="0" decel="100000" fill="hold" grpId="0" nodeType="withEffect">
                                  <p:stCondLst>
                                    <p:cond delay="40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650" fill="hold"/>
                                        <p:tgtEl>
                                          <p:spTgt spid="10"/>
                                        </p:tgtEl>
                                      </p:cBhvr>
                                    </p:animEffect>
                                    <p:anim calcmode="lin" valueType="num">
                                      <p:cBhvr additive="base">
                                        <p:cTn id="31" dur="650" fill="hold"/>
                                        <p:tgtEl>
                                          <p:spTgt spid="10"/>
                                        </p:tgtEl>
                                        <p:attrNameLst>
                                          <p:attrName>ppt_x</p:attrName>
                                        </p:attrNameLst>
                                      </p:cBhvr>
                                      <p:tavLst>
                                        <p:tav tm="0">
                                          <p:val>
                                            <p:strVal val="#ppt_x"/>
                                          </p:val>
                                        </p:tav>
                                        <p:tav tm="100000">
                                          <p:val>
                                            <p:strVal val="#ppt_x"/>
                                          </p:val>
                                        </p:tav>
                                      </p:tavLst>
                                    </p:anim>
                                    <p:anim calcmode="lin" valueType="num">
                                      <p:cBhvr additive="base">
                                        <p:cTn id="32" dur="650" fill="hold"/>
                                        <p:tgtEl>
                                          <p:spTgt spid="10"/>
                                        </p:tgtEl>
                                        <p:attrNameLst>
                                          <p:attrName>ppt_y</p:attrName>
                                        </p:attrNameLst>
                                      </p:cBhvr>
                                      <p:tavLst>
                                        <p:tav tm="0">
                                          <p:val>
                                            <p:strVal val="#ppt_y+.06"/>
                                          </p:val>
                                        </p:tav>
                                        <p:tav tm="100000">
                                          <p:val>
                                            <p:strVal val="#ppt_y"/>
                                          </p:val>
                                        </p:tav>
                                      </p:tavLst>
                                    </p:anim>
                                  </p:childTnLst>
                                </p:cTn>
                              </p:par>
                              <p:par>
                                <p:cTn id="33" presetID="42" presetClass="entr" presetSubtype="0" decel="100000" fill="hold" grpId="0" nodeType="withEffect">
                                  <p:stCondLst>
                                    <p:cond delay="40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650" fill="hold"/>
                                        <p:tgtEl>
                                          <p:spTgt spid="11"/>
                                        </p:tgtEl>
                                      </p:cBhvr>
                                    </p:animEffect>
                                    <p:anim calcmode="lin" valueType="num">
                                      <p:cBhvr additive="base">
                                        <p:cTn id="36" dur="650" fill="hold"/>
                                        <p:tgtEl>
                                          <p:spTgt spid="11"/>
                                        </p:tgtEl>
                                        <p:attrNameLst>
                                          <p:attrName>ppt_x</p:attrName>
                                        </p:attrNameLst>
                                      </p:cBhvr>
                                      <p:tavLst>
                                        <p:tav tm="0">
                                          <p:val>
                                            <p:strVal val="#ppt_x"/>
                                          </p:val>
                                        </p:tav>
                                        <p:tav tm="100000">
                                          <p:val>
                                            <p:strVal val="#ppt_x"/>
                                          </p:val>
                                        </p:tav>
                                      </p:tavLst>
                                    </p:anim>
                                    <p:anim calcmode="lin" valueType="num">
                                      <p:cBhvr additive="base">
                                        <p:cTn id="37" dur="650" fill="hold"/>
                                        <p:tgtEl>
                                          <p:spTgt spid="11"/>
                                        </p:tgtEl>
                                        <p:attrNameLst>
                                          <p:attrName>ppt_y</p:attrName>
                                        </p:attrNameLst>
                                      </p:cBhvr>
                                      <p:tavLst>
                                        <p:tav tm="0">
                                          <p:val>
                                            <p:strVal val="#ppt_y+.06"/>
                                          </p:val>
                                        </p:tav>
                                        <p:tav tm="100000">
                                          <p:val>
                                            <p:strVal val="#ppt_y"/>
                                          </p:val>
                                        </p:tav>
                                      </p:tavLst>
                                    </p:anim>
                                  </p:childTnLst>
                                </p:cTn>
                              </p:par>
                              <p:par>
                                <p:cTn id="38" presetID="42" presetClass="entr" presetSubtype="0" decel="100000" fill="hold" grpId="0" nodeType="withEffect">
                                  <p:stCondLst>
                                    <p:cond delay="40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650" fill="hold"/>
                                        <p:tgtEl>
                                          <p:spTgt spid="12"/>
                                        </p:tgtEl>
                                      </p:cBhvr>
                                    </p:animEffect>
                                    <p:anim calcmode="lin" valueType="num">
                                      <p:cBhvr additive="base">
                                        <p:cTn id="41" dur="650" fill="hold"/>
                                        <p:tgtEl>
                                          <p:spTgt spid="12"/>
                                        </p:tgtEl>
                                        <p:attrNameLst>
                                          <p:attrName>ppt_x</p:attrName>
                                        </p:attrNameLst>
                                      </p:cBhvr>
                                      <p:tavLst>
                                        <p:tav tm="0">
                                          <p:val>
                                            <p:strVal val="#ppt_x"/>
                                          </p:val>
                                        </p:tav>
                                        <p:tav tm="100000">
                                          <p:val>
                                            <p:strVal val="#ppt_x"/>
                                          </p:val>
                                        </p:tav>
                                      </p:tavLst>
                                    </p:anim>
                                    <p:anim calcmode="lin" valueType="num">
                                      <p:cBhvr additive="base">
                                        <p:cTn id="42" dur="650" fill="hold"/>
                                        <p:tgtEl>
                                          <p:spTgt spid="12"/>
                                        </p:tgtEl>
                                        <p:attrNameLst>
                                          <p:attrName>ppt_y</p:attrName>
                                        </p:attrNameLst>
                                      </p:cBhvr>
                                      <p:tavLst>
                                        <p:tav tm="0">
                                          <p:val>
                                            <p:strVal val="#ppt_y+.06"/>
                                          </p:val>
                                        </p:tav>
                                        <p:tav tm="100000">
                                          <p:val>
                                            <p:strVal val="#ppt_y"/>
                                          </p:val>
                                        </p:tav>
                                      </p:tavLst>
                                    </p:anim>
                                  </p:childTnLst>
                                </p:cTn>
                              </p:par>
                              <p:par>
                                <p:cTn id="43" presetID="42" presetClass="entr" presetSubtype="0" decel="100000" fill="hold" grpId="0" nodeType="withEffect">
                                  <p:stCondLst>
                                    <p:cond delay="40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650" fill="hold"/>
                                        <p:tgtEl>
                                          <p:spTgt spid="13"/>
                                        </p:tgtEl>
                                      </p:cBhvr>
                                    </p:animEffect>
                                    <p:anim calcmode="lin" valueType="num">
                                      <p:cBhvr additive="base">
                                        <p:cTn id="46" dur="650" fill="hold"/>
                                        <p:tgtEl>
                                          <p:spTgt spid="13"/>
                                        </p:tgtEl>
                                        <p:attrNameLst>
                                          <p:attrName>ppt_x</p:attrName>
                                        </p:attrNameLst>
                                      </p:cBhvr>
                                      <p:tavLst>
                                        <p:tav tm="0">
                                          <p:val>
                                            <p:strVal val="#ppt_x"/>
                                          </p:val>
                                        </p:tav>
                                        <p:tav tm="100000">
                                          <p:val>
                                            <p:strVal val="#ppt_x"/>
                                          </p:val>
                                        </p:tav>
                                      </p:tavLst>
                                    </p:anim>
                                    <p:anim calcmode="lin" valueType="num">
                                      <p:cBhvr additive="base">
                                        <p:cTn id="47" dur="650" fill="hold"/>
                                        <p:tgtEl>
                                          <p:spTgt spid="13"/>
                                        </p:tgtEl>
                                        <p:attrNameLst>
                                          <p:attrName>ppt_y</p:attrName>
                                        </p:attrNameLst>
                                      </p:cBhvr>
                                      <p:tavLst>
                                        <p:tav tm="0">
                                          <p:val>
                                            <p:strVal val="#ppt_y+.06"/>
                                          </p:val>
                                        </p:tav>
                                        <p:tav tm="100000">
                                          <p:val>
                                            <p:strVal val="#ppt_y"/>
                                          </p:val>
                                        </p:tav>
                                      </p:tavLst>
                                    </p:anim>
                                  </p:childTnLst>
                                </p:cTn>
                              </p:par>
                              <p:par>
                                <p:cTn id="48" presetID="42" presetClass="entr" presetSubtype="0" decel="100000" fill="hold" grpId="0" nodeType="withEffect">
                                  <p:stCondLst>
                                    <p:cond delay="60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650" fill="hold"/>
                                        <p:tgtEl>
                                          <p:spTgt spid="14"/>
                                        </p:tgtEl>
                                      </p:cBhvr>
                                    </p:animEffect>
                                    <p:anim calcmode="lin" valueType="num">
                                      <p:cBhvr additive="base">
                                        <p:cTn id="51" dur="650" fill="hold"/>
                                        <p:tgtEl>
                                          <p:spTgt spid="14"/>
                                        </p:tgtEl>
                                        <p:attrNameLst>
                                          <p:attrName>ppt_x</p:attrName>
                                        </p:attrNameLst>
                                      </p:cBhvr>
                                      <p:tavLst>
                                        <p:tav tm="0">
                                          <p:val>
                                            <p:strVal val="#ppt_x"/>
                                          </p:val>
                                        </p:tav>
                                        <p:tav tm="100000">
                                          <p:val>
                                            <p:strVal val="#ppt_x"/>
                                          </p:val>
                                        </p:tav>
                                      </p:tavLst>
                                    </p:anim>
                                    <p:anim calcmode="lin" valueType="num">
                                      <p:cBhvr additive="base">
                                        <p:cTn id="52" dur="650" fill="hold"/>
                                        <p:tgtEl>
                                          <p:spTgt spid="14"/>
                                        </p:tgtEl>
                                        <p:attrNameLst>
                                          <p:attrName>ppt_y</p:attrName>
                                        </p:attrNameLst>
                                      </p:cBhvr>
                                      <p:tavLst>
                                        <p:tav tm="0">
                                          <p:val>
                                            <p:strVal val="#ppt_y+.06"/>
                                          </p:val>
                                        </p:tav>
                                        <p:tav tm="100000">
                                          <p:val>
                                            <p:strVal val="#ppt_y"/>
                                          </p:val>
                                        </p:tav>
                                      </p:tavLst>
                                    </p:anim>
                                  </p:childTnLst>
                                </p:cTn>
                              </p:par>
                              <p:par>
                                <p:cTn id="53" presetID="42" presetClass="entr" presetSubtype="0" decel="100000" fill="hold" grpId="0" nodeType="withEffect">
                                  <p:stCondLst>
                                    <p:cond delay="60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650" fill="hold"/>
                                        <p:tgtEl>
                                          <p:spTgt spid="15"/>
                                        </p:tgtEl>
                                      </p:cBhvr>
                                    </p:animEffect>
                                    <p:anim calcmode="lin" valueType="num">
                                      <p:cBhvr additive="base">
                                        <p:cTn id="56" dur="650" fill="hold"/>
                                        <p:tgtEl>
                                          <p:spTgt spid="15"/>
                                        </p:tgtEl>
                                        <p:attrNameLst>
                                          <p:attrName>ppt_x</p:attrName>
                                        </p:attrNameLst>
                                      </p:cBhvr>
                                      <p:tavLst>
                                        <p:tav tm="0">
                                          <p:val>
                                            <p:strVal val="#ppt_x"/>
                                          </p:val>
                                        </p:tav>
                                        <p:tav tm="100000">
                                          <p:val>
                                            <p:strVal val="#ppt_x"/>
                                          </p:val>
                                        </p:tav>
                                      </p:tavLst>
                                    </p:anim>
                                    <p:anim calcmode="lin" valueType="num">
                                      <p:cBhvr additive="base">
                                        <p:cTn id="57" dur="650" fill="hold"/>
                                        <p:tgtEl>
                                          <p:spTgt spid="15"/>
                                        </p:tgtEl>
                                        <p:attrNameLst>
                                          <p:attrName>ppt_y</p:attrName>
                                        </p:attrNameLst>
                                      </p:cBhvr>
                                      <p:tavLst>
                                        <p:tav tm="0">
                                          <p:val>
                                            <p:strVal val="#ppt_y+.06"/>
                                          </p:val>
                                        </p:tav>
                                        <p:tav tm="100000">
                                          <p:val>
                                            <p:strVal val="#ppt_y"/>
                                          </p:val>
                                        </p:tav>
                                      </p:tavLst>
                                    </p:anim>
                                  </p:childTnLst>
                                </p:cTn>
                              </p:par>
                              <p:par>
                                <p:cTn id="58" presetID="42" presetClass="entr" presetSubtype="0" decel="100000" fill="hold" grpId="0" nodeType="withEffect">
                                  <p:stCondLst>
                                    <p:cond delay="60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650" fill="hold"/>
                                        <p:tgtEl>
                                          <p:spTgt spid="16"/>
                                        </p:tgtEl>
                                      </p:cBhvr>
                                    </p:animEffect>
                                    <p:anim calcmode="lin" valueType="num">
                                      <p:cBhvr additive="base">
                                        <p:cTn id="61" dur="650" fill="hold"/>
                                        <p:tgtEl>
                                          <p:spTgt spid="16"/>
                                        </p:tgtEl>
                                        <p:attrNameLst>
                                          <p:attrName>ppt_x</p:attrName>
                                        </p:attrNameLst>
                                      </p:cBhvr>
                                      <p:tavLst>
                                        <p:tav tm="0">
                                          <p:val>
                                            <p:strVal val="#ppt_x"/>
                                          </p:val>
                                        </p:tav>
                                        <p:tav tm="100000">
                                          <p:val>
                                            <p:strVal val="#ppt_x"/>
                                          </p:val>
                                        </p:tav>
                                      </p:tavLst>
                                    </p:anim>
                                    <p:anim calcmode="lin" valueType="num">
                                      <p:cBhvr additive="base">
                                        <p:cTn id="62" dur="650" fill="hold"/>
                                        <p:tgtEl>
                                          <p:spTgt spid="16"/>
                                        </p:tgtEl>
                                        <p:attrNameLst>
                                          <p:attrName>ppt_y</p:attrName>
                                        </p:attrNameLst>
                                      </p:cBhvr>
                                      <p:tavLst>
                                        <p:tav tm="0">
                                          <p:val>
                                            <p:strVal val="#ppt_y+.06"/>
                                          </p:val>
                                        </p:tav>
                                        <p:tav tm="100000">
                                          <p:val>
                                            <p:strVal val="#ppt_y"/>
                                          </p:val>
                                        </p:tav>
                                      </p:tavLst>
                                    </p:anim>
                                  </p:childTnLst>
                                </p:cTn>
                              </p:par>
                              <p:par>
                                <p:cTn id="63" presetID="42" presetClass="entr" presetSubtype="0" decel="100000" fill="hold" grpId="0" nodeType="withEffect">
                                  <p:stCondLst>
                                    <p:cond delay="600"/>
                                  </p:stCondLst>
                                  <p:childTnLst>
                                    <p:set>
                                      <p:cBhvr>
                                        <p:cTn id="64" dur="1" fill="hold">
                                          <p:stCondLst>
                                            <p:cond delay="0"/>
                                          </p:stCondLst>
                                        </p:cTn>
                                        <p:tgtEl>
                                          <p:spTgt spid="17"/>
                                        </p:tgtEl>
                                        <p:attrNameLst>
                                          <p:attrName>style.visibility</p:attrName>
                                        </p:attrNameLst>
                                      </p:cBhvr>
                                      <p:to>
                                        <p:strVal val="visible"/>
                                      </p:to>
                                    </p:set>
                                    <p:animEffect transition="in" filter="fade">
                                      <p:cBhvr>
                                        <p:cTn id="65" dur="650" fill="hold"/>
                                        <p:tgtEl>
                                          <p:spTgt spid="17"/>
                                        </p:tgtEl>
                                      </p:cBhvr>
                                    </p:animEffect>
                                    <p:anim calcmode="lin" valueType="num">
                                      <p:cBhvr additive="base">
                                        <p:cTn id="66" dur="650" fill="hold"/>
                                        <p:tgtEl>
                                          <p:spTgt spid="17"/>
                                        </p:tgtEl>
                                        <p:attrNameLst>
                                          <p:attrName>ppt_x</p:attrName>
                                        </p:attrNameLst>
                                      </p:cBhvr>
                                      <p:tavLst>
                                        <p:tav tm="0">
                                          <p:val>
                                            <p:strVal val="#ppt_x"/>
                                          </p:val>
                                        </p:tav>
                                        <p:tav tm="100000">
                                          <p:val>
                                            <p:strVal val="#ppt_x"/>
                                          </p:val>
                                        </p:tav>
                                      </p:tavLst>
                                    </p:anim>
                                    <p:anim calcmode="lin" valueType="num">
                                      <p:cBhvr additive="base">
                                        <p:cTn id="67" dur="650" fill="hold"/>
                                        <p:tgtEl>
                                          <p:spTgt spid="17"/>
                                        </p:tgtEl>
                                        <p:attrNameLst>
                                          <p:attrName>ppt_y</p:attrName>
                                        </p:attrNameLst>
                                      </p:cBhvr>
                                      <p:tavLst>
                                        <p:tav tm="0">
                                          <p:val>
                                            <p:strVal val="#ppt_y+.06"/>
                                          </p:val>
                                        </p:tav>
                                        <p:tav tm="100000">
                                          <p:val>
                                            <p:strVal val="#ppt_y"/>
                                          </p:val>
                                        </p:tav>
                                      </p:tavLst>
                                    </p:anim>
                                  </p:childTnLst>
                                </p:cTn>
                              </p:par>
                              <p:par>
                                <p:cTn id="68" presetID="53" presetClass="entr" presetSubtype="16" decel="100000" fill="hold" grpId="0" nodeType="withEffect">
                                  <p:stCondLst>
                                    <p:cond delay="950"/>
                                  </p:stCondLst>
                                  <p:childTnLst>
                                    <p:set>
                                      <p:cBhvr>
                                        <p:cTn id="69" dur="1" fill="hold">
                                          <p:stCondLst>
                                            <p:cond delay="0"/>
                                          </p:stCondLst>
                                        </p:cTn>
                                        <p:tgtEl>
                                          <p:spTgt spid="18"/>
                                        </p:tgtEl>
                                        <p:attrNameLst>
                                          <p:attrName>style.visibility</p:attrName>
                                        </p:attrNameLst>
                                      </p:cBhvr>
                                      <p:to>
                                        <p:strVal val="visible"/>
                                      </p:to>
                                    </p:set>
                                    <p:anim calcmode="lin" valueType="num">
                                      <p:cBhvr additive="base">
                                        <p:cTn id="70" dur="400" fill="hold"/>
                                        <p:tgtEl>
                                          <p:spTgt spid="18"/>
                                        </p:tgtEl>
                                        <p:attrNameLst>
                                          <p:attrName>ppt_w</p:attrName>
                                        </p:attrNameLst>
                                      </p:cBhvr>
                                      <p:tavLst>
                                        <p:tav tm="0">
                                          <p:val>
                                            <p:strVal val="0"/>
                                          </p:val>
                                        </p:tav>
                                        <p:tav tm="70000">
                                          <p:val>
                                            <p:strVal val="#ppt_w*1.08"/>
                                          </p:val>
                                        </p:tav>
                                        <p:tav tm="100000">
                                          <p:val>
                                            <p:strVal val="#ppt_w"/>
                                          </p:val>
                                        </p:tav>
                                      </p:tavLst>
                                    </p:anim>
                                    <p:anim calcmode="lin" valueType="num">
                                      <p:cBhvr additive="base">
                                        <p:cTn id="71" dur="400" fill="hold"/>
                                        <p:tgtEl>
                                          <p:spTgt spid="18"/>
                                        </p:tgtEl>
                                        <p:attrNameLst>
                                          <p:attrName>ppt_h</p:attrName>
                                        </p:attrNameLst>
                                      </p:cBhvr>
                                      <p:tavLst>
                                        <p:tav tm="0">
                                          <p:val>
                                            <p:strVal val="0"/>
                                          </p:val>
                                        </p:tav>
                                        <p:tav tm="70000">
                                          <p:val>
                                            <p:strVal val="#ppt_h*1.08"/>
                                          </p:val>
                                        </p:tav>
                                        <p:tav tm="100000">
                                          <p:val>
                                            <p:strVal val="#ppt_h"/>
                                          </p:val>
                                        </p:tav>
                                      </p:tavLst>
                                    </p:anim>
                                    <p:animEffect transition="in" filter="fade">
                                      <p:cBhvr>
                                        <p:cTn id="72" dur="240" fill="hold"/>
                                        <p:tgtEl>
                                          <p:spTgt spid="18"/>
                                        </p:tgtEl>
                                      </p:cBhvr>
                                    </p:animEffect>
                                  </p:childTnLst>
                                </p:cTn>
                              </p:par>
                              <p:par>
                                <p:cTn id="73" presetID="53" presetClass="entr" presetSubtype="16" decel="100000" fill="hold" grpId="0" nodeType="withEffect">
                                  <p:stCondLst>
                                    <p:cond delay="1170"/>
                                  </p:stCondLst>
                                  <p:childTnLst>
                                    <p:set>
                                      <p:cBhvr>
                                        <p:cTn id="74" dur="1" fill="hold">
                                          <p:stCondLst>
                                            <p:cond delay="0"/>
                                          </p:stCondLst>
                                        </p:cTn>
                                        <p:tgtEl>
                                          <p:spTgt spid="19"/>
                                        </p:tgtEl>
                                        <p:attrNameLst>
                                          <p:attrName>style.visibility</p:attrName>
                                        </p:attrNameLst>
                                      </p:cBhvr>
                                      <p:to>
                                        <p:strVal val="visible"/>
                                      </p:to>
                                    </p:set>
                                    <p:anim calcmode="lin" valueType="num">
                                      <p:cBhvr additive="base">
                                        <p:cTn id="75" dur="400" fill="hold"/>
                                        <p:tgtEl>
                                          <p:spTgt spid="19"/>
                                        </p:tgtEl>
                                        <p:attrNameLst>
                                          <p:attrName>ppt_w</p:attrName>
                                        </p:attrNameLst>
                                      </p:cBhvr>
                                      <p:tavLst>
                                        <p:tav tm="0">
                                          <p:val>
                                            <p:strVal val="0"/>
                                          </p:val>
                                        </p:tav>
                                        <p:tav tm="70000">
                                          <p:val>
                                            <p:strVal val="#ppt_w*1.08"/>
                                          </p:val>
                                        </p:tav>
                                        <p:tav tm="100000">
                                          <p:val>
                                            <p:strVal val="#ppt_w"/>
                                          </p:val>
                                        </p:tav>
                                      </p:tavLst>
                                    </p:anim>
                                    <p:anim calcmode="lin" valueType="num">
                                      <p:cBhvr additive="base">
                                        <p:cTn id="76" dur="400" fill="hold"/>
                                        <p:tgtEl>
                                          <p:spTgt spid="19"/>
                                        </p:tgtEl>
                                        <p:attrNameLst>
                                          <p:attrName>ppt_h</p:attrName>
                                        </p:attrNameLst>
                                      </p:cBhvr>
                                      <p:tavLst>
                                        <p:tav tm="0">
                                          <p:val>
                                            <p:strVal val="0"/>
                                          </p:val>
                                        </p:tav>
                                        <p:tav tm="70000">
                                          <p:val>
                                            <p:strVal val="#ppt_h*1.08"/>
                                          </p:val>
                                        </p:tav>
                                        <p:tav tm="100000">
                                          <p:val>
                                            <p:strVal val="#ppt_h"/>
                                          </p:val>
                                        </p:tav>
                                      </p:tavLst>
                                    </p:anim>
                                    <p:animEffect transition="in" filter="fade">
                                      <p:cBhvr>
                                        <p:cTn id="77" dur="240" fill="hold"/>
                                        <p:tgtEl>
                                          <p:spTgt spid="19"/>
                                        </p:tgtEl>
                                      </p:cBhvr>
                                    </p:animEffect>
                                  </p:childTnLst>
                                </p:cTn>
                              </p:par>
                              <p:par>
                                <p:cTn id="78" presetID="53" presetClass="entr" presetSubtype="16" decel="100000" fill="hold" grpId="0" nodeType="withEffect">
                                  <p:stCondLst>
                                    <p:cond delay="1390"/>
                                  </p:stCondLst>
                                  <p:childTnLst>
                                    <p:set>
                                      <p:cBhvr>
                                        <p:cTn id="79" dur="1" fill="hold">
                                          <p:stCondLst>
                                            <p:cond delay="0"/>
                                          </p:stCondLst>
                                        </p:cTn>
                                        <p:tgtEl>
                                          <p:spTgt spid="20"/>
                                        </p:tgtEl>
                                        <p:attrNameLst>
                                          <p:attrName>style.visibility</p:attrName>
                                        </p:attrNameLst>
                                      </p:cBhvr>
                                      <p:to>
                                        <p:strVal val="visible"/>
                                      </p:to>
                                    </p:set>
                                    <p:anim calcmode="lin" valueType="num">
                                      <p:cBhvr additive="base">
                                        <p:cTn id="80" dur="400" fill="hold"/>
                                        <p:tgtEl>
                                          <p:spTgt spid="20"/>
                                        </p:tgtEl>
                                        <p:attrNameLst>
                                          <p:attrName>ppt_w</p:attrName>
                                        </p:attrNameLst>
                                      </p:cBhvr>
                                      <p:tavLst>
                                        <p:tav tm="0">
                                          <p:val>
                                            <p:strVal val="0"/>
                                          </p:val>
                                        </p:tav>
                                        <p:tav tm="70000">
                                          <p:val>
                                            <p:strVal val="#ppt_w*1.08"/>
                                          </p:val>
                                        </p:tav>
                                        <p:tav tm="100000">
                                          <p:val>
                                            <p:strVal val="#ppt_w"/>
                                          </p:val>
                                        </p:tav>
                                      </p:tavLst>
                                    </p:anim>
                                    <p:anim calcmode="lin" valueType="num">
                                      <p:cBhvr additive="base">
                                        <p:cTn id="81" dur="400" fill="hold"/>
                                        <p:tgtEl>
                                          <p:spTgt spid="20"/>
                                        </p:tgtEl>
                                        <p:attrNameLst>
                                          <p:attrName>ppt_h</p:attrName>
                                        </p:attrNameLst>
                                      </p:cBhvr>
                                      <p:tavLst>
                                        <p:tav tm="0">
                                          <p:val>
                                            <p:strVal val="0"/>
                                          </p:val>
                                        </p:tav>
                                        <p:tav tm="70000">
                                          <p:val>
                                            <p:strVal val="#ppt_h*1.08"/>
                                          </p:val>
                                        </p:tav>
                                        <p:tav tm="100000">
                                          <p:val>
                                            <p:strVal val="#ppt_h"/>
                                          </p:val>
                                        </p:tav>
                                      </p:tavLst>
                                    </p:anim>
                                    <p:animEffect transition="in" filter="fade">
                                      <p:cBhvr>
                                        <p:cTn id="82" dur="240" fill="hold"/>
                                        <p:tgtEl>
                                          <p:spTgt spid="20"/>
                                        </p:tgtEl>
                                      </p:cBhvr>
                                    </p:animEffect>
                                  </p:childTnLst>
                                </p:cTn>
                              </p:par>
                              <p:par>
                                <p:cTn id="83" presetID="53" presetClass="entr" presetSubtype="16" decel="100000" fill="hold" grpId="0" nodeType="withEffect">
                                  <p:stCondLst>
                                    <p:cond delay="1610"/>
                                  </p:stCondLst>
                                  <p:childTnLst>
                                    <p:set>
                                      <p:cBhvr>
                                        <p:cTn id="84" dur="1" fill="hold">
                                          <p:stCondLst>
                                            <p:cond delay="0"/>
                                          </p:stCondLst>
                                        </p:cTn>
                                        <p:tgtEl>
                                          <p:spTgt spid="21"/>
                                        </p:tgtEl>
                                        <p:attrNameLst>
                                          <p:attrName>style.visibility</p:attrName>
                                        </p:attrNameLst>
                                      </p:cBhvr>
                                      <p:to>
                                        <p:strVal val="visible"/>
                                      </p:to>
                                    </p:set>
                                    <p:anim calcmode="lin" valueType="num">
                                      <p:cBhvr additive="base">
                                        <p:cTn id="85" dur="400" fill="hold"/>
                                        <p:tgtEl>
                                          <p:spTgt spid="21"/>
                                        </p:tgtEl>
                                        <p:attrNameLst>
                                          <p:attrName>ppt_w</p:attrName>
                                        </p:attrNameLst>
                                      </p:cBhvr>
                                      <p:tavLst>
                                        <p:tav tm="0">
                                          <p:val>
                                            <p:strVal val="0"/>
                                          </p:val>
                                        </p:tav>
                                        <p:tav tm="70000">
                                          <p:val>
                                            <p:strVal val="#ppt_w*1.08"/>
                                          </p:val>
                                        </p:tav>
                                        <p:tav tm="100000">
                                          <p:val>
                                            <p:strVal val="#ppt_w"/>
                                          </p:val>
                                        </p:tav>
                                      </p:tavLst>
                                    </p:anim>
                                    <p:anim calcmode="lin" valueType="num">
                                      <p:cBhvr additive="base">
                                        <p:cTn id="86" dur="400" fill="hold"/>
                                        <p:tgtEl>
                                          <p:spTgt spid="21"/>
                                        </p:tgtEl>
                                        <p:attrNameLst>
                                          <p:attrName>ppt_h</p:attrName>
                                        </p:attrNameLst>
                                      </p:cBhvr>
                                      <p:tavLst>
                                        <p:tav tm="0">
                                          <p:val>
                                            <p:strVal val="0"/>
                                          </p:val>
                                        </p:tav>
                                        <p:tav tm="70000">
                                          <p:val>
                                            <p:strVal val="#ppt_h*1.08"/>
                                          </p:val>
                                        </p:tav>
                                        <p:tav tm="100000">
                                          <p:val>
                                            <p:strVal val="#ppt_h"/>
                                          </p:val>
                                        </p:tav>
                                      </p:tavLst>
                                    </p:anim>
                                    <p:animEffect transition="in" filter="fade">
                                      <p:cBhvr>
                                        <p:cTn id="87" dur="240" fill="hold"/>
                                        <p:tgtEl>
                                          <p:spTgt spid="21"/>
                                        </p:tgtEl>
                                      </p:cBhvr>
                                    </p:animEffect>
                                  </p:childTnLst>
                                </p:cTn>
                              </p:par>
                              <p:par>
                                <p:cTn id="88" presetID="53" presetClass="entr" presetSubtype="16" decel="100000" fill="hold" grpId="0" nodeType="withEffect">
                                  <p:stCondLst>
                                    <p:cond delay="1830"/>
                                  </p:stCondLst>
                                  <p:childTnLst>
                                    <p:set>
                                      <p:cBhvr>
                                        <p:cTn id="89" dur="1" fill="hold">
                                          <p:stCondLst>
                                            <p:cond delay="0"/>
                                          </p:stCondLst>
                                        </p:cTn>
                                        <p:tgtEl>
                                          <p:spTgt spid="22"/>
                                        </p:tgtEl>
                                        <p:attrNameLst>
                                          <p:attrName>style.visibility</p:attrName>
                                        </p:attrNameLst>
                                      </p:cBhvr>
                                      <p:to>
                                        <p:strVal val="visible"/>
                                      </p:to>
                                    </p:set>
                                    <p:anim calcmode="lin" valueType="num">
                                      <p:cBhvr additive="base">
                                        <p:cTn id="90" dur="400" fill="hold"/>
                                        <p:tgtEl>
                                          <p:spTgt spid="22"/>
                                        </p:tgtEl>
                                        <p:attrNameLst>
                                          <p:attrName>ppt_w</p:attrName>
                                        </p:attrNameLst>
                                      </p:cBhvr>
                                      <p:tavLst>
                                        <p:tav tm="0">
                                          <p:val>
                                            <p:strVal val="0"/>
                                          </p:val>
                                        </p:tav>
                                        <p:tav tm="70000">
                                          <p:val>
                                            <p:strVal val="#ppt_w*1.08"/>
                                          </p:val>
                                        </p:tav>
                                        <p:tav tm="100000">
                                          <p:val>
                                            <p:strVal val="#ppt_w"/>
                                          </p:val>
                                        </p:tav>
                                      </p:tavLst>
                                    </p:anim>
                                    <p:anim calcmode="lin" valueType="num">
                                      <p:cBhvr additive="base">
                                        <p:cTn id="91" dur="400" fill="hold"/>
                                        <p:tgtEl>
                                          <p:spTgt spid="22"/>
                                        </p:tgtEl>
                                        <p:attrNameLst>
                                          <p:attrName>ppt_h</p:attrName>
                                        </p:attrNameLst>
                                      </p:cBhvr>
                                      <p:tavLst>
                                        <p:tav tm="0">
                                          <p:val>
                                            <p:strVal val="0"/>
                                          </p:val>
                                        </p:tav>
                                        <p:tav tm="70000">
                                          <p:val>
                                            <p:strVal val="#ppt_h*1.08"/>
                                          </p:val>
                                        </p:tav>
                                        <p:tav tm="100000">
                                          <p:val>
                                            <p:strVal val="#ppt_h"/>
                                          </p:val>
                                        </p:tav>
                                      </p:tavLst>
                                    </p:anim>
                                    <p:animEffect transition="in" filter="fade">
                                      <p:cBhvr>
                                        <p:cTn id="92" dur="240" fill="hold"/>
                                        <p:tgtEl>
                                          <p:spTgt spid="22"/>
                                        </p:tgtEl>
                                      </p:cBhvr>
                                    </p:animEffect>
                                  </p:childTnLst>
                                </p:cTn>
                              </p:par>
                              <p:par>
                                <p:cTn id="93" presetID="53" presetClass="entr" presetSubtype="16" decel="100000" fill="hold" grpId="0" nodeType="withEffect">
                                  <p:stCondLst>
                                    <p:cond delay="2050"/>
                                  </p:stCondLst>
                                  <p:childTnLst>
                                    <p:set>
                                      <p:cBhvr>
                                        <p:cTn id="94" dur="1" fill="hold">
                                          <p:stCondLst>
                                            <p:cond delay="0"/>
                                          </p:stCondLst>
                                        </p:cTn>
                                        <p:tgtEl>
                                          <p:spTgt spid="23"/>
                                        </p:tgtEl>
                                        <p:attrNameLst>
                                          <p:attrName>style.visibility</p:attrName>
                                        </p:attrNameLst>
                                      </p:cBhvr>
                                      <p:to>
                                        <p:strVal val="visible"/>
                                      </p:to>
                                    </p:set>
                                    <p:anim calcmode="lin" valueType="num">
                                      <p:cBhvr additive="base">
                                        <p:cTn id="95" dur="400" fill="hold"/>
                                        <p:tgtEl>
                                          <p:spTgt spid="23"/>
                                        </p:tgtEl>
                                        <p:attrNameLst>
                                          <p:attrName>ppt_w</p:attrName>
                                        </p:attrNameLst>
                                      </p:cBhvr>
                                      <p:tavLst>
                                        <p:tav tm="0">
                                          <p:val>
                                            <p:strVal val="0"/>
                                          </p:val>
                                        </p:tav>
                                        <p:tav tm="70000">
                                          <p:val>
                                            <p:strVal val="#ppt_w*1.08"/>
                                          </p:val>
                                        </p:tav>
                                        <p:tav tm="100000">
                                          <p:val>
                                            <p:strVal val="#ppt_w"/>
                                          </p:val>
                                        </p:tav>
                                      </p:tavLst>
                                    </p:anim>
                                    <p:anim calcmode="lin" valueType="num">
                                      <p:cBhvr additive="base">
                                        <p:cTn id="96" dur="400" fill="hold"/>
                                        <p:tgtEl>
                                          <p:spTgt spid="23"/>
                                        </p:tgtEl>
                                        <p:attrNameLst>
                                          <p:attrName>ppt_h</p:attrName>
                                        </p:attrNameLst>
                                      </p:cBhvr>
                                      <p:tavLst>
                                        <p:tav tm="0">
                                          <p:val>
                                            <p:strVal val="0"/>
                                          </p:val>
                                        </p:tav>
                                        <p:tav tm="70000">
                                          <p:val>
                                            <p:strVal val="#ppt_h*1.08"/>
                                          </p:val>
                                        </p:tav>
                                        <p:tav tm="100000">
                                          <p:val>
                                            <p:strVal val="#ppt_h"/>
                                          </p:val>
                                        </p:tav>
                                      </p:tavLst>
                                    </p:anim>
                                    <p:animEffect transition="in" filter="fade">
                                      <p:cBhvr>
                                        <p:cTn id="97" dur="240" fill="hold"/>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9CD848"/>
                </a:solidFill>
                <a:latin typeface="Segoe UI Semibold"/>
              </a:rPr>
              <a:t>MÓDULO 2  ·  EMPATIZAR</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Planejando a pesquisa</a:t>
            </a:r>
          </a:p>
        </p:txBody>
      </p:sp>
      <p:cxnSp>
        <p:nvCxnSpPr>
          <p:cNvPr id="6" name="Connector 5"/>
          <p:cNvCxnSpPr/>
          <p:nvPr/>
        </p:nvCxnSpPr>
        <p:spPr>
          <a:xfrm>
            <a:off x="1657807" y="2606040"/>
            <a:ext cx="8873337" cy="0"/>
          </a:xfrm>
          <a:prstGeom prst="line">
            <a:avLst/>
          </a:prstGeom>
          <a:ln w="38100">
            <a:solidFill>
              <a:srgbClr val="3A413D"/>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1200607" y="2148840"/>
            <a:ext cx="914400" cy="914400"/>
          </a:xfrm>
          <a:prstGeom prst="ellipse">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2000" b="1" i="0">
                <a:solidFill>
                  <a:srgbClr val="1A1A1A"/>
                </a:solidFill>
                <a:latin typeface="Segoe UI Semibold"/>
              </a:rPr>
              <a:t>01</a:t>
            </a:r>
          </a:p>
        </p:txBody>
      </p:sp>
      <p:sp>
        <p:nvSpPr>
          <p:cNvPr id="8" name="Rounded Rectangle 7"/>
          <p:cNvSpPr/>
          <p:nvPr/>
        </p:nvSpPr>
        <p:spPr>
          <a:xfrm>
            <a:off x="658368" y="3429000"/>
            <a:ext cx="1998878" cy="237744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822960" y="3611880"/>
            <a:ext cx="1669694" cy="457200"/>
          </a:xfrm>
          <a:prstGeom prst="rect">
            <a:avLst/>
          </a:prstGeom>
          <a:noFill/>
        </p:spPr>
        <p:txBody>
          <a:bodyPr wrap="square" lIns="36576" tIns="18288" rIns="36576" bIns="18288" anchor="t">
            <a:spAutoFit/>
          </a:bodyPr>
          <a:lstStyle/>
          <a:p>
            <a:pPr algn="ctr"/>
            <a:r>
              <a:rPr sz="1900" b="1" i="0">
                <a:solidFill>
                  <a:srgbClr val="F2F2EC"/>
                </a:solidFill>
                <a:latin typeface="Segoe UI Semibold"/>
              </a:rPr>
              <a:t>Objetivo</a:t>
            </a:r>
          </a:p>
        </p:txBody>
      </p:sp>
      <p:sp>
        <p:nvSpPr>
          <p:cNvPr id="10" name="TextBox 9"/>
          <p:cNvSpPr txBox="1"/>
          <p:nvPr/>
        </p:nvSpPr>
        <p:spPr>
          <a:xfrm>
            <a:off x="822960" y="4114800"/>
            <a:ext cx="1669694" cy="1554480"/>
          </a:xfrm>
          <a:prstGeom prst="rect">
            <a:avLst/>
          </a:prstGeom>
          <a:noFill/>
        </p:spPr>
        <p:txBody>
          <a:bodyPr wrap="square" lIns="36576" tIns="18288" rIns="36576" bIns="18288" anchor="t">
            <a:spAutoFit/>
          </a:bodyPr>
          <a:lstStyle/>
          <a:p>
            <a:pPr algn="ctr"/>
            <a:r>
              <a:rPr sz="1400" b="0" i="0">
                <a:solidFill>
                  <a:srgbClr val="B4B8B0"/>
                </a:solidFill>
                <a:latin typeface="Segoe UI"/>
              </a:rPr>
              <a:t>O que precisamos descobrir? (use a Matriz CSD)</a:t>
            </a:r>
          </a:p>
        </p:txBody>
      </p:sp>
      <p:sp>
        <p:nvSpPr>
          <p:cNvPr id="11" name="Oval 10"/>
          <p:cNvSpPr/>
          <p:nvPr/>
        </p:nvSpPr>
        <p:spPr>
          <a:xfrm>
            <a:off x="3418941" y="2148840"/>
            <a:ext cx="914400" cy="914400"/>
          </a:xfrm>
          <a:prstGeom prst="ellipse">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2000" b="1" i="0">
                <a:solidFill>
                  <a:srgbClr val="1A1A1A"/>
                </a:solidFill>
                <a:latin typeface="Segoe UI Semibold"/>
              </a:rPr>
              <a:t>02</a:t>
            </a:r>
          </a:p>
        </p:txBody>
      </p:sp>
      <p:sp>
        <p:nvSpPr>
          <p:cNvPr id="12" name="Rounded Rectangle 11"/>
          <p:cNvSpPr/>
          <p:nvPr/>
        </p:nvSpPr>
        <p:spPr>
          <a:xfrm>
            <a:off x="2876702" y="3429000"/>
            <a:ext cx="1998878" cy="237744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041294" y="3611880"/>
            <a:ext cx="1669694" cy="457200"/>
          </a:xfrm>
          <a:prstGeom prst="rect">
            <a:avLst/>
          </a:prstGeom>
          <a:noFill/>
        </p:spPr>
        <p:txBody>
          <a:bodyPr wrap="square" lIns="36576" tIns="18288" rIns="36576" bIns="18288" anchor="t">
            <a:spAutoFit/>
          </a:bodyPr>
          <a:lstStyle/>
          <a:p>
            <a:pPr algn="ctr"/>
            <a:r>
              <a:rPr sz="1900" b="1" i="0">
                <a:solidFill>
                  <a:srgbClr val="F2F2EC"/>
                </a:solidFill>
                <a:latin typeface="Segoe UI Semibold"/>
              </a:rPr>
              <a:t>Métodos</a:t>
            </a:r>
          </a:p>
        </p:txBody>
      </p:sp>
      <p:sp>
        <p:nvSpPr>
          <p:cNvPr id="14" name="TextBox 13"/>
          <p:cNvSpPr txBox="1"/>
          <p:nvPr/>
        </p:nvSpPr>
        <p:spPr>
          <a:xfrm>
            <a:off x="3041294" y="4114800"/>
            <a:ext cx="1669694" cy="1554480"/>
          </a:xfrm>
          <a:prstGeom prst="rect">
            <a:avLst/>
          </a:prstGeom>
          <a:noFill/>
        </p:spPr>
        <p:txBody>
          <a:bodyPr wrap="square" lIns="36576" tIns="18288" rIns="36576" bIns="18288" anchor="t">
            <a:spAutoFit/>
          </a:bodyPr>
          <a:lstStyle/>
          <a:p>
            <a:pPr algn="ctr"/>
            <a:r>
              <a:rPr sz="1400" b="0" i="0">
                <a:solidFill>
                  <a:srgbClr val="B4B8B0"/>
                </a:solidFill>
                <a:latin typeface="Segoe UI"/>
              </a:rPr>
              <a:t>Entrevista, observação, questionário ou dados?</a:t>
            </a:r>
          </a:p>
        </p:txBody>
      </p:sp>
      <p:sp>
        <p:nvSpPr>
          <p:cNvPr id="15" name="Oval 14"/>
          <p:cNvSpPr/>
          <p:nvPr/>
        </p:nvSpPr>
        <p:spPr>
          <a:xfrm>
            <a:off x="5637276" y="2148840"/>
            <a:ext cx="914400" cy="914400"/>
          </a:xfrm>
          <a:prstGeom prst="ellipse">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2000" b="1" i="0">
                <a:solidFill>
                  <a:srgbClr val="1A1A1A"/>
                </a:solidFill>
                <a:latin typeface="Segoe UI Semibold"/>
              </a:rPr>
              <a:t>03</a:t>
            </a:r>
          </a:p>
        </p:txBody>
      </p:sp>
      <p:sp>
        <p:nvSpPr>
          <p:cNvPr id="16" name="Rounded Rectangle 15"/>
          <p:cNvSpPr/>
          <p:nvPr/>
        </p:nvSpPr>
        <p:spPr>
          <a:xfrm>
            <a:off x="5095036" y="3429000"/>
            <a:ext cx="1998878" cy="237744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5259628" y="3611880"/>
            <a:ext cx="1669694" cy="457200"/>
          </a:xfrm>
          <a:prstGeom prst="rect">
            <a:avLst/>
          </a:prstGeom>
          <a:noFill/>
        </p:spPr>
        <p:txBody>
          <a:bodyPr wrap="square" lIns="36576" tIns="18288" rIns="36576" bIns="18288" anchor="t">
            <a:spAutoFit/>
          </a:bodyPr>
          <a:lstStyle/>
          <a:p>
            <a:pPr algn="ctr"/>
            <a:r>
              <a:rPr sz="1900" b="1" i="0">
                <a:solidFill>
                  <a:srgbClr val="F2F2EC"/>
                </a:solidFill>
                <a:latin typeface="Segoe UI Semibold"/>
              </a:rPr>
              <a:t>Screener</a:t>
            </a:r>
          </a:p>
        </p:txBody>
      </p:sp>
      <p:sp>
        <p:nvSpPr>
          <p:cNvPr id="18" name="TextBox 17"/>
          <p:cNvSpPr txBox="1"/>
          <p:nvPr/>
        </p:nvSpPr>
        <p:spPr>
          <a:xfrm>
            <a:off x="5259628" y="4114800"/>
            <a:ext cx="1669694" cy="1554480"/>
          </a:xfrm>
          <a:prstGeom prst="rect">
            <a:avLst/>
          </a:prstGeom>
          <a:noFill/>
        </p:spPr>
        <p:txBody>
          <a:bodyPr wrap="square" lIns="36576" tIns="18288" rIns="36576" bIns="18288" anchor="t">
            <a:spAutoFit/>
          </a:bodyPr>
          <a:lstStyle/>
          <a:p>
            <a:pPr algn="ctr"/>
            <a:r>
              <a:rPr sz="1400" b="0" i="0">
                <a:solidFill>
                  <a:srgbClr val="B4B8B0"/>
                </a:solidFill>
                <a:latin typeface="Segoe UI"/>
              </a:rPr>
              <a:t>Quem entrevistar? Defina critérios de seleção</a:t>
            </a:r>
          </a:p>
        </p:txBody>
      </p:sp>
      <p:sp>
        <p:nvSpPr>
          <p:cNvPr id="19" name="Oval 18"/>
          <p:cNvSpPr/>
          <p:nvPr/>
        </p:nvSpPr>
        <p:spPr>
          <a:xfrm>
            <a:off x="7855610" y="2148840"/>
            <a:ext cx="914400" cy="914400"/>
          </a:xfrm>
          <a:prstGeom prst="ellipse">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2000" b="1" i="0">
                <a:solidFill>
                  <a:srgbClr val="1A1A1A"/>
                </a:solidFill>
                <a:latin typeface="Segoe UI Semibold"/>
              </a:rPr>
              <a:t>04</a:t>
            </a:r>
          </a:p>
        </p:txBody>
      </p:sp>
      <p:sp>
        <p:nvSpPr>
          <p:cNvPr id="20" name="Rounded Rectangle 19"/>
          <p:cNvSpPr/>
          <p:nvPr/>
        </p:nvSpPr>
        <p:spPr>
          <a:xfrm>
            <a:off x="7313371" y="3429000"/>
            <a:ext cx="1998878" cy="237744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477963" y="3611880"/>
            <a:ext cx="1669694" cy="457200"/>
          </a:xfrm>
          <a:prstGeom prst="rect">
            <a:avLst/>
          </a:prstGeom>
          <a:noFill/>
        </p:spPr>
        <p:txBody>
          <a:bodyPr wrap="square" lIns="36576" tIns="18288" rIns="36576" bIns="18288" anchor="t">
            <a:spAutoFit/>
          </a:bodyPr>
          <a:lstStyle/>
          <a:p>
            <a:pPr algn="ctr"/>
            <a:r>
              <a:rPr sz="1900" b="1" i="0">
                <a:solidFill>
                  <a:srgbClr val="F2F2EC"/>
                </a:solidFill>
                <a:latin typeface="Segoe UI Semibold"/>
              </a:rPr>
              <a:t>Roteiro</a:t>
            </a:r>
          </a:p>
        </p:txBody>
      </p:sp>
      <p:sp>
        <p:nvSpPr>
          <p:cNvPr id="22" name="TextBox 21"/>
          <p:cNvSpPr txBox="1"/>
          <p:nvPr/>
        </p:nvSpPr>
        <p:spPr>
          <a:xfrm>
            <a:off x="7477963" y="4114800"/>
            <a:ext cx="1669694" cy="1554480"/>
          </a:xfrm>
          <a:prstGeom prst="rect">
            <a:avLst/>
          </a:prstGeom>
          <a:noFill/>
        </p:spPr>
        <p:txBody>
          <a:bodyPr wrap="square" lIns="36576" tIns="18288" rIns="36576" bIns="18288" anchor="t">
            <a:spAutoFit/>
          </a:bodyPr>
          <a:lstStyle/>
          <a:p>
            <a:pPr algn="ctr"/>
            <a:r>
              <a:rPr sz="1400" b="0" i="0">
                <a:solidFill>
                  <a:srgbClr val="B4B8B0"/>
                </a:solidFill>
                <a:latin typeface="Segoe UI"/>
              </a:rPr>
              <a:t>Perguntas abertas, sem induzir respostas</a:t>
            </a:r>
          </a:p>
        </p:txBody>
      </p:sp>
      <p:sp>
        <p:nvSpPr>
          <p:cNvPr id="23" name="Oval 22"/>
          <p:cNvSpPr/>
          <p:nvPr/>
        </p:nvSpPr>
        <p:spPr>
          <a:xfrm>
            <a:off x="10073944" y="2148840"/>
            <a:ext cx="914400" cy="914400"/>
          </a:xfrm>
          <a:prstGeom prst="ellipse">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2000" b="1" i="0">
                <a:solidFill>
                  <a:srgbClr val="1A1A1A"/>
                </a:solidFill>
                <a:latin typeface="Segoe UI Semibold"/>
              </a:rPr>
              <a:t>05</a:t>
            </a:r>
          </a:p>
        </p:txBody>
      </p:sp>
      <p:sp>
        <p:nvSpPr>
          <p:cNvPr id="24" name="Rounded Rectangle 23"/>
          <p:cNvSpPr/>
          <p:nvPr/>
        </p:nvSpPr>
        <p:spPr>
          <a:xfrm>
            <a:off x="9531705" y="3429000"/>
            <a:ext cx="1998878" cy="237744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9696297" y="3611880"/>
            <a:ext cx="1669694" cy="457200"/>
          </a:xfrm>
          <a:prstGeom prst="rect">
            <a:avLst/>
          </a:prstGeom>
          <a:noFill/>
        </p:spPr>
        <p:txBody>
          <a:bodyPr wrap="square" lIns="36576" tIns="18288" rIns="36576" bIns="18288" anchor="t">
            <a:spAutoFit/>
          </a:bodyPr>
          <a:lstStyle/>
          <a:p>
            <a:pPr algn="ctr"/>
            <a:r>
              <a:rPr sz="1900" b="1" i="0">
                <a:solidFill>
                  <a:srgbClr val="F2F2EC"/>
                </a:solidFill>
                <a:latin typeface="Segoe UI Semibold"/>
              </a:rPr>
              <a:t>Campo</a:t>
            </a:r>
          </a:p>
        </p:txBody>
      </p:sp>
      <p:sp>
        <p:nvSpPr>
          <p:cNvPr id="26" name="TextBox 25"/>
          <p:cNvSpPr txBox="1"/>
          <p:nvPr/>
        </p:nvSpPr>
        <p:spPr>
          <a:xfrm>
            <a:off x="9696297" y="4114800"/>
            <a:ext cx="1669694" cy="1554480"/>
          </a:xfrm>
          <a:prstGeom prst="rect">
            <a:avLst/>
          </a:prstGeom>
          <a:noFill/>
        </p:spPr>
        <p:txBody>
          <a:bodyPr wrap="square" lIns="36576" tIns="18288" rIns="36576" bIns="18288" anchor="t">
            <a:spAutoFit/>
          </a:bodyPr>
          <a:lstStyle/>
          <a:p>
            <a:pPr algn="ctr"/>
            <a:r>
              <a:rPr sz="1400" b="0" i="0">
                <a:solidFill>
                  <a:srgbClr val="B4B8B0"/>
                </a:solidFill>
                <a:latin typeface="Segoe UI"/>
              </a:rPr>
              <a:t>Conduza, grave (com permissão) e anote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22" presetClass="entr" presetSubtype="8" fill="hold" nodeType="withEffect">
                                  <p:stCondLst>
                                    <p:cond delay="20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1500" fill="hold"/>
                                        <p:tgtEl>
                                          <p:spTgt spid="6"/>
                                        </p:tgtEl>
                                      </p:cBhvr>
                                    </p:animEffect>
                                  </p:childTnLst>
                                </p:cTn>
                              </p:par>
                              <p:par>
                                <p:cTn id="11" presetID="53" presetClass="entr" presetSubtype="16" decel="100000" fill="hold" grpId="0" nodeType="withEffect">
                                  <p:stCondLst>
                                    <p:cond delay="20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450" fill="hold"/>
                                        <p:tgtEl>
                                          <p:spTgt spid="7"/>
                                        </p:tgtEl>
                                        <p:attrNameLst>
                                          <p:attrName>ppt_w</p:attrName>
                                        </p:attrNameLst>
                                      </p:cBhvr>
                                      <p:tavLst>
                                        <p:tav tm="0">
                                          <p:val>
                                            <p:strVal val="0"/>
                                          </p:val>
                                        </p:tav>
                                        <p:tav tm="70000">
                                          <p:val>
                                            <p:strVal val="#ppt_w*1.08"/>
                                          </p:val>
                                        </p:tav>
                                        <p:tav tm="100000">
                                          <p:val>
                                            <p:strVal val="#ppt_w"/>
                                          </p:val>
                                        </p:tav>
                                      </p:tavLst>
                                    </p:anim>
                                    <p:anim calcmode="lin" valueType="num">
                                      <p:cBhvr additive="base">
                                        <p:cTn id="14" dur="450" fill="hold"/>
                                        <p:tgtEl>
                                          <p:spTgt spid="7"/>
                                        </p:tgtEl>
                                        <p:attrNameLst>
                                          <p:attrName>ppt_h</p:attrName>
                                        </p:attrNameLst>
                                      </p:cBhvr>
                                      <p:tavLst>
                                        <p:tav tm="0">
                                          <p:val>
                                            <p:strVal val="0"/>
                                          </p:val>
                                        </p:tav>
                                        <p:tav tm="70000">
                                          <p:val>
                                            <p:strVal val="#ppt_h*1.08"/>
                                          </p:val>
                                        </p:tav>
                                        <p:tav tm="100000">
                                          <p:val>
                                            <p:strVal val="#ppt_h"/>
                                          </p:val>
                                        </p:tav>
                                      </p:tavLst>
                                    </p:anim>
                                    <p:animEffect transition="in" filter="fade">
                                      <p:cBhvr>
                                        <p:cTn id="15" dur="270" fill="hold"/>
                                        <p:tgtEl>
                                          <p:spTgt spid="7"/>
                                        </p:tgtEl>
                                      </p:cBhvr>
                                    </p:animEffect>
                                  </p:childTnLst>
                                </p:cTn>
                              </p:par>
                              <p:par>
                                <p:cTn id="16" presetID="42" presetClass="entr" presetSubtype="0" decel="100000" fill="hold" grpId="0" nodeType="withEffect">
                                  <p:stCondLst>
                                    <p:cond delay="32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650" fill="hold"/>
                                        <p:tgtEl>
                                          <p:spTgt spid="8"/>
                                        </p:tgtEl>
                                      </p:cBhvr>
                                    </p:animEffect>
                                    <p:anim calcmode="lin" valueType="num">
                                      <p:cBhvr additive="base">
                                        <p:cTn id="19" dur="650" fill="hold"/>
                                        <p:tgtEl>
                                          <p:spTgt spid="8"/>
                                        </p:tgtEl>
                                        <p:attrNameLst>
                                          <p:attrName>ppt_x</p:attrName>
                                        </p:attrNameLst>
                                      </p:cBhvr>
                                      <p:tavLst>
                                        <p:tav tm="0">
                                          <p:val>
                                            <p:strVal val="#ppt_x"/>
                                          </p:val>
                                        </p:tav>
                                        <p:tav tm="100000">
                                          <p:val>
                                            <p:strVal val="#ppt_x"/>
                                          </p:val>
                                        </p:tav>
                                      </p:tavLst>
                                    </p:anim>
                                    <p:anim calcmode="lin" valueType="num">
                                      <p:cBhvr additive="base">
                                        <p:cTn id="20" dur="650" fill="hold"/>
                                        <p:tgtEl>
                                          <p:spTgt spid="8"/>
                                        </p:tgtEl>
                                        <p:attrNameLst>
                                          <p:attrName>ppt_y</p:attrName>
                                        </p:attrNameLst>
                                      </p:cBhvr>
                                      <p:tavLst>
                                        <p:tav tm="0">
                                          <p:val>
                                            <p:strVal val="#ppt_y+.06"/>
                                          </p:val>
                                        </p:tav>
                                        <p:tav tm="100000">
                                          <p:val>
                                            <p:strVal val="#ppt_y"/>
                                          </p:val>
                                        </p:tav>
                                      </p:tavLst>
                                    </p:anim>
                                  </p:childTnLst>
                                </p:cTn>
                              </p:par>
                              <p:par>
                                <p:cTn id="21" presetID="42" presetClass="entr" presetSubtype="0" decel="100000" fill="hold" grpId="0" nodeType="withEffect">
                                  <p:stCondLst>
                                    <p:cond delay="32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650" fill="hold"/>
                                        <p:tgtEl>
                                          <p:spTgt spid="9"/>
                                        </p:tgtEl>
                                      </p:cBhvr>
                                    </p:animEffect>
                                    <p:anim calcmode="lin" valueType="num">
                                      <p:cBhvr additive="base">
                                        <p:cTn id="24" dur="650" fill="hold"/>
                                        <p:tgtEl>
                                          <p:spTgt spid="9"/>
                                        </p:tgtEl>
                                        <p:attrNameLst>
                                          <p:attrName>ppt_x</p:attrName>
                                        </p:attrNameLst>
                                      </p:cBhvr>
                                      <p:tavLst>
                                        <p:tav tm="0">
                                          <p:val>
                                            <p:strVal val="#ppt_x"/>
                                          </p:val>
                                        </p:tav>
                                        <p:tav tm="100000">
                                          <p:val>
                                            <p:strVal val="#ppt_x"/>
                                          </p:val>
                                        </p:tav>
                                      </p:tavLst>
                                    </p:anim>
                                    <p:anim calcmode="lin" valueType="num">
                                      <p:cBhvr additive="base">
                                        <p:cTn id="25" dur="650" fill="hold"/>
                                        <p:tgtEl>
                                          <p:spTgt spid="9"/>
                                        </p:tgtEl>
                                        <p:attrNameLst>
                                          <p:attrName>ppt_y</p:attrName>
                                        </p:attrNameLst>
                                      </p:cBhvr>
                                      <p:tavLst>
                                        <p:tav tm="0">
                                          <p:val>
                                            <p:strVal val="#ppt_y+.06"/>
                                          </p:val>
                                        </p:tav>
                                        <p:tav tm="100000">
                                          <p:val>
                                            <p:strVal val="#ppt_y"/>
                                          </p:val>
                                        </p:tav>
                                      </p:tavLst>
                                    </p:anim>
                                  </p:childTnLst>
                                </p:cTn>
                              </p:par>
                              <p:par>
                                <p:cTn id="26" presetID="42" presetClass="entr" presetSubtype="0" decel="100000" fill="hold" grpId="0" nodeType="withEffect">
                                  <p:stCondLst>
                                    <p:cond delay="32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650" fill="hold"/>
                                        <p:tgtEl>
                                          <p:spTgt spid="10"/>
                                        </p:tgtEl>
                                      </p:cBhvr>
                                    </p:animEffect>
                                    <p:anim calcmode="lin" valueType="num">
                                      <p:cBhvr additive="base">
                                        <p:cTn id="29" dur="650" fill="hold"/>
                                        <p:tgtEl>
                                          <p:spTgt spid="10"/>
                                        </p:tgtEl>
                                        <p:attrNameLst>
                                          <p:attrName>ppt_x</p:attrName>
                                        </p:attrNameLst>
                                      </p:cBhvr>
                                      <p:tavLst>
                                        <p:tav tm="0">
                                          <p:val>
                                            <p:strVal val="#ppt_x"/>
                                          </p:val>
                                        </p:tav>
                                        <p:tav tm="100000">
                                          <p:val>
                                            <p:strVal val="#ppt_x"/>
                                          </p:val>
                                        </p:tav>
                                      </p:tavLst>
                                    </p:anim>
                                    <p:anim calcmode="lin" valueType="num">
                                      <p:cBhvr additive="base">
                                        <p:cTn id="30" dur="650" fill="hold"/>
                                        <p:tgtEl>
                                          <p:spTgt spid="10"/>
                                        </p:tgtEl>
                                        <p:attrNameLst>
                                          <p:attrName>ppt_y</p:attrName>
                                        </p:attrNameLst>
                                      </p:cBhvr>
                                      <p:tavLst>
                                        <p:tav tm="0">
                                          <p:val>
                                            <p:strVal val="#ppt_y+.06"/>
                                          </p:val>
                                        </p:tav>
                                        <p:tav tm="100000">
                                          <p:val>
                                            <p:strVal val="#ppt_y"/>
                                          </p:val>
                                        </p:tav>
                                      </p:tavLst>
                                    </p:anim>
                                  </p:childTnLst>
                                </p:cTn>
                              </p:par>
                              <p:par>
                                <p:cTn id="31" presetID="53" presetClass="entr" presetSubtype="16" decel="100000" fill="hold" grpId="0" nodeType="withEffect">
                                  <p:stCondLst>
                                    <p:cond delay="620"/>
                                  </p:stCondLst>
                                  <p:childTnLst>
                                    <p:set>
                                      <p:cBhvr>
                                        <p:cTn id="32" dur="1" fill="hold">
                                          <p:stCondLst>
                                            <p:cond delay="0"/>
                                          </p:stCondLst>
                                        </p:cTn>
                                        <p:tgtEl>
                                          <p:spTgt spid="11"/>
                                        </p:tgtEl>
                                        <p:attrNameLst>
                                          <p:attrName>style.visibility</p:attrName>
                                        </p:attrNameLst>
                                      </p:cBhvr>
                                      <p:to>
                                        <p:strVal val="visible"/>
                                      </p:to>
                                    </p:set>
                                    <p:anim calcmode="lin" valueType="num">
                                      <p:cBhvr additive="base">
                                        <p:cTn id="33" dur="450" fill="hold"/>
                                        <p:tgtEl>
                                          <p:spTgt spid="11"/>
                                        </p:tgtEl>
                                        <p:attrNameLst>
                                          <p:attrName>ppt_w</p:attrName>
                                        </p:attrNameLst>
                                      </p:cBhvr>
                                      <p:tavLst>
                                        <p:tav tm="0">
                                          <p:val>
                                            <p:strVal val="0"/>
                                          </p:val>
                                        </p:tav>
                                        <p:tav tm="70000">
                                          <p:val>
                                            <p:strVal val="#ppt_w*1.08"/>
                                          </p:val>
                                        </p:tav>
                                        <p:tav tm="100000">
                                          <p:val>
                                            <p:strVal val="#ppt_w"/>
                                          </p:val>
                                        </p:tav>
                                      </p:tavLst>
                                    </p:anim>
                                    <p:anim calcmode="lin" valueType="num">
                                      <p:cBhvr additive="base">
                                        <p:cTn id="34" dur="450" fill="hold"/>
                                        <p:tgtEl>
                                          <p:spTgt spid="11"/>
                                        </p:tgtEl>
                                        <p:attrNameLst>
                                          <p:attrName>ppt_h</p:attrName>
                                        </p:attrNameLst>
                                      </p:cBhvr>
                                      <p:tavLst>
                                        <p:tav tm="0">
                                          <p:val>
                                            <p:strVal val="0"/>
                                          </p:val>
                                        </p:tav>
                                        <p:tav tm="70000">
                                          <p:val>
                                            <p:strVal val="#ppt_h*1.08"/>
                                          </p:val>
                                        </p:tav>
                                        <p:tav tm="100000">
                                          <p:val>
                                            <p:strVal val="#ppt_h"/>
                                          </p:val>
                                        </p:tav>
                                      </p:tavLst>
                                    </p:anim>
                                    <p:animEffect transition="in" filter="fade">
                                      <p:cBhvr>
                                        <p:cTn id="35" dur="270" fill="hold"/>
                                        <p:tgtEl>
                                          <p:spTgt spid="11"/>
                                        </p:tgtEl>
                                      </p:cBhvr>
                                    </p:animEffect>
                                  </p:childTnLst>
                                </p:cTn>
                              </p:par>
                              <p:par>
                                <p:cTn id="36" presetID="42" presetClass="entr" presetSubtype="0" decel="100000" fill="hold" grpId="0" nodeType="withEffect">
                                  <p:stCondLst>
                                    <p:cond delay="74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650" fill="hold"/>
                                        <p:tgtEl>
                                          <p:spTgt spid="12"/>
                                        </p:tgtEl>
                                      </p:cBhvr>
                                    </p:animEffect>
                                    <p:anim calcmode="lin" valueType="num">
                                      <p:cBhvr additive="base">
                                        <p:cTn id="39" dur="650" fill="hold"/>
                                        <p:tgtEl>
                                          <p:spTgt spid="12"/>
                                        </p:tgtEl>
                                        <p:attrNameLst>
                                          <p:attrName>ppt_x</p:attrName>
                                        </p:attrNameLst>
                                      </p:cBhvr>
                                      <p:tavLst>
                                        <p:tav tm="0">
                                          <p:val>
                                            <p:strVal val="#ppt_x"/>
                                          </p:val>
                                        </p:tav>
                                        <p:tav tm="100000">
                                          <p:val>
                                            <p:strVal val="#ppt_x"/>
                                          </p:val>
                                        </p:tav>
                                      </p:tavLst>
                                    </p:anim>
                                    <p:anim calcmode="lin" valueType="num">
                                      <p:cBhvr additive="base">
                                        <p:cTn id="40" dur="650" fill="hold"/>
                                        <p:tgtEl>
                                          <p:spTgt spid="12"/>
                                        </p:tgtEl>
                                        <p:attrNameLst>
                                          <p:attrName>ppt_y</p:attrName>
                                        </p:attrNameLst>
                                      </p:cBhvr>
                                      <p:tavLst>
                                        <p:tav tm="0">
                                          <p:val>
                                            <p:strVal val="#ppt_y+.06"/>
                                          </p:val>
                                        </p:tav>
                                        <p:tav tm="100000">
                                          <p:val>
                                            <p:strVal val="#ppt_y"/>
                                          </p:val>
                                        </p:tav>
                                      </p:tavLst>
                                    </p:anim>
                                  </p:childTnLst>
                                </p:cTn>
                              </p:par>
                              <p:par>
                                <p:cTn id="41" presetID="42" presetClass="entr" presetSubtype="0" decel="100000" fill="hold" grpId="0" nodeType="withEffect">
                                  <p:stCondLst>
                                    <p:cond delay="74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650" fill="hold"/>
                                        <p:tgtEl>
                                          <p:spTgt spid="13"/>
                                        </p:tgtEl>
                                      </p:cBhvr>
                                    </p:animEffect>
                                    <p:anim calcmode="lin" valueType="num">
                                      <p:cBhvr additive="base">
                                        <p:cTn id="44" dur="650" fill="hold"/>
                                        <p:tgtEl>
                                          <p:spTgt spid="13"/>
                                        </p:tgtEl>
                                        <p:attrNameLst>
                                          <p:attrName>ppt_x</p:attrName>
                                        </p:attrNameLst>
                                      </p:cBhvr>
                                      <p:tavLst>
                                        <p:tav tm="0">
                                          <p:val>
                                            <p:strVal val="#ppt_x"/>
                                          </p:val>
                                        </p:tav>
                                        <p:tav tm="100000">
                                          <p:val>
                                            <p:strVal val="#ppt_x"/>
                                          </p:val>
                                        </p:tav>
                                      </p:tavLst>
                                    </p:anim>
                                    <p:anim calcmode="lin" valueType="num">
                                      <p:cBhvr additive="base">
                                        <p:cTn id="45" dur="650" fill="hold"/>
                                        <p:tgtEl>
                                          <p:spTgt spid="13"/>
                                        </p:tgtEl>
                                        <p:attrNameLst>
                                          <p:attrName>ppt_y</p:attrName>
                                        </p:attrNameLst>
                                      </p:cBhvr>
                                      <p:tavLst>
                                        <p:tav tm="0">
                                          <p:val>
                                            <p:strVal val="#ppt_y+.06"/>
                                          </p:val>
                                        </p:tav>
                                        <p:tav tm="100000">
                                          <p:val>
                                            <p:strVal val="#ppt_y"/>
                                          </p:val>
                                        </p:tav>
                                      </p:tavLst>
                                    </p:anim>
                                  </p:childTnLst>
                                </p:cTn>
                              </p:par>
                              <p:par>
                                <p:cTn id="46" presetID="42" presetClass="entr" presetSubtype="0" decel="100000" fill="hold" grpId="0" nodeType="withEffect">
                                  <p:stCondLst>
                                    <p:cond delay="740"/>
                                  </p:stCondLst>
                                  <p:childTnLst>
                                    <p:set>
                                      <p:cBhvr>
                                        <p:cTn id="47" dur="1" fill="hold">
                                          <p:stCondLst>
                                            <p:cond delay="0"/>
                                          </p:stCondLst>
                                        </p:cTn>
                                        <p:tgtEl>
                                          <p:spTgt spid="14"/>
                                        </p:tgtEl>
                                        <p:attrNameLst>
                                          <p:attrName>style.visibility</p:attrName>
                                        </p:attrNameLst>
                                      </p:cBhvr>
                                      <p:to>
                                        <p:strVal val="visible"/>
                                      </p:to>
                                    </p:set>
                                    <p:animEffect transition="in" filter="fade">
                                      <p:cBhvr>
                                        <p:cTn id="48" dur="650" fill="hold"/>
                                        <p:tgtEl>
                                          <p:spTgt spid="14"/>
                                        </p:tgtEl>
                                      </p:cBhvr>
                                    </p:animEffect>
                                    <p:anim calcmode="lin" valueType="num">
                                      <p:cBhvr additive="base">
                                        <p:cTn id="49" dur="650" fill="hold"/>
                                        <p:tgtEl>
                                          <p:spTgt spid="14"/>
                                        </p:tgtEl>
                                        <p:attrNameLst>
                                          <p:attrName>ppt_x</p:attrName>
                                        </p:attrNameLst>
                                      </p:cBhvr>
                                      <p:tavLst>
                                        <p:tav tm="0">
                                          <p:val>
                                            <p:strVal val="#ppt_x"/>
                                          </p:val>
                                        </p:tav>
                                        <p:tav tm="100000">
                                          <p:val>
                                            <p:strVal val="#ppt_x"/>
                                          </p:val>
                                        </p:tav>
                                      </p:tavLst>
                                    </p:anim>
                                    <p:anim calcmode="lin" valueType="num">
                                      <p:cBhvr additive="base">
                                        <p:cTn id="50" dur="650" fill="hold"/>
                                        <p:tgtEl>
                                          <p:spTgt spid="14"/>
                                        </p:tgtEl>
                                        <p:attrNameLst>
                                          <p:attrName>ppt_y</p:attrName>
                                        </p:attrNameLst>
                                      </p:cBhvr>
                                      <p:tavLst>
                                        <p:tav tm="0">
                                          <p:val>
                                            <p:strVal val="#ppt_y+.06"/>
                                          </p:val>
                                        </p:tav>
                                        <p:tav tm="100000">
                                          <p:val>
                                            <p:strVal val="#ppt_y"/>
                                          </p:val>
                                        </p:tav>
                                      </p:tavLst>
                                    </p:anim>
                                  </p:childTnLst>
                                </p:cTn>
                              </p:par>
                              <p:par>
                                <p:cTn id="51" presetID="53" presetClass="entr" presetSubtype="16" decel="100000" fill="hold" grpId="0" nodeType="withEffect">
                                  <p:stCondLst>
                                    <p:cond delay="1040"/>
                                  </p:stCondLst>
                                  <p:childTnLst>
                                    <p:set>
                                      <p:cBhvr>
                                        <p:cTn id="52" dur="1" fill="hold">
                                          <p:stCondLst>
                                            <p:cond delay="0"/>
                                          </p:stCondLst>
                                        </p:cTn>
                                        <p:tgtEl>
                                          <p:spTgt spid="15"/>
                                        </p:tgtEl>
                                        <p:attrNameLst>
                                          <p:attrName>style.visibility</p:attrName>
                                        </p:attrNameLst>
                                      </p:cBhvr>
                                      <p:to>
                                        <p:strVal val="visible"/>
                                      </p:to>
                                    </p:set>
                                    <p:anim calcmode="lin" valueType="num">
                                      <p:cBhvr additive="base">
                                        <p:cTn id="53" dur="450" fill="hold"/>
                                        <p:tgtEl>
                                          <p:spTgt spid="15"/>
                                        </p:tgtEl>
                                        <p:attrNameLst>
                                          <p:attrName>ppt_w</p:attrName>
                                        </p:attrNameLst>
                                      </p:cBhvr>
                                      <p:tavLst>
                                        <p:tav tm="0">
                                          <p:val>
                                            <p:strVal val="0"/>
                                          </p:val>
                                        </p:tav>
                                        <p:tav tm="70000">
                                          <p:val>
                                            <p:strVal val="#ppt_w*1.08"/>
                                          </p:val>
                                        </p:tav>
                                        <p:tav tm="100000">
                                          <p:val>
                                            <p:strVal val="#ppt_w"/>
                                          </p:val>
                                        </p:tav>
                                      </p:tavLst>
                                    </p:anim>
                                    <p:anim calcmode="lin" valueType="num">
                                      <p:cBhvr additive="base">
                                        <p:cTn id="54" dur="450" fill="hold"/>
                                        <p:tgtEl>
                                          <p:spTgt spid="15"/>
                                        </p:tgtEl>
                                        <p:attrNameLst>
                                          <p:attrName>ppt_h</p:attrName>
                                        </p:attrNameLst>
                                      </p:cBhvr>
                                      <p:tavLst>
                                        <p:tav tm="0">
                                          <p:val>
                                            <p:strVal val="0"/>
                                          </p:val>
                                        </p:tav>
                                        <p:tav tm="70000">
                                          <p:val>
                                            <p:strVal val="#ppt_h*1.08"/>
                                          </p:val>
                                        </p:tav>
                                        <p:tav tm="100000">
                                          <p:val>
                                            <p:strVal val="#ppt_h"/>
                                          </p:val>
                                        </p:tav>
                                      </p:tavLst>
                                    </p:anim>
                                    <p:animEffect transition="in" filter="fade">
                                      <p:cBhvr>
                                        <p:cTn id="55" dur="270" fill="hold"/>
                                        <p:tgtEl>
                                          <p:spTgt spid="15"/>
                                        </p:tgtEl>
                                      </p:cBhvr>
                                    </p:animEffect>
                                  </p:childTnLst>
                                </p:cTn>
                              </p:par>
                              <p:par>
                                <p:cTn id="56" presetID="42" presetClass="entr" presetSubtype="0" decel="100000" fill="hold" grpId="0" nodeType="withEffect">
                                  <p:stCondLst>
                                    <p:cond delay="116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650" fill="hold"/>
                                        <p:tgtEl>
                                          <p:spTgt spid="16"/>
                                        </p:tgtEl>
                                      </p:cBhvr>
                                    </p:animEffect>
                                    <p:anim calcmode="lin" valueType="num">
                                      <p:cBhvr additive="base">
                                        <p:cTn id="59" dur="650" fill="hold"/>
                                        <p:tgtEl>
                                          <p:spTgt spid="16"/>
                                        </p:tgtEl>
                                        <p:attrNameLst>
                                          <p:attrName>ppt_x</p:attrName>
                                        </p:attrNameLst>
                                      </p:cBhvr>
                                      <p:tavLst>
                                        <p:tav tm="0">
                                          <p:val>
                                            <p:strVal val="#ppt_x"/>
                                          </p:val>
                                        </p:tav>
                                        <p:tav tm="100000">
                                          <p:val>
                                            <p:strVal val="#ppt_x"/>
                                          </p:val>
                                        </p:tav>
                                      </p:tavLst>
                                    </p:anim>
                                    <p:anim calcmode="lin" valueType="num">
                                      <p:cBhvr additive="base">
                                        <p:cTn id="60" dur="650" fill="hold"/>
                                        <p:tgtEl>
                                          <p:spTgt spid="16"/>
                                        </p:tgtEl>
                                        <p:attrNameLst>
                                          <p:attrName>ppt_y</p:attrName>
                                        </p:attrNameLst>
                                      </p:cBhvr>
                                      <p:tavLst>
                                        <p:tav tm="0">
                                          <p:val>
                                            <p:strVal val="#ppt_y+.06"/>
                                          </p:val>
                                        </p:tav>
                                        <p:tav tm="100000">
                                          <p:val>
                                            <p:strVal val="#ppt_y"/>
                                          </p:val>
                                        </p:tav>
                                      </p:tavLst>
                                    </p:anim>
                                  </p:childTnLst>
                                </p:cTn>
                              </p:par>
                              <p:par>
                                <p:cTn id="61" presetID="42" presetClass="entr" presetSubtype="0" decel="100000" fill="hold" grpId="0" nodeType="withEffect">
                                  <p:stCondLst>
                                    <p:cond delay="1160"/>
                                  </p:stCondLst>
                                  <p:childTnLst>
                                    <p:set>
                                      <p:cBhvr>
                                        <p:cTn id="62" dur="1" fill="hold">
                                          <p:stCondLst>
                                            <p:cond delay="0"/>
                                          </p:stCondLst>
                                        </p:cTn>
                                        <p:tgtEl>
                                          <p:spTgt spid="17"/>
                                        </p:tgtEl>
                                        <p:attrNameLst>
                                          <p:attrName>style.visibility</p:attrName>
                                        </p:attrNameLst>
                                      </p:cBhvr>
                                      <p:to>
                                        <p:strVal val="visible"/>
                                      </p:to>
                                    </p:set>
                                    <p:animEffect transition="in" filter="fade">
                                      <p:cBhvr>
                                        <p:cTn id="63" dur="650" fill="hold"/>
                                        <p:tgtEl>
                                          <p:spTgt spid="17"/>
                                        </p:tgtEl>
                                      </p:cBhvr>
                                    </p:animEffect>
                                    <p:anim calcmode="lin" valueType="num">
                                      <p:cBhvr additive="base">
                                        <p:cTn id="64" dur="650" fill="hold"/>
                                        <p:tgtEl>
                                          <p:spTgt spid="17"/>
                                        </p:tgtEl>
                                        <p:attrNameLst>
                                          <p:attrName>ppt_x</p:attrName>
                                        </p:attrNameLst>
                                      </p:cBhvr>
                                      <p:tavLst>
                                        <p:tav tm="0">
                                          <p:val>
                                            <p:strVal val="#ppt_x"/>
                                          </p:val>
                                        </p:tav>
                                        <p:tav tm="100000">
                                          <p:val>
                                            <p:strVal val="#ppt_x"/>
                                          </p:val>
                                        </p:tav>
                                      </p:tavLst>
                                    </p:anim>
                                    <p:anim calcmode="lin" valueType="num">
                                      <p:cBhvr additive="base">
                                        <p:cTn id="65" dur="650" fill="hold"/>
                                        <p:tgtEl>
                                          <p:spTgt spid="17"/>
                                        </p:tgtEl>
                                        <p:attrNameLst>
                                          <p:attrName>ppt_y</p:attrName>
                                        </p:attrNameLst>
                                      </p:cBhvr>
                                      <p:tavLst>
                                        <p:tav tm="0">
                                          <p:val>
                                            <p:strVal val="#ppt_y+.06"/>
                                          </p:val>
                                        </p:tav>
                                        <p:tav tm="100000">
                                          <p:val>
                                            <p:strVal val="#ppt_y"/>
                                          </p:val>
                                        </p:tav>
                                      </p:tavLst>
                                    </p:anim>
                                  </p:childTnLst>
                                </p:cTn>
                              </p:par>
                              <p:par>
                                <p:cTn id="66" presetID="42" presetClass="entr" presetSubtype="0" decel="100000" fill="hold" grpId="0" nodeType="withEffect">
                                  <p:stCondLst>
                                    <p:cond delay="1160"/>
                                  </p:stCondLst>
                                  <p:childTnLst>
                                    <p:set>
                                      <p:cBhvr>
                                        <p:cTn id="67" dur="1" fill="hold">
                                          <p:stCondLst>
                                            <p:cond delay="0"/>
                                          </p:stCondLst>
                                        </p:cTn>
                                        <p:tgtEl>
                                          <p:spTgt spid="18"/>
                                        </p:tgtEl>
                                        <p:attrNameLst>
                                          <p:attrName>style.visibility</p:attrName>
                                        </p:attrNameLst>
                                      </p:cBhvr>
                                      <p:to>
                                        <p:strVal val="visible"/>
                                      </p:to>
                                    </p:set>
                                    <p:animEffect transition="in" filter="fade">
                                      <p:cBhvr>
                                        <p:cTn id="68" dur="650" fill="hold"/>
                                        <p:tgtEl>
                                          <p:spTgt spid="18"/>
                                        </p:tgtEl>
                                      </p:cBhvr>
                                    </p:animEffect>
                                    <p:anim calcmode="lin" valueType="num">
                                      <p:cBhvr additive="base">
                                        <p:cTn id="69" dur="650" fill="hold"/>
                                        <p:tgtEl>
                                          <p:spTgt spid="18"/>
                                        </p:tgtEl>
                                        <p:attrNameLst>
                                          <p:attrName>ppt_x</p:attrName>
                                        </p:attrNameLst>
                                      </p:cBhvr>
                                      <p:tavLst>
                                        <p:tav tm="0">
                                          <p:val>
                                            <p:strVal val="#ppt_x"/>
                                          </p:val>
                                        </p:tav>
                                        <p:tav tm="100000">
                                          <p:val>
                                            <p:strVal val="#ppt_x"/>
                                          </p:val>
                                        </p:tav>
                                      </p:tavLst>
                                    </p:anim>
                                    <p:anim calcmode="lin" valueType="num">
                                      <p:cBhvr additive="base">
                                        <p:cTn id="70" dur="650" fill="hold"/>
                                        <p:tgtEl>
                                          <p:spTgt spid="18"/>
                                        </p:tgtEl>
                                        <p:attrNameLst>
                                          <p:attrName>ppt_y</p:attrName>
                                        </p:attrNameLst>
                                      </p:cBhvr>
                                      <p:tavLst>
                                        <p:tav tm="0">
                                          <p:val>
                                            <p:strVal val="#ppt_y+.06"/>
                                          </p:val>
                                        </p:tav>
                                        <p:tav tm="100000">
                                          <p:val>
                                            <p:strVal val="#ppt_y"/>
                                          </p:val>
                                        </p:tav>
                                      </p:tavLst>
                                    </p:anim>
                                  </p:childTnLst>
                                </p:cTn>
                              </p:par>
                              <p:par>
                                <p:cTn id="71" presetID="53" presetClass="entr" presetSubtype="16" decel="100000" fill="hold" grpId="0" nodeType="withEffect">
                                  <p:stCondLst>
                                    <p:cond delay="1460"/>
                                  </p:stCondLst>
                                  <p:childTnLst>
                                    <p:set>
                                      <p:cBhvr>
                                        <p:cTn id="72" dur="1" fill="hold">
                                          <p:stCondLst>
                                            <p:cond delay="0"/>
                                          </p:stCondLst>
                                        </p:cTn>
                                        <p:tgtEl>
                                          <p:spTgt spid="19"/>
                                        </p:tgtEl>
                                        <p:attrNameLst>
                                          <p:attrName>style.visibility</p:attrName>
                                        </p:attrNameLst>
                                      </p:cBhvr>
                                      <p:to>
                                        <p:strVal val="visible"/>
                                      </p:to>
                                    </p:set>
                                    <p:anim calcmode="lin" valueType="num">
                                      <p:cBhvr additive="base">
                                        <p:cTn id="73" dur="450" fill="hold"/>
                                        <p:tgtEl>
                                          <p:spTgt spid="19"/>
                                        </p:tgtEl>
                                        <p:attrNameLst>
                                          <p:attrName>ppt_w</p:attrName>
                                        </p:attrNameLst>
                                      </p:cBhvr>
                                      <p:tavLst>
                                        <p:tav tm="0">
                                          <p:val>
                                            <p:strVal val="0"/>
                                          </p:val>
                                        </p:tav>
                                        <p:tav tm="70000">
                                          <p:val>
                                            <p:strVal val="#ppt_w*1.08"/>
                                          </p:val>
                                        </p:tav>
                                        <p:tav tm="100000">
                                          <p:val>
                                            <p:strVal val="#ppt_w"/>
                                          </p:val>
                                        </p:tav>
                                      </p:tavLst>
                                    </p:anim>
                                    <p:anim calcmode="lin" valueType="num">
                                      <p:cBhvr additive="base">
                                        <p:cTn id="74" dur="450" fill="hold"/>
                                        <p:tgtEl>
                                          <p:spTgt spid="19"/>
                                        </p:tgtEl>
                                        <p:attrNameLst>
                                          <p:attrName>ppt_h</p:attrName>
                                        </p:attrNameLst>
                                      </p:cBhvr>
                                      <p:tavLst>
                                        <p:tav tm="0">
                                          <p:val>
                                            <p:strVal val="0"/>
                                          </p:val>
                                        </p:tav>
                                        <p:tav tm="70000">
                                          <p:val>
                                            <p:strVal val="#ppt_h*1.08"/>
                                          </p:val>
                                        </p:tav>
                                        <p:tav tm="100000">
                                          <p:val>
                                            <p:strVal val="#ppt_h"/>
                                          </p:val>
                                        </p:tav>
                                      </p:tavLst>
                                    </p:anim>
                                    <p:animEffect transition="in" filter="fade">
                                      <p:cBhvr>
                                        <p:cTn id="75" dur="270" fill="hold"/>
                                        <p:tgtEl>
                                          <p:spTgt spid="19"/>
                                        </p:tgtEl>
                                      </p:cBhvr>
                                    </p:animEffect>
                                  </p:childTnLst>
                                </p:cTn>
                              </p:par>
                              <p:par>
                                <p:cTn id="76" presetID="42" presetClass="entr" presetSubtype="0" decel="100000" fill="hold" grpId="0" nodeType="withEffect">
                                  <p:stCondLst>
                                    <p:cond delay="158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650" fill="hold"/>
                                        <p:tgtEl>
                                          <p:spTgt spid="20"/>
                                        </p:tgtEl>
                                      </p:cBhvr>
                                    </p:animEffect>
                                    <p:anim calcmode="lin" valueType="num">
                                      <p:cBhvr additive="base">
                                        <p:cTn id="79" dur="650" fill="hold"/>
                                        <p:tgtEl>
                                          <p:spTgt spid="20"/>
                                        </p:tgtEl>
                                        <p:attrNameLst>
                                          <p:attrName>ppt_x</p:attrName>
                                        </p:attrNameLst>
                                      </p:cBhvr>
                                      <p:tavLst>
                                        <p:tav tm="0">
                                          <p:val>
                                            <p:strVal val="#ppt_x"/>
                                          </p:val>
                                        </p:tav>
                                        <p:tav tm="100000">
                                          <p:val>
                                            <p:strVal val="#ppt_x"/>
                                          </p:val>
                                        </p:tav>
                                      </p:tavLst>
                                    </p:anim>
                                    <p:anim calcmode="lin" valueType="num">
                                      <p:cBhvr additive="base">
                                        <p:cTn id="80" dur="650" fill="hold"/>
                                        <p:tgtEl>
                                          <p:spTgt spid="20"/>
                                        </p:tgtEl>
                                        <p:attrNameLst>
                                          <p:attrName>ppt_y</p:attrName>
                                        </p:attrNameLst>
                                      </p:cBhvr>
                                      <p:tavLst>
                                        <p:tav tm="0">
                                          <p:val>
                                            <p:strVal val="#ppt_y+.06"/>
                                          </p:val>
                                        </p:tav>
                                        <p:tav tm="100000">
                                          <p:val>
                                            <p:strVal val="#ppt_y"/>
                                          </p:val>
                                        </p:tav>
                                      </p:tavLst>
                                    </p:anim>
                                  </p:childTnLst>
                                </p:cTn>
                              </p:par>
                              <p:par>
                                <p:cTn id="81" presetID="42" presetClass="entr" presetSubtype="0" decel="100000" fill="hold" grpId="0" nodeType="withEffect">
                                  <p:stCondLst>
                                    <p:cond delay="1580"/>
                                  </p:stCondLst>
                                  <p:childTnLst>
                                    <p:set>
                                      <p:cBhvr>
                                        <p:cTn id="82" dur="1" fill="hold">
                                          <p:stCondLst>
                                            <p:cond delay="0"/>
                                          </p:stCondLst>
                                        </p:cTn>
                                        <p:tgtEl>
                                          <p:spTgt spid="21"/>
                                        </p:tgtEl>
                                        <p:attrNameLst>
                                          <p:attrName>style.visibility</p:attrName>
                                        </p:attrNameLst>
                                      </p:cBhvr>
                                      <p:to>
                                        <p:strVal val="visible"/>
                                      </p:to>
                                    </p:set>
                                    <p:animEffect transition="in" filter="fade">
                                      <p:cBhvr>
                                        <p:cTn id="83" dur="650" fill="hold"/>
                                        <p:tgtEl>
                                          <p:spTgt spid="21"/>
                                        </p:tgtEl>
                                      </p:cBhvr>
                                    </p:animEffect>
                                    <p:anim calcmode="lin" valueType="num">
                                      <p:cBhvr additive="base">
                                        <p:cTn id="84" dur="650" fill="hold"/>
                                        <p:tgtEl>
                                          <p:spTgt spid="21"/>
                                        </p:tgtEl>
                                        <p:attrNameLst>
                                          <p:attrName>ppt_x</p:attrName>
                                        </p:attrNameLst>
                                      </p:cBhvr>
                                      <p:tavLst>
                                        <p:tav tm="0">
                                          <p:val>
                                            <p:strVal val="#ppt_x"/>
                                          </p:val>
                                        </p:tav>
                                        <p:tav tm="100000">
                                          <p:val>
                                            <p:strVal val="#ppt_x"/>
                                          </p:val>
                                        </p:tav>
                                      </p:tavLst>
                                    </p:anim>
                                    <p:anim calcmode="lin" valueType="num">
                                      <p:cBhvr additive="base">
                                        <p:cTn id="85" dur="650" fill="hold"/>
                                        <p:tgtEl>
                                          <p:spTgt spid="21"/>
                                        </p:tgtEl>
                                        <p:attrNameLst>
                                          <p:attrName>ppt_y</p:attrName>
                                        </p:attrNameLst>
                                      </p:cBhvr>
                                      <p:tavLst>
                                        <p:tav tm="0">
                                          <p:val>
                                            <p:strVal val="#ppt_y+.06"/>
                                          </p:val>
                                        </p:tav>
                                        <p:tav tm="100000">
                                          <p:val>
                                            <p:strVal val="#ppt_y"/>
                                          </p:val>
                                        </p:tav>
                                      </p:tavLst>
                                    </p:anim>
                                  </p:childTnLst>
                                </p:cTn>
                              </p:par>
                              <p:par>
                                <p:cTn id="86" presetID="42" presetClass="entr" presetSubtype="0" decel="100000" fill="hold" grpId="0" nodeType="withEffect">
                                  <p:stCondLst>
                                    <p:cond delay="158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650" fill="hold"/>
                                        <p:tgtEl>
                                          <p:spTgt spid="22"/>
                                        </p:tgtEl>
                                      </p:cBhvr>
                                    </p:animEffect>
                                    <p:anim calcmode="lin" valueType="num">
                                      <p:cBhvr additive="base">
                                        <p:cTn id="89" dur="650" fill="hold"/>
                                        <p:tgtEl>
                                          <p:spTgt spid="22"/>
                                        </p:tgtEl>
                                        <p:attrNameLst>
                                          <p:attrName>ppt_x</p:attrName>
                                        </p:attrNameLst>
                                      </p:cBhvr>
                                      <p:tavLst>
                                        <p:tav tm="0">
                                          <p:val>
                                            <p:strVal val="#ppt_x"/>
                                          </p:val>
                                        </p:tav>
                                        <p:tav tm="100000">
                                          <p:val>
                                            <p:strVal val="#ppt_x"/>
                                          </p:val>
                                        </p:tav>
                                      </p:tavLst>
                                    </p:anim>
                                    <p:anim calcmode="lin" valueType="num">
                                      <p:cBhvr additive="base">
                                        <p:cTn id="90" dur="650" fill="hold"/>
                                        <p:tgtEl>
                                          <p:spTgt spid="22"/>
                                        </p:tgtEl>
                                        <p:attrNameLst>
                                          <p:attrName>ppt_y</p:attrName>
                                        </p:attrNameLst>
                                      </p:cBhvr>
                                      <p:tavLst>
                                        <p:tav tm="0">
                                          <p:val>
                                            <p:strVal val="#ppt_y+.06"/>
                                          </p:val>
                                        </p:tav>
                                        <p:tav tm="100000">
                                          <p:val>
                                            <p:strVal val="#ppt_y"/>
                                          </p:val>
                                        </p:tav>
                                      </p:tavLst>
                                    </p:anim>
                                  </p:childTnLst>
                                </p:cTn>
                              </p:par>
                              <p:par>
                                <p:cTn id="91" presetID="53" presetClass="entr" presetSubtype="16" decel="100000" fill="hold" grpId="0" nodeType="withEffect">
                                  <p:stCondLst>
                                    <p:cond delay="1880"/>
                                  </p:stCondLst>
                                  <p:childTnLst>
                                    <p:set>
                                      <p:cBhvr>
                                        <p:cTn id="92" dur="1" fill="hold">
                                          <p:stCondLst>
                                            <p:cond delay="0"/>
                                          </p:stCondLst>
                                        </p:cTn>
                                        <p:tgtEl>
                                          <p:spTgt spid="23"/>
                                        </p:tgtEl>
                                        <p:attrNameLst>
                                          <p:attrName>style.visibility</p:attrName>
                                        </p:attrNameLst>
                                      </p:cBhvr>
                                      <p:to>
                                        <p:strVal val="visible"/>
                                      </p:to>
                                    </p:set>
                                    <p:anim calcmode="lin" valueType="num">
                                      <p:cBhvr additive="base">
                                        <p:cTn id="93" dur="450" fill="hold"/>
                                        <p:tgtEl>
                                          <p:spTgt spid="23"/>
                                        </p:tgtEl>
                                        <p:attrNameLst>
                                          <p:attrName>ppt_w</p:attrName>
                                        </p:attrNameLst>
                                      </p:cBhvr>
                                      <p:tavLst>
                                        <p:tav tm="0">
                                          <p:val>
                                            <p:strVal val="0"/>
                                          </p:val>
                                        </p:tav>
                                        <p:tav tm="70000">
                                          <p:val>
                                            <p:strVal val="#ppt_w*1.08"/>
                                          </p:val>
                                        </p:tav>
                                        <p:tav tm="100000">
                                          <p:val>
                                            <p:strVal val="#ppt_w"/>
                                          </p:val>
                                        </p:tav>
                                      </p:tavLst>
                                    </p:anim>
                                    <p:anim calcmode="lin" valueType="num">
                                      <p:cBhvr additive="base">
                                        <p:cTn id="94" dur="450" fill="hold"/>
                                        <p:tgtEl>
                                          <p:spTgt spid="23"/>
                                        </p:tgtEl>
                                        <p:attrNameLst>
                                          <p:attrName>ppt_h</p:attrName>
                                        </p:attrNameLst>
                                      </p:cBhvr>
                                      <p:tavLst>
                                        <p:tav tm="0">
                                          <p:val>
                                            <p:strVal val="0"/>
                                          </p:val>
                                        </p:tav>
                                        <p:tav tm="70000">
                                          <p:val>
                                            <p:strVal val="#ppt_h*1.08"/>
                                          </p:val>
                                        </p:tav>
                                        <p:tav tm="100000">
                                          <p:val>
                                            <p:strVal val="#ppt_h"/>
                                          </p:val>
                                        </p:tav>
                                      </p:tavLst>
                                    </p:anim>
                                    <p:animEffect transition="in" filter="fade">
                                      <p:cBhvr>
                                        <p:cTn id="95" dur="270" fill="hold"/>
                                        <p:tgtEl>
                                          <p:spTgt spid="23"/>
                                        </p:tgtEl>
                                      </p:cBhvr>
                                    </p:animEffect>
                                  </p:childTnLst>
                                </p:cTn>
                              </p:par>
                              <p:par>
                                <p:cTn id="96" presetID="42" presetClass="entr" presetSubtype="0" decel="100000" fill="hold" grpId="0" nodeType="withEffect">
                                  <p:stCondLst>
                                    <p:cond delay="2000"/>
                                  </p:stCondLst>
                                  <p:childTnLst>
                                    <p:set>
                                      <p:cBhvr>
                                        <p:cTn id="97" dur="1" fill="hold">
                                          <p:stCondLst>
                                            <p:cond delay="0"/>
                                          </p:stCondLst>
                                        </p:cTn>
                                        <p:tgtEl>
                                          <p:spTgt spid="24"/>
                                        </p:tgtEl>
                                        <p:attrNameLst>
                                          <p:attrName>style.visibility</p:attrName>
                                        </p:attrNameLst>
                                      </p:cBhvr>
                                      <p:to>
                                        <p:strVal val="visible"/>
                                      </p:to>
                                    </p:set>
                                    <p:animEffect transition="in" filter="fade">
                                      <p:cBhvr>
                                        <p:cTn id="98" dur="650" fill="hold"/>
                                        <p:tgtEl>
                                          <p:spTgt spid="24"/>
                                        </p:tgtEl>
                                      </p:cBhvr>
                                    </p:animEffect>
                                    <p:anim calcmode="lin" valueType="num">
                                      <p:cBhvr additive="base">
                                        <p:cTn id="99" dur="650" fill="hold"/>
                                        <p:tgtEl>
                                          <p:spTgt spid="24"/>
                                        </p:tgtEl>
                                        <p:attrNameLst>
                                          <p:attrName>ppt_x</p:attrName>
                                        </p:attrNameLst>
                                      </p:cBhvr>
                                      <p:tavLst>
                                        <p:tav tm="0">
                                          <p:val>
                                            <p:strVal val="#ppt_x"/>
                                          </p:val>
                                        </p:tav>
                                        <p:tav tm="100000">
                                          <p:val>
                                            <p:strVal val="#ppt_x"/>
                                          </p:val>
                                        </p:tav>
                                      </p:tavLst>
                                    </p:anim>
                                    <p:anim calcmode="lin" valueType="num">
                                      <p:cBhvr additive="base">
                                        <p:cTn id="100" dur="650" fill="hold"/>
                                        <p:tgtEl>
                                          <p:spTgt spid="24"/>
                                        </p:tgtEl>
                                        <p:attrNameLst>
                                          <p:attrName>ppt_y</p:attrName>
                                        </p:attrNameLst>
                                      </p:cBhvr>
                                      <p:tavLst>
                                        <p:tav tm="0">
                                          <p:val>
                                            <p:strVal val="#ppt_y+.06"/>
                                          </p:val>
                                        </p:tav>
                                        <p:tav tm="100000">
                                          <p:val>
                                            <p:strVal val="#ppt_y"/>
                                          </p:val>
                                        </p:tav>
                                      </p:tavLst>
                                    </p:anim>
                                  </p:childTnLst>
                                </p:cTn>
                              </p:par>
                              <p:par>
                                <p:cTn id="101" presetID="42" presetClass="entr" presetSubtype="0" decel="100000" fill="hold" grpId="0" nodeType="withEffect">
                                  <p:stCondLst>
                                    <p:cond delay="2000"/>
                                  </p:stCondLst>
                                  <p:childTnLst>
                                    <p:set>
                                      <p:cBhvr>
                                        <p:cTn id="102" dur="1" fill="hold">
                                          <p:stCondLst>
                                            <p:cond delay="0"/>
                                          </p:stCondLst>
                                        </p:cTn>
                                        <p:tgtEl>
                                          <p:spTgt spid="25"/>
                                        </p:tgtEl>
                                        <p:attrNameLst>
                                          <p:attrName>style.visibility</p:attrName>
                                        </p:attrNameLst>
                                      </p:cBhvr>
                                      <p:to>
                                        <p:strVal val="visible"/>
                                      </p:to>
                                    </p:set>
                                    <p:animEffect transition="in" filter="fade">
                                      <p:cBhvr>
                                        <p:cTn id="103" dur="650" fill="hold"/>
                                        <p:tgtEl>
                                          <p:spTgt spid="25"/>
                                        </p:tgtEl>
                                      </p:cBhvr>
                                    </p:animEffect>
                                    <p:anim calcmode="lin" valueType="num">
                                      <p:cBhvr additive="base">
                                        <p:cTn id="104" dur="650" fill="hold"/>
                                        <p:tgtEl>
                                          <p:spTgt spid="25"/>
                                        </p:tgtEl>
                                        <p:attrNameLst>
                                          <p:attrName>ppt_x</p:attrName>
                                        </p:attrNameLst>
                                      </p:cBhvr>
                                      <p:tavLst>
                                        <p:tav tm="0">
                                          <p:val>
                                            <p:strVal val="#ppt_x"/>
                                          </p:val>
                                        </p:tav>
                                        <p:tav tm="100000">
                                          <p:val>
                                            <p:strVal val="#ppt_x"/>
                                          </p:val>
                                        </p:tav>
                                      </p:tavLst>
                                    </p:anim>
                                    <p:anim calcmode="lin" valueType="num">
                                      <p:cBhvr additive="base">
                                        <p:cTn id="105" dur="650" fill="hold"/>
                                        <p:tgtEl>
                                          <p:spTgt spid="25"/>
                                        </p:tgtEl>
                                        <p:attrNameLst>
                                          <p:attrName>ppt_y</p:attrName>
                                        </p:attrNameLst>
                                      </p:cBhvr>
                                      <p:tavLst>
                                        <p:tav tm="0">
                                          <p:val>
                                            <p:strVal val="#ppt_y+.06"/>
                                          </p:val>
                                        </p:tav>
                                        <p:tav tm="100000">
                                          <p:val>
                                            <p:strVal val="#ppt_y"/>
                                          </p:val>
                                        </p:tav>
                                      </p:tavLst>
                                    </p:anim>
                                  </p:childTnLst>
                                </p:cTn>
                              </p:par>
                              <p:par>
                                <p:cTn id="106" presetID="42" presetClass="entr" presetSubtype="0" decel="100000" fill="hold" grpId="0" nodeType="withEffect">
                                  <p:stCondLst>
                                    <p:cond delay="2000"/>
                                  </p:stCondLst>
                                  <p:childTnLst>
                                    <p:set>
                                      <p:cBhvr>
                                        <p:cTn id="107" dur="1" fill="hold">
                                          <p:stCondLst>
                                            <p:cond delay="0"/>
                                          </p:stCondLst>
                                        </p:cTn>
                                        <p:tgtEl>
                                          <p:spTgt spid="26"/>
                                        </p:tgtEl>
                                        <p:attrNameLst>
                                          <p:attrName>style.visibility</p:attrName>
                                        </p:attrNameLst>
                                      </p:cBhvr>
                                      <p:to>
                                        <p:strVal val="visible"/>
                                      </p:to>
                                    </p:set>
                                    <p:animEffect transition="in" filter="fade">
                                      <p:cBhvr>
                                        <p:cTn id="108" dur="650" fill="hold"/>
                                        <p:tgtEl>
                                          <p:spTgt spid="26"/>
                                        </p:tgtEl>
                                      </p:cBhvr>
                                    </p:animEffect>
                                    <p:anim calcmode="lin" valueType="num">
                                      <p:cBhvr additive="base">
                                        <p:cTn id="109" dur="650" fill="hold"/>
                                        <p:tgtEl>
                                          <p:spTgt spid="26"/>
                                        </p:tgtEl>
                                        <p:attrNameLst>
                                          <p:attrName>ppt_x</p:attrName>
                                        </p:attrNameLst>
                                      </p:cBhvr>
                                      <p:tavLst>
                                        <p:tav tm="0">
                                          <p:val>
                                            <p:strVal val="#ppt_x"/>
                                          </p:val>
                                        </p:tav>
                                        <p:tav tm="100000">
                                          <p:val>
                                            <p:strVal val="#ppt_x"/>
                                          </p:val>
                                        </p:tav>
                                      </p:tavLst>
                                    </p:anim>
                                    <p:anim calcmode="lin" valueType="num">
                                      <p:cBhvr additive="base">
                                        <p:cTn id="110" dur="650" fill="hold"/>
                                        <p:tgtEl>
                                          <p:spTgt spid="26"/>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9CD848"/>
                </a:solidFill>
                <a:latin typeface="Segoe UI Semibold"/>
              </a:rPr>
              <a:t>MÓDULO 2  ·  EMPATIZAR</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Boas práticas de entrevista</a:t>
            </a:r>
          </a:p>
        </p:txBody>
      </p:sp>
      <p:sp>
        <p:nvSpPr>
          <p:cNvPr id="6" name="TextBox 5"/>
          <p:cNvSpPr txBox="1"/>
          <p:nvPr/>
        </p:nvSpPr>
        <p:spPr>
          <a:xfrm>
            <a:off x="548640" y="1325880"/>
            <a:ext cx="10972800" cy="457200"/>
          </a:xfrm>
          <a:prstGeom prst="rect">
            <a:avLst/>
          </a:prstGeom>
          <a:noFill/>
        </p:spPr>
        <p:txBody>
          <a:bodyPr wrap="square" lIns="36576" tIns="18288" rIns="36576" bIns="18288" anchor="t">
            <a:spAutoFit/>
          </a:bodyPr>
          <a:lstStyle/>
          <a:p>
            <a:pPr algn="l"/>
            <a:r>
              <a:rPr sz="1700" b="0" i="0">
                <a:solidFill>
                  <a:srgbClr val="B4B8B0"/>
                </a:solidFill>
                <a:latin typeface="Segoe UI"/>
              </a:rPr>
              <a:t>Pergunte sobre o passado real, não sobre o futuro hipotético.</a:t>
            </a:r>
          </a:p>
        </p:txBody>
      </p:sp>
      <p:sp>
        <p:nvSpPr>
          <p:cNvPr id="7" name="Rounded Rectangle 6"/>
          <p:cNvSpPr/>
          <p:nvPr/>
        </p:nvSpPr>
        <p:spPr>
          <a:xfrm>
            <a:off x="548640" y="2148840"/>
            <a:ext cx="3514344" cy="356616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68680" y="3246120"/>
            <a:ext cx="2874264" cy="822960"/>
          </a:xfrm>
          <a:prstGeom prst="rect">
            <a:avLst/>
          </a:prstGeom>
          <a:noFill/>
        </p:spPr>
        <p:txBody>
          <a:bodyPr wrap="square" lIns="36576" tIns="18288" rIns="36576" bIns="18288" anchor="t">
            <a:spAutoFit/>
          </a:bodyPr>
          <a:lstStyle/>
          <a:p>
            <a:pPr algn="l"/>
            <a:r>
              <a:rPr sz="1900" b="1" i="0">
                <a:solidFill>
                  <a:srgbClr val="F2F2EC"/>
                </a:solidFill>
                <a:latin typeface="Segoe UI Semibold"/>
              </a:rPr>
              <a:t>Pergunte aberto</a:t>
            </a:r>
          </a:p>
        </p:txBody>
      </p:sp>
      <p:sp>
        <p:nvSpPr>
          <p:cNvPr id="9" name="TextBox 8"/>
          <p:cNvSpPr txBox="1"/>
          <p:nvPr/>
        </p:nvSpPr>
        <p:spPr>
          <a:xfrm>
            <a:off x="868680" y="4160520"/>
            <a:ext cx="2874264" cy="1508760"/>
          </a:xfrm>
          <a:prstGeom prst="rect">
            <a:avLst/>
          </a:prstGeom>
          <a:noFill/>
        </p:spPr>
        <p:txBody>
          <a:bodyPr wrap="square" lIns="36576" tIns="18288" rIns="36576" bIns="18288" anchor="t">
            <a:spAutoFit/>
          </a:bodyPr>
          <a:lstStyle/>
          <a:p>
            <a:pPr algn="l"/>
            <a:r>
              <a:rPr sz="1450" b="0" i="0">
                <a:solidFill>
                  <a:srgbClr val="B4B8B0"/>
                </a:solidFill>
                <a:latin typeface="Segoe UI"/>
              </a:rPr>
              <a:t>'Me conte a última vez que você…' funciona melhor que 'Você gosta de…?'</a:t>
            </a:r>
          </a:p>
        </p:txBody>
      </p:sp>
      <p:sp>
        <p:nvSpPr>
          <p:cNvPr id="10" name="Oval 9"/>
          <p:cNvSpPr/>
          <p:nvPr/>
        </p:nvSpPr>
        <p:spPr>
          <a:xfrm>
            <a:off x="859536" y="2459736"/>
            <a:ext cx="566928" cy="566928"/>
          </a:xfrm>
          <a:prstGeom prst="ellipse">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700" b="1" i="0">
                <a:solidFill>
                  <a:srgbClr val="1A1A1A"/>
                </a:solidFill>
                <a:latin typeface="Segoe UI Semibold"/>
              </a:rPr>
              <a:t>1</a:t>
            </a:r>
          </a:p>
        </p:txBody>
      </p:sp>
      <p:sp>
        <p:nvSpPr>
          <p:cNvPr id="11" name="Rounded Rectangle 10"/>
          <p:cNvSpPr/>
          <p:nvPr/>
        </p:nvSpPr>
        <p:spPr>
          <a:xfrm>
            <a:off x="4337304" y="2148840"/>
            <a:ext cx="3514344" cy="356616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657344" y="3246120"/>
            <a:ext cx="2874264" cy="822960"/>
          </a:xfrm>
          <a:prstGeom prst="rect">
            <a:avLst/>
          </a:prstGeom>
          <a:noFill/>
        </p:spPr>
        <p:txBody>
          <a:bodyPr wrap="square" lIns="36576" tIns="18288" rIns="36576" bIns="18288" anchor="t">
            <a:spAutoFit/>
          </a:bodyPr>
          <a:lstStyle/>
          <a:p>
            <a:pPr algn="l"/>
            <a:r>
              <a:rPr sz="1900" b="1" i="0">
                <a:solidFill>
                  <a:srgbClr val="F2F2EC"/>
                </a:solidFill>
                <a:latin typeface="Segoe UI Semibold"/>
              </a:rPr>
              <a:t>Não induza</a:t>
            </a:r>
          </a:p>
        </p:txBody>
      </p:sp>
      <p:sp>
        <p:nvSpPr>
          <p:cNvPr id="13" name="TextBox 12"/>
          <p:cNvSpPr txBox="1"/>
          <p:nvPr/>
        </p:nvSpPr>
        <p:spPr>
          <a:xfrm>
            <a:off x="4657344" y="4160520"/>
            <a:ext cx="2874264" cy="1508760"/>
          </a:xfrm>
          <a:prstGeom prst="rect">
            <a:avLst/>
          </a:prstGeom>
          <a:noFill/>
        </p:spPr>
        <p:txBody>
          <a:bodyPr wrap="square" lIns="36576" tIns="18288" rIns="36576" bIns="18288" anchor="t">
            <a:spAutoFit/>
          </a:bodyPr>
          <a:lstStyle/>
          <a:p>
            <a:pPr algn="l"/>
            <a:r>
              <a:rPr sz="1450" b="0" i="0">
                <a:solidFill>
                  <a:srgbClr val="B4B8B0"/>
                </a:solidFill>
                <a:latin typeface="Segoe UI"/>
              </a:rPr>
              <a:t>Evite 'Você não acha que seria melhor se…?'. A resposta vem pronta.</a:t>
            </a:r>
          </a:p>
        </p:txBody>
      </p:sp>
      <p:sp>
        <p:nvSpPr>
          <p:cNvPr id="14" name="Oval 13"/>
          <p:cNvSpPr/>
          <p:nvPr/>
        </p:nvSpPr>
        <p:spPr>
          <a:xfrm>
            <a:off x="4648200" y="2459736"/>
            <a:ext cx="566928" cy="566928"/>
          </a:xfrm>
          <a:prstGeom prst="ellipse">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700" b="1" i="0">
                <a:solidFill>
                  <a:srgbClr val="1A1A1A"/>
                </a:solidFill>
                <a:latin typeface="Segoe UI Semibold"/>
              </a:rPr>
              <a:t>2</a:t>
            </a:r>
          </a:p>
        </p:txBody>
      </p:sp>
      <p:sp>
        <p:nvSpPr>
          <p:cNvPr id="15" name="Rounded Rectangle 14"/>
          <p:cNvSpPr/>
          <p:nvPr/>
        </p:nvSpPr>
        <p:spPr>
          <a:xfrm>
            <a:off x="8125968" y="2148840"/>
            <a:ext cx="3514344" cy="356616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446008" y="3246120"/>
            <a:ext cx="2874264" cy="822960"/>
          </a:xfrm>
          <a:prstGeom prst="rect">
            <a:avLst/>
          </a:prstGeom>
          <a:noFill/>
        </p:spPr>
        <p:txBody>
          <a:bodyPr wrap="square" lIns="36576" tIns="18288" rIns="36576" bIns="18288" anchor="t">
            <a:spAutoFit/>
          </a:bodyPr>
          <a:lstStyle/>
          <a:p>
            <a:pPr algn="l"/>
            <a:r>
              <a:rPr sz="1900" b="1" i="0">
                <a:solidFill>
                  <a:srgbClr val="F2F2EC"/>
                </a:solidFill>
                <a:latin typeface="Segoe UI Semibold"/>
              </a:rPr>
              <a:t>Cave o porquê</a:t>
            </a:r>
          </a:p>
        </p:txBody>
      </p:sp>
      <p:sp>
        <p:nvSpPr>
          <p:cNvPr id="17" name="TextBox 16"/>
          <p:cNvSpPr txBox="1"/>
          <p:nvPr/>
        </p:nvSpPr>
        <p:spPr>
          <a:xfrm>
            <a:off x="8446008" y="4160520"/>
            <a:ext cx="2874264" cy="1508760"/>
          </a:xfrm>
          <a:prstGeom prst="rect">
            <a:avLst/>
          </a:prstGeom>
          <a:noFill/>
        </p:spPr>
        <p:txBody>
          <a:bodyPr wrap="square" lIns="36576" tIns="18288" rIns="36576" bIns="18288" anchor="t">
            <a:spAutoFit/>
          </a:bodyPr>
          <a:lstStyle/>
          <a:p>
            <a:pPr algn="l"/>
            <a:r>
              <a:rPr sz="1450" b="0" i="0">
                <a:solidFill>
                  <a:srgbClr val="B4B8B0"/>
                </a:solidFill>
                <a:latin typeface="Segoe UI"/>
              </a:rPr>
              <a:t>Pergunte 'por quê?' até chegar na motivação real. Silêncio também é ferramenta.</a:t>
            </a:r>
          </a:p>
        </p:txBody>
      </p:sp>
      <p:sp>
        <p:nvSpPr>
          <p:cNvPr id="18" name="Oval 17"/>
          <p:cNvSpPr/>
          <p:nvPr/>
        </p:nvSpPr>
        <p:spPr>
          <a:xfrm>
            <a:off x="8436864" y="2459736"/>
            <a:ext cx="566928" cy="566928"/>
          </a:xfrm>
          <a:prstGeom prst="ellipse">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700" b="1" i="0">
                <a:solidFill>
                  <a:srgbClr val="1A1A1A"/>
                </a:solidFill>
                <a:latin typeface="Segoe UI Semibold"/>
              </a:rPr>
              <a:t>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fill="hold"/>
                                        <p:tgtEl>
                                          <p:spTgt spid="6"/>
                                        </p:tgtEl>
                                      </p:cBhvr>
                                    </p:animEffect>
                                  </p:childTnLst>
                                </p:cTn>
                              </p:par>
                              <p:par>
                                <p:cTn id="11" presetID="42" presetClass="entr" presetSubtype="0" decel="100000" fill="hold" grpId="0" nodeType="withEffect">
                                  <p:stCondLst>
                                    <p:cond delay="45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650" fill="hold"/>
                                        <p:tgtEl>
                                          <p:spTgt spid="7"/>
                                        </p:tgtEl>
                                      </p:cBhvr>
                                    </p:animEffect>
                                    <p:anim calcmode="lin" valueType="num">
                                      <p:cBhvr additive="base">
                                        <p:cTn id="14" dur="650" fill="hold"/>
                                        <p:tgtEl>
                                          <p:spTgt spid="7"/>
                                        </p:tgtEl>
                                        <p:attrNameLst>
                                          <p:attrName>ppt_x</p:attrName>
                                        </p:attrNameLst>
                                      </p:cBhvr>
                                      <p:tavLst>
                                        <p:tav tm="0">
                                          <p:val>
                                            <p:strVal val="#ppt_x"/>
                                          </p:val>
                                        </p:tav>
                                        <p:tav tm="100000">
                                          <p:val>
                                            <p:strVal val="#ppt_x"/>
                                          </p:val>
                                        </p:tav>
                                      </p:tavLst>
                                    </p:anim>
                                    <p:anim calcmode="lin" valueType="num">
                                      <p:cBhvr additive="base">
                                        <p:cTn id="15" dur="650" fill="hold"/>
                                        <p:tgtEl>
                                          <p:spTgt spid="7"/>
                                        </p:tgtEl>
                                        <p:attrNameLst>
                                          <p:attrName>ppt_y</p:attrName>
                                        </p:attrNameLst>
                                      </p:cBhvr>
                                      <p:tavLst>
                                        <p:tav tm="0">
                                          <p:val>
                                            <p:strVal val="#ppt_y+.06"/>
                                          </p:val>
                                        </p:tav>
                                        <p:tav tm="100000">
                                          <p:val>
                                            <p:strVal val="#ppt_y"/>
                                          </p:val>
                                        </p:tav>
                                      </p:tavLst>
                                    </p:anim>
                                  </p:childTnLst>
                                </p:cTn>
                              </p:par>
                              <p:par>
                                <p:cTn id="16" presetID="42" presetClass="entr" presetSubtype="0" decel="100000" fill="hold" grpId="0" nodeType="withEffect">
                                  <p:stCondLst>
                                    <p:cond delay="45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650" fill="hold"/>
                                        <p:tgtEl>
                                          <p:spTgt spid="8"/>
                                        </p:tgtEl>
                                      </p:cBhvr>
                                    </p:animEffect>
                                    <p:anim calcmode="lin" valueType="num">
                                      <p:cBhvr additive="base">
                                        <p:cTn id="19" dur="650" fill="hold"/>
                                        <p:tgtEl>
                                          <p:spTgt spid="8"/>
                                        </p:tgtEl>
                                        <p:attrNameLst>
                                          <p:attrName>ppt_x</p:attrName>
                                        </p:attrNameLst>
                                      </p:cBhvr>
                                      <p:tavLst>
                                        <p:tav tm="0">
                                          <p:val>
                                            <p:strVal val="#ppt_x"/>
                                          </p:val>
                                        </p:tav>
                                        <p:tav tm="100000">
                                          <p:val>
                                            <p:strVal val="#ppt_x"/>
                                          </p:val>
                                        </p:tav>
                                      </p:tavLst>
                                    </p:anim>
                                    <p:anim calcmode="lin" valueType="num">
                                      <p:cBhvr additive="base">
                                        <p:cTn id="20" dur="650" fill="hold"/>
                                        <p:tgtEl>
                                          <p:spTgt spid="8"/>
                                        </p:tgtEl>
                                        <p:attrNameLst>
                                          <p:attrName>ppt_y</p:attrName>
                                        </p:attrNameLst>
                                      </p:cBhvr>
                                      <p:tavLst>
                                        <p:tav tm="0">
                                          <p:val>
                                            <p:strVal val="#ppt_y+.06"/>
                                          </p:val>
                                        </p:tav>
                                        <p:tav tm="100000">
                                          <p:val>
                                            <p:strVal val="#ppt_y"/>
                                          </p:val>
                                        </p:tav>
                                      </p:tavLst>
                                    </p:anim>
                                  </p:childTnLst>
                                </p:cTn>
                              </p:par>
                              <p:par>
                                <p:cTn id="21" presetID="42" presetClass="entr" presetSubtype="0" decel="100000" fill="hold" grpId="0" nodeType="withEffect">
                                  <p:stCondLst>
                                    <p:cond delay="45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650" fill="hold"/>
                                        <p:tgtEl>
                                          <p:spTgt spid="9"/>
                                        </p:tgtEl>
                                      </p:cBhvr>
                                    </p:animEffect>
                                    <p:anim calcmode="lin" valueType="num">
                                      <p:cBhvr additive="base">
                                        <p:cTn id="24" dur="650" fill="hold"/>
                                        <p:tgtEl>
                                          <p:spTgt spid="9"/>
                                        </p:tgtEl>
                                        <p:attrNameLst>
                                          <p:attrName>ppt_x</p:attrName>
                                        </p:attrNameLst>
                                      </p:cBhvr>
                                      <p:tavLst>
                                        <p:tav tm="0">
                                          <p:val>
                                            <p:strVal val="#ppt_x"/>
                                          </p:val>
                                        </p:tav>
                                        <p:tav tm="100000">
                                          <p:val>
                                            <p:strVal val="#ppt_x"/>
                                          </p:val>
                                        </p:tav>
                                      </p:tavLst>
                                    </p:anim>
                                    <p:anim calcmode="lin" valueType="num">
                                      <p:cBhvr additive="base">
                                        <p:cTn id="25" dur="650" fill="hold"/>
                                        <p:tgtEl>
                                          <p:spTgt spid="9"/>
                                        </p:tgtEl>
                                        <p:attrNameLst>
                                          <p:attrName>ppt_y</p:attrName>
                                        </p:attrNameLst>
                                      </p:cBhvr>
                                      <p:tavLst>
                                        <p:tav tm="0">
                                          <p:val>
                                            <p:strVal val="#ppt_y+.06"/>
                                          </p:val>
                                        </p:tav>
                                        <p:tav tm="100000">
                                          <p:val>
                                            <p:strVal val="#ppt_y"/>
                                          </p:val>
                                        </p:tav>
                                      </p:tavLst>
                                    </p:anim>
                                  </p:childTnLst>
                                </p:cTn>
                              </p:par>
                              <p:par>
                                <p:cTn id="26" presetID="53" presetClass="entr" presetSubtype="16" decel="100000" fill="hold" grpId="0" nodeType="withEffect">
                                  <p:stCondLst>
                                    <p:cond delay="600"/>
                                  </p:stCondLst>
                                  <p:childTnLst>
                                    <p:set>
                                      <p:cBhvr>
                                        <p:cTn id="27" dur="1" fill="hold">
                                          <p:stCondLst>
                                            <p:cond delay="0"/>
                                          </p:stCondLst>
                                        </p:cTn>
                                        <p:tgtEl>
                                          <p:spTgt spid="10"/>
                                        </p:tgtEl>
                                        <p:attrNameLst>
                                          <p:attrName>style.visibility</p:attrName>
                                        </p:attrNameLst>
                                      </p:cBhvr>
                                      <p:to>
                                        <p:strVal val="visible"/>
                                      </p:to>
                                    </p:set>
                                    <p:anim calcmode="lin" valueType="num">
                                      <p:cBhvr additive="base">
                                        <p:cTn id="28" dur="450" fill="hold"/>
                                        <p:tgtEl>
                                          <p:spTgt spid="10"/>
                                        </p:tgtEl>
                                        <p:attrNameLst>
                                          <p:attrName>ppt_w</p:attrName>
                                        </p:attrNameLst>
                                      </p:cBhvr>
                                      <p:tavLst>
                                        <p:tav tm="0">
                                          <p:val>
                                            <p:strVal val="0"/>
                                          </p:val>
                                        </p:tav>
                                        <p:tav tm="70000">
                                          <p:val>
                                            <p:strVal val="#ppt_w*1.08"/>
                                          </p:val>
                                        </p:tav>
                                        <p:tav tm="100000">
                                          <p:val>
                                            <p:strVal val="#ppt_w"/>
                                          </p:val>
                                        </p:tav>
                                      </p:tavLst>
                                    </p:anim>
                                    <p:anim calcmode="lin" valueType="num">
                                      <p:cBhvr additive="base">
                                        <p:cTn id="29" dur="450" fill="hold"/>
                                        <p:tgtEl>
                                          <p:spTgt spid="10"/>
                                        </p:tgtEl>
                                        <p:attrNameLst>
                                          <p:attrName>ppt_h</p:attrName>
                                        </p:attrNameLst>
                                      </p:cBhvr>
                                      <p:tavLst>
                                        <p:tav tm="0">
                                          <p:val>
                                            <p:strVal val="0"/>
                                          </p:val>
                                        </p:tav>
                                        <p:tav tm="70000">
                                          <p:val>
                                            <p:strVal val="#ppt_h*1.08"/>
                                          </p:val>
                                        </p:tav>
                                        <p:tav tm="100000">
                                          <p:val>
                                            <p:strVal val="#ppt_h"/>
                                          </p:val>
                                        </p:tav>
                                      </p:tavLst>
                                    </p:anim>
                                    <p:animEffect transition="in" filter="fade">
                                      <p:cBhvr>
                                        <p:cTn id="30" dur="270" fill="hold"/>
                                        <p:tgtEl>
                                          <p:spTgt spid="10"/>
                                        </p:tgtEl>
                                      </p:cBhvr>
                                    </p:animEffect>
                                  </p:childTnLst>
                                </p:cTn>
                              </p:par>
                              <p:par>
                                <p:cTn id="31" presetID="42" presetClass="entr" presetSubtype="0" decel="100000" fill="hold" grpId="0" nodeType="withEffect">
                                  <p:stCondLst>
                                    <p:cond delay="78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650" fill="hold"/>
                                        <p:tgtEl>
                                          <p:spTgt spid="11"/>
                                        </p:tgtEl>
                                      </p:cBhvr>
                                    </p:animEffect>
                                    <p:anim calcmode="lin" valueType="num">
                                      <p:cBhvr additive="base">
                                        <p:cTn id="34" dur="650" fill="hold"/>
                                        <p:tgtEl>
                                          <p:spTgt spid="11"/>
                                        </p:tgtEl>
                                        <p:attrNameLst>
                                          <p:attrName>ppt_x</p:attrName>
                                        </p:attrNameLst>
                                      </p:cBhvr>
                                      <p:tavLst>
                                        <p:tav tm="0">
                                          <p:val>
                                            <p:strVal val="#ppt_x"/>
                                          </p:val>
                                        </p:tav>
                                        <p:tav tm="100000">
                                          <p:val>
                                            <p:strVal val="#ppt_x"/>
                                          </p:val>
                                        </p:tav>
                                      </p:tavLst>
                                    </p:anim>
                                    <p:anim calcmode="lin" valueType="num">
                                      <p:cBhvr additive="base">
                                        <p:cTn id="35" dur="650" fill="hold"/>
                                        <p:tgtEl>
                                          <p:spTgt spid="11"/>
                                        </p:tgtEl>
                                        <p:attrNameLst>
                                          <p:attrName>ppt_y</p:attrName>
                                        </p:attrNameLst>
                                      </p:cBhvr>
                                      <p:tavLst>
                                        <p:tav tm="0">
                                          <p:val>
                                            <p:strVal val="#ppt_y+.06"/>
                                          </p:val>
                                        </p:tav>
                                        <p:tav tm="100000">
                                          <p:val>
                                            <p:strVal val="#ppt_y"/>
                                          </p:val>
                                        </p:tav>
                                      </p:tavLst>
                                    </p:anim>
                                  </p:childTnLst>
                                </p:cTn>
                              </p:par>
                              <p:par>
                                <p:cTn id="36" presetID="42" presetClass="entr" presetSubtype="0" decel="100000" fill="hold" grpId="0" nodeType="withEffect">
                                  <p:stCondLst>
                                    <p:cond delay="78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650" fill="hold"/>
                                        <p:tgtEl>
                                          <p:spTgt spid="12"/>
                                        </p:tgtEl>
                                      </p:cBhvr>
                                    </p:animEffect>
                                    <p:anim calcmode="lin" valueType="num">
                                      <p:cBhvr additive="base">
                                        <p:cTn id="39" dur="650" fill="hold"/>
                                        <p:tgtEl>
                                          <p:spTgt spid="12"/>
                                        </p:tgtEl>
                                        <p:attrNameLst>
                                          <p:attrName>ppt_x</p:attrName>
                                        </p:attrNameLst>
                                      </p:cBhvr>
                                      <p:tavLst>
                                        <p:tav tm="0">
                                          <p:val>
                                            <p:strVal val="#ppt_x"/>
                                          </p:val>
                                        </p:tav>
                                        <p:tav tm="100000">
                                          <p:val>
                                            <p:strVal val="#ppt_x"/>
                                          </p:val>
                                        </p:tav>
                                      </p:tavLst>
                                    </p:anim>
                                    <p:anim calcmode="lin" valueType="num">
                                      <p:cBhvr additive="base">
                                        <p:cTn id="40" dur="650" fill="hold"/>
                                        <p:tgtEl>
                                          <p:spTgt spid="12"/>
                                        </p:tgtEl>
                                        <p:attrNameLst>
                                          <p:attrName>ppt_y</p:attrName>
                                        </p:attrNameLst>
                                      </p:cBhvr>
                                      <p:tavLst>
                                        <p:tav tm="0">
                                          <p:val>
                                            <p:strVal val="#ppt_y+.06"/>
                                          </p:val>
                                        </p:tav>
                                        <p:tav tm="100000">
                                          <p:val>
                                            <p:strVal val="#ppt_y"/>
                                          </p:val>
                                        </p:tav>
                                      </p:tavLst>
                                    </p:anim>
                                  </p:childTnLst>
                                </p:cTn>
                              </p:par>
                              <p:par>
                                <p:cTn id="41" presetID="42" presetClass="entr" presetSubtype="0" decel="100000" fill="hold" grpId="0" nodeType="withEffect">
                                  <p:stCondLst>
                                    <p:cond delay="78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650" fill="hold"/>
                                        <p:tgtEl>
                                          <p:spTgt spid="13"/>
                                        </p:tgtEl>
                                      </p:cBhvr>
                                    </p:animEffect>
                                    <p:anim calcmode="lin" valueType="num">
                                      <p:cBhvr additive="base">
                                        <p:cTn id="44" dur="650" fill="hold"/>
                                        <p:tgtEl>
                                          <p:spTgt spid="13"/>
                                        </p:tgtEl>
                                        <p:attrNameLst>
                                          <p:attrName>ppt_x</p:attrName>
                                        </p:attrNameLst>
                                      </p:cBhvr>
                                      <p:tavLst>
                                        <p:tav tm="0">
                                          <p:val>
                                            <p:strVal val="#ppt_x"/>
                                          </p:val>
                                        </p:tav>
                                        <p:tav tm="100000">
                                          <p:val>
                                            <p:strVal val="#ppt_x"/>
                                          </p:val>
                                        </p:tav>
                                      </p:tavLst>
                                    </p:anim>
                                    <p:anim calcmode="lin" valueType="num">
                                      <p:cBhvr additive="base">
                                        <p:cTn id="45" dur="650" fill="hold"/>
                                        <p:tgtEl>
                                          <p:spTgt spid="13"/>
                                        </p:tgtEl>
                                        <p:attrNameLst>
                                          <p:attrName>ppt_y</p:attrName>
                                        </p:attrNameLst>
                                      </p:cBhvr>
                                      <p:tavLst>
                                        <p:tav tm="0">
                                          <p:val>
                                            <p:strVal val="#ppt_y+.06"/>
                                          </p:val>
                                        </p:tav>
                                        <p:tav tm="100000">
                                          <p:val>
                                            <p:strVal val="#ppt_y"/>
                                          </p:val>
                                        </p:tav>
                                      </p:tavLst>
                                    </p:anim>
                                  </p:childTnLst>
                                </p:cTn>
                              </p:par>
                              <p:par>
                                <p:cTn id="46" presetID="53" presetClass="entr" presetSubtype="16" decel="100000" fill="hold" grpId="0" nodeType="withEffect">
                                  <p:stCondLst>
                                    <p:cond delay="930"/>
                                  </p:stCondLst>
                                  <p:childTnLst>
                                    <p:set>
                                      <p:cBhvr>
                                        <p:cTn id="47" dur="1" fill="hold">
                                          <p:stCondLst>
                                            <p:cond delay="0"/>
                                          </p:stCondLst>
                                        </p:cTn>
                                        <p:tgtEl>
                                          <p:spTgt spid="14"/>
                                        </p:tgtEl>
                                        <p:attrNameLst>
                                          <p:attrName>style.visibility</p:attrName>
                                        </p:attrNameLst>
                                      </p:cBhvr>
                                      <p:to>
                                        <p:strVal val="visible"/>
                                      </p:to>
                                    </p:set>
                                    <p:anim calcmode="lin" valueType="num">
                                      <p:cBhvr additive="base">
                                        <p:cTn id="48" dur="450" fill="hold"/>
                                        <p:tgtEl>
                                          <p:spTgt spid="14"/>
                                        </p:tgtEl>
                                        <p:attrNameLst>
                                          <p:attrName>ppt_w</p:attrName>
                                        </p:attrNameLst>
                                      </p:cBhvr>
                                      <p:tavLst>
                                        <p:tav tm="0">
                                          <p:val>
                                            <p:strVal val="0"/>
                                          </p:val>
                                        </p:tav>
                                        <p:tav tm="70000">
                                          <p:val>
                                            <p:strVal val="#ppt_w*1.08"/>
                                          </p:val>
                                        </p:tav>
                                        <p:tav tm="100000">
                                          <p:val>
                                            <p:strVal val="#ppt_w"/>
                                          </p:val>
                                        </p:tav>
                                      </p:tavLst>
                                    </p:anim>
                                    <p:anim calcmode="lin" valueType="num">
                                      <p:cBhvr additive="base">
                                        <p:cTn id="49" dur="450" fill="hold"/>
                                        <p:tgtEl>
                                          <p:spTgt spid="14"/>
                                        </p:tgtEl>
                                        <p:attrNameLst>
                                          <p:attrName>ppt_h</p:attrName>
                                        </p:attrNameLst>
                                      </p:cBhvr>
                                      <p:tavLst>
                                        <p:tav tm="0">
                                          <p:val>
                                            <p:strVal val="0"/>
                                          </p:val>
                                        </p:tav>
                                        <p:tav tm="70000">
                                          <p:val>
                                            <p:strVal val="#ppt_h*1.08"/>
                                          </p:val>
                                        </p:tav>
                                        <p:tav tm="100000">
                                          <p:val>
                                            <p:strVal val="#ppt_h"/>
                                          </p:val>
                                        </p:tav>
                                      </p:tavLst>
                                    </p:anim>
                                    <p:animEffect transition="in" filter="fade">
                                      <p:cBhvr>
                                        <p:cTn id="50" dur="270" fill="hold"/>
                                        <p:tgtEl>
                                          <p:spTgt spid="14"/>
                                        </p:tgtEl>
                                      </p:cBhvr>
                                    </p:animEffect>
                                  </p:childTnLst>
                                </p:cTn>
                              </p:par>
                              <p:par>
                                <p:cTn id="51" presetID="42" presetClass="entr" presetSubtype="0" decel="100000" fill="hold" grpId="0" nodeType="withEffect">
                                  <p:stCondLst>
                                    <p:cond delay="1110"/>
                                  </p:stCondLst>
                                  <p:childTnLst>
                                    <p:set>
                                      <p:cBhvr>
                                        <p:cTn id="52" dur="1" fill="hold">
                                          <p:stCondLst>
                                            <p:cond delay="0"/>
                                          </p:stCondLst>
                                        </p:cTn>
                                        <p:tgtEl>
                                          <p:spTgt spid="15"/>
                                        </p:tgtEl>
                                        <p:attrNameLst>
                                          <p:attrName>style.visibility</p:attrName>
                                        </p:attrNameLst>
                                      </p:cBhvr>
                                      <p:to>
                                        <p:strVal val="visible"/>
                                      </p:to>
                                    </p:set>
                                    <p:animEffect transition="in" filter="fade">
                                      <p:cBhvr>
                                        <p:cTn id="53" dur="650" fill="hold"/>
                                        <p:tgtEl>
                                          <p:spTgt spid="15"/>
                                        </p:tgtEl>
                                      </p:cBhvr>
                                    </p:animEffect>
                                    <p:anim calcmode="lin" valueType="num">
                                      <p:cBhvr additive="base">
                                        <p:cTn id="54" dur="650" fill="hold"/>
                                        <p:tgtEl>
                                          <p:spTgt spid="15"/>
                                        </p:tgtEl>
                                        <p:attrNameLst>
                                          <p:attrName>ppt_x</p:attrName>
                                        </p:attrNameLst>
                                      </p:cBhvr>
                                      <p:tavLst>
                                        <p:tav tm="0">
                                          <p:val>
                                            <p:strVal val="#ppt_x"/>
                                          </p:val>
                                        </p:tav>
                                        <p:tav tm="100000">
                                          <p:val>
                                            <p:strVal val="#ppt_x"/>
                                          </p:val>
                                        </p:tav>
                                      </p:tavLst>
                                    </p:anim>
                                    <p:anim calcmode="lin" valueType="num">
                                      <p:cBhvr additive="base">
                                        <p:cTn id="55" dur="650" fill="hold"/>
                                        <p:tgtEl>
                                          <p:spTgt spid="15"/>
                                        </p:tgtEl>
                                        <p:attrNameLst>
                                          <p:attrName>ppt_y</p:attrName>
                                        </p:attrNameLst>
                                      </p:cBhvr>
                                      <p:tavLst>
                                        <p:tav tm="0">
                                          <p:val>
                                            <p:strVal val="#ppt_y+.06"/>
                                          </p:val>
                                        </p:tav>
                                        <p:tav tm="100000">
                                          <p:val>
                                            <p:strVal val="#ppt_y"/>
                                          </p:val>
                                        </p:tav>
                                      </p:tavLst>
                                    </p:anim>
                                  </p:childTnLst>
                                </p:cTn>
                              </p:par>
                              <p:par>
                                <p:cTn id="56" presetID="42" presetClass="entr" presetSubtype="0" decel="100000" fill="hold" grpId="0" nodeType="withEffect">
                                  <p:stCondLst>
                                    <p:cond delay="111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650" fill="hold"/>
                                        <p:tgtEl>
                                          <p:spTgt spid="16"/>
                                        </p:tgtEl>
                                      </p:cBhvr>
                                    </p:animEffect>
                                    <p:anim calcmode="lin" valueType="num">
                                      <p:cBhvr additive="base">
                                        <p:cTn id="59" dur="650" fill="hold"/>
                                        <p:tgtEl>
                                          <p:spTgt spid="16"/>
                                        </p:tgtEl>
                                        <p:attrNameLst>
                                          <p:attrName>ppt_x</p:attrName>
                                        </p:attrNameLst>
                                      </p:cBhvr>
                                      <p:tavLst>
                                        <p:tav tm="0">
                                          <p:val>
                                            <p:strVal val="#ppt_x"/>
                                          </p:val>
                                        </p:tav>
                                        <p:tav tm="100000">
                                          <p:val>
                                            <p:strVal val="#ppt_x"/>
                                          </p:val>
                                        </p:tav>
                                      </p:tavLst>
                                    </p:anim>
                                    <p:anim calcmode="lin" valueType="num">
                                      <p:cBhvr additive="base">
                                        <p:cTn id="60" dur="650" fill="hold"/>
                                        <p:tgtEl>
                                          <p:spTgt spid="16"/>
                                        </p:tgtEl>
                                        <p:attrNameLst>
                                          <p:attrName>ppt_y</p:attrName>
                                        </p:attrNameLst>
                                      </p:cBhvr>
                                      <p:tavLst>
                                        <p:tav tm="0">
                                          <p:val>
                                            <p:strVal val="#ppt_y+.06"/>
                                          </p:val>
                                        </p:tav>
                                        <p:tav tm="100000">
                                          <p:val>
                                            <p:strVal val="#ppt_y"/>
                                          </p:val>
                                        </p:tav>
                                      </p:tavLst>
                                    </p:anim>
                                  </p:childTnLst>
                                </p:cTn>
                              </p:par>
                              <p:par>
                                <p:cTn id="61" presetID="42" presetClass="entr" presetSubtype="0" decel="100000" fill="hold" grpId="0" nodeType="withEffect">
                                  <p:stCondLst>
                                    <p:cond delay="1110"/>
                                  </p:stCondLst>
                                  <p:childTnLst>
                                    <p:set>
                                      <p:cBhvr>
                                        <p:cTn id="62" dur="1" fill="hold">
                                          <p:stCondLst>
                                            <p:cond delay="0"/>
                                          </p:stCondLst>
                                        </p:cTn>
                                        <p:tgtEl>
                                          <p:spTgt spid="17"/>
                                        </p:tgtEl>
                                        <p:attrNameLst>
                                          <p:attrName>style.visibility</p:attrName>
                                        </p:attrNameLst>
                                      </p:cBhvr>
                                      <p:to>
                                        <p:strVal val="visible"/>
                                      </p:to>
                                    </p:set>
                                    <p:animEffect transition="in" filter="fade">
                                      <p:cBhvr>
                                        <p:cTn id="63" dur="650" fill="hold"/>
                                        <p:tgtEl>
                                          <p:spTgt spid="17"/>
                                        </p:tgtEl>
                                      </p:cBhvr>
                                    </p:animEffect>
                                    <p:anim calcmode="lin" valueType="num">
                                      <p:cBhvr additive="base">
                                        <p:cTn id="64" dur="650" fill="hold"/>
                                        <p:tgtEl>
                                          <p:spTgt spid="17"/>
                                        </p:tgtEl>
                                        <p:attrNameLst>
                                          <p:attrName>ppt_x</p:attrName>
                                        </p:attrNameLst>
                                      </p:cBhvr>
                                      <p:tavLst>
                                        <p:tav tm="0">
                                          <p:val>
                                            <p:strVal val="#ppt_x"/>
                                          </p:val>
                                        </p:tav>
                                        <p:tav tm="100000">
                                          <p:val>
                                            <p:strVal val="#ppt_x"/>
                                          </p:val>
                                        </p:tav>
                                      </p:tavLst>
                                    </p:anim>
                                    <p:anim calcmode="lin" valueType="num">
                                      <p:cBhvr additive="base">
                                        <p:cTn id="65" dur="650" fill="hold"/>
                                        <p:tgtEl>
                                          <p:spTgt spid="17"/>
                                        </p:tgtEl>
                                        <p:attrNameLst>
                                          <p:attrName>ppt_y</p:attrName>
                                        </p:attrNameLst>
                                      </p:cBhvr>
                                      <p:tavLst>
                                        <p:tav tm="0">
                                          <p:val>
                                            <p:strVal val="#ppt_y+.06"/>
                                          </p:val>
                                        </p:tav>
                                        <p:tav tm="100000">
                                          <p:val>
                                            <p:strVal val="#ppt_y"/>
                                          </p:val>
                                        </p:tav>
                                      </p:tavLst>
                                    </p:anim>
                                  </p:childTnLst>
                                </p:cTn>
                              </p:par>
                              <p:par>
                                <p:cTn id="66" presetID="53" presetClass="entr" presetSubtype="16" decel="100000" fill="hold" grpId="0" nodeType="withEffect">
                                  <p:stCondLst>
                                    <p:cond delay="1260"/>
                                  </p:stCondLst>
                                  <p:childTnLst>
                                    <p:set>
                                      <p:cBhvr>
                                        <p:cTn id="67" dur="1" fill="hold">
                                          <p:stCondLst>
                                            <p:cond delay="0"/>
                                          </p:stCondLst>
                                        </p:cTn>
                                        <p:tgtEl>
                                          <p:spTgt spid="18"/>
                                        </p:tgtEl>
                                        <p:attrNameLst>
                                          <p:attrName>style.visibility</p:attrName>
                                        </p:attrNameLst>
                                      </p:cBhvr>
                                      <p:to>
                                        <p:strVal val="visible"/>
                                      </p:to>
                                    </p:set>
                                    <p:anim calcmode="lin" valueType="num">
                                      <p:cBhvr additive="base">
                                        <p:cTn id="68" dur="450" fill="hold"/>
                                        <p:tgtEl>
                                          <p:spTgt spid="18"/>
                                        </p:tgtEl>
                                        <p:attrNameLst>
                                          <p:attrName>ppt_w</p:attrName>
                                        </p:attrNameLst>
                                      </p:cBhvr>
                                      <p:tavLst>
                                        <p:tav tm="0">
                                          <p:val>
                                            <p:strVal val="0"/>
                                          </p:val>
                                        </p:tav>
                                        <p:tav tm="70000">
                                          <p:val>
                                            <p:strVal val="#ppt_w*1.08"/>
                                          </p:val>
                                        </p:tav>
                                        <p:tav tm="100000">
                                          <p:val>
                                            <p:strVal val="#ppt_w"/>
                                          </p:val>
                                        </p:tav>
                                      </p:tavLst>
                                    </p:anim>
                                    <p:anim calcmode="lin" valueType="num">
                                      <p:cBhvr additive="base">
                                        <p:cTn id="69" dur="450" fill="hold"/>
                                        <p:tgtEl>
                                          <p:spTgt spid="18"/>
                                        </p:tgtEl>
                                        <p:attrNameLst>
                                          <p:attrName>ppt_h</p:attrName>
                                        </p:attrNameLst>
                                      </p:cBhvr>
                                      <p:tavLst>
                                        <p:tav tm="0">
                                          <p:val>
                                            <p:strVal val="0"/>
                                          </p:val>
                                        </p:tav>
                                        <p:tav tm="70000">
                                          <p:val>
                                            <p:strVal val="#ppt_h*1.08"/>
                                          </p:val>
                                        </p:tav>
                                        <p:tav tm="100000">
                                          <p:val>
                                            <p:strVal val="#ppt_h"/>
                                          </p:val>
                                        </p:tav>
                                      </p:tavLst>
                                    </p:anim>
                                    <p:animEffect transition="in" filter="fade">
                                      <p:cBhvr>
                                        <p:cTn id="70" dur="270" fill="hold"/>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9CD848"/>
                </a:solidFill>
                <a:latin typeface="Segoe UI Semibold"/>
              </a:rPr>
              <a:t>MÓDULO 2  ·  EMPATIZAR</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Síntese: do caos aos padrões</a:t>
            </a:r>
          </a:p>
        </p:txBody>
      </p:sp>
      <p:sp>
        <p:nvSpPr>
          <p:cNvPr id="6" name="Rounded Rectangle 5"/>
          <p:cNvSpPr/>
          <p:nvPr/>
        </p:nvSpPr>
        <p:spPr>
          <a:xfrm>
            <a:off x="548640" y="1554480"/>
            <a:ext cx="4206240" cy="3840480"/>
          </a:xfrm>
          <a:prstGeom prst="roundRect">
            <a:avLst>
              <a:gd name="adj" fmla="val 4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48640" y="5486400"/>
            <a:ext cx="4206240" cy="365760"/>
          </a:xfrm>
          <a:prstGeom prst="rect">
            <a:avLst/>
          </a:prstGeom>
          <a:noFill/>
        </p:spPr>
        <p:txBody>
          <a:bodyPr wrap="square" lIns="36576" tIns="18288" rIns="36576" bIns="18288" anchor="t">
            <a:spAutoFit/>
          </a:bodyPr>
          <a:lstStyle/>
          <a:p>
            <a:pPr algn="ctr"/>
            <a:r>
              <a:rPr sz="1400" b="0" i="0">
                <a:solidFill>
                  <a:srgbClr val="B4B8B0"/>
                </a:solidFill>
                <a:latin typeface="Segoe UI"/>
              </a:rPr>
              <a:t>Achados soltos</a:t>
            </a:r>
          </a:p>
        </p:txBody>
      </p:sp>
      <p:sp>
        <p:nvSpPr>
          <p:cNvPr id="8" name="Rectangle 7"/>
          <p:cNvSpPr/>
          <p:nvPr/>
        </p:nvSpPr>
        <p:spPr>
          <a:xfrm rot="253570">
            <a:off x="1843245" y="2224476"/>
            <a:ext cx="566928" cy="566928"/>
          </a:xfrm>
          <a:prstGeom prst="rect">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rot="21374357">
            <a:off x="1015688" y="3351113"/>
            <a:ext cx="566928" cy="566928"/>
          </a:xfrm>
          <a:prstGeom prst="rect">
            <a:avLst/>
          </a:prstGeom>
          <a:solidFill>
            <a:srgbClr val="4DB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rot="20822993">
            <a:off x="968163" y="3267877"/>
            <a:ext cx="566928" cy="566928"/>
          </a:xfrm>
          <a:prstGeom prst="rect">
            <a:avLst/>
          </a:prstGeom>
          <a:solidFill>
            <a:srgbClr val="2F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rot="20912398">
            <a:off x="2204732" y="1987482"/>
            <a:ext cx="566928" cy="566928"/>
          </a:xfrm>
          <a:prstGeom prst="rect">
            <a:avLst/>
          </a:prstGeom>
          <a:solidFill>
            <a:srgbClr val="2A9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rot="20967987">
            <a:off x="2174689" y="4202515"/>
            <a:ext cx="566928" cy="566928"/>
          </a:xfrm>
          <a:prstGeom prst="rect">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rot="752151">
            <a:off x="1512106" y="3618999"/>
            <a:ext cx="566928" cy="566928"/>
          </a:xfrm>
          <a:prstGeom prst="rect">
            <a:avLst/>
          </a:prstGeom>
          <a:solidFill>
            <a:srgbClr val="4DB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rot="800109">
            <a:off x="2676970" y="2943798"/>
            <a:ext cx="566928" cy="566928"/>
          </a:xfrm>
          <a:prstGeom prst="rect">
            <a:avLst/>
          </a:prstGeom>
          <a:solidFill>
            <a:srgbClr val="2F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rot="21246544">
            <a:off x="930582" y="4295027"/>
            <a:ext cx="566928" cy="566928"/>
          </a:xfrm>
          <a:prstGeom prst="rect">
            <a:avLst/>
          </a:prstGeom>
          <a:solidFill>
            <a:srgbClr val="2A9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rot="21278249">
            <a:off x="1252104" y="2127749"/>
            <a:ext cx="566928" cy="566928"/>
          </a:xfrm>
          <a:prstGeom prst="rect">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rot="137088">
            <a:off x="3463797" y="2311899"/>
            <a:ext cx="566928" cy="566928"/>
          </a:xfrm>
          <a:prstGeom prst="rect">
            <a:avLst/>
          </a:prstGeom>
          <a:solidFill>
            <a:srgbClr val="4DB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rot="80211">
            <a:off x="2880440" y="2872745"/>
            <a:ext cx="566928" cy="566928"/>
          </a:xfrm>
          <a:prstGeom prst="rect">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rot="21106011">
            <a:off x="983931" y="1957477"/>
            <a:ext cx="566928" cy="566928"/>
          </a:xfrm>
          <a:prstGeom prst="rect">
            <a:avLst/>
          </a:prstGeom>
          <a:solidFill>
            <a:srgbClr val="2A9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20" name="Connector 19"/>
          <p:cNvCxnSpPr/>
          <p:nvPr/>
        </p:nvCxnSpPr>
        <p:spPr>
          <a:xfrm>
            <a:off x="4983480" y="3474720"/>
            <a:ext cx="914400" cy="0"/>
          </a:xfrm>
          <a:prstGeom prst="line">
            <a:avLst/>
          </a:prstGeom>
          <a:ln w="38100">
            <a:solidFill>
              <a:srgbClr val="9CD848"/>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172200" y="1554480"/>
            <a:ext cx="2606040" cy="178308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355080" y="1664207"/>
            <a:ext cx="2286000" cy="365760"/>
          </a:xfrm>
          <a:prstGeom prst="rect">
            <a:avLst/>
          </a:prstGeom>
          <a:noFill/>
        </p:spPr>
        <p:txBody>
          <a:bodyPr wrap="square" lIns="36576" tIns="18288" rIns="36576" bIns="18288" anchor="t">
            <a:spAutoFit/>
          </a:bodyPr>
          <a:lstStyle/>
          <a:p>
            <a:pPr algn="l"/>
            <a:r>
              <a:rPr sz="1600" b="1" i="0">
                <a:solidFill>
                  <a:srgbClr val="9CD848"/>
                </a:solidFill>
                <a:latin typeface="Segoe UI Semibold"/>
              </a:rPr>
              <a:t>Tempo</a:t>
            </a:r>
          </a:p>
        </p:txBody>
      </p:sp>
      <p:sp>
        <p:nvSpPr>
          <p:cNvPr id="23" name="TextBox 22"/>
          <p:cNvSpPr txBox="1"/>
          <p:nvPr/>
        </p:nvSpPr>
        <p:spPr>
          <a:xfrm>
            <a:off x="6355080" y="2788920"/>
            <a:ext cx="2286000" cy="365760"/>
          </a:xfrm>
          <a:prstGeom prst="rect">
            <a:avLst/>
          </a:prstGeom>
          <a:noFill/>
        </p:spPr>
        <p:txBody>
          <a:bodyPr wrap="square" lIns="36576" tIns="18288" rIns="36576" bIns="18288" anchor="t">
            <a:spAutoFit/>
          </a:bodyPr>
          <a:lstStyle/>
          <a:p>
            <a:pPr algn="l"/>
            <a:r>
              <a:rPr sz="1100" b="0" i="0">
                <a:solidFill>
                  <a:srgbClr val="7D827B"/>
                </a:solidFill>
                <a:latin typeface="Segoe UI"/>
              </a:rPr>
              <a:t>4 achados</a:t>
            </a:r>
          </a:p>
        </p:txBody>
      </p:sp>
      <p:sp>
        <p:nvSpPr>
          <p:cNvPr id="24" name="Rectangle 23"/>
          <p:cNvSpPr/>
          <p:nvPr/>
        </p:nvSpPr>
        <p:spPr>
          <a:xfrm>
            <a:off x="6373368" y="2194560"/>
            <a:ext cx="457200" cy="457200"/>
          </a:xfrm>
          <a:prstGeom prst="rect">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6940296" y="2194560"/>
            <a:ext cx="457200" cy="457200"/>
          </a:xfrm>
          <a:prstGeom prst="rect">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ectangle 25"/>
          <p:cNvSpPr/>
          <p:nvPr/>
        </p:nvSpPr>
        <p:spPr>
          <a:xfrm>
            <a:off x="7507223" y="2194560"/>
            <a:ext cx="457200" cy="457200"/>
          </a:xfrm>
          <a:prstGeom prst="rect">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ectangle 26"/>
          <p:cNvSpPr/>
          <p:nvPr/>
        </p:nvSpPr>
        <p:spPr>
          <a:xfrm>
            <a:off x="8074152" y="2194560"/>
            <a:ext cx="457200" cy="457200"/>
          </a:xfrm>
          <a:prstGeom prst="rect">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ounded Rectangle 27"/>
          <p:cNvSpPr/>
          <p:nvPr/>
        </p:nvSpPr>
        <p:spPr>
          <a:xfrm>
            <a:off x="8961120" y="1554480"/>
            <a:ext cx="2606040" cy="178308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9144000" y="1664207"/>
            <a:ext cx="2286000" cy="365760"/>
          </a:xfrm>
          <a:prstGeom prst="rect">
            <a:avLst/>
          </a:prstGeom>
          <a:noFill/>
        </p:spPr>
        <p:txBody>
          <a:bodyPr wrap="square" lIns="36576" tIns="18288" rIns="36576" bIns="18288" anchor="t">
            <a:spAutoFit/>
          </a:bodyPr>
          <a:lstStyle/>
          <a:p>
            <a:pPr algn="l"/>
            <a:r>
              <a:rPr sz="1600" b="1" i="0">
                <a:solidFill>
                  <a:srgbClr val="4DB35A"/>
                </a:solidFill>
                <a:latin typeface="Segoe UI Semibold"/>
              </a:rPr>
              <a:t>Confiança</a:t>
            </a:r>
          </a:p>
        </p:txBody>
      </p:sp>
      <p:sp>
        <p:nvSpPr>
          <p:cNvPr id="30" name="TextBox 29"/>
          <p:cNvSpPr txBox="1"/>
          <p:nvPr/>
        </p:nvSpPr>
        <p:spPr>
          <a:xfrm>
            <a:off x="9144000" y="2788920"/>
            <a:ext cx="2286000" cy="365760"/>
          </a:xfrm>
          <a:prstGeom prst="rect">
            <a:avLst/>
          </a:prstGeom>
          <a:noFill/>
        </p:spPr>
        <p:txBody>
          <a:bodyPr wrap="square" lIns="36576" tIns="18288" rIns="36576" bIns="18288" anchor="t">
            <a:spAutoFit/>
          </a:bodyPr>
          <a:lstStyle/>
          <a:p>
            <a:pPr algn="l"/>
            <a:r>
              <a:rPr sz="1100" b="0" i="0">
                <a:solidFill>
                  <a:srgbClr val="7D827B"/>
                </a:solidFill>
                <a:latin typeface="Segoe UI"/>
              </a:rPr>
              <a:t>3 achados</a:t>
            </a:r>
          </a:p>
        </p:txBody>
      </p:sp>
      <p:sp>
        <p:nvSpPr>
          <p:cNvPr id="31" name="Rectangle 30"/>
          <p:cNvSpPr/>
          <p:nvPr/>
        </p:nvSpPr>
        <p:spPr>
          <a:xfrm>
            <a:off x="9162288" y="2194560"/>
            <a:ext cx="457200" cy="457200"/>
          </a:xfrm>
          <a:prstGeom prst="rect">
            <a:avLst/>
          </a:prstGeom>
          <a:solidFill>
            <a:srgbClr val="4DB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Rectangle 31"/>
          <p:cNvSpPr/>
          <p:nvPr/>
        </p:nvSpPr>
        <p:spPr>
          <a:xfrm>
            <a:off x="9729216" y="2194560"/>
            <a:ext cx="457200" cy="457200"/>
          </a:xfrm>
          <a:prstGeom prst="rect">
            <a:avLst/>
          </a:prstGeom>
          <a:solidFill>
            <a:srgbClr val="4DB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Rectangle 32"/>
          <p:cNvSpPr/>
          <p:nvPr/>
        </p:nvSpPr>
        <p:spPr>
          <a:xfrm>
            <a:off x="10296144" y="2194560"/>
            <a:ext cx="457200" cy="457200"/>
          </a:xfrm>
          <a:prstGeom prst="rect">
            <a:avLst/>
          </a:prstGeom>
          <a:solidFill>
            <a:srgbClr val="4DB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Rounded Rectangle 33"/>
          <p:cNvSpPr/>
          <p:nvPr/>
        </p:nvSpPr>
        <p:spPr>
          <a:xfrm>
            <a:off x="6172200" y="3520439"/>
            <a:ext cx="2606040" cy="178308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6355080" y="3630168"/>
            <a:ext cx="2286000" cy="365760"/>
          </a:xfrm>
          <a:prstGeom prst="rect">
            <a:avLst/>
          </a:prstGeom>
          <a:noFill/>
        </p:spPr>
        <p:txBody>
          <a:bodyPr wrap="square" lIns="36576" tIns="18288" rIns="36576" bIns="18288" anchor="t">
            <a:spAutoFit/>
          </a:bodyPr>
          <a:lstStyle/>
          <a:p>
            <a:pPr algn="l"/>
            <a:r>
              <a:rPr sz="1600" b="1" i="0">
                <a:solidFill>
                  <a:srgbClr val="2FA38A"/>
                </a:solidFill>
                <a:latin typeface="Segoe UI Semibold"/>
              </a:rPr>
              <a:t>Preço</a:t>
            </a:r>
          </a:p>
        </p:txBody>
      </p:sp>
      <p:sp>
        <p:nvSpPr>
          <p:cNvPr id="36" name="TextBox 35"/>
          <p:cNvSpPr txBox="1"/>
          <p:nvPr/>
        </p:nvSpPr>
        <p:spPr>
          <a:xfrm>
            <a:off x="6355080" y="4754879"/>
            <a:ext cx="2286000" cy="365760"/>
          </a:xfrm>
          <a:prstGeom prst="rect">
            <a:avLst/>
          </a:prstGeom>
          <a:noFill/>
        </p:spPr>
        <p:txBody>
          <a:bodyPr wrap="square" lIns="36576" tIns="18288" rIns="36576" bIns="18288" anchor="t">
            <a:spAutoFit/>
          </a:bodyPr>
          <a:lstStyle/>
          <a:p>
            <a:pPr algn="l"/>
            <a:r>
              <a:rPr sz="1100" b="0" i="0">
                <a:solidFill>
                  <a:srgbClr val="7D827B"/>
                </a:solidFill>
                <a:latin typeface="Segoe UI"/>
              </a:rPr>
              <a:t>2 achados</a:t>
            </a:r>
          </a:p>
        </p:txBody>
      </p:sp>
      <p:sp>
        <p:nvSpPr>
          <p:cNvPr id="37" name="Rectangle 36"/>
          <p:cNvSpPr/>
          <p:nvPr/>
        </p:nvSpPr>
        <p:spPr>
          <a:xfrm>
            <a:off x="6373368" y="4160520"/>
            <a:ext cx="457200" cy="457200"/>
          </a:xfrm>
          <a:prstGeom prst="rect">
            <a:avLst/>
          </a:prstGeom>
          <a:solidFill>
            <a:srgbClr val="2F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Rectangle 37"/>
          <p:cNvSpPr/>
          <p:nvPr/>
        </p:nvSpPr>
        <p:spPr>
          <a:xfrm>
            <a:off x="6940296" y="4160520"/>
            <a:ext cx="457200" cy="457200"/>
          </a:xfrm>
          <a:prstGeom prst="rect">
            <a:avLst/>
          </a:prstGeom>
          <a:solidFill>
            <a:srgbClr val="2F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Rounded Rectangle 38"/>
          <p:cNvSpPr/>
          <p:nvPr/>
        </p:nvSpPr>
        <p:spPr>
          <a:xfrm>
            <a:off x="8961120" y="3520439"/>
            <a:ext cx="2606040" cy="178308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9144000" y="3630168"/>
            <a:ext cx="2286000" cy="365760"/>
          </a:xfrm>
          <a:prstGeom prst="rect">
            <a:avLst/>
          </a:prstGeom>
          <a:noFill/>
        </p:spPr>
        <p:txBody>
          <a:bodyPr wrap="square" lIns="36576" tIns="18288" rIns="36576" bIns="18288" anchor="t">
            <a:spAutoFit/>
          </a:bodyPr>
          <a:lstStyle/>
          <a:p>
            <a:pPr algn="l"/>
            <a:r>
              <a:rPr sz="1600" b="1" i="0">
                <a:solidFill>
                  <a:srgbClr val="2A9FC0"/>
                </a:solidFill>
                <a:latin typeface="Segoe UI Semibold"/>
              </a:rPr>
              <a:t>Canal</a:t>
            </a:r>
          </a:p>
        </p:txBody>
      </p:sp>
      <p:sp>
        <p:nvSpPr>
          <p:cNvPr id="41" name="TextBox 40"/>
          <p:cNvSpPr txBox="1"/>
          <p:nvPr/>
        </p:nvSpPr>
        <p:spPr>
          <a:xfrm>
            <a:off x="9144000" y="4754879"/>
            <a:ext cx="2286000" cy="365760"/>
          </a:xfrm>
          <a:prstGeom prst="rect">
            <a:avLst/>
          </a:prstGeom>
          <a:noFill/>
        </p:spPr>
        <p:txBody>
          <a:bodyPr wrap="square" lIns="36576" tIns="18288" rIns="36576" bIns="18288" anchor="t">
            <a:spAutoFit/>
          </a:bodyPr>
          <a:lstStyle/>
          <a:p>
            <a:pPr algn="l"/>
            <a:r>
              <a:rPr sz="1100" b="0" i="0">
                <a:solidFill>
                  <a:srgbClr val="7D827B"/>
                </a:solidFill>
                <a:latin typeface="Segoe UI"/>
              </a:rPr>
              <a:t>3 achados</a:t>
            </a:r>
          </a:p>
        </p:txBody>
      </p:sp>
      <p:sp>
        <p:nvSpPr>
          <p:cNvPr id="42" name="Rectangle 41"/>
          <p:cNvSpPr/>
          <p:nvPr/>
        </p:nvSpPr>
        <p:spPr>
          <a:xfrm>
            <a:off x="9162288" y="4160520"/>
            <a:ext cx="457200" cy="457200"/>
          </a:xfrm>
          <a:prstGeom prst="rect">
            <a:avLst/>
          </a:prstGeom>
          <a:solidFill>
            <a:srgbClr val="2A9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Rectangle 42"/>
          <p:cNvSpPr/>
          <p:nvPr/>
        </p:nvSpPr>
        <p:spPr>
          <a:xfrm>
            <a:off x="9729216" y="4160520"/>
            <a:ext cx="457200" cy="457200"/>
          </a:xfrm>
          <a:prstGeom prst="rect">
            <a:avLst/>
          </a:prstGeom>
          <a:solidFill>
            <a:srgbClr val="2A9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Rectangle 43"/>
          <p:cNvSpPr/>
          <p:nvPr/>
        </p:nvSpPr>
        <p:spPr>
          <a:xfrm>
            <a:off x="10296144" y="4160520"/>
            <a:ext cx="457200" cy="457200"/>
          </a:xfrm>
          <a:prstGeom prst="rect">
            <a:avLst/>
          </a:prstGeom>
          <a:solidFill>
            <a:srgbClr val="2A9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6172200" y="5486400"/>
            <a:ext cx="5440680" cy="365760"/>
          </a:xfrm>
          <a:prstGeom prst="rect">
            <a:avLst/>
          </a:prstGeom>
          <a:noFill/>
        </p:spPr>
        <p:txBody>
          <a:bodyPr wrap="square" lIns="36576" tIns="18288" rIns="36576" bIns="18288" anchor="t">
            <a:spAutoFit/>
          </a:bodyPr>
          <a:lstStyle/>
          <a:p>
            <a:pPr algn="ctr"/>
            <a:r>
              <a:rPr sz="1400" b="0" i="0">
                <a:solidFill>
                  <a:srgbClr val="B4B8B0"/>
                </a:solidFill>
                <a:latin typeface="Segoe UI"/>
              </a:rPr>
              <a:t>Padrões = insights</a:t>
            </a:r>
          </a:p>
        </p:txBody>
      </p:sp>
      <p:sp>
        <p:nvSpPr>
          <p:cNvPr id="46" name="TextBox 45"/>
          <p:cNvSpPr txBox="1"/>
          <p:nvPr/>
        </p:nvSpPr>
        <p:spPr>
          <a:xfrm>
            <a:off x="548640" y="5852160"/>
            <a:ext cx="10972800" cy="457200"/>
          </a:xfrm>
          <a:prstGeom prst="rect">
            <a:avLst/>
          </a:prstGeom>
          <a:noFill/>
        </p:spPr>
        <p:txBody>
          <a:bodyPr wrap="square" lIns="36576" tIns="18288" rIns="36576" bIns="18288" anchor="t">
            <a:spAutoFit/>
          </a:bodyPr>
          <a:lstStyle/>
          <a:p>
            <a:pPr algn="ctr"/>
            <a:r>
              <a:rPr sz="1300" b="0" i="0">
                <a:solidFill>
                  <a:srgbClr val="7D827B"/>
                </a:solidFill>
                <a:latin typeface="Segoe UI"/>
              </a:rPr>
              <a:t>Escreva cada achado em um post-it. Agrupe por semelhança. Dê um nome a cada grupo. Os grupos revelam os insights.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fill="hold"/>
                                        <p:tgtEl>
                                          <p:spTgt spid="6"/>
                                        </p:tgtEl>
                                      </p:cBhvr>
                                    </p:animEffect>
                                  </p:childTnLst>
                                </p:cTn>
                              </p:par>
                              <p:par>
                                <p:cTn id="11" presetID="10" presetClass="entr" presetSubtype="0" fill="hold" grpId="0" nodeType="withEffect">
                                  <p:stCondLst>
                                    <p:cond delay="20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fill="hold"/>
                                        <p:tgtEl>
                                          <p:spTgt spid="7"/>
                                        </p:tgtEl>
                                      </p:cBhvr>
                                    </p:animEffect>
                                  </p:childTnLst>
                                </p:cTn>
                              </p:par>
                              <p:par>
                                <p:cTn id="14" presetID="53" presetClass="entr" presetSubtype="16" decel="100000" fill="hold" grpId="0" nodeType="withEffect">
                                  <p:stCondLst>
                                    <p:cond delay="40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350" fill="hold"/>
                                        <p:tgtEl>
                                          <p:spTgt spid="8"/>
                                        </p:tgtEl>
                                        <p:attrNameLst>
                                          <p:attrName>ppt_w</p:attrName>
                                        </p:attrNameLst>
                                      </p:cBhvr>
                                      <p:tavLst>
                                        <p:tav tm="0">
                                          <p:val>
                                            <p:strVal val="0"/>
                                          </p:val>
                                        </p:tav>
                                        <p:tav tm="70000">
                                          <p:val>
                                            <p:strVal val="#ppt_w*1.08"/>
                                          </p:val>
                                        </p:tav>
                                        <p:tav tm="100000">
                                          <p:val>
                                            <p:strVal val="#ppt_w"/>
                                          </p:val>
                                        </p:tav>
                                      </p:tavLst>
                                    </p:anim>
                                    <p:anim calcmode="lin" valueType="num">
                                      <p:cBhvr additive="base">
                                        <p:cTn id="17" dur="350" fill="hold"/>
                                        <p:tgtEl>
                                          <p:spTgt spid="8"/>
                                        </p:tgtEl>
                                        <p:attrNameLst>
                                          <p:attrName>ppt_h</p:attrName>
                                        </p:attrNameLst>
                                      </p:cBhvr>
                                      <p:tavLst>
                                        <p:tav tm="0">
                                          <p:val>
                                            <p:strVal val="0"/>
                                          </p:val>
                                        </p:tav>
                                        <p:tav tm="70000">
                                          <p:val>
                                            <p:strVal val="#ppt_h*1.08"/>
                                          </p:val>
                                        </p:tav>
                                        <p:tav tm="100000">
                                          <p:val>
                                            <p:strVal val="#ppt_h"/>
                                          </p:val>
                                        </p:tav>
                                      </p:tavLst>
                                    </p:anim>
                                    <p:animEffect transition="in" filter="fade">
                                      <p:cBhvr>
                                        <p:cTn id="18" dur="210" fill="hold"/>
                                        <p:tgtEl>
                                          <p:spTgt spid="8"/>
                                        </p:tgtEl>
                                      </p:cBhvr>
                                    </p:animEffect>
                                  </p:childTnLst>
                                </p:cTn>
                              </p:par>
                              <p:par>
                                <p:cTn id="19" presetID="53" presetClass="entr" presetSubtype="16" decel="100000" fill="hold" grpId="0" nodeType="withEffect">
                                  <p:stCondLst>
                                    <p:cond delay="48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350" fill="hold"/>
                                        <p:tgtEl>
                                          <p:spTgt spid="9"/>
                                        </p:tgtEl>
                                        <p:attrNameLst>
                                          <p:attrName>ppt_w</p:attrName>
                                        </p:attrNameLst>
                                      </p:cBhvr>
                                      <p:tavLst>
                                        <p:tav tm="0">
                                          <p:val>
                                            <p:strVal val="0"/>
                                          </p:val>
                                        </p:tav>
                                        <p:tav tm="70000">
                                          <p:val>
                                            <p:strVal val="#ppt_w*1.08"/>
                                          </p:val>
                                        </p:tav>
                                        <p:tav tm="100000">
                                          <p:val>
                                            <p:strVal val="#ppt_w"/>
                                          </p:val>
                                        </p:tav>
                                      </p:tavLst>
                                    </p:anim>
                                    <p:anim calcmode="lin" valueType="num">
                                      <p:cBhvr additive="base">
                                        <p:cTn id="22" dur="350" fill="hold"/>
                                        <p:tgtEl>
                                          <p:spTgt spid="9"/>
                                        </p:tgtEl>
                                        <p:attrNameLst>
                                          <p:attrName>ppt_h</p:attrName>
                                        </p:attrNameLst>
                                      </p:cBhvr>
                                      <p:tavLst>
                                        <p:tav tm="0">
                                          <p:val>
                                            <p:strVal val="0"/>
                                          </p:val>
                                        </p:tav>
                                        <p:tav tm="70000">
                                          <p:val>
                                            <p:strVal val="#ppt_h*1.08"/>
                                          </p:val>
                                        </p:tav>
                                        <p:tav tm="100000">
                                          <p:val>
                                            <p:strVal val="#ppt_h"/>
                                          </p:val>
                                        </p:tav>
                                      </p:tavLst>
                                    </p:anim>
                                    <p:animEffect transition="in" filter="fade">
                                      <p:cBhvr>
                                        <p:cTn id="23" dur="210" fill="hold"/>
                                        <p:tgtEl>
                                          <p:spTgt spid="9"/>
                                        </p:tgtEl>
                                      </p:cBhvr>
                                    </p:animEffect>
                                  </p:childTnLst>
                                </p:cTn>
                              </p:par>
                              <p:par>
                                <p:cTn id="24" presetID="53" presetClass="entr" presetSubtype="16" decel="100000" fill="hold" grpId="0" nodeType="withEffect">
                                  <p:stCondLst>
                                    <p:cond delay="560"/>
                                  </p:stCondLst>
                                  <p:childTnLst>
                                    <p:set>
                                      <p:cBhvr>
                                        <p:cTn id="25" dur="1" fill="hold">
                                          <p:stCondLst>
                                            <p:cond delay="0"/>
                                          </p:stCondLst>
                                        </p:cTn>
                                        <p:tgtEl>
                                          <p:spTgt spid="10"/>
                                        </p:tgtEl>
                                        <p:attrNameLst>
                                          <p:attrName>style.visibility</p:attrName>
                                        </p:attrNameLst>
                                      </p:cBhvr>
                                      <p:to>
                                        <p:strVal val="visible"/>
                                      </p:to>
                                    </p:set>
                                    <p:anim calcmode="lin" valueType="num">
                                      <p:cBhvr additive="base">
                                        <p:cTn id="26" dur="350" fill="hold"/>
                                        <p:tgtEl>
                                          <p:spTgt spid="10"/>
                                        </p:tgtEl>
                                        <p:attrNameLst>
                                          <p:attrName>ppt_w</p:attrName>
                                        </p:attrNameLst>
                                      </p:cBhvr>
                                      <p:tavLst>
                                        <p:tav tm="0">
                                          <p:val>
                                            <p:strVal val="0"/>
                                          </p:val>
                                        </p:tav>
                                        <p:tav tm="70000">
                                          <p:val>
                                            <p:strVal val="#ppt_w*1.08"/>
                                          </p:val>
                                        </p:tav>
                                        <p:tav tm="100000">
                                          <p:val>
                                            <p:strVal val="#ppt_w"/>
                                          </p:val>
                                        </p:tav>
                                      </p:tavLst>
                                    </p:anim>
                                    <p:anim calcmode="lin" valueType="num">
                                      <p:cBhvr additive="base">
                                        <p:cTn id="27" dur="350" fill="hold"/>
                                        <p:tgtEl>
                                          <p:spTgt spid="10"/>
                                        </p:tgtEl>
                                        <p:attrNameLst>
                                          <p:attrName>ppt_h</p:attrName>
                                        </p:attrNameLst>
                                      </p:cBhvr>
                                      <p:tavLst>
                                        <p:tav tm="0">
                                          <p:val>
                                            <p:strVal val="0"/>
                                          </p:val>
                                        </p:tav>
                                        <p:tav tm="70000">
                                          <p:val>
                                            <p:strVal val="#ppt_h*1.08"/>
                                          </p:val>
                                        </p:tav>
                                        <p:tav tm="100000">
                                          <p:val>
                                            <p:strVal val="#ppt_h"/>
                                          </p:val>
                                        </p:tav>
                                      </p:tavLst>
                                    </p:anim>
                                    <p:animEffect transition="in" filter="fade">
                                      <p:cBhvr>
                                        <p:cTn id="28" dur="210" fill="hold"/>
                                        <p:tgtEl>
                                          <p:spTgt spid="10"/>
                                        </p:tgtEl>
                                      </p:cBhvr>
                                    </p:animEffect>
                                  </p:childTnLst>
                                </p:cTn>
                              </p:par>
                              <p:par>
                                <p:cTn id="29" presetID="53" presetClass="entr" presetSubtype="16" decel="100000" fill="hold" grpId="0" nodeType="withEffect">
                                  <p:stCondLst>
                                    <p:cond delay="64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350" fill="hold"/>
                                        <p:tgtEl>
                                          <p:spTgt spid="11"/>
                                        </p:tgtEl>
                                        <p:attrNameLst>
                                          <p:attrName>ppt_w</p:attrName>
                                        </p:attrNameLst>
                                      </p:cBhvr>
                                      <p:tavLst>
                                        <p:tav tm="0">
                                          <p:val>
                                            <p:strVal val="0"/>
                                          </p:val>
                                        </p:tav>
                                        <p:tav tm="70000">
                                          <p:val>
                                            <p:strVal val="#ppt_w*1.08"/>
                                          </p:val>
                                        </p:tav>
                                        <p:tav tm="100000">
                                          <p:val>
                                            <p:strVal val="#ppt_w"/>
                                          </p:val>
                                        </p:tav>
                                      </p:tavLst>
                                    </p:anim>
                                    <p:anim calcmode="lin" valueType="num">
                                      <p:cBhvr additive="base">
                                        <p:cTn id="32" dur="350" fill="hold"/>
                                        <p:tgtEl>
                                          <p:spTgt spid="11"/>
                                        </p:tgtEl>
                                        <p:attrNameLst>
                                          <p:attrName>ppt_h</p:attrName>
                                        </p:attrNameLst>
                                      </p:cBhvr>
                                      <p:tavLst>
                                        <p:tav tm="0">
                                          <p:val>
                                            <p:strVal val="0"/>
                                          </p:val>
                                        </p:tav>
                                        <p:tav tm="70000">
                                          <p:val>
                                            <p:strVal val="#ppt_h*1.08"/>
                                          </p:val>
                                        </p:tav>
                                        <p:tav tm="100000">
                                          <p:val>
                                            <p:strVal val="#ppt_h"/>
                                          </p:val>
                                        </p:tav>
                                      </p:tavLst>
                                    </p:anim>
                                    <p:animEffect transition="in" filter="fade">
                                      <p:cBhvr>
                                        <p:cTn id="33" dur="210" fill="hold"/>
                                        <p:tgtEl>
                                          <p:spTgt spid="11"/>
                                        </p:tgtEl>
                                      </p:cBhvr>
                                    </p:animEffect>
                                  </p:childTnLst>
                                </p:cTn>
                              </p:par>
                              <p:par>
                                <p:cTn id="34" presetID="53" presetClass="entr" presetSubtype="16" decel="100000" fill="hold" grpId="0" nodeType="withEffect">
                                  <p:stCondLst>
                                    <p:cond delay="720"/>
                                  </p:stCondLst>
                                  <p:childTnLst>
                                    <p:set>
                                      <p:cBhvr>
                                        <p:cTn id="35" dur="1" fill="hold">
                                          <p:stCondLst>
                                            <p:cond delay="0"/>
                                          </p:stCondLst>
                                        </p:cTn>
                                        <p:tgtEl>
                                          <p:spTgt spid="12"/>
                                        </p:tgtEl>
                                        <p:attrNameLst>
                                          <p:attrName>style.visibility</p:attrName>
                                        </p:attrNameLst>
                                      </p:cBhvr>
                                      <p:to>
                                        <p:strVal val="visible"/>
                                      </p:to>
                                    </p:set>
                                    <p:anim calcmode="lin" valueType="num">
                                      <p:cBhvr additive="base">
                                        <p:cTn id="36" dur="350" fill="hold"/>
                                        <p:tgtEl>
                                          <p:spTgt spid="12"/>
                                        </p:tgtEl>
                                        <p:attrNameLst>
                                          <p:attrName>ppt_w</p:attrName>
                                        </p:attrNameLst>
                                      </p:cBhvr>
                                      <p:tavLst>
                                        <p:tav tm="0">
                                          <p:val>
                                            <p:strVal val="0"/>
                                          </p:val>
                                        </p:tav>
                                        <p:tav tm="70000">
                                          <p:val>
                                            <p:strVal val="#ppt_w*1.08"/>
                                          </p:val>
                                        </p:tav>
                                        <p:tav tm="100000">
                                          <p:val>
                                            <p:strVal val="#ppt_w"/>
                                          </p:val>
                                        </p:tav>
                                      </p:tavLst>
                                    </p:anim>
                                    <p:anim calcmode="lin" valueType="num">
                                      <p:cBhvr additive="base">
                                        <p:cTn id="37" dur="350" fill="hold"/>
                                        <p:tgtEl>
                                          <p:spTgt spid="12"/>
                                        </p:tgtEl>
                                        <p:attrNameLst>
                                          <p:attrName>ppt_h</p:attrName>
                                        </p:attrNameLst>
                                      </p:cBhvr>
                                      <p:tavLst>
                                        <p:tav tm="0">
                                          <p:val>
                                            <p:strVal val="0"/>
                                          </p:val>
                                        </p:tav>
                                        <p:tav tm="70000">
                                          <p:val>
                                            <p:strVal val="#ppt_h*1.08"/>
                                          </p:val>
                                        </p:tav>
                                        <p:tav tm="100000">
                                          <p:val>
                                            <p:strVal val="#ppt_h"/>
                                          </p:val>
                                        </p:tav>
                                      </p:tavLst>
                                    </p:anim>
                                    <p:animEffect transition="in" filter="fade">
                                      <p:cBhvr>
                                        <p:cTn id="38" dur="210" fill="hold"/>
                                        <p:tgtEl>
                                          <p:spTgt spid="12"/>
                                        </p:tgtEl>
                                      </p:cBhvr>
                                    </p:animEffect>
                                  </p:childTnLst>
                                </p:cTn>
                              </p:par>
                              <p:par>
                                <p:cTn id="39" presetID="53" presetClass="entr" presetSubtype="16" decel="100000" fill="hold" grpId="0" nodeType="withEffect">
                                  <p:stCondLst>
                                    <p:cond delay="800"/>
                                  </p:stCondLst>
                                  <p:childTnLst>
                                    <p:set>
                                      <p:cBhvr>
                                        <p:cTn id="40" dur="1" fill="hold">
                                          <p:stCondLst>
                                            <p:cond delay="0"/>
                                          </p:stCondLst>
                                        </p:cTn>
                                        <p:tgtEl>
                                          <p:spTgt spid="13"/>
                                        </p:tgtEl>
                                        <p:attrNameLst>
                                          <p:attrName>style.visibility</p:attrName>
                                        </p:attrNameLst>
                                      </p:cBhvr>
                                      <p:to>
                                        <p:strVal val="visible"/>
                                      </p:to>
                                    </p:set>
                                    <p:anim calcmode="lin" valueType="num">
                                      <p:cBhvr additive="base">
                                        <p:cTn id="41" dur="350" fill="hold"/>
                                        <p:tgtEl>
                                          <p:spTgt spid="13"/>
                                        </p:tgtEl>
                                        <p:attrNameLst>
                                          <p:attrName>ppt_w</p:attrName>
                                        </p:attrNameLst>
                                      </p:cBhvr>
                                      <p:tavLst>
                                        <p:tav tm="0">
                                          <p:val>
                                            <p:strVal val="0"/>
                                          </p:val>
                                        </p:tav>
                                        <p:tav tm="70000">
                                          <p:val>
                                            <p:strVal val="#ppt_w*1.08"/>
                                          </p:val>
                                        </p:tav>
                                        <p:tav tm="100000">
                                          <p:val>
                                            <p:strVal val="#ppt_w"/>
                                          </p:val>
                                        </p:tav>
                                      </p:tavLst>
                                    </p:anim>
                                    <p:anim calcmode="lin" valueType="num">
                                      <p:cBhvr additive="base">
                                        <p:cTn id="42" dur="350" fill="hold"/>
                                        <p:tgtEl>
                                          <p:spTgt spid="13"/>
                                        </p:tgtEl>
                                        <p:attrNameLst>
                                          <p:attrName>ppt_h</p:attrName>
                                        </p:attrNameLst>
                                      </p:cBhvr>
                                      <p:tavLst>
                                        <p:tav tm="0">
                                          <p:val>
                                            <p:strVal val="0"/>
                                          </p:val>
                                        </p:tav>
                                        <p:tav tm="70000">
                                          <p:val>
                                            <p:strVal val="#ppt_h*1.08"/>
                                          </p:val>
                                        </p:tav>
                                        <p:tav tm="100000">
                                          <p:val>
                                            <p:strVal val="#ppt_h"/>
                                          </p:val>
                                        </p:tav>
                                      </p:tavLst>
                                    </p:anim>
                                    <p:animEffect transition="in" filter="fade">
                                      <p:cBhvr>
                                        <p:cTn id="43" dur="210" fill="hold"/>
                                        <p:tgtEl>
                                          <p:spTgt spid="13"/>
                                        </p:tgtEl>
                                      </p:cBhvr>
                                    </p:animEffect>
                                  </p:childTnLst>
                                </p:cTn>
                              </p:par>
                              <p:par>
                                <p:cTn id="44" presetID="53" presetClass="entr" presetSubtype="16" decel="100000" fill="hold" grpId="0" nodeType="withEffect">
                                  <p:stCondLst>
                                    <p:cond delay="880"/>
                                  </p:stCondLst>
                                  <p:childTnLst>
                                    <p:set>
                                      <p:cBhvr>
                                        <p:cTn id="45" dur="1" fill="hold">
                                          <p:stCondLst>
                                            <p:cond delay="0"/>
                                          </p:stCondLst>
                                        </p:cTn>
                                        <p:tgtEl>
                                          <p:spTgt spid="14"/>
                                        </p:tgtEl>
                                        <p:attrNameLst>
                                          <p:attrName>style.visibility</p:attrName>
                                        </p:attrNameLst>
                                      </p:cBhvr>
                                      <p:to>
                                        <p:strVal val="visible"/>
                                      </p:to>
                                    </p:set>
                                    <p:anim calcmode="lin" valueType="num">
                                      <p:cBhvr additive="base">
                                        <p:cTn id="46" dur="350" fill="hold"/>
                                        <p:tgtEl>
                                          <p:spTgt spid="14"/>
                                        </p:tgtEl>
                                        <p:attrNameLst>
                                          <p:attrName>ppt_w</p:attrName>
                                        </p:attrNameLst>
                                      </p:cBhvr>
                                      <p:tavLst>
                                        <p:tav tm="0">
                                          <p:val>
                                            <p:strVal val="0"/>
                                          </p:val>
                                        </p:tav>
                                        <p:tav tm="70000">
                                          <p:val>
                                            <p:strVal val="#ppt_w*1.08"/>
                                          </p:val>
                                        </p:tav>
                                        <p:tav tm="100000">
                                          <p:val>
                                            <p:strVal val="#ppt_w"/>
                                          </p:val>
                                        </p:tav>
                                      </p:tavLst>
                                    </p:anim>
                                    <p:anim calcmode="lin" valueType="num">
                                      <p:cBhvr additive="base">
                                        <p:cTn id="47" dur="350" fill="hold"/>
                                        <p:tgtEl>
                                          <p:spTgt spid="14"/>
                                        </p:tgtEl>
                                        <p:attrNameLst>
                                          <p:attrName>ppt_h</p:attrName>
                                        </p:attrNameLst>
                                      </p:cBhvr>
                                      <p:tavLst>
                                        <p:tav tm="0">
                                          <p:val>
                                            <p:strVal val="0"/>
                                          </p:val>
                                        </p:tav>
                                        <p:tav tm="70000">
                                          <p:val>
                                            <p:strVal val="#ppt_h*1.08"/>
                                          </p:val>
                                        </p:tav>
                                        <p:tav tm="100000">
                                          <p:val>
                                            <p:strVal val="#ppt_h"/>
                                          </p:val>
                                        </p:tav>
                                      </p:tavLst>
                                    </p:anim>
                                    <p:animEffect transition="in" filter="fade">
                                      <p:cBhvr>
                                        <p:cTn id="48" dur="210" fill="hold"/>
                                        <p:tgtEl>
                                          <p:spTgt spid="14"/>
                                        </p:tgtEl>
                                      </p:cBhvr>
                                    </p:animEffect>
                                  </p:childTnLst>
                                </p:cTn>
                              </p:par>
                              <p:par>
                                <p:cTn id="49" presetID="53" presetClass="entr" presetSubtype="16" decel="100000" fill="hold" grpId="0" nodeType="withEffect">
                                  <p:stCondLst>
                                    <p:cond delay="960"/>
                                  </p:stCondLst>
                                  <p:childTnLst>
                                    <p:set>
                                      <p:cBhvr>
                                        <p:cTn id="50" dur="1" fill="hold">
                                          <p:stCondLst>
                                            <p:cond delay="0"/>
                                          </p:stCondLst>
                                        </p:cTn>
                                        <p:tgtEl>
                                          <p:spTgt spid="15"/>
                                        </p:tgtEl>
                                        <p:attrNameLst>
                                          <p:attrName>style.visibility</p:attrName>
                                        </p:attrNameLst>
                                      </p:cBhvr>
                                      <p:to>
                                        <p:strVal val="visible"/>
                                      </p:to>
                                    </p:set>
                                    <p:anim calcmode="lin" valueType="num">
                                      <p:cBhvr additive="base">
                                        <p:cTn id="51" dur="350" fill="hold"/>
                                        <p:tgtEl>
                                          <p:spTgt spid="15"/>
                                        </p:tgtEl>
                                        <p:attrNameLst>
                                          <p:attrName>ppt_w</p:attrName>
                                        </p:attrNameLst>
                                      </p:cBhvr>
                                      <p:tavLst>
                                        <p:tav tm="0">
                                          <p:val>
                                            <p:strVal val="0"/>
                                          </p:val>
                                        </p:tav>
                                        <p:tav tm="70000">
                                          <p:val>
                                            <p:strVal val="#ppt_w*1.08"/>
                                          </p:val>
                                        </p:tav>
                                        <p:tav tm="100000">
                                          <p:val>
                                            <p:strVal val="#ppt_w"/>
                                          </p:val>
                                        </p:tav>
                                      </p:tavLst>
                                    </p:anim>
                                    <p:anim calcmode="lin" valueType="num">
                                      <p:cBhvr additive="base">
                                        <p:cTn id="52" dur="350" fill="hold"/>
                                        <p:tgtEl>
                                          <p:spTgt spid="15"/>
                                        </p:tgtEl>
                                        <p:attrNameLst>
                                          <p:attrName>ppt_h</p:attrName>
                                        </p:attrNameLst>
                                      </p:cBhvr>
                                      <p:tavLst>
                                        <p:tav tm="0">
                                          <p:val>
                                            <p:strVal val="0"/>
                                          </p:val>
                                        </p:tav>
                                        <p:tav tm="70000">
                                          <p:val>
                                            <p:strVal val="#ppt_h*1.08"/>
                                          </p:val>
                                        </p:tav>
                                        <p:tav tm="100000">
                                          <p:val>
                                            <p:strVal val="#ppt_h"/>
                                          </p:val>
                                        </p:tav>
                                      </p:tavLst>
                                    </p:anim>
                                    <p:animEffect transition="in" filter="fade">
                                      <p:cBhvr>
                                        <p:cTn id="53" dur="210" fill="hold"/>
                                        <p:tgtEl>
                                          <p:spTgt spid="15"/>
                                        </p:tgtEl>
                                      </p:cBhvr>
                                    </p:animEffect>
                                  </p:childTnLst>
                                </p:cTn>
                              </p:par>
                              <p:par>
                                <p:cTn id="54" presetID="53" presetClass="entr" presetSubtype="16" decel="100000" fill="hold" grpId="0" nodeType="withEffect">
                                  <p:stCondLst>
                                    <p:cond delay="1040"/>
                                  </p:stCondLst>
                                  <p:childTnLst>
                                    <p:set>
                                      <p:cBhvr>
                                        <p:cTn id="55" dur="1" fill="hold">
                                          <p:stCondLst>
                                            <p:cond delay="0"/>
                                          </p:stCondLst>
                                        </p:cTn>
                                        <p:tgtEl>
                                          <p:spTgt spid="16"/>
                                        </p:tgtEl>
                                        <p:attrNameLst>
                                          <p:attrName>style.visibility</p:attrName>
                                        </p:attrNameLst>
                                      </p:cBhvr>
                                      <p:to>
                                        <p:strVal val="visible"/>
                                      </p:to>
                                    </p:set>
                                    <p:anim calcmode="lin" valueType="num">
                                      <p:cBhvr additive="base">
                                        <p:cTn id="56" dur="350" fill="hold"/>
                                        <p:tgtEl>
                                          <p:spTgt spid="16"/>
                                        </p:tgtEl>
                                        <p:attrNameLst>
                                          <p:attrName>ppt_w</p:attrName>
                                        </p:attrNameLst>
                                      </p:cBhvr>
                                      <p:tavLst>
                                        <p:tav tm="0">
                                          <p:val>
                                            <p:strVal val="0"/>
                                          </p:val>
                                        </p:tav>
                                        <p:tav tm="70000">
                                          <p:val>
                                            <p:strVal val="#ppt_w*1.08"/>
                                          </p:val>
                                        </p:tav>
                                        <p:tav tm="100000">
                                          <p:val>
                                            <p:strVal val="#ppt_w"/>
                                          </p:val>
                                        </p:tav>
                                      </p:tavLst>
                                    </p:anim>
                                    <p:anim calcmode="lin" valueType="num">
                                      <p:cBhvr additive="base">
                                        <p:cTn id="57" dur="350" fill="hold"/>
                                        <p:tgtEl>
                                          <p:spTgt spid="16"/>
                                        </p:tgtEl>
                                        <p:attrNameLst>
                                          <p:attrName>ppt_h</p:attrName>
                                        </p:attrNameLst>
                                      </p:cBhvr>
                                      <p:tavLst>
                                        <p:tav tm="0">
                                          <p:val>
                                            <p:strVal val="0"/>
                                          </p:val>
                                        </p:tav>
                                        <p:tav tm="70000">
                                          <p:val>
                                            <p:strVal val="#ppt_h*1.08"/>
                                          </p:val>
                                        </p:tav>
                                        <p:tav tm="100000">
                                          <p:val>
                                            <p:strVal val="#ppt_h"/>
                                          </p:val>
                                        </p:tav>
                                      </p:tavLst>
                                    </p:anim>
                                    <p:animEffect transition="in" filter="fade">
                                      <p:cBhvr>
                                        <p:cTn id="58" dur="210" fill="hold"/>
                                        <p:tgtEl>
                                          <p:spTgt spid="16"/>
                                        </p:tgtEl>
                                      </p:cBhvr>
                                    </p:animEffect>
                                  </p:childTnLst>
                                </p:cTn>
                              </p:par>
                              <p:par>
                                <p:cTn id="59" presetID="53" presetClass="entr" presetSubtype="16" decel="100000" fill="hold" grpId="0" nodeType="withEffect">
                                  <p:stCondLst>
                                    <p:cond delay="1120"/>
                                  </p:stCondLst>
                                  <p:childTnLst>
                                    <p:set>
                                      <p:cBhvr>
                                        <p:cTn id="60" dur="1" fill="hold">
                                          <p:stCondLst>
                                            <p:cond delay="0"/>
                                          </p:stCondLst>
                                        </p:cTn>
                                        <p:tgtEl>
                                          <p:spTgt spid="17"/>
                                        </p:tgtEl>
                                        <p:attrNameLst>
                                          <p:attrName>style.visibility</p:attrName>
                                        </p:attrNameLst>
                                      </p:cBhvr>
                                      <p:to>
                                        <p:strVal val="visible"/>
                                      </p:to>
                                    </p:set>
                                    <p:anim calcmode="lin" valueType="num">
                                      <p:cBhvr additive="base">
                                        <p:cTn id="61" dur="350" fill="hold"/>
                                        <p:tgtEl>
                                          <p:spTgt spid="17"/>
                                        </p:tgtEl>
                                        <p:attrNameLst>
                                          <p:attrName>ppt_w</p:attrName>
                                        </p:attrNameLst>
                                      </p:cBhvr>
                                      <p:tavLst>
                                        <p:tav tm="0">
                                          <p:val>
                                            <p:strVal val="0"/>
                                          </p:val>
                                        </p:tav>
                                        <p:tav tm="70000">
                                          <p:val>
                                            <p:strVal val="#ppt_w*1.08"/>
                                          </p:val>
                                        </p:tav>
                                        <p:tav tm="100000">
                                          <p:val>
                                            <p:strVal val="#ppt_w"/>
                                          </p:val>
                                        </p:tav>
                                      </p:tavLst>
                                    </p:anim>
                                    <p:anim calcmode="lin" valueType="num">
                                      <p:cBhvr additive="base">
                                        <p:cTn id="62" dur="350" fill="hold"/>
                                        <p:tgtEl>
                                          <p:spTgt spid="17"/>
                                        </p:tgtEl>
                                        <p:attrNameLst>
                                          <p:attrName>ppt_h</p:attrName>
                                        </p:attrNameLst>
                                      </p:cBhvr>
                                      <p:tavLst>
                                        <p:tav tm="0">
                                          <p:val>
                                            <p:strVal val="0"/>
                                          </p:val>
                                        </p:tav>
                                        <p:tav tm="70000">
                                          <p:val>
                                            <p:strVal val="#ppt_h*1.08"/>
                                          </p:val>
                                        </p:tav>
                                        <p:tav tm="100000">
                                          <p:val>
                                            <p:strVal val="#ppt_h"/>
                                          </p:val>
                                        </p:tav>
                                      </p:tavLst>
                                    </p:anim>
                                    <p:animEffect transition="in" filter="fade">
                                      <p:cBhvr>
                                        <p:cTn id="63" dur="210" fill="hold"/>
                                        <p:tgtEl>
                                          <p:spTgt spid="17"/>
                                        </p:tgtEl>
                                      </p:cBhvr>
                                    </p:animEffect>
                                  </p:childTnLst>
                                </p:cTn>
                              </p:par>
                              <p:par>
                                <p:cTn id="64" presetID="53" presetClass="entr" presetSubtype="16" decel="100000" fill="hold" grpId="0" nodeType="withEffect">
                                  <p:stCondLst>
                                    <p:cond delay="1200"/>
                                  </p:stCondLst>
                                  <p:childTnLst>
                                    <p:set>
                                      <p:cBhvr>
                                        <p:cTn id="65" dur="1" fill="hold">
                                          <p:stCondLst>
                                            <p:cond delay="0"/>
                                          </p:stCondLst>
                                        </p:cTn>
                                        <p:tgtEl>
                                          <p:spTgt spid="18"/>
                                        </p:tgtEl>
                                        <p:attrNameLst>
                                          <p:attrName>style.visibility</p:attrName>
                                        </p:attrNameLst>
                                      </p:cBhvr>
                                      <p:to>
                                        <p:strVal val="visible"/>
                                      </p:to>
                                    </p:set>
                                    <p:anim calcmode="lin" valueType="num">
                                      <p:cBhvr additive="base">
                                        <p:cTn id="66" dur="350" fill="hold"/>
                                        <p:tgtEl>
                                          <p:spTgt spid="18"/>
                                        </p:tgtEl>
                                        <p:attrNameLst>
                                          <p:attrName>ppt_w</p:attrName>
                                        </p:attrNameLst>
                                      </p:cBhvr>
                                      <p:tavLst>
                                        <p:tav tm="0">
                                          <p:val>
                                            <p:strVal val="0"/>
                                          </p:val>
                                        </p:tav>
                                        <p:tav tm="70000">
                                          <p:val>
                                            <p:strVal val="#ppt_w*1.08"/>
                                          </p:val>
                                        </p:tav>
                                        <p:tav tm="100000">
                                          <p:val>
                                            <p:strVal val="#ppt_w"/>
                                          </p:val>
                                        </p:tav>
                                      </p:tavLst>
                                    </p:anim>
                                    <p:anim calcmode="lin" valueType="num">
                                      <p:cBhvr additive="base">
                                        <p:cTn id="67" dur="350" fill="hold"/>
                                        <p:tgtEl>
                                          <p:spTgt spid="18"/>
                                        </p:tgtEl>
                                        <p:attrNameLst>
                                          <p:attrName>ppt_h</p:attrName>
                                        </p:attrNameLst>
                                      </p:cBhvr>
                                      <p:tavLst>
                                        <p:tav tm="0">
                                          <p:val>
                                            <p:strVal val="0"/>
                                          </p:val>
                                        </p:tav>
                                        <p:tav tm="70000">
                                          <p:val>
                                            <p:strVal val="#ppt_h*1.08"/>
                                          </p:val>
                                        </p:tav>
                                        <p:tav tm="100000">
                                          <p:val>
                                            <p:strVal val="#ppt_h"/>
                                          </p:val>
                                        </p:tav>
                                      </p:tavLst>
                                    </p:anim>
                                    <p:animEffect transition="in" filter="fade">
                                      <p:cBhvr>
                                        <p:cTn id="68" dur="210" fill="hold"/>
                                        <p:tgtEl>
                                          <p:spTgt spid="18"/>
                                        </p:tgtEl>
                                      </p:cBhvr>
                                    </p:animEffect>
                                  </p:childTnLst>
                                </p:cTn>
                              </p:par>
                              <p:par>
                                <p:cTn id="69" presetID="53" presetClass="entr" presetSubtype="16" decel="100000" fill="hold" grpId="0" nodeType="withEffect">
                                  <p:stCondLst>
                                    <p:cond delay="1280"/>
                                  </p:stCondLst>
                                  <p:childTnLst>
                                    <p:set>
                                      <p:cBhvr>
                                        <p:cTn id="70" dur="1" fill="hold">
                                          <p:stCondLst>
                                            <p:cond delay="0"/>
                                          </p:stCondLst>
                                        </p:cTn>
                                        <p:tgtEl>
                                          <p:spTgt spid="19"/>
                                        </p:tgtEl>
                                        <p:attrNameLst>
                                          <p:attrName>style.visibility</p:attrName>
                                        </p:attrNameLst>
                                      </p:cBhvr>
                                      <p:to>
                                        <p:strVal val="visible"/>
                                      </p:to>
                                    </p:set>
                                    <p:anim calcmode="lin" valueType="num">
                                      <p:cBhvr additive="base">
                                        <p:cTn id="71" dur="350" fill="hold"/>
                                        <p:tgtEl>
                                          <p:spTgt spid="19"/>
                                        </p:tgtEl>
                                        <p:attrNameLst>
                                          <p:attrName>ppt_w</p:attrName>
                                        </p:attrNameLst>
                                      </p:cBhvr>
                                      <p:tavLst>
                                        <p:tav tm="0">
                                          <p:val>
                                            <p:strVal val="0"/>
                                          </p:val>
                                        </p:tav>
                                        <p:tav tm="70000">
                                          <p:val>
                                            <p:strVal val="#ppt_w*1.08"/>
                                          </p:val>
                                        </p:tav>
                                        <p:tav tm="100000">
                                          <p:val>
                                            <p:strVal val="#ppt_w"/>
                                          </p:val>
                                        </p:tav>
                                      </p:tavLst>
                                    </p:anim>
                                    <p:anim calcmode="lin" valueType="num">
                                      <p:cBhvr additive="base">
                                        <p:cTn id="72" dur="350" fill="hold"/>
                                        <p:tgtEl>
                                          <p:spTgt spid="19"/>
                                        </p:tgtEl>
                                        <p:attrNameLst>
                                          <p:attrName>ppt_h</p:attrName>
                                        </p:attrNameLst>
                                      </p:cBhvr>
                                      <p:tavLst>
                                        <p:tav tm="0">
                                          <p:val>
                                            <p:strVal val="0"/>
                                          </p:val>
                                        </p:tav>
                                        <p:tav tm="70000">
                                          <p:val>
                                            <p:strVal val="#ppt_h*1.08"/>
                                          </p:val>
                                        </p:tav>
                                        <p:tav tm="100000">
                                          <p:val>
                                            <p:strVal val="#ppt_h"/>
                                          </p:val>
                                        </p:tav>
                                      </p:tavLst>
                                    </p:anim>
                                    <p:animEffect transition="in" filter="fade">
                                      <p:cBhvr>
                                        <p:cTn id="73" dur="210" fill="hold"/>
                                        <p:tgtEl>
                                          <p:spTgt spid="19"/>
                                        </p:tgtEl>
                                      </p:cBhvr>
                                    </p:animEffect>
                                  </p:childTnLst>
                                </p:cTn>
                              </p:par>
                              <p:par>
                                <p:cTn id="74" presetID="22" presetClass="entr" presetSubtype="8" fill="hold" nodeType="withEffect">
                                  <p:stCondLst>
                                    <p:cond delay="1930"/>
                                  </p:stCondLst>
                                  <p:childTnLst>
                                    <p:set>
                                      <p:cBhvr>
                                        <p:cTn id="75" dur="1" fill="hold">
                                          <p:stCondLst>
                                            <p:cond delay="0"/>
                                          </p:stCondLst>
                                        </p:cTn>
                                        <p:tgtEl>
                                          <p:spTgt spid="20"/>
                                        </p:tgtEl>
                                        <p:attrNameLst>
                                          <p:attrName>style.visibility</p:attrName>
                                        </p:attrNameLst>
                                      </p:cBhvr>
                                      <p:to>
                                        <p:strVal val="visible"/>
                                      </p:to>
                                    </p:set>
                                    <p:animEffect transition="in" filter="wipe(left)">
                                      <p:cBhvr>
                                        <p:cTn id="76" dur="500" fill="hold"/>
                                        <p:tgtEl>
                                          <p:spTgt spid="20"/>
                                        </p:tgtEl>
                                      </p:cBhvr>
                                    </p:animEffect>
                                  </p:childTnLst>
                                </p:cTn>
                              </p:par>
                              <p:par>
                                <p:cTn id="77" presetID="42" presetClass="entr" presetSubtype="0" decel="100000" fill="hold" grpId="0" nodeType="withEffect">
                                  <p:stCondLst>
                                    <p:cond delay="2230"/>
                                  </p:stCondLst>
                                  <p:childTnLst>
                                    <p:set>
                                      <p:cBhvr>
                                        <p:cTn id="78" dur="1" fill="hold">
                                          <p:stCondLst>
                                            <p:cond delay="0"/>
                                          </p:stCondLst>
                                        </p:cTn>
                                        <p:tgtEl>
                                          <p:spTgt spid="21"/>
                                        </p:tgtEl>
                                        <p:attrNameLst>
                                          <p:attrName>style.visibility</p:attrName>
                                        </p:attrNameLst>
                                      </p:cBhvr>
                                      <p:to>
                                        <p:strVal val="visible"/>
                                      </p:to>
                                    </p:set>
                                    <p:animEffect transition="in" filter="fade">
                                      <p:cBhvr>
                                        <p:cTn id="79" dur="650" fill="hold"/>
                                        <p:tgtEl>
                                          <p:spTgt spid="21"/>
                                        </p:tgtEl>
                                      </p:cBhvr>
                                    </p:animEffect>
                                    <p:anim calcmode="lin" valueType="num">
                                      <p:cBhvr additive="base">
                                        <p:cTn id="80" dur="650" fill="hold"/>
                                        <p:tgtEl>
                                          <p:spTgt spid="21"/>
                                        </p:tgtEl>
                                        <p:attrNameLst>
                                          <p:attrName>ppt_x</p:attrName>
                                        </p:attrNameLst>
                                      </p:cBhvr>
                                      <p:tavLst>
                                        <p:tav tm="0">
                                          <p:val>
                                            <p:strVal val="#ppt_x"/>
                                          </p:val>
                                        </p:tav>
                                        <p:tav tm="100000">
                                          <p:val>
                                            <p:strVal val="#ppt_x"/>
                                          </p:val>
                                        </p:tav>
                                      </p:tavLst>
                                    </p:anim>
                                    <p:anim calcmode="lin" valueType="num">
                                      <p:cBhvr additive="base">
                                        <p:cTn id="81" dur="650" fill="hold"/>
                                        <p:tgtEl>
                                          <p:spTgt spid="21"/>
                                        </p:tgtEl>
                                        <p:attrNameLst>
                                          <p:attrName>ppt_y</p:attrName>
                                        </p:attrNameLst>
                                      </p:cBhvr>
                                      <p:tavLst>
                                        <p:tav tm="0">
                                          <p:val>
                                            <p:strVal val="#ppt_y+.06"/>
                                          </p:val>
                                        </p:tav>
                                        <p:tav tm="100000">
                                          <p:val>
                                            <p:strVal val="#ppt_y"/>
                                          </p:val>
                                        </p:tav>
                                      </p:tavLst>
                                    </p:anim>
                                  </p:childTnLst>
                                </p:cTn>
                              </p:par>
                              <p:par>
                                <p:cTn id="82" presetID="42" presetClass="entr" presetSubtype="0" decel="100000" fill="hold" grpId="0" nodeType="withEffect">
                                  <p:stCondLst>
                                    <p:cond delay="2230"/>
                                  </p:stCondLst>
                                  <p:childTnLst>
                                    <p:set>
                                      <p:cBhvr>
                                        <p:cTn id="83" dur="1" fill="hold">
                                          <p:stCondLst>
                                            <p:cond delay="0"/>
                                          </p:stCondLst>
                                        </p:cTn>
                                        <p:tgtEl>
                                          <p:spTgt spid="22"/>
                                        </p:tgtEl>
                                        <p:attrNameLst>
                                          <p:attrName>style.visibility</p:attrName>
                                        </p:attrNameLst>
                                      </p:cBhvr>
                                      <p:to>
                                        <p:strVal val="visible"/>
                                      </p:to>
                                    </p:set>
                                    <p:animEffect transition="in" filter="fade">
                                      <p:cBhvr>
                                        <p:cTn id="84" dur="650" fill="hold"/>
                                        <p:tgtEl>
                                          <p:spTgt spid="22"/>
                                        </p:tgtEl>
                                      </p:cBhvr>
                                    </p:animEffect>
                                    <p:anim calcmode="lin" valueType="num">
                                      <p:cBhvr additive="base">
                                        <p:cTn id="85" dur="650" fill="hold"/>
                                        <p:tgtEl>
                                          <p:spTgt spid="22"/>
                                        </p:tgtEl>
                                        <p:attrNameLst>
                                          <p:attrName>ppt_x</p:attrName>
                                        </p:attrNameLst>
                                      </p:cBhvr>
                                      <p:tavLst>
                                        <p:tav tm="0">
                                          <p:val>
                                            <p:strVal val="#ppt_x"/>
                                          </p:val>
                                        </p:tav>
                                        <p:tav tm="100000">
                                          <p:val>
                                            <p:strVal val="#ppt_x"/>
                                          </p:val>
                                        </p:tav>
                                      </p:tavLst>
                                    </p:anim>
                                    <p:anim calcmode="lin" valueType="num">
                                      <p:cBhvr additive="base">
                                        <p:cTn id="86" dur="650" fill="hold"/>
                                        <p:tgtEl>
                                          <p:spTgt spid="22"/>
                                        </p:tgtEl>
                                        <p:attrNameLst>
                                          <p:attrName>ppt_y</p:attrName>
                                        </p:attrNameLst>
                                      </p:cBhvr>
                                      <p:tavLst>
                                        <p:tav tm="0">
                                          <p:val>
                                            <p:strVal val="#ppt_y+.06"/>
                                          </p:val>
                                        </p:tav>
                                        <p:tav tm="100000">
                                          <p:val>
                                            <p:strVal val="#ppt_y"/>
                                          </p:val>
                                        </p:tav>
                                      </p:tavLst>
                                    </p:anim>
                                  </p:childTnLst>
                                </p:cTn>
                              </p:par>
                              <p:par>
                                <p:cTn id="87" presetID="42" presetClass="entr" presetSubtype="0" decel="100000" fill="hold" grpId="0" nodeType="withEffect">
                                  <p:stCondLst>
                                    <p:cond delay="2230"/>
                                  </p:stCondLst>
                                  <p:childTnLst>
                                    <p:set>
                                      <p:cBhvr>
                                        <p:cTn id="88" dur="1" fill="hold">
                                          <p:stCondLst>
                                            <p:cond delay="0"/>
                                          </p:stCondLst>
                                        </p:cTn>
                                        <p:tgtEl>
                                          <p:spTgt spid="23"/>
                                        </p:tgtEl>
                                        <p:attrNameLst>
                                          <p:attrName>style.visibility</p:attrName>
                                        </p:attrNameLst>
                                      </p:cBhvr>
                                      <p:to>
                                        <p:strVal val="visible"/>
                                      </p:to>
                                    </p:set>
                                    <p:animEffect transition="in" filter="fade">
                                      <p:cBhvr>
                                        <p:cTn id="89" dur="650" fill="hold"/>
                                        <p:tgtEl>
                                          <p:spTgt spid="23"/>
                                        </p:tgtEl>
                                      </p:cBhvr>
                                    </p:animEffect>
                                    <p:anim calcmode="lin" valueType="num">
                                      <p:cBhvr additive="base">
                                        <p:cTn id="90" dur="650" fill="hold"/>
                                        <p:tgtEl>
                                          <p:spTgt spid="23"/>
                                        </p:tgtEl>
                                        <p:attrNameLst>
                                          <p:attrName>ppt_x</p:attrName>
                                        </p:attrNameLst>
                                      </p:cBhvr>
                                      <p:tavLst>
                                        <p:tav tm="0">
                                          <p:val>
                                            <p:strVal val="#ppt_x"/>
                                          </p:val>
                                        </p:tav>
                                        <p:tav tm="100000">
                                          <p:val>
                                            <p:strVal val="#ppt_x"/>
                                          </p:val>
                                        </p:tav>
                                      </p:tavLst>
                                    </p:anim>
                                    <p:anim calcmode="lin" valueType="num">
                                      <p:cBhvr additive="base">
                                        <p:cTn id="91" dur="650" fill="hold"/>
                                        <p:tgtEl>
                                          <p:spTgt spid="23"/>
                                        </p:tgtEl>
                                        <p:attrNameLst>
                                          <p:attrName>ppt_y</p:attrName>
                                        </p:attrNameLst>
                                      </p:cBhvr>
                                      <p:tavLst>
                                        <p:tav tm="0">
                                          <p:val>
                                            <p:strVal val="#ppt_y+.06"/>
                                          </p:val>
                                        </p:tav>
                                        <p:tav tm="100000">
                                          <p:val>
                                            <p:strVal val="#ppt_y"/>
                                          </p:val>
                                        </p:tav>
                                      </p:tavLst>
                                    </p:anim>
                                  </p:childTnLst>
                                </p:cTn>
                              </p:par>
                              <p:par>
                                <p:cTn id="92" presetID="53" presetClass="entr" presetSubtype="16" decel="100000" fill="hold" grpId="0" nodeType="withEffect">
                                  <p:stCondLst>
                                    <p:cond delay="2380"/>
                                  </p:stCondLst>
                                  <p:childTnLst>
                                    <p:set>
                                      <p:cBhvr>
                                        <p:cTn id="93" dur="1" fill="hold">
                                          <p:stCondLst>
                                            <p:cond delay="0"/>
                                          </p:stCondLst>
                                        </p:cTn>
                                        <p:tgtEl>
                                          <p:spTgt spid="24"/>
                                        </p:tgtEl>
                                        <p:attrNameLst>
                                          <p:attrName>style.visibility</p:attrName>
                                        </p:attrNameLst>
                                      </p:cBhvr>
                                      <p:to>
                                        <p:strVal val="visible"/>
                                      </p:to>
                                    </p:set>
                                    <p:anim calcmode="lin" valueType="num">
                                      <p:cBhvr additive="base">
                                        <p:cTn id="94" dur="300" fill="hold"/>
                                        <p:tgtEl>
                                          <p:spTgt spid="24"/>
                                        </p:tgtEl>
                                        <p:attrNameLst>
                                          <p:attrName>ppt_w</p:attrName>
                                        </p:attrNameLst>
                                      </p:cBhvr>
                                      <p:tavLst>
                                        <p:tav tm="0">
                                          <p:val>
                                            <p:strVal val="0"/>
                                          </p:val>
                                        </p:tav>
                                        <p:tav tm="70000">
                                          <p:val>
                                            <p:strVal val="#ppt_w*1.08"/>
                                          </p:val>
                                        </p:tav>
                                        <p:tav tm="100000">
                                          <p:val>
                                            <p:strVal val="#ppt_w"/>
                                          </p:val>
                                        </p:tav>
                                      </p:tavLst>
                                    </p:anim>
                                    <p:anim calcmode="lin" valueType="num">
                                      <p:cBhvr additive="base">
                                        <p:cTn id="95" dur="300" fill="hold"/>
                                        <p:tgtEl>
                                          <p:spTgt spid="24"/>
                                        </p:tgtEl>
                                        <p:attrNameLst>
                                          <p:attrName>ppt_h</p:attrName>
                                        </p:attrNameLst>
                                      </p:cBhvr>
                                      <p:tavLst>
                                        <p:tav tm="0">
                                          <p:val>
                                            <p:strVal val="0"/>
                                          </p:val>
                                        </p:tav>
                                        <p:tav tm="70000">
                                          <p:val>
                                            <p:strVal val="#ppt_h*1.08"/>
                                          </p:val>
                                        </p:tav>
                                        <p:tav tm="100000">
                                          <p:val>
                                            <p:strVal val="#ppt_h"/>
                                          </p:val>
                                        </p:tav>
                                      </p:tavLst>
                                    </p:anim>
                                    <p:animEffect transition="in" filter="fade">
                                      <p:cBhvr>
                                        <p:cTn id="96" dur="180" fill="hold"/>
                                        <p:tgtEl>
                                          <p:spTgt spid="24"/>
                                        </p:tgtEl>
                                      </p:cBhvr>
                                    </p:animEffect>
                                  </p:childTnLst>
                                </p:cTn>
                              </p:par>
                              <p:par>
                                <p:cTn id="97" presetID="53" presetClass="entr" presetSubtype="16" decel="100000" fill="hold" grpId="0" nodeType="withEffect">
                                  <p:stCondLst>
                                    <p:cond delay="2450"/>
                                  </p:stCondLst>
                                  <p:childTnLst>
                                    <p:set>
                                      <p:cBhvr>
                                        <p:cTn id="98" dur="1" fill="hold">
                                          <p:stCondLst>
                                            <p:cond delay="0"/>
                                          </p:stCondLst>
                                        </p:cTn>
                                        <p:tgtEl>
                                          <p:spTgt spid="25"/>
                                        </p:tgtEl>
                                        <p:attrNameLst>
                                          <p:attrName>style.visibility</p:attrName>
                                        </p:attrNameLst>
                                      </p:cBhvr>
                                      <p:to>
                                        <p:strVal val="visible"/>
                                      </p:to>
                                    </p:set>
                                    <p:anim calcmode="lin" valueType="num">
                                      <p:cBhvr additive="base">
                                        <p:cTn id="99" dur="300" fill="hold"/>
                                        <p:tgtEl>
                                          <p:spTgt spid="25"/>
                                        </p:tgtEl>
                                        <p:attrNameLst>
                                          <p:attrName>ppt_w</p:attrName>
                                        </p:attrNameLst>
                                      </p:cBhvr>
                                      <p:tavLst>
                                        <p:tav tm="0">
                                          <p:val>
                                            <p:strVal val="0"/>
                                          </p:val>
                                        </p:tav>
                                        <p:tav tm="70000">
                                          <p:val>
                                            <p:strVal val="#ppt_w*1.08"/>
                                          </p:val>
                                        </p:tav>
                                        <p:tav tm="100000">
                                          <p:val>
                                            <p:strVal val="#ppt_w"/>
                                          </p:val>
                                        </p:tav>
                                      </p:tavLst>
                                    </p:anim>
                                    <p:anim calcmode="lin" valueType="num">
                                      <p:cBhvr additive="base">
                                        <p:cTn id="100" dur="300" fill="hold"/>
                                        <p:tgtEl>
                                          <p:spTgt spid="25"/>
                                        </p:tgtEl>
                                        <p:attrNameLst>
                                          <p:attrName>ppt_h</p:attrName>
                                        </p:attrNameLst>
                                      </p:cBhvr>
                                      <p:tavLst>
                                        <p:tav tm="0">
                                          <p:val>
                                            <p:strVal val="0"/>
                                          </p:val>
                                        </p:tav>
                                        <p:tav tm="70000">
                                          <p:val>
                                            <p:strVal val="#ppt_h*1.08"/>
                                          </p:val>
                                        </p:tav>
                                        <p:tav tm="100000">
                                          <p:val>
                                            <p:strVal val="#ppt_h"/>
                                          </p:val>
                                        </p:tav>
                                      </p:tavLst>
                                    </p:anim>
                                    <p:animEffect transition="in" filter="fade">
                                      <p:cBhvr>
                                        <p:cTn id="101" dur="180" fill="hold"/>
                                        <p:tgtEl>
                                          <p:spTgt spid="25"/>
                                        </p:tgtEl>
                                      </p:cBhvr>
                                    </p:animEffect>
                                  </p:childTnLst>
                                </p:cTn>
                              </p:par>
                              <p:par>
                                <p:cTn id="102" presetID="53" presetClass="entr" presetSubtype="16" decel="100000" fill="hold" grpId="0" nodeType="withEffect">
                                  <p:stCondLst>
                                    <p:cond delay="2520"/>
                                  </p:stCondLst>
                                  <p:childTnLst>
                                    <p:set>
                                      <p:cBhvr>
                                        <p:cTn id="103" dur="1" fill="hold">
                                          <p:stCondLst>
                                            <p:cond delay="0"/>
                                          </p:stCondLst>
                                        </p:cTn>
                                        <p:tgtEl>
                                          <p:spTgt spid="26"/>
                                        </p:tgtEl>
                                        <p:attrNameLst>
                                          <p:attrName>style.visibility</p:attrName>
                                        </p:attrNameLst>
                                      </p:cBhvr>
                                      <p:to>
                                        <p:strVal val="visible"/>
                                      </p:to>
                                    </p:set>
                                    <p:anim calcmode="lin" valueType="num">
                                      <p:cBhvr additive="base">
                                        <p:cTn id="104" dur="300" fill="hold"/>
                                        <p:tgtEl>
                                          <p:spTgt spid="26"/>
                                        </p:tgtEl>
                                        <p:attrNameLst>
                                          <p:attrName>ppt_w</p:attrName>
                                        </p:attrNameLst>
                                      </p:cBhvr>
                                      <p:tavLst>
                                        <p:tav tm="0">
                                          <p:val>
                                            <p:strVal val="0"/>
                                          </p:val>
                                        </p:tav>
                                        <p:tav tm="70000">
                                          <p:val>
                                            <p:strVal val="#ppt_w*1.08"/>
                                          </p:val>
                                        </p:tav>
                                        <p:tav tm="100000">
                                          <p:val>
                                            <p:strVal val="#ppt_w"/>
                                          </p:val>
                                        </p:tav>
                                      </p:tavLst>
                                    </p:anim>
                                    <p:anim calcmode="lin" valueType="num">
                                      <p:cBhvr additive="base">
                                        <p:cTn id="105" dur="300" fill="hold"/>
                                        <p:tgtEl>
                                          <p:spTgt spid="26"/>
                                        </p:tgtEl>
                                        <p:attrNameLst>
                                          <p:attrName>ppt_h</p:attrName>
                                        </p:attrNameLst>
                                      </p:cBhvr>
                                      <p:tavLst>
                                        <p:tav tm="0">
                                          <p:val>
                                            <p:strVal val="0"/>
                                          </p:val>
                                        </p:tav>
                                        <p:tav tm="70000">
                                          <p:val>
                                            <p:strVal val="#ppt_h*1.08"/>
                                          </p:val>
                                        </p:tav>
                                        <p:tav tm="100000">
                                          <p:val>
                                            <p:strVal val="#ppt_h"/>
                                          </p:val>
                                        </p:tav>
                                      </p:tavLst>
                                    </p:anim>
                                    <p:animEffect transition="in" filter="fade">
                                      <p:cBhvr>
                                        <p:cTn id="106" dur="180" fill="hold"/>
                                        <p:tgtEl>
                                          <p:spTgt spid="26"/>
                                        </p:tgtEl>
                                      </p:cBhvr>
                                    </p:animEffect>
                                  </p:childTnLst>
                                </p:cTn>
                              </p:par>
                              <p:par>
                                <p:cTn id="107" presetID="53" presetClass="entr" presetSubtype="16" decel="100000" fill="hold" grpId="0" nodeType="withEffect">
                                  <p:stCondLst>
                                    <p:cond delay="2590"/>
                                  </p:stCondLst>
                                  <p:childTnLst>
                                    <p:set>
                                      <p:cBhvr>
                                        <p:cTn id="108" dur="1" fill="hold">
                                          <p:stCondLst>
                                            <p:cond delay="0"/>
                                          </p:stCondLst>
                                        </p:cTn>
                                        <p:tgtEl>
                                          <p:spTgt spid="27"/>
                                        </p:tgtEl>
                                        <p:attrNameLst>
                                          <p:attrName>style.visibility</p:attrName>
                                        </p:attrNameLst>
                                      </p:cBhvr>
                                      <p:to>
                                        <p:strVal val="visible"/>
                                      </p:to>
                                    </p:set>
                                    <p:anim calcmode="lin" valueType="num">
                                      <p:cBhvr additive="base">
                                        <p:cTn id="109" dur="300" fill="hold"/>
                                        <p:tgtEl>
                                          <p:spTgt spid="27"/>
                                        </p:tgtEl>
                                        <p:attrNameLst>
                                          <p:attrName>ppt_w</p:attrName>
                                        </p:attrNameLst>
                                      </p:cBhvr>
                                      <p:tavLst>
                                        <p:tav tm="0">
                                          <p:val>
                                            <p:strVal val="0"/>
                                          </p:val>
                                        </p:tav>
                                        <p:tav tm="70000">
                                          <p:val>
                                            <p:strVal val="#ppt_w*1.08"/>
                                          </p:val>
                                        </p:tav>
                                        <p:tav tm="100000">
                                          <p:val>
                                            <p:strVal val="#ppt_w"/>
                                          </p:val>
                                        </p:tav>
                                      </p:tavLst>
                                    </p:anim>
                                    <p:anim calcmode="lin" valueType="num">
                                      <p:cBhvr additive="base">
                                        <p:cTn id="110" dur="300" fill="hold"/>
                                        <p:tgtEl>
                                          <p:spTgt spid="27"/>
                                        </p:tgtEl>
                                        <p:attrNameLst>
                                          <p:attrName>ppt_h</p:attrName>
                                        </p:attrNameLst>
                                      </p:cBhvr>
                                      <p:tavLst>
                                        <p:tav tm="0">
                                          <p:val>
                                            <p:strVal val="0"/>
                                          </p:val>
                                        </p:tav>
                                        <p:tav tm="70000">
                                          <p:val>
                                            <p:strVal val="#ppt_h*1.08"/>
                                          </p:val>
                                        </p:tav>
                                        <p:tav tm="100000">
                                          <p:val>
                                            <p:strVal val="#ppt_h"/>
                                          </p:val>
                                        </p:tav>
                                      </p:tavLst>
                                    </p:anim>
                                    <p:animEffect transition="in" filter="fade">
                                      <p:cBhvr>
                                        <p:cTn id="111" dur="180" fill="hold"/>
                                        <p:tgtEl>
                                          <p:spTgt spid="27"/>
                                        </p:tgtEl>
                                      </p:cBhvr>
                                    </p:animEffect>
                                  </p:childTnLst>
                                </p:cTn>
                              </p:par>
                              <p:par>
                                <p:cTn id="112" presetID="42" presetClass="entr" presetSubtype="0" decel="100000" fill="hold" grpId="0" nodeType="withEffect">
                                  <p:stCondLst>
                                    <p:cond delay="2680"/>
                                  </p:stCondLst>
                                  <p:childTnLst>
                                    <p:set>
                                      <p:cBhvr>
                                        <p:cTn id="113" dur="1" fill="hold">
                                          <p:stCondLst>
                                            <p:cond delay="0"/>
                                          </p:stCondLst>
                                        </p:cTn>
                                        <p:tgtEl>
                                          <p:spTgt spid="28"/>
                                        </p:tgtEl>
                                        <p:attrNameLst>
                                          <p:attrName>style.visibility</p:attrName>
                                        </p:attrNameLst>
                                      </p:cBhvr>
                                      <p:to>
                                        <p:strVal val="visible"/>
                                      </p:to>
                                    </p:set>
                                    <p:animEffect transition="in" filter="fade">
                                      <p:cBhvr>
                                        <p:cTn id="114" dur="650" fill="hold"/>
                                        <p:tgtEl>
                                          <p:spTgt spid="28"/>
                                        </p:tgtEl>
                                      </p:cBhvr>
                                    </p:animEffect>
                                    <p:anim calcmode="lin" valueType="num">
                                      <p:cBhvr additive="base">
                                        <p:cTn id="115" dur="650" fill="hold"/>
                                        <p:tgtEl>
                                          <p:spTgt spid="28"/>
                                        </p:tgtEl>
                                        <p:attrNameLst>
                                          <p:attrName>ppt_x</p:attrName>
                                        </p:attrNameLst>
                                      </p:cBhvr>
                                      <p:tavLst>
                                        <p:tav tm="0">
                                          <p:val>
                                            <p:strVal val="#ppt_x"/>
                                          </p:val>
                                        </p:tav>
                                        <p:tav tm="100000">
                                          <p:val>
                                            <p:strVal val="#ppt_x"/>
                                          </p:val>
                                        </p:tav>
                                      </p:tavLst>
                                    </p:anim>
                                    <p:anim calcmode="lin" valueType="num">
                                      <p:cBhvr additive="base">
                                        <p:cTn id="116" dur="650" fill="hold"/>
                                        <p:tgtEl>
                                          <p:spTgt spid="28"/>
                                        </p:tgtEl>
                                        <p:attrNameLst>
                                          <p:attrName>ppt_y</p:attrName>
                                        </p:attrNameLst>
                                      </p:cBhvr>
                                      <p:tavLst>
                                        <p:tav tm="0">
                                          <p:val>
                                            <p:strVal val="#ppt_y+.06"/>
                                          </p:val>
                                        </p:tav>
                                        <p:tav tm="100000">
                                          <p:val>
                                            <p:strVal val="#ppt_y"/>
                                          </p:val>
                                        </p:tav>
                                      </p:tavLst>
                                    </p:anim>
                                  </p:childTnLst>
                                </p:cTn>
                              </p:par>
                              <p:par>
                                <p:cTn id="117" presetID="42" presetClass="entr" presetSubtype="0" decel="100000" fill="hold" grpId="0" nodeType="withEffect">
                                  <p:stCondLst>
                                    <p:cond delay="2680"/>
                                  </p:stCondLst>
                                  <p:childTnLst>
                                    <p:set>
                                      <p:cBhvr>
                                        <p:cTn id="118" dur="1" fill="hold">
                                          <p:stCondLst>
                                            <p:cond delay="0"/>
                                          </p:stCondLst>
                                        </p:cTn>
                                        <p:tgtEl>
                                          <p:spTgt spid="29"/>
                                        </p:tgtEl>
                                        <p:attrNameLst>
                                          <p:attrName>style.visibility</p:attrName>
                                        </p:attrNameLst>
                                      </p:cBhvr>
                                      <p:to>
                                        <p:strVal val="visible"/>
                                      </p:to>
                                    </p:set>
                                    <p:animEffect transition="in" filter="fade">
                                      <p:cBhvr>
                                        <p:cTn id="119" dur="650" fill="hold"/>
                                        <p:tgtEl>
                                          <p:spTgt spid="29"/>
                                        </p:tgtEl>
                                      </p:cBhvr>
                                    </p:animEffect>
                                    <p:anim calcmode="lin" valueType="num">
                                      <p:cBhvr additive="base">
                                        <p:cTn id="120" dur="650" fill="hold"/>
                                        <p:tgtEl>
                                          <p:spTgt spid="29"/>
                                        </p:tgtEl>
                                        <p:attrNameLst>
                                          <p:attrName>ppt_x</p:attrName>
                                        </p:attrNameLst>
                                      </p:cBhvr>
                                      <p:tavLst>
                                        <p:tav tm="0">
                                          <p:val>
                                            <p:strVal val="#ppt_x"/>
                                          </p:val>
                                        </p:tav>
                                        <p:tav tm="100000">
                                          <p:val>
                                            <p:strVal val="#ppt_x"/>
                                          </p:val>
                                        </p:tav>
                                      </p:tavLst>
                                    </p:anim>
                                    <p:anim calcmode="lin" valueType="num">
                                      <p:cBhvr additive="base">
                                        <p:cTn id="121" dur="650" fill="hold"/>
                                        <p:tgtEl>
                                          <p:spTgt spid="29"/>
                                        </p:tgtEl>
                                        <p:attrNameLst>
                                          <p:attrName>ppt_y</p:attrName>
                                        </p:attrNameLst>
                                      </p:cBhvr>
                                      <p:tavLst>
                                        <p:tav tm="0">
                                          <p:val>
                                            <p:strVal val="#ppt_y+.06"/>
                                          </p:val>
                                        </p:tav>
                                        <p:tav tm="100000">
                                          <p:val>
                                            <p:strVal val="#ppt_y"/>
                                          </p:val>
                                        </p:tav>
                                      </p:tavLst>
                                    </p:anim>
                                  </p:childTnLst>
                                </p:cTn>
                              </p:par>
                              <p:par>
                                <p:cTn id="122" presetID="42" presetClass="entr" presetSubtype="0" decel="100000" fill="hold" grpId="0" nodeType="withEffect">
                                  <p:stCondLst>
                                    <p:cond delay="2680"/>
                                  </p:stCondLst>
                                  <p:childTnLst>
                                    <p:set>
                                      <p:cBhvr>
                                        <p:cTn id="123" dur="1" fill="hold">
                                          <p:stCondLst>
                                            <p:cond delay="0"/>
                                          </p:stCondLst>
                                        </p:cTn>
                                        <p:tgtEl>
                                          <p:spTgt spid="30"/>
                                        </p:tgtEl>
                                        <p:attrNameLst>
                                          <p:attrName>style.visibility</p:attrName>
                                        </p:attrNameLst>
                                      </p:cBhvr>
                                      <p:to>
                                        <p:strVal val="visible"/>
                                      </p:to>
                                    </p:set>
                                    <p:animEffect transition="in" filter="fade">
                                      <p:cBhvr>
                                        <p:cTn id="124" dur="650" fill="hold"/>
                                        <p:tgtEl>
                                          <p:spTgt spid="30"/>
                                        </p:tgtEl>
                                      </p:cBhvr>
                                    </p:animEffect>
                                    <p:anim calcmode="lin" valueType="num">
                                      <p:cBhvr additive="base">
                                        <p:cTn id="125" dur="650" fill="hold"/>
                                        <p:tgtEl>
                                          <p:spTgt spid="30"/>
                                        </p:tgtEl>
                                        <p:attrNameLst>
                                          <p:attrName>ppt_x</p:attrName>
                                        </p:attrNameLst>
                                      </p:cBhvr>
                                      <p:tavLst>
                                        <p:tav tm="0">
                                          <p:val>
                                            <p:strVal val="#ppt_x"/>
                                          </p:val>
                                        </p:tav>
                                        <p:tav tm="100000">
                                          <p:val>
                                            <p:strVal val="#ppt_x"/>
                                          </p:val>
                                        </p:tav>
                                      </p:tavLst>
                                    </p:anim>
                                    <p:anim calcmode="lin" valueType="num">
                                      <p:cBhvr additive="base">
                                        <p:cTn id="126" dur="650" fill="hold"/>
                                        <p:tgtEl>
                                          <p:spTgt spid="30"/>
                                        </p:tgtEl>
                                        <p:attrNameLst>
                                          <p:attrName>ppt_y</p:attrName>
                                        </p:attrNameLst>
                                      </p:cBhvr>
                                      <p:tavLst>
                                        <p:tav tm="0">
                                          <p:val>
                                            <p:strVal val="#ppt_y+.06"/>
                                          </p:val>
                                        </p:tav>
                                        <p:tav tm="100000">
                                          <p:val>
                                            <p:strVal val="#ppt_y"/>
                                          </p:val>
                                        </p:tav>
                                      </p:tavLst>
                                    </p:anim>
                                  </p:childTnLst>
                                </p:cTn>
                              </p:par>
                              <p:par>
                                <p:cTn id="127" presetID="53" presetClass="entr" presetSubtype="16" decel="100000" fill="hold" grpId="0" nodeType="withEffect">
                                  <p:stCondLst>
                                    <p:cond delay="2830"/>
                                  </p:stCondLst>
                                  <p:childTnLst>
                                    <p:set>
                                      <p:cBhvr>
                                        <p:cTn id="128" dur="1" fill="hold">
                                          <p:stCondLst>
                                            <p:cond delay="0"/>
                                          </p:stCondLst>
                                        </p:cTn>
                                        <p:tgtEl>
                                          <p:spTgt spid="31"/>
                                        </p:tgtEl>
                                        <p:attrNameLst>
                                          <p:attrName>style.visibility</p:attrName>
                                        </p:attrNameLst>
                                      </p:cBhvr>
                                      <p:to>
                                        <p:strVal val="visible"/>
                                      </p:to>
                                    </p:set>
                                    <p:anim calcmode="lin" valueType="num">
                                      <p:cBhvr additive="base">
                                        <p:cTn id="129" dur="300" fill="hold"/>
                                        <p:tgtEl>
                                          <p:spTgt spid="31"/>
                                        </p:tgtEl>
                                        <p:attrNameLst>
                                          <p:attrName>ppt_w</p:attrName>
                                        </p:attrNameLst>
                                      </p:cBhvr>
                                      <p:tavLst>
                                        <p:tav tm="0">
                                          <p:val>
                                            <p:strVal val="0"/>
                                          </p:val>
                                        </p:tav>
                                        <p:tav tm="70000">
                                          <p:val>
                                            <p:strVal val="#ppt_w*1.08"/>
                                          </p:val>
                                        </p:tav>
                                        <p:tav tm="100000">
                                          <p:val>
                                            <p:strVal val="#ppt_w"/>
                                          </p:val>
                                        </p:tav>
                                      </p:tavLst>
                                    </p:anim>
                                    <p:anim calcmode="lin" valueType="num">
                                      <p:cBhvr additive="base">
                                        <p:cTn id="130" dur="300" fill="hold"/>
                                        <p:tgtEl>
                                          <p:spTgt spid="31"/>
                                        </p:tgtEl>
                                        <p:attrNameLst>
                                          <p:attrName>ppt_h</p:attrName>
                                        </p:attrNameLst>
                                      </p:cBhvr>
                                      <p:tavLst>
                                        <p:tav tm="0">
                                          <p:val>
                                            <p:strVal val="0"/>
                                          </p:val>
                                        </p:tav>
                                        <p:tav tm="70000">
                                          <p:val>
                                            <p:strVal val="#ppt_h*1.08"/>
                                          </p:val>
                                        </p:tav>
                                        <p:tav tm="100000">
                                          <p:val>
                                            <p:strVal val="#ppt_h"/>
                                          </p:val>
                                        </p:tav>
                                      </p:tavLst>
                                    </p:anim>
                                    <p:animEffect transition="in" filter="fade">
                                      <p:cBhvr>
                                        <p:cTn id="131" dur="180" fill="hold"/>
                                        <p:tgtEl>
                                          <p:spTgt spid="31"/>
                                        </p:tgtEl>
                                      </p:cBhvr>
                                    </p:animEffect>
                                  </p:childTnLst>
                                </p:cTn>
                              </p:par>
                              <p:par>
                                <p:cTn id="132" presetID="53" presetClass="entr" presetSubtype="16" decel="100000" fill="hold" grpId="0" nodeType="withEffect">
                                  <p:stCondLst>
                                    <p:cond delay="2900"/>
                                  </p:stCondLst>
                                  <p:childTnLst>
                                    <p:set>
                                      <p:cBhvr>
                                        <p:cTn id="133" dur="1" fill="hold">
                                          <p:stCondLst>
                                            <p:cond delay="0"/>
                                          </p:stCondLst>
                                        </p:cTn>
                                        <p:tgtEl>
                                          <p:spTgt spid="32"/>
                                        </p:tgtEl>
                                        <p:attrNameLst>
                                          <p:attrName>style.visibility</p:attrName>
                                        </p:attrNameLst>
                                      </p:cBhvr>
                                      <p:to>
                                        <p:strVal val="visible"/>
                                      </p:to>
                                    </p:set>
                                    <p:anim calcmode="lin" valueType="num">
                                      <p:cBhvr additive="base">
                                        <p:cTn id="134" dur="300" fill="hold"/>
                                        <p:tgtEl>
                                          <p:spTgt spid="32"/>
                                        </p:tgtEl>
                                        <p:attrNameLst>
                                          <p:attrName>ppt_w</p:attrName>
                                        </p:attrNameLst>
                                      </p:cBhvr>
                                      <p:tavLst>
                                        <p:tav tm="0">
                                          <p:val>
                                            <p:strVal val="0"/>
                                          </p:val>
                                        </p:tav>
                                        <p:tav tm="70000">
                                          <p:val>
                                            <p:strVal val="#ppt_w*1.08"/>
                                          </p:val>
                                        </p:tav>
                                        <p:tav tm="100000">
                                          <p:val>
                                            <p:strVal val="#ppt_w"/>
                                          </p:val>
                                        </p:tav>
                                      </p:tavLst>
                                    </p:anim>
                                    <p:anim calcmode="lin" valueType="num">
                                      <p:cBhvr additive="base">
                                        <p:cTn id="135" dur="300" fill="hold"/>
                                        <p:tgtEl>
                                          <p:spTgt spid="32"/>
                                        </p:tgtEl>
                                        <p:attrNameLst>
                                          <p:attrName>ppt_h</p:attrName>
                                        </p:attrNameLst>
                                      </p:cBhvr>
                                      <p:tavLst>
                                        <p:tav tm="0">
                                          <p:val>
                                            <p:strVal val="0"/>
                                          </p:val>
                                        </p:tav>
                                        <p:tav tm="70000">
                                          <p:val>
                                            <p:strVal val="#ppt_h*1.08"/>
                                          </p:val>
                                        </p:tav>
                                        <p:tav tm="100000">
                                          <p:val>
                                            <p:strVal val="#ppt_h"/>
                                          </p:val>
                                        </p:tav>
                                      </p:tavLst>
                                    </p:anim>
                                    <p:animEffect transition="in" filter="fade">
                                      <p:cBhvr>
                                        <p:cTn id="136" dur="180" fill="hold"/>
                                        <p:tgtEl>
                                          <p:spTgt spid="32"/>
                                        </p:tgtEl>
                                      </p:cBhvr>
                                    </p:animEffect>
                                  </p:childTnLst>
                                </p:cTn>
                              </p:par>
                              <p:par>
                                <p:cTn id="137" presetID="53" presetClass="entr" presetSubtype="16" decel="100000" fill="hold" grpId="0" nodeType="withEffect">
                                  <p:stCondLst>
                                    <p:cond delay="2970"/>
                                  </p:stCondLst>
                                  <p:childTnLst>
                                    <p:set>
                                      <p:cBhvr>
                                        <p:cTn id="138" dur="1" fill="hold">
                                          <p:stCondLst>
                                            <p:cond delay="0"/>
                                          </p:stCondLst>
                                        </p:cTn>
                                        <p:tgtEl>
                                          <p:spTgt spid="33"/>
                                        </p:tgtEl>
                                        <p:attrNameLst>
                                          <p:attrName>style.visibility</p:attrName>
                                        </p:attrNameLst>
                                      </p:cBhvr>
                                      <p:to>
                                        <p:strVal val="visible"/>
                                      </p:to>
                                    </p:set>
                                    <p:anim calcmode="lin" valueType="num">
                                      <p:cBhvr additive="base">
                                        <p:cTn id="139" dur="300" fill="hold"/>
                                        <p:tgtEl>
                                          <p:spTgt spid="33"/>
                                        </p:tgtEl>
                                        <p:attrNameLst>
                                          <p:attrName>ppt_w</p:attrName>
                                        </p:attrNameLst>
                                      </p:cBhvr>
                                      <p:tavLst>
                                        <p:tav tm="0">
                                          <p:val>
                                            <p:strVal val="0"/>
                                          </p:val>
                                        </p:tav>
                                        <p:tav tm="70000">
                                          <p:val>
                                            <p:strVal val="#ppt_w*1.08"/>
                                          </p:val>
                                        </p:tav>
                                        <p:tav tm="100000">
                                          <p:val>
                                            <p:strVal val="#ppt_w"/>
                                          </p:val>
                                        </p:tav>
                                      </p:tavLst>
                                    </p:anim>
                                    <p:anim calcmode="lin" valueType="num">
                                      <p:cBhvr additive="base">
                                        <p:cTn id="140" dur="300" fill="hold"/>
                                        <p:tgtEl>
                                          <p:spTgt spid="33"/>
                                        </p:tgtEl>
                                        <p:attrNameLst>
                                          <p:attrName>ppt_h</p:attrName>
                                        </p:attrNameLst>
                                      </p:cBhvr>
                                      <p:tavLst>
                                        <p:tav tm="0">
                                          <p:val>
                                            <p:strVal val="0"/>
                                          </p:val>
                                        </p:tav>
                                        <p:tav tm="70000">
                                          <p:val>
                                            <p:strVal val="#ppt_h*1.08"/>
                                          </p:val>
                                        </p:tav>
                                        <p:tav tm="100000">
                                          <p:val>
                                            <p:strVal val="#ppt_h"/>
                                          </p:val>
                                        </p:tav>
                                      </p:tavLst>
                                    </p:anim>
                                    <p:animEffect transition="in" filter="fade">
                                      <p:cBhvr>
                                        <p:cTn id="141" dur="180" fill="hold"/>
                                        <p:tgtEl>
                                          <p:spTgt spid="33"/>
                                        </p:tgtEl>
                                      </p:cBhvr>
                                    </p:animEffect>
                                  </p:childTnLst>
                                </p:cTn>
                              </p:par>
                              <p:par>
                                <p:cTn id="142" presetID="42" presetClass="entr" presetSubtype="0" decel="100000" fill="hold" grpId="0" nodeType="withEffect">
                                  <p:stCondLst>
                                    <p:cond delay="3130"/>
                                  </p:stCondLst>
                                  <p:childTnLst>
                                    <p:set>
                                      <p:cBhvr>
                                        <p:cTn id="143" dur="1" fill="hold">
                                          <p:stCondLst>
                                            <p:cond delay="0"/>
                                          </p:stCondLst>
                                        </p:cTn>
                                        <p:tgtEl>
                                          <p:spTgt spid="34"/>
                                        </p:tgtEl>
                                        <p:attrNameLst>
                                          <p:attrName>style.visibility</p:attrName>
                                        </p:attrNameLst>
                                      </p:cBhvr>
                                      <p:to>
                                        <p:strVal val="visible"/>
                                      </p:to>
                                    </p:set>
                                    <p:animEffect transition="in" filter="fade">
                                      <p:cBhvr>
                                        <p:cTn id="144" dur="650" fill="hold"/>
                                        <p:tgtEl>
                                          <p:spTgt spid="34"/>
                                        </p:tgtEl>
                                      </p:cBhvr>
                                    </p:animEffect>
                                    <p:anim calcmode="lin" valueType="num">
                                      <p:cBhvr additive="base">
                                        <p:cTn id="145" dur="650" fill="hold"/>
                                        <p:tgtEl>
                                          <p:spTgt spid="34"/>
                                        </p:tgtEl>
                                        <p:attrNameLst>
                                          <p:attrName>ppt_x</p:attrName>
                                        </p:attrNameLst>
                                      </p:cBhvr>
                                      <p:tavLst>
                                        <p:tav tm="0">
                                          <p:val>
                                            <p:strVal val="#ppt_x"/>
                                          </p:val>
                                        </p:tav>
                                        <p:tav tm="100000">
                                          <p:val>
                                            <p:strVal val="#ppt_x"/>
                                          </p:val>
                                        </p:tav>
                                      </p:tavLst>
                                    </p:anim>
                                    <p:anim calcmode="lin" valueType="num">
                                      <p:cBhvr additive="base">
                                        <p:cTn id="146" dur="650" fill="hold"/>
                                        <p:tgtEl>
                                          <p:spTgt spid="34"/>
                                        </p:tgtEl>
                                        <p:attrNameLst>
                                          <p:attrName>ppt_y</p:attrName>
                                        </p:attrNameLst>
                                      </p:cBhvr>
                                      <p:tavLst>
                                        <p:tav tm="0">
                                          <p:val>
                                            <p:strVal val="#ppt_y+.06"/>
                                          </p:val>
                                        </p:tav>
                                        <p:tav tm="100000">
                                          <p:val>
                                            <p:strVal val="#ppt_y"/>
                                          </p:val>
                                        </p:tav>
                                      </p:tavLst>
                                    </p:anim>
                                  </p:childTnLst>
                                </p:cTn>
                              </p:par>
                              <p:par>
                                <p:cTn id="147" presetID="42" presetClass="entr" presetSubtype="0" decel="100000" fill="hold" grpId="0" nodeType="withEffect">
                                  <p:stCondLst>
                                    <p:cond delay="3130"/>
                                  </p:stCondLst>
                                  <p:childTnLst>
                                    <p:set>
                                      <p:cBhvr>
                                        <p:cTn id="148" dur="1" fill="hold">
                                          <p:stCondLst>
                                            <p:cond delay="0"/>
                                          </p:stCondLst>
                                        </p:cTn>
                                        <p:tgtEl>
                                          <p:spTgt spid="35"/>
                                        </p:tgtEl>
                                        <p:attrNameLst>
                                          <p:attrName>style.visibility</p:attrName>
                                        </p:attrNameLst>
                                      </p:cBhvr>
                                      <p:to>
                                        <p:strVal val="visible"/>
                                      </p:to>
                                    </p:set>
                                    <p:animEffect transition="in" filter="fade">
                                      <p:cBhvr>
                                        <p:cTn id="149" dur="650" fill="hold"/>
                                        <p:tgtEl>
                                          <p:spTgt spid="35"/>
                                        </p:tgtEl>
                                      </p:cBhvr>
                                    </p:animEffect>
                                    <p:anim calcmode="lin" valueType="num">
                                      <p:cBhvr additive="base">
                                        <p:cTn id="150" dur="650" fill="hold"/>
                                        <p:tgtEl>
                                          <p:spTgt spid="35"/>
                                        </p:tgtEl>
                                        <p:attrNameLst>
                                          <p:attrName>ppt_x</p:attrName>
                                        </p:attrNameLst>
                                      </p:cBhvr>
                                      <p:tavLst>
                                        <p:tav tm="0">
                                          <p:val>
                                            <p:strVal val="#ppt_x"/>
                                          </p:val>
                                        </p:tav>
                                        <p:tav tm="100000">
                                          <p:val>
                                            <p:strVal val="#ppt_x"/>
                                          </p:val>
                                        </p:tav>
                                      </p:tavLst>
                                    </p:anim>
                                    <p:anim calcmode="lin" valueType="num">
                                      <p:cBhvr additive="base">
                                        <p:cTn id="151" dur="650" fill="hold"/>
                                        <p:tgtEl>
                                          <p:spTgt spid="35"/>
                                        </p:tgtEl>
                                        <p:attrNameLst>
                                          <p:attrName>ppt_y</p:attrName>
                                        </p:attrNameLst>
                                      </p:cBhvr>
                                      <p:tavLst>
                                        <p:tav tm="0">
                                          <p:val>
                                            <p:strVal val="#ppt_y+.06"/>
                                          </p:val>
                                        </p:tav>
                                        <p:tav tm="100000">
                                          <p:val>
                                            <p:strVal val="#ppt_y"/>
                                          </p:val>
                                        </p:tav>
                                      </p:tavLst>
                                    </p:anim>
                                  </p:childTnLst>
                                </p:cTn>
                              </p:par>
                              <p:par>
                                <p:cTn id="152" presetID="42" presetClass="entr" presetSubtype="0" decel="100000" fill="hold" grpId="0" nodeType="withEffect">
                                  <p:stCondLst>
                                    <p:cond delay="3130"/>
                                  </p:stCondLst>
                                  <p:childTnLst>
                                    <p:set>
                                      <p:cBhvr>
                                        <p:cTn id="153" dur="1" fill="hold">
                                          <p:stCondLst>
                                            <p:cond delay="0"/>
                                          </p:stCondLst>
                                        </p:cTn>
                                        <p:tgtEl>
                                          <p:spTgt spid="36"/>
                                        </p:tgtEl>
                                        <p:attrNameLst>
                                          <p:attrName>style.visibility</p:attrName>
                                        </p:attrNameLst>
                                      </p:cBhvr>
                                      <p:to>
                                        <p:strVal val="visible"/>
                                      </p:to>
                                    </p:set>
                                    <p:animEffect transition="in" filter="fade">
                                      <p:cBhvr>
                                        <p:cTn id="154" dur="650" fill="hold"/>
                                        <p:tgtEl>
                                          <p:spTgt spid="36"/>
                                        </p:tgtEl>
                                      </p:cBhvr>
                                    </p:animEffect>
                                    <p:anim calcmode="lin" valueType="num">
                                      <p:cBhvr additive="base">
                                        <p:cTn id="155" dur="650" fill="hold"/>
                                        <p:tgtEl>
                                          <p:spTgt spid="36"/>
                                        </p:tgtEl>
                                        <p:attrNameLst>
                                          <p:attrName>ppt_x</p:attrName>
                                        </p:attrNameLst>
                                      </p:cBhvr>
                                      <p:tavLst>
                                        <p:tav tm="0">
                                          <p:val>
                                            <p:strVal val="#ppt_x"/>
                                          </p:val>
                                        </p:tav>
                                        <p:tav tm="100000">
                                          <p:val>
                                            <p:strVal val="#ppt_x"/>
                                          </p:val>
                                        </p:tav>
                                      </p:tavLst>
                                    </p:anim>
                                    <p:anim calcmode="lin" valueType="num">
                                      <p:cBhvr additive="base">
                                        <p:cTn id="156" dur="650" fill="hold"/>
                                        <p:tgtEl>
                                          <p:spTgt spid="36"/>
                                        </p:tgtEl>
                                        <p:attrNameLst>
                                          <p:attrName>ppt_y</p:attrName>
                                        </p:attrNameLst>
                                      </p:cBhvr>
                                      <p:tavLst>
                                        <p:tav tm="0">
                                          <p:val>
                                            <p:strVal val="#ppt_y+.06"/>
                                          </p:val>
                                        </p:tav>
                                        <p:tav tm="100000">
                                          <p:val>
                                            <p:strVal val="#ppt_y"/>
                                          </p:val>
                                        </p:tav>
                                      </p:tavLst>
                                    </p:anim>
                                  </p:childTnLst>
                                </p:cTn>
                              </p:par>
                              <p:par>
                                <p:cTn id="157" presetID="53" presetClass="entr" presetSubtype="16" decel="100000" fill="hold" grpId="0" nodeType="withEffect">
                                  <p:stCondLst>
                                    <p:cond delay="3280"/>
                                  </p:stCondLst>
                                  <p:childTnLst>
                                    <p:set>
                                      <p:cBhvr>
                                        <p:cTn id="158" dur="1" fill="hold">
                                          <p:stCondLst>
                                            <p:cond delay="0"/>
                                          </p:stCondLst>
                                        </p:cTn>
                                        <p:tgtEl>
                                          <p:spTgt spid="37"/>
                                        </p:tgtEl>
                                        <p:attrNameLst>
                                          <p:attrName>style.visibility</p:attrName>
                                        </p:attrNameLst>
                                      </p:cBhvr>
                                      <p:to>
                                        <p:strVal val="visible"/>
                                      </p:to>
                                    </p:set>
                                    <p:anim calcmode="lin" valueType="num">
                                      <p:cBhvr additive="base">
                                        <p:cTn id="159" dur="300" fill="hold"/>
                                        <p:tgtEl>
                                          <p:spTgt spid="37"/>
                                        </p:tgtEl>
                                        <p:attrNameLst>
                                          <p:attrName>ppt_w</p:attrName>
                                        </p:attrNameLst>
                                      </p:cBhvr>
                                      <p:tavLst>
                                        <p:tav tm="0">
                                          <p:val>
                                            <p:strVal val="0"/>
                                          </p:val>
                                        </p:tav>
                                        <p:tav tm="70000">
                                          <p:val>
                                            <p:strVal val="#ppt_w*1.08"/>
                                          </p:val>
                                        </p:tav>
                                        <p:tav tm="100000">
                                          <p:val>
                                            <p:strVal val="#ppt_w"/>
                                          </p:val>
                                        </p:tav>
                                      </p:tavLst>
                                    </p:anim>
                                    <p:anim calcmode="lin" valueType="num">
                                      <p:cBhvr additive="base">
                                        <p:cTn id="160" dur="300" fill="hold"/>
                                        <p:tgtEl>
                                          <p:spTgt spid="37"/>
                                        </p:tgtEl>
                                        <p:attrNameLst>
                                          <p:attrName>ppt_h</p:attrName>
                                        </p:attrNameLst>
                                      </p:cBhvr>
                                      <p:tavLst>
                                        <p:tav tm="0">
                                          <p:val>
                                            <p:strVal val="0"/>
                                          </p:val>
                                        </p:tav>
                                        <p:tav tm="70000">
                                          <p:val>
                                            <p:strVal val="#ppt_h*1.08"/>
                                          </p:val>
                                        </p:tav>
                                        <p:tav tm="100000">
                                          <p:val>
                                            <p:strVal val="#ppt_h"/>
                                          </p:val>
                                        </p:tav>
                                      </p:tavLst>
                                    </p:anim>
                                    <p:animEffect transition="in" filter="fade">
                                      <p:cBhvr>
                                        <p:cTn id="161" dur="180" fill="hold"/>
                                        <p:tgtEl>
                                          <p:spTgt spid="37"/>
                                        </p:tgtEl>
                                      </p:cBhvr>
                                    </p:animEffect>
                                  </p:childTnLst>
                                </p:cTn>
                              </p:par>
                              <p:par>
                                <p:cTn id="162" presetID="53" presetClass="entr" presetSubtype="16" decel="100000" fill="hold" grpId="0" nodeType="withEffect">
                                  <p:stCondLst>
                                    <p:cond delay="3350"/>
                                  </p:stCondLst>
                                  <p:childTnLst>
                                    <p:set>
                                      <p:cBhvr>
                                        <p:cTn id="163" dur="1" fill="hold">
                                          <p:stCondLst>
                                            <p:cond delay="0"/>
                                          </p:stCondLst>
                                        </p:cTn>
                                        <p:tgtEl>
                                          <p:spTgt spid="38"/>
                                        </p:tgtEl>
                                        <p:attrNameLst>
                                          <p:attrName>style.visibility</p:attrName>
                                        </p:attrNameLst>
                                      </p:cBhvr>
                                      <p:to>
                                        <p:strVal val="visible"/>
                                      </p:to>
                                    </p:set>
                                    <p:anim calcmode="lin" valueType="num">
                                      <p:cBhvr additive="base">
                                        <p:cTn id="164" dur="300" fill="hold"/>
                                        <p:tgtEl>
                                          <p:spTgt spid="38"/>
                                        </p:tgtEl>
                                        <p:attrNameLst>
                                          <p:attrName>ppt_w</p:attrName>
                                        </p:attrNameLst>
                                      </p:cBhvr>
                                      <p:tavLst>
                                        <p:tav tm="0">
                                          <p:val>
                                            <p:strVal val="0"/>
                                          </p:val>
                                        </p:tav>
                                        <p:tav tm="70000">
                                          <p:val>
                                            <p:strVal val="#ppt_w*1.08"/>
                                          </p:val>
                                        </p:tav>
                                        <p:tav tm="100000">
                                          <p:val>
                                            <p:strVal val="#ppt_w"/>
                                          </p:val>
                                        </p:tav>
                                      </p:tavLst>
                                    </p:anim>
                                    <p:anim calcmode="lin" valueType="num">
                                      <p:cBhvr additive="base">
                                        <p:cTn id="165" dur="300" fill="hold"/>
                                        <p:tgtEl>
                                          <p:spTgt spid="38"/>
                                        </p:tgtEl>
                                        <p:attrNameLst>
                                          <p:attrName>ppt_h</p:attrName>
                                        </p:attrNameLst>
                                      </p:cBhvr>
                                      <p:tavLst>
                                        <p:tav tm="0">
                                          <p:val>
                                            <p:strVal val="0"/>
                                          </p:val>
                                        </p:tav>
                                        <p:tav tm="70000">
                                          <p:val>
                                            <p:strVal val="#ppt_h*1.08"/>
                                          </p:val>
                                        </p:tav>
                                        <p:tav tm="100000">
                                          <p:val>
                                            <p:strVal val="#ppt_h"/>
                                          </p:val>
                                        </p:tav>
                                      </p:tavLst>
                                    </p:anim>
                                    <p:animEffect transition="in" filter="fade">
                                      <p:cBhvr>
                                        <p:cTn id="166" dur="180" fill="hold"/>
                                        <p:tgtEl>
                                          <p:spTgt spid="38"/>
                                        </p:tgtEl>
                                      </p:cBhvr>
                                    </p:animEffect>
                                  </p:childTnLst>
                                </p:cTn>
                              </p:par>
                              <p:par>
                                <p:cTn id="167" presetID="42" presetClass="entr" presetSubtype="0" decel="100000" fill="hold" grpId="0" nodeType="withEffect">
                                  <p:stCondLst>
                                    <p:cond delay="3580"/>
                                  </p:stCondLst>
                                  <p:childTnLst>
                                    <p:set>
                                      <p:cBhvr>
                                        <p:cTn id="168" dur="1" fill="hold">
                                          <p:stCondLst>
                                            <p:cond delay="0"/>
                                          </p:stCondLst>
                                        </p:cTn>
                                        <p:tgtEl>
                                          <p:spTgt spid="39"/>
                                        </p:tgtEl>
                                        <p:attrNameLst>
                                          <p:attrName>style.visibility</p:attrName>
                                        </p:attrNameLst>
                                      </p:cBhvr>
                                      <p:to>
                                        <p:strVal val="visible"/>
                                      </p:to>
                                    </p:set>
                                    <p:animEffect transition="in" filter="fade">
                                      <p:cBhvr>
                                        <p:cTn id="169" dur="650" fill="hold"/>
                                        <p:tgtEl>
                                          <p:spTgt spid="39"/>
                                        </p:tgtEl>
                                      </p:cBhvr>
                                    </p:animEffect>
                                    <p:anim calcmode="lin" valueType="num">
                                      <p:cBhvr additive="base">
                                        <p:cTn id="170" dur="650" fill="hold"/>
                                        <p:tgtEl>
                                          <p:spTgt spid="39"/>
                                        </p:tgtEl>
                                        <p:attrNameLst>
                                          <p:attrName>ppt_x</p:attrName>
                                        </p:attrNameLst>
                                      </p:cBhvr>
                                      <p:tavLst>
                                        <p:tav tm="0">
                                          <p:val>
                                            <p:strVal val="#ppt_x"/>
                                          </p:val>
                                        </p:tav>
                                        <p:tav tm="100000">
                                          <p:val>
                                            <p:strVal val="#ppt_x"/>
                                          </p:val>
                                        </p:tav>
                                      </p:tavLst>
                                    </p:anim>
                                    <p:anim calcmode="lin" valueType="num">
                                      <p:cBhvr additive="base">
                                        <p:cTn id="171" dur="650" fill="hold"/>
                                        <p:tgtEl>
                                          <p:spTgt spid="39"/>
                                        </p:tgtEl>
                                        <p:attrNameLst>
                                          <p:attrName>ppt_y</p:attrName>
                                        </p:attrNameLst>
                                      </p:cBhvr>
                                      <p:tavLst>
                                        <p:tav tm="0">
                                          <p:val>
                                            <p:strVal val="#ppt_y+.06"/>
                                          </p:val>
                                        </p:tav>
                                        <p:tav tm="100000">
                                          <p:val>
                                            <p:strVal val="#ppt_y"/>
                                          </p:val>
                                        </p:tav>
                                      </p:tavLst>
                                    </p:anim>
                                  </p:childTnLst>
                                </p:cTn>
                              </p:par>
                              <p:par>
                                <p:cTn id="172" presetID="42" presetClass="entr" presetSubtype="0" decel="100000" fill="hold" grpId="0" nodeType="withEffect">
                                  <p:stCondLst>
                                    <p:cond delay="3580"/>
                                  </p:stCondLst>
                                  <p:childTnLst>
                                    <p:set>
                                      <p:cBhvr>
                                        <p:cTn id="173" dur="1" fill="hold">
                                          <p:stCondLst>
                                            <p:cond delay="0"/>
                                          </p:stCondLst>
                                        </p:cTn>
                                        <p:tgtEl>
                                          <p:spTgt spid="40"/>
                                        </p:tgtEl>
                                        <p:attrNameLst>
                                          <p:attrName>style.visibility</p:attrName>
                                        </p:attrNameLst>
                                      </p:cBhvr>
                                      <p:to>
                                        <p:strVal val="visible"/>
                                      </p:to>
                                    </p:set>
                                    <p:animEffect transition="in" filter="fade">
                                      <p:cBhvr>
                                        <p:cTn id="174" dur="650" fill="hold"/>
                                        <p:tgtEl>
                                          <p:spTgt spid="40"/>
                                        </p:tgtEl>
                                      </p:cBhvr>
                                    </p:animEffect>
                                    <p:anim calcmode="lin" valueType="num">
                                      <p:cBhvr additive="base">
                                        <p:cTn id="175" dur="650" fill="hold"/>
                                        <p:tgtEl>
                                          <p:spTgt spid="40"/>
                                        </p:tgtEl>
                                        <p:attrNameLst>
                                          <p:attrName>ppt_x</p:attrName>
                                        </p:attrNameLst>
                                      </p:cBhvr>
                                      <p:tavLst>
                                        <p:tav tm="0">
                                          <p:val>
                                            <p:strVal val="#ppt_x"/>
                                          </p:val>
                                        </p:tav>
                                        <p:tav tm="100000">
                                          <p:val>
                                            <p:strVal val="#ppt_x"/>
                                          </p:val>
                                        </p:tav>
                                      </p:tavLst>
                                    </p:anim>
                                    <p:anim calcmode="lin" valueType="num">
                                      <p:cBhvr additive="base">
                                        <p:cTn id="176" dur="650" fill="hold"/>
                                        <p:tgtEl>
                                          <p:spTgt spid="40"/>
                                        </p:tgtEl>
                                        <p:attrNameLst>
                                          <p:attrName>ppt_y</p:attrName>
                                        </p:attrNameLst>
                                      </p:cBhvr>
                                      <p:tavLst>
                                        <p:tav tm="0">
                                          <p:val>
                                            <p:strVal val="#ppt_y+.06"/>
                                          </p:val>
                                        </p:tav>
                                        <p:tav tm="100000">
                                          <p:val>
                                            <p:strVal val="#ppt_y"/>
                                          </p:val>
                                        </p:tav>
                                      </p:tavLst>
                                    </p:anim>
                                  </p:childTnLst>
                                </p:cTn>
                              </p:par>
                              <p:par>
                                <p:cTn id="177" presetID="42" presetClass="entr" presetSubtype="0" decel="100000" fill="hold" grpId="0" nodeType="withEffect">
                                  <p:stCondLst>
                                    <p:cond delay="3580"/>
                                  </p:stCondLst>
                                  <p:childTnLst>
                                    <p:set>
                                      <p:cBhvr>
                                        <p:cTn id="178" dur="1" fill="hold">
                                          <p:stCondLst>
                                            <p:cond delay="0"/>
                                          </p:stCondLst>
                                        </p:cTn>
                                        <p:tgtEl>
                                          <p:spTgt spid="41"/>
                                        </p:tgtEl>
                                        <p:attrNameLst>
                                          <p:attrName>style.visibility</p:attrName>
                                        </p:attrNameLst>
                                      </p:cBhvr>
                                      <p:to>
                                        <p:strVal val="visible"/>
                                      </p:to>
                                    </p:set>
                                    <p:animEffect transition="in" filter="fade">
                                      <p:cBhvr>
                                        <p:cTn id="179" dur="650" fill="hold"/>
                                        <p:tgtEl>
                                          <p:spTgt spid="41"/>
                                        </p:tgtEl>
                                      </p:cBhvr>
                                    </p:animEffect>
                                    <p:anim calcmode="lin" valueType="num">
                                      <p:cBhvr additive="base">
                                        <p:cTn id="180" dur="650" fill="hold"/>
                                        <p:tgtEl>
                                          <p:spTgt spid="41"/>
                                        </p:tgtEl>
                                        <p:attrNameLst>
                                          <p:attrName>ppt_x</p:attrName>
                                        </p:attrNameLst>
                                      </p:cBhvr>
                                      <p:tavLst>
                                        <p:tav tm="0">
                                          <p:val>
                                            <p:strVal val="#ppt_x"/>
                                          </p:val>
                                        </p:tav>
                                        <p:tav tm="100000">
                                          <p:val>
                                            <p:strVal val="#ppt_x"/>
                                          </p:val>
                                        </p:tav>
                                      </p:tavLst>
                                    </p:anim>
                                    <p:anim calcmode="lin" valueType="num">
                                      <p:cBhvr additive="base">
                                        <p:cTn id="181" dur="650" fill="hold"/>
                                        <p:tgtEl>
                                          <p:spTgt spid="41"/>
                                        </p:tgtEl>
                                        <p:attrNameLst>
                                          <p:attrName>ppt_y</p:attrName>
                                        </p:attrNameLst>
                                      </p:cBhvr>
                                      <p:tavLst>
                                        <p:tav tm="0">
                                          <p:val>
                                            <p:strVal val="#ppt_y+.06"/>
                                          </p:val>
                                        </p:tav>
                                        <p:tav tm="100000">
                                          <p:val>
                                            <p:strVal val="#ppt_y"/>
                                          </p:val>
                                        </p:tav>
                                      </p:tavLst>
                                    </p:anim>
                                  </p:childTnLst>
                                </p:cTn>
                              </p:par>
                              <p:par>
                                <p:cTn id="182" presetID="53" presetClass="entr" presetSubtype="16" decel="100000" fill="hold" grpId="0" nodeType="withEffect">
                                  <p:stCondLst>
                                    <p:cond delay="3730"/>
                                  </p:stCondLst>
                                  <p:childTnLst>
                                    <p:set>
                                      <p:cBhvr>
                                        <p:cTn id="183" dur="1" fill="hold">
                                          <p:stCondLst>
                                            <p:cond delay="0"/>
                                          </p:stCondLst>
                                        </p:cTn>
                                        <p:tgtEl>
                                          <p:spTgt spid="42"/>
                                        </p:tgtEl>
                                        <p:attrNameLst>
                                          <p:attrName>style.visibility</p:attrName>
                                        </p:attrNameLst>
                                      </p:cBhvr>
                                      <p:to>
                                        <p:strVal val="visible"/>
                                      </p:to>
                                    </p:set>
                                    <p:anim calcmode="lin" valueType="num">
                                      <p:cBhvr additive="base">
                                        <p:cTn id="184" dur="300" fill="hold"/>
                                        <p:tgtEl>
                                          <p:spTgt spid="42"/>
                                        </p:tgtEl>
                                        <p:attrNameLst>
                                          <p:attrName>ppt_w</p:attrName>
                                        </p:attrNameLst>
                                      </p:cBhvr>
                                      <p:tavLst>
                                        <p:tav tm="0">
                                          <p:val>
                                            <p:strVal val="0"/>
                                          </p:val>
                                        </p:tav>
                                        <p:tav tm="70000">
                                          <p:val>
                                            <p:strVal val="#ppt_w*1.08"/>
                                          </p:val>
                                        </p:tav>
                                        <p:tav tm="100000">
                                          <p:val>
                                            <p:strVal val="#ppt_w"/>
                                          </p:val>
                                        </p:tav>
                                      </p:tavLst>
                                    </p:anim>
                                    <p:anim calcmode="lin" valueType="num">
                                      <p:cBhvr additive="base">
                                        <p:cTn id="185" dur="300" fill="hold"/>
                                        <p:tgtEl>
                                          <p:spTgt spid="42"/>
                                        </p:tgtEl>
                                        <p:attrNameLst>
                                          <p:attrName>ppt_h</p:attrName>
                                        </p:attrNameLst>
                                      </p:cBhvr>
                                      <p:tavLst>
                                        <p:tav tm="0">
                                          <p:val>
                                            <p:strVal val="0"/>
                                          </p:val>
                                        </p:tav>
                                        <p:tav tm="70000">
                                          <p:val>
                                            <p:strVal val="#ppt_h*1.08"/>
                                          </p:val>
                                        </p:tav>
                                        <p:tav tm="100000">
                                          <p:val>
                                            <p:strVal val="#ppt_h"/>
                                          </p:val>
                                        </p:tav>
                                      </p:tavLst>
                                    </p:anim>
                                    <p:animEffect transition="in" filter="fade">
                                      <p:cBhvr>
                                        <p:cTn id="186" dur="180" fill="hold"/>
                                        <p:tgtEl>
                                          <p:spTgt spid="42"/>
                                        </p:tgtEl>
                                      </p:cBhvr>
                                    </p:animEffect>
                                  </p:childTnLst>
                                </p:cTn>
                              </p:par>
                              <p:par>
                                <p:cTn id="187" presetID="53" presetClass="entr" presetSubtype="16" decel="100000" fill="hold" grpId="0" nodeType="withEffect">
                                  <p:stCondLst>
                                    <p:cond delay="3800"/>
                                  </p:stCondLst>
                                  <p:childTnLst>
                                    <p:set>
                                      <p:cBhvr>
                                        <p:cTn id="188" dur="1" fill="hold">
                                          <p:stCondLst>
                                            <p:cond delay="0"/>
                                          </p:stCondLst>
                                        </p:cTn>
                                        <p:tgtEl>
                                          <p:spTgt spid="43"/>
                                        </p:tgtEl>
                                        <p:attrNameLst>
                                          <p:attrName>style.visibility</p:attrName>
                                        </p:attrNameLst>
                                      </p:cBhvr>
                                      <p:to>
                                        <p:strVal val="visible"/>
                                      </p:to>
                                    </p:set>
                                    <p:anim calcmode="lin" valueType="num">
                                      <p:cBhvr additive="base">
                                        <p:cTn id="189" dur="300" fill="hold"/>
                                        <p:tgtEl>
                                          <p:spTgt spid="43"/>
                                        </p:tgtEl>
                                        <p:attrNameLst>
                                          <p:attrName>ppt_w</p:attrName>
                                        </p:attrNameLst>
                                      </p:cBhvr>
                                      <p:tavLst>
                                        <p:tav tm="0">
                                          <p:val>
                                            <p:strVal val="0"/>
                                          </p:val>
                                        </p:tav>
                                        <p:tav tm="70000">
                                          <p:val>
                                            <p:strVal val="#ppt_w*1.08"/>
                                          </p:val>
                                        </p:tav>
                                        <p:tav tm="100000">
                                          <p:val>
                                            <p:strVal val="#ppt_w"/>
                                          </p:val>
                                        </p:tav>
                                      </p:tavLst>
                                    </p:anim>
                                    <p:anim calcmode="lin" valueType="num">
                                      <p:cBhvr additive="base">
                                        <p:cTn id="190" dur="300" fill="hold"/>
                                        <p:tgtEl>
                                          <p:spTgt spid="43"/>
                                        </p:tgtEl>
                                        <p:attrNameLst>
                                          <p:attrName>ppt_h</p:attrName>
                                        </p:attrNameLst>
                                      </p:cBhvr>
                                      <p:tavLst>
                                        <p:tav tm="0">
                                          <p:val>
                                            <p:strVal val="0"/>
                                          </p:val>
                                        </p:tav>
                                        <p:tav tm="70000">
                                          <p:val>
                                            <p:strVal val="#ppt_h*1.08"/>
                                          </p:val>
                                        </p:tav>
                                        <p:tav tm="100000">
                                          <p:val>
                                            <p:strVal val="#ppt_h"/>
                                          </p:val>
                                        </p:tav>
                                      </p:tavLst>
                                    </p:anim>
                                    <p:animEffect transition="in" filter="fade">
                                      <p:cBhvr>
                                        <p:cTn id="191" dur="180" fill="hold"/>
                                        <p:tgtEl>
                                          <p:spTgt spid="43"/>
                                        </p:tgtEl>
                                      </p:cBhvr>
                                    </p:animEffect>
                                  </p:childTnLst>
                                </p:cTn>
                              </p:par>
                              <p:par>
                                <p:cTn id="192" presetID="53" presetClass="entr" presetSubtype="16" decel="100000" fill="hold" grpId="0" nodeType="withEffect">
                                  <p:stCondLst>
                                    <p:cond delay="3870"/>
                                  </p:stCondLst>
                                  <p:childTnLst>
                                    <p:set>
                                      <p:cBhvr>
                                        <p:cTn id="193" dur="1" fill="hold">
                                          <p:stCondLst>
                                            <p:cond delay="0"/>
                                          </p:stCondLst>
                                        </p:cTn>
                                        <p:tgtEl>
                                          <p:spTgt spid="44"/>
                                        </p:tgtEl>
                                        <p:attrNameLst>
                                          <p:attrName>style.visibility</p:attrName>
                                        </p:attrNameLst>
                                      </p:cBhvr>
                                      <p:to>
                                        <p:strVal val="visible"/>
                                      </p:to>
                                    </p:set>
                                    <p:anim calcmode="lin" valueType="num">
                                      <p:cBhvr additive="base">
                                        <p:cTn id="194" dur="300" fill="hold"/>
                                        <p:tgtEl>
                                          <p:spTgt spid="44"/>
                                        </p:tgtEl>
                                        <p:attrNameLst>
                                          <p:attrName>ppt_w</p:attrName>
                                        </p:attrNameLst>
                                      </p:cBhvr>
                                      <p:tavLst>
                                        <p:tav tm="0">
                                          <p:val>
                                            <p:strVal val="0"/>
                                          </p:val>
                                        </p:tav>
                                        <p:tav tm="70000">
                                          <p:val>
                                            <p:strVal val="#ppt_w*1.08"/>
                                          </p:val>
                                        </p:tav>
                                        <p:tav tm="100000">
                                          <p:val>
                                            <p:strVal val="#ppt_w"/>
                                          </p:val>
                                        </p:tav>
                                      </p:tavLst>
                                    </p:anim>
                                    <p:anim calcmode="lin" valueType="num">
                                      <p:cBhvr additive="base">
                                        <p:cTn id="195" dur="300" fill="hold"/>
                                        <p:tgtEl>
                                          <p:spTgt spid="44"/>
                                        </p:tgtEl>
                                        <p:attrNameLst>
                                          <p:attrName>ppt_h</p:attrName>
                                        </p:attrNameLst>
                                      </p:cBhvr>
                                      <p:tavLst>
                                        <p:tav tm="0">
                                          <p:val>
                                            <p:strVal val="0"/>
                                          </p:val>
                                        </p:tav>
                                        <p:tav tm="70000">
                                          <p:val>
                                            <p:strVal val="#ppt_h*1.08"/>
                                          </p:val>
                                        </p:tav>
                                        <p:tav tm="100000">
                                          <p:val>
                                            <p:strVal val="#ppt_h"/>
                                          </p:val>
                                        </p:tav>
                                      </p:tavLst>
                                    </p:anim>
                                    <p:animEffect transition="in" filter="fade">
                                      <p:cBhvr>
                                        <p:cTn id="196" dur="180" fill="hold"/>
                                        <p:tgtEl>
                                          <p:spTgt spid="44"/>
                                        </p:tgtEl>
                                      </p:cBhvr>
                                    </p:animEffect>
                                  </p:childTnLst>
                                </p:cTn>
                              </p:par>
                              <p:par>
                                <p:cTn id="197" presetID="10" presetClass="entr" presetSubtype="0" fill="hold" grpId="0" nodeType="withEffect">
                                  <p:stCondLst>
                                    <p:cond delay="4530"/>
                                  </p:stCondLst>
                                  <p:iterate type="wd">
                                    <p:tmPct val="35000"/>
                                  </p:iterate>
                                  <p:childTnLst>
                                    <p:set>
                                      <p:cBhvr>
                                        <p:cTn id="198" dur="1" fill="hold">
                                          <p:stCondLst>
                                            <p:cond delay="0"/>
                                          </p:stCondLst>
                                        </p:cTn>
                                        <p:tgtEl>
                                          <p:spTgt spid="45"/>
                                        </p:tgtEl>
                                        <p:attrNameLst>
                                          <p:attrName>style.visibility</p:attrName>
                                        </p:attrNameLst>
                                      </p:cBhvr>
                                      <p:to>
                                        <p:strVal val="visible"/>
                                      </p:to>
                                    </p:set>
                                    <p:animEffect transition="in" filter="fade">
                                      <p:cBhvr>
                                        <p:cTn id="199" dur="420" fill="hold"/>
                                        <p:tgtEl>
                                          <p:spTgt spid="45"/>
                                        </p:tgtEl>
                                      </p:cBhvr>
                                    </p:animEffect>
                                  </p:childTnLst>
                                </p:cTn>
                              </p:par>
                              <p:par>
                                <p:cTn id="200" presetID="10" presetClass="entr" presetSubtype="0" fill="hold" grpId="0" nodeType="withEffect">
                                  <p:stCondLst>
                                    <p:cond delay="4830"/>
                                  </p:stCondLst>
                                  <p:childTnLst>
                                    <p:set>
                                      <p:cBhvr>
                                        <p:cTn id="201" dur="1" fill="hold">
                                          <p:stCondLst>
                                            <p:cond delay="0"/>
                                          </p:stCondLst>
                                        </p:cTn>
                                        <p:tgtEl>
                                          <p:spTgt spid="46"/>
                                        </p:tgtEl>
                                        <p:attrNameLst>
                                          <p:attrName>style.visibility</p:attrName>
                                        </p:attrNameLst>
                                      </p:cBhvr>
                                      <p:to>
                                        <p:strVal val="visible"/>
                                      </p:to>
                                    </p:set>
                                    <p:animEffect transition="in" filter="fade">
                                      <p:cBhvr>
                                        <p:cTn id="202" dur="500" fill="hold"/>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9CD848"/>
                </a:solidFill>
                <a:latin typeface="Segoe UI Semibold"/>
              </a:rPr>
              <a:t>MÓDULO 2  ·  EMPATIZAR</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Persona: um rosto para a pesquisa</a:t>
            </a:r>
          </a:p>
        </p:txBody>
      </p:sp>
      <p:sp>
        <p:nvSpPr>
          <p:cNvPr id="6" name="Rounded Rectangle 5"/>
          <p:cNvSpPr/>
          <p:nvPr/>
        </p:nvSpPr>
        <p:spPr>
          <a:xfrm>
            <a:off x="548640" y="1554480"/>
            <a:ext cx="3566160" cy="438912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554479" y="1965960"/>
            <a:ext cx="1554480" cy="1554480"/>
          </a:xfrm>
          <a:prstGeom prst="ellipse">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4000" b="1" i="0">
                <a:solidFill>
                  <a:srgbClr val="1A1A1A"/>
                </a:solidFill>
                <a:latin typeface="Segoe UI Semibold"/>
              </a:rPr>
              <a:t>C</a:t>
            </a:r>
          </a:p>
        </p:txBody>
      </p:sp>
      <p:sp>
        <p:nvSpPr>
          <p:cNvPr id="8" name="TextBox 7"/>
          <p:cNvSpPr txBox="1"/>
          <p:nvPr/>
        </p:nvSpPr>
        <p:spPr>
          <a:xfrm>
            <a:off x="731520" y="3749039"/>
            <a:ext cx="3200400" cy="548640"/>
          </a:xfrm>
          <a:prstGeom prst="rect">
            <a:avLst/>
          </a:prstGeom>
          <a:noFill/>
        </p:spPr>
        <p:txBody>
          <a:bodyPr wrap="square" lIns="36576" tIns="18288" rIns="36576" bIns="18288" anchor="t">
            <a:spAutoFit/>
          </a:bodyPr>
          <a:lstStyle/>
          <a:p>
            <a:pPr algn="ctr"/>
            <a:r>
              <a:rPr sz="2200" b="1" i="0">
                <a:solidFill>
                  <a:srgbClr val="F2F2EC"/>
                </a:solidFill>
                <a:latin typeface="Segoe UI Semibold"/>
              </a:rPr>
              <a:t>Carla, 42 anos</a:t>
            </a:r>
          </a:p>
        </p:txBody>
      </p:sp>
      <p:sp>
        <p:nvSpPr>
          <p:cNvPr id="9" name="TextBox 8"/>
          <p:cNvSpPr txBox="1"/>
          <p:nvPr/>
        </p:nvSpPr>
        <p:spPr>
          <a:xfrm>
            <a:off x="731520" y="4297680"/>
            <a:ext cx="3200400" cy="914400"/>
          </a:xfrm>
          <a:prstGeom prst="rect">
            <a:avLst/>
          </a:prstGeom>
          <a:noFill/>
        </p:spPr>
        <p:txBody>
          <a:bodyPr wrap="square" lIns="36576" tIns="18288" rIns="36576" bIns="18288" anchor="t">
            <a:spAutoFit/>
          </a:bodyPr>
          <a:lstStyle/>
          <a:p>
            <a:pPr algn="ctr"/>
            <a:r>
              <a:rPr sz="1400" b="0" i="0">
                <a:solidFill>
                  <a:srgbClr val="B4B8B0"/>
                </a:solidFill>
                <a:latin typeface="Segoe UI"/>
              </a:rPr>
              <a:t>Dona de uma loja de roupas no centro</a:t>
            </a:r>
          </a:p>
        </p:txBody>
      </p:sp>
      <p:sp>
        <p:nvSpPr>
          <p:cNvPr id="10" name="TextBox 9"/>
          <p:cNvSpPr txBox="1"/>
          <p:nvPr/>
        </p:nvSpPr>
        <p:spPr>
          <a:xfrm>
            <a:off x="731520" y="5349240"/>
            <a:ext cx="3200400" cy="365760"/>
          </a:xfrm>
          <a:prstGeom prst="rect">
            <a:avLst/>
          </a:prstGeom>
          <a:noFill/>
        </p:spPr>
        <p:txBody>
          <a:bodyPr wrap="square" lIns="36576" tIns="18288" rIns="36576" bIns="18288" anchor="t">
            <a:spAutoFit/>
          </a:bodyPr>
          <a:lstStyle/>
          <a:p>
            <a:pPr algn="ctr"/>
            <a:r>
              <a:rPr sz="1000" b="1" i="0" spc="200">
                <a:solidFill>
                  <a:srgbClr val="7D827B"/>
                </a:solidFill>
                <a:latin typeface="Segoe UI Semibold"/>
              </a:rPr>
              <a:t>PERSONA FICTÍCIA</a:t>
            </a:r>
          </a:p>
        </p:txBody>
      </p:sp>
      <p:sp>
        <p:nvSpPr>
          <p:cNvPr id="11" name="Rounded Rectangle 10"/>
          <p:cNvSpPr/>
          <p:nvPr/>
        </p:nvSpPr>
        <p:spPr>
          <a:xfrm>
            <a:off x="4389120" y="1554480"/>
            <a:ext cx="3474720" cy="210312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663440" y="1783080"/>
            <a:ext cx="2926080" cy="365760"/>
          </a:xfrm>
          <a:prstGeom prst="rect">
            <a:avLst/>
          </a:prstGeom>
          <a:noFill/>
        </p:spPr>
        <p:txBody>
          <a:bodyPr wrap="square" lIns="36576" tIns="18288" rIns="36576" bIns="18288" anchor="t">
            <a:spAutoFit/>
          </a:bodyPr>
          <a:lstStyle/>
          <a:p>
            <a:pPr algn="l"/>
            <a:r>
              <a:rPr sz="1100" b="1" i="0" spc="150">
                <a:solidFill>
                  <a:srgbClr val="9CD848"/>
                </a:solidFill>
                <a:latin typeface="Segoe UI Semibold"/>
              </a:rPr>
              <a:t>OBJETIVOS</a:t>
            </a:r>
          </a:p>
        </p:txBody>
      </p:sp>
      <p:sp>
        <p:nvSpPr>
          <p:cNvPr id="13" name="TextBox 12"/>
          <p:cNvSpPr txBox="1"/>
          <p:nvPr/>
        </p:nvSpPr>
        <p:spPr>
          <a:xfrm>
            <a:off x="4663440" y="2194560"/>
            <a:ext cx="2926080" cy="1371600"/>
          </a:xfrm>
          <a:prstGeom prst="rect">
            <a:avLst/>
          </a:prstGeom>
          <a:noFill/>
        </p:spPr>
        <p:txBody>
          <a:bodyPr wrap="square" lIns="36576" tIns="18288" rIns="36576" bIns="18288" anchor="t">
            <a:spAutoFit/>
          </a:bodyPr>
          <a:lstStyle/>
          <a:p>
            <a:pPr algn="l"/>
            <a:r>
              <a:rPr sz="1600" b="0" i="0">
                <a:solidFill>
                  <a:srgbClr val="F2F2EC"/>
                </a:solidFill>
                <a:latin typeface="Segoe UI"/>
              </a:rPr>
              <a:t>Vender mais sem aumentar a equipe</a:t>
            </a:r>
          </a:p>
        </p:txBody>
      </p:sp>
      <p:sp>
        <p:nvSpPr>
          <p:cNvPr id="14" name="Rounded Rectangle 13"/>
          <p:cNvSpPr/>
          <p:nvPr/>
        </p:nvSpPr>
        <p:spPr>
          <a:xfrm>
            <a:off x="8046720" y="1554480"/>
            <a:ext cx="3474720" cy="210312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321040" y="1783080"/>
            <a:ext cx="2926080" cy="365760"/>
          </a:xfrm>
          <a:prstGeom prst="rect">
            <a:avLst/>
          </a:prstGeom>
          <a:noFill/>
        </p:spPr>
        <p:txBody>
          <a:bodyPr wrap="square" lIns="36576" tIns="18288" rIns="36576" bIns="18288" anchor="t">
            <a:spAutoFit/>
          </a:bodyPr>
          <a:lstStyle/>
          <a:p>
            <a:pPr algn="l"/>
            <a:r>
              <a:rPr sz="1100" b="1" i="0" spc="150">
                <a:solidFill>
                  <a:srgbClr val="9CD848"/>
                </a:solidFill>
                <a:latin typeface="Segoe UI Semibold"/>
              </a:rPr>
              <a:t>DORES</a:t>
            </a:r>
          </a:p>
        </p:txBody>
      </p:sp>
      <p:sp>
        <p:nvSpPr>
          <p:cNvPr id="16" name="TextBox 15"/>
          <p:cNvSpPr txBox="1"/>
          <p:nvPr/>
        </p:nvSpPr>
        <p:spPr>
          <a:xfrm>
            <a:off x="8321040" y="2194560"/>
            <a:ext cx="2926080" cy="1371600"/>
          </a:xfrm>
          <a:prstGeom prst="rect">
            <a:avLst/>
          </a:prstGeom>
          <a:noFill/>
        </p:spPr>
        <p:txBody>
          <a:bodyPr wrap="square" lIns="36576" tIns="18288" rIns="36576" bIns="18288" anchor="t">
            <a:spAutoFit/>
          </a:bodyPr>
          <a:lstStyle/>
          <a:p>
            <a:pPr algn="l"/>
            <a:r>
              <a:rPr sz="1600" b="0" i="0">
                <a:solidFill>
                  <a:srgbClr val="F2F2EC"/>
                </a:solidFill>
                <a:latin typeface="Segoe UI"/>
              </a:rPr>
              <a:t>Não tem tempo para responder mensagens de clientes</a:t>
            </a:r>
          </a:p>
        </p:txBody>
      </p:sp>
      <p:sp>
        <p:nvSpPr>
          <p:cNvPr id="17" name="Rounded Rectangle 16"/>
          <p:cNvSpPr/>
          <p:nvPr/>
        </p:nvSpPr>
        <p:spPr>
          <a:xfrm>
            <a:off x="4389120" y="3794760"/>
            <a:ext cx="3474720" cy="210312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4663440" y="4023360"/>
            <a:ext cx="2926080" cy="365760"/>
          </a:xfrm>
          <a:prstGeom prst="rect">
            <a:avLst/>
          </a:prstGeom>
          <a:noFill/>
        </p:spPr>
        <p:txBody>
          <a:bodyPr wrap="square" lIns="36576" tIns="18288" rIns="36576" bIns="18288" anchor="t">
            <a:spAutoFit/>
          </a:bodyPr>
          <a:lstStyle/>
          <a:p>
            <a:pPr algn="l"/>
            <a:r>
              <a:rPr sz="1100" b="1" i="0" spc="150">
                <a:solidFill>
                  <a:srgbClr val="9CD848"/>
                </a:solidFill>
                <a:latin typeface="Segoe UI Semibold"/>
              </a:rPr>
              <a:t>COMPORTAMENTO</a:t>
            </a:r>
          </a:p>
        </p:txBody>
      </p:sp>
      <p:sp>
        <p:nvSpPr>
          <p:cNvPr id="19" name="TextBox 18"/>
          <p:cNvSpPr txBox="1"/>
          <p:nvPr/>
        </p:nvSpPr>
        <p:spPr>
          <a:xfrm>
            <a:off x="4663440" y="4434840"/>
            <a:ext cx="2926080" cy="1371600"/>
          </a:xfrm>
          <a:prstGeom prst="rect">
            <a:avLst/>
          </a:prstGeom>
          <a:noFill/>
        </p:spPr>
        <p:txBody>
          <a:bodyPr wrap="square" lIns="36576" tIns="18288" rIns="36576" bIns="18288" anchor="t">
            <a:spAutoFit/>
          </a:bodyPr>
          <a:lstStyle/>
          <a:p>
            <a:pPr algn="l"/>
            <a:r>
              <a:rPr sz="1600" b="0" i="0">
                <a:solidFill>
                  <a:srgbClr val="F2F2EC"/>
                </a:solidFill>
                <a:latin typeface="Segoe UI"/>
              </a:rPr>
              <a:t>Resolve tudo pelo celular, entre um atendimento e outro</a:t>
            </a:r>
          </a:p>
        </p:txBody>
      </p:sp>
      <p:sp>
        <p:nvSpPr>
          <p:cNvPr id="20" name="Rounded Rectangle 19"/>
          <p:cNvSpPr/>
          <p:nvPr/>
        </p:nvSpPr>
        <p:spPr>
          <a:xfrm>
            <a:off x="8046720" y="3794760"/>
            <a:ext cx="3474720" cy="210312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8321040" y="4023360"/>
            <a:ext cx="2926080" cy="365760"/>
          </a:xfrm>
          <a:prstGeom prst="rect">
            <a:avLst/>
          </a:prstGeom>
          <a:noFill/>
        </p:spPr>
        <p:txBody>
          <a:bodyPr wrap="square" lIns="36576" tIns="18288" rIns="36576" bIns="18288" anchor="t">
            <a:spAutoFit/>
          </a:bodyPr>
          <a:lstStyle/>
          <a:p>
            <a:pPr algn="l"/>
            <a:r>
              <a:rPr sz="1100" b="1" i="0" spc="150">
                <a:solidFill>
                  <a:srgbClr val="9CD848"/>
                </a:solidFill>
                <a:latin typeface="Segoe UI Semibold"/>
              </a:rPr>
              <a:t>FRASE</a:t>
            </a:r>
          </a:p>
        </p:txBody>
      </p:sp>
      <p:sp>
        <p:nvSpPr>
          <p:cNvPr id="22" name="TextBox 21"/>
          <p:cNvSpPr txBox="1"/>
          <p:nvPr/>
        </p:nvSpPr>
        <p:spPr>
          <a:xfrm>
            <a:off x="8321040" y="4434840"/>
            <a:ext cx="2926080" cy="1371600"/>
          </a:xfrm>
          <a:prstGeom prst="rect">
            <a:avLst/>
          </a:prstGeom>
          <a:noFill/>
        </p:spPr>
        <p:txBody>
          <a:bodyPr wrap="square" lIns="36576" tIns="18288" rIns="36576" bIns="18288" anchor="t">
            <a:spAutoFit/>
          </a:bodyPr>
          <a:lstStyle/>
          <a:p>
            <a:pPr algn="l"/>
            <a:r>
              <a:rPr sz="1600" b="0" i="1">
                <a:solidFill>
                  <a:srgbClr val="F2F2EC"/>
                </a:solidFill>
                <a:latin typeface="Segoe UI"/>
              </a:rPr>
              <a:t>“Se for complicado, eu nem começo.”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42" presetClass="entr" presetSubtype="0" decel="100000" fill="hold" grpId="0" nodeType="withEffect">
                                  <p:stCondLst>
                                    <p:cond delay="2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50" fill="hold"/>
                                        <p:tgtEl>
                                          <p:spTgt spid="6"/>
                                        </p:tgtEl>
                                      </p:cBhvr>
                                    </p:animEffect>
                                    <p:anim calcmode="lin" valueType="num">
                                      <p:cBhvr additive="base">
                                        <p:cTn id="11" dur="650" fill="hold"/>
                                        <p:tgtEl>
                                          <p:spTgt spid="6"/>
                                        </p:tgtEl>
                                        <p:attrNameLst>
                                          <p:attrName>ppt_x</p:attrName>
                                        </p:attrNameLst>
                                      </p:cBhvr>
                                      <p:tavLst>
                                        <p:tav tm="0">
                                          <p:val>
                                            <p:strVal val="#ppt_x"/>
                                          </p:val>
                                        </p:tav>
                                        <p:tav tm="100000">
                                          <p:val>
                                            <p:strVal val="#ppt_x"/>
                                          </p:val>
                                        </p:tav>
                                      </p:tavLst>
                                    </p:anim>
                                    <p:anim calcmode="lin" valueType="num">
                                      <p:cBhvr additive="base">
                                        <p:cTn id="12" dur="650" fill="hold"/>
                                        <p:tgtEl>
                                          <p:spTgt spid="6"/>
                                        </p:tgtEl>
                                        <p:attrNameLst>
                                          <p:attrName>ppt_y</p:attrName>
                                        </p:attrNameLst>
                                      </p:cBhvr>
                                      <p:tavLst>
                                        <p:tav tm="0">
                                          <p:val>
                                            <p:strVal val="#ppt_y+.06"/>
                                          </p:val>
                                        </p:tav>
                                        <p:tav tm="100000">
                                          <p:val>
                                            <p:strVal val="#ppt_y"/>
                                          </p:val>
                                        </p:tav>
                                      </p:tavLst>
                                    </p:anim>
                                  </p:childTnLst>
                                </p:cTn>
                              </p:par>
                              <p:par>
                                <p:cTn id="13" presetID="53" presetClass="entr" presetSubtype="16" decel="100000" fill="hold" grpId="0" nodeType="withEffect">
                                  <p:stCondLst>
                                    <p:cond delay="4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600" fill="hold"/>
                                        <p:tgtEl>
                                          <p:spTgt spid="7"/>
                                        </p:tgtEl>
                                        <p:attrNameLst>
                                          <p:attrName>ppt_w</p:attrName>
                                        </p:attrNameLst>
                                      </p:cBhvr>
                                      <p:tavLst>
                                        <p:tav tm="0">
                                          <p:val>
                                            <p:strVal val="0"/>
                                          </p:val>
                                        </p:tav>
                                        <p:tav tm="70000">
                                          <p:val>
                                            <p:strVal val="#ppt_w*1.08"/>
                                          </p:val>
                                        </p:tav>
                                        <p:tav tm="100000">
                                          <p:val>
                                            <p:strVal val="#ppt_w"/>
                                          </p:val>
                                        </p:tav>
                                      </p:tavLst>
                                    </p:anim>
                                    <p:anim calcmode="lin" valueType="num">
                                      <p:cBhvr additive="base">
                                        <p:cTn id="16" dur="600" fill="hold"/>
                                        <p:tgtEl>
                                          <p:spTgt spid="7"/>
                                        </p:tgtEl>
                                        <p:attrNameLst>
                                          <p:attrName>ppt_h</p:attrName>
                                        </p:attrNameLst>
                                      </p:cBhvr>
                                      <p:tavLst>
                                        <p:tav tm="0">
                                          <p:val>
                                            <p:strVal val="0"/>
                                          </p:val>
                                        </p:tav>
                                        <p:tav tm="70000">
                                          <p:val>
                                            <p:strVal val="#ppt_h*1.08"/>
                                          </p:val>
                                        </p:tav>
                                        <p:tav tm="100000">
                                          <p:val>
                                            <p:strVal val="#ppt_h"/>
                                          </p:val>
                                        </p:tav>
                                      </p:tavLst>
                                    </p:anim>
                                    <p:animEffect transition="in" filter="fade">
                                      <p:cBhvr>
                                        <p:cTn id="17" dur="360" fill="hold"/>
                                        <p:tgtEl>
                                          <p:spTgt spid="7"/>
                                        </p:tgtEl>
                                      </p:cBhvr>
                                    </p:animEffect>
                                  </p:childTnLst>
                                </p:cTn>
                              </p:par>
                              <p:par>
                                <p:cTn id="18" presetID="42" presetClass="entr" presetSubtype="0" decel="100000" fill="hold" grpId="0" nodeType="withEffect">
                                  <p:stCondLst>
                                    <p:cond delay="65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650" fill="hold"/>
                                        <p:tgtEl>
                                          <p:spTgt spid="8"/>
                                        </p:tgtEl>
                                      </p:cBhvr>
                                    </p:animEffect>
                                    <p:anim calcmode="lin" valueType="num">
                                      <p:cBhvr additive="base">
                                        <p:cTn id="21" dur="650" fill="hold"/>
                                        <p:tgtEl>
                                          <p:spTgt spid="8"/>
                                        </p:tgtEl>
                                        <p:attrNameLst>
                                          <p:attrName>ppt_x</p:attrName>
                                        </p:attrNameLst>
                                      </p:cBhvr>
                                      <p:tavLst>
                                        <p:tav tm="0">
                                          <p:val>
                                            <p:strVal val="#ppt_x"/>
                                          </p:val>
                                        </p:tav>
                                        <p:tav tm="100000">
                                          <p:val>
                                            <p:strVal val="#ppt_x"/>
                                          </p:val>
                                        </p:tav>
                                      </p:tavLst>
                                    </p:anim>
                                    <p:anim calcmode="lin" valueType="num">
                                      <p:cBhvr additive="base">
                                        <p:cTn id="22" dur="650" fill="hold"/>
                                        <p:tgtEl>
                                          <p:spTgt spid="8"/>
                                        </p:tgtEl>
                                        <p:attrNameLst>
                                          <p:attrName>ppt_y</p:attrName>
                                        </p:attrNameLst>
                                      </p:cBhvr>
                                      <p:tavLst>
                                        <p:tav tm="0">
                                          <p:val>
                                            <p:strVal val="#ppt_y+.06"/>
                                          </p:val>
                                        </p:tav>
                                        <p:tav tm="100000">
                                          <p:val>
                                            <p:strVal val="#ppt_y"/>
                                          </p:val>
                                        </p:tav>
                                      </p:tavLst>
                                    </p:anim>
                                  </p:childTnLst>
                                </p:cTn>
                              </p:par>
                              <p:par>
                                <p:cTn id="23" presetID="42" presetClass="entr" presetSubtype="0" decel="100000" fill="hold" grpId="0" nodeType="withEffect">
                                  <p:stCondLst>
                                    <p:cond delay="65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650" fill="hold"/>
                                        <p:tgtEl>
                                          <p:spTgt spid="9"/>
                                        </p:tgtEl>
                                      </p:cBhvr>
                                    </p:animEffect>
                                    <p:anim calcmode="lin" valueType="num">
                                      <p:cBhvr additive="base">
                                        <p:cTn id="26" dur="650" fill="hold"/>
                                        <p:tgtEl>
                                          <p:spTgt spid="9"/>
                                        </p:tgtEl>
                                        <p:attrNameLst>
                                          <p:attrName>ppt_x</p:attrName>
                                        </p:attrNameLst>
                                      </p:cBhvr>
                                      <p:tavLst>
                                        <p:tav tm="0">
                                          <p:val>
                                            <p:strVal val="#ppt_x"/>
                                          </p:val>
                                        </p:tav>
                                        <p:tav tm="100000">
                                          <p:val>
                                            <p:strVal val="#ppt_x"/>
                                          </p:val>
                                        </p:tav>
                                      </p:tavLst>
                                    </p:anim>
                                    <p:anim calcmode="lin" valueType="num">
                                      <p:cBhvr additive="base">
                                        <p:cTn id="27" dur="650" fill="hold"/>
                                        <p:tgtEl>
                                          <p:spTgt spid="9"/>
                                        </p:tgtEl>
                                        <p:attrNameLst>
                                          <p:attrName>ppt_y</p:attrName>
                                        </p:attrNameLst>
                                      </p:cBhvr>
                                      <p:tavLst>
                                        <p:tav tm="0">
                                          <p:val>
                                            <p:strVal val="#ppt_y+.06"/>
                                          </p:val>
                                        </p:tav>
                                        <p:tav tm="100000">
                                          <p:val>
                                            <p:strVal val="#ppt_y"/>
                                          </p:val>
                                        </p:tav>
                                      </p:tavLst>
                                    </p:anim>
                                  </p:childTnLst>
                                </p:cTn>
                              </p:par>
                              <p:par>
                                <p:cTn id="28" presetID="42" presetClass="entr" presetSubtype="0" decel="100000" fill="hold" grpId="0" nodeType="withEffect">
                                  <p:stCondLst>
                                    <p:cond delay="65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650" fill="hold"/>
                                        <p:tgtEl>
                                          <p:spTgt spid="10"/>
                                        </p:tgtEl>
                                      </p:cBhvr>
                                    </p:animEffect>
                                    <p:anim calcmode="lin" valueType="num">
                                      <p:cBhvr additive="base">
                                        <p:cTn id="31" dur="650" fill="hold"/>
                                        <p:tgtEl>
                                          <p:spTgt spid="10"/>
                                        </p:tgtEl>
                                        <p:attrNameLst>
                                          <p:attrName>ppt_x</p:attrName>
                                        </p:attrNameLst>
                                      </p:cBhvr>
                                      <p:tavLst>
                                        <p:tav tm="0">
                                          <p:val>
                                            <p:strVal val="#ppt_x"/>
                                          </p:val>
                                        </p:tav>
                                        <p:tav tm="100000">
                                          <p:val>
                                            <p:strVal val="#ppt_x"/>
                                          </p:val>
                                        </p:tav>
                                      </p:tavLst>
                                    </p:anim>
                                    <p:anim calcmode="lin" valueType="num">
                                      <p:cBhvr additive="base">
                                        <p:cTn id="32" dur="650" fill="hold"/>
                                        <p:tgtEl>
                                          <p:spTgt spid="10"/>
                                        </p:tgtEl>
                                        <p:attrNameLst>
                                          <p:attrName>ppt_y</p:attrName>
                                        </p:attrNameLst>
                                      </p:cBhvr>
                                      <p:tavLst>
                                        <p:tav tm="0">
                                          <p:val>
                                            <p:strVal val="#ppt_y+.06"/>
                                          </p:val>
                                        </p:tav>
                                        <p:tav tm="100000">
                                          <p:val>
                                            <p:strVal val="#ppt_y"/>
                                          </p:val>
                                        </p:tav>
                                      </p:tavLst>
                                    </p:anim>
                                  </p:childTnLst>
                                </p:cTn>
                              </p:par>
                              <p:par>
                                <p:cTn id="33" presetID="42" presetClass="entr" presetSubtype="0" decel="100000" fill="hold" grpId="0" nodeType="withEffect">
                                  <p:stCondLst>
                                    <p:cond delay="100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650" fill="hold"/>
                                        <p:tgtEl>
                                          <p:spTgt spid="11"/>
                                        </p:tgtEl>
                                      </p:cBhvr>
                                    </p:animEffect>
                                    <p:anim calcmode="lin" valueType="num">
                                      <p:cBhvr additive="base">
                                        <p:cTn id="36" dur="650" fill="hold"/>
                                        <p:tgtEl>
                                          <p:spTgt spid="11"/>
                                        </p:tgtEl>
                                        <p:attrNameLst>
                                          <p:attrName>ppt_x</p:attrName>
                                        </p:attrNameLst>
                                      </p:cBhvr>
                                      <p:tavLst>
                                        <p:tav tm="0">
                                          <p:val>
                                            <p:strVal val="#ppt_x"/>
                                          </p:val>
                                        </p:tav>
                                        <p:tav tm="100000">
                                          <p:val>
                                            <p:strVal val="#ppt_x"/>
                                          </p:val>
                                        </p:tav>
                                      </p:tavLst>
                                    </p:anim>
                                    <p:anim calcmode="lin" valueType="num">
                                      <p:cBhvr additive="base">
                                        <p:cTn id="37" dur="650" fill="hold"/>
                                        <p:tgtEl>
                                          <p:spTgt spid="11"/>
                                        </p:tgtEl>
                                        <p:attrNameLst>
                                          <p:attrName>ppt_y</p:attrName>
                                        </p:attrNameLst>
                                      </p:cBhvr>
                                      <p:tavLst>
                                        <p:tav tm="0">
                                          <p:val>
                                            <p:strVal val="#ppt_y+.06"/>
                                          </p:val>
                                        </p:tav>
                                        <p:tav tm="100000">
                                          <p:val>
                                            <p:strVal val="#ppt_y"/>
                                          </p:val>
                                        </p:tav>
                                      </p:tavLst>
                                    </p:anim>
                                  </p:childTnLst>
                                </p:cTn>
                              </p:par>
                              <p:par>
                                <p:cTn id="38" presetID="42" presetClass="entr" presetSubtype="0" decel="100000" fill="hold" grpId="0" nodeType="withEffect">
                                  <p:stCondLst>
                                    <p:cond delay="100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650" fill="hold"/>
                                        <p:tgtEl>
                                          <p:spTgt spid="12"/>
                                        </p:tgtEl>
                                      </p:cBhvr>
                                    </p:animEffect>
                                    <p:anim calcmode="lin" valueType="num">
                                      <p:cBhvr additive="base">
                                        <p:cTn id="41" dur="650" fill="hold"/>
                                        <p:tgtEl>
                                          <p:spTgt spid="12"/>
                                        </p:tgtEl>
                                        <p:attrNameLst>
                                          <p:attrName>ppt_x</p:attrName>
                                        </p:attrNameLst>
                                      </p:cBhvr>
                                      <p:tavLst>
                                        <p:tav tm="0">
                                          <p:val>
                                            <p:strVal val="#ppt_x"/>
                                          </p:val>
                                        </p:tav>
                                        <p:tav tm="100000">
                                          <p:val>
                                            <p:strVal val="#ppt_x"/>
                                          </p:val>
                                        </p:tav>
                                      </p:tavLst>
                                    </p:anim>
                                    <p:anim calcmode="lin" valueType="num">
                                      <p:cBhvr additive="base">
                                        <p:cTn id="42" dur="650" fill="hold"/>
                                        <p:tgtEl>
                                          <p:spTgt spid="12"/>
                                        </p:tgtEl>
                                        <p:attrNameLst>
                                          <p:attrName>ppt_y</p:attrName>
                                        </p:attrNameLst>
                                      </p:cBhvr>
                                      <p:tavLst>
                                        <p:tav tm="0">
                                          <p:val>
                                            <p:strVal val="#ppt_y+.06"/>
                                          </p:val>
                                        </p:tav>
                                        <p:tav tm="100000">
                                          <p:val>
                                            <p:strVal val="#ppt_y"/>
                                          </p:val>
                                        </p:tav>
                                      </p:tavLst>
                                    </p:anim>
                                  </p:childTnLst>
                                </p:cTn>
                              </p:par>
                              <p:par>
                                <p:cTn id="43" presetID="42" presetClass="entr" presetSubtype="0" decel="100000" fill="hold" grpId="0" nodeType="withEffect">
                                  <p:stCondLst>
                                    <p:cond delay="100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650" fill="hold"/>
                                        <p:tgtEl>
                                          <p:spTgt spid="13"/>
                                        </p:tgtEl>
                                      </p:cBhvr>
                                    </p:animEffect>
                                    <p:anim calcmode="lin" valueType="num">
                                      <p:cBhvr additive="base">
                                        <p:cTn id="46" dur="650" fill="hold"/>
                                        <p:tgtEl>
                                          <p:spTgt spid="13"/>
                                        </p:tgtEl>
                                        <p:attrNameLst>
                                          <p:attrName>ppt_x</p:attrName>
                                        </p:attrNameLst>
                                      </p:cBhvr>
                                      <p:tavLst>
                                        <p:tav tm="0">
                                          <p:val>
                                            <p:strVal val="#ppt_x"/>
                                          </p:val>
                                        </p:tav>
                                        <p:tav tm="100000">
                                          <p:val>
                                            <p:strVal val="#ppt_x"/>
                                          </p:val>
                                        </p:tav>
                                      </p:tavLst>
                                    </p:anim>
                                    <p:anim calcmode="lin" valueType="num">
                                      <p:cBhvr additive="base">
                                        <p:cTn id="47" dur="650" fill="hold"/>
                                        <p:tgtEl>
                                          <p:spTgt spid="13"/>
                                        </p:tgtEl>
                                        <p:attrNameLst>
                                          <p:attrName>ppt_y</p:attrName>
                                        </p:attrNameLst>
                                      </p:cBhvr>
                                      <p:tavLst>
                                        <p:tav tm="0">
                                          <p:val>
                                            <p:strVal val="#ppt_y+.06"/>
                                          </p:val>
                                        </p:tav>
                                        <p:tav tm="100000">
                                          <p:val>
                                            <p:strVal val="#ppt_y"/>
                                          </p:val>
                                        </p:tav>
                                      </p:tavLst>
                                    </p:anim>
                                  </p:childTnLst>
                                </p:cTn>
                              </p:par>
                              <p:par>
                                <p:cTn id="48" presetID="42" presetClass="entr" presetSubtype="0" decel="100000" fill="hold" grpId="0" nodeType="withEffect">
                                  <p:stCondLst>
                                    <p:cond delay="120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650" fill="hold"/>
                                        <p:tgtEl>
                                          <p:spTgt spid="14"/>
                                        </p:tgtEl>
                                      </p:cBhvr>
                                    </p:animEffect>
                                    <p:anim calcmode="lin" valueType="num">
                                      <p:cBhvr additive="base">
                                        <p:cTn id="51" dur="650" fill="hold"/>
                                        <p:tgtEl>
                                          <p:spTgt spid="14"/>
                                        </p:tgtEl>
                                        <p:attrNameLst>
                                          <p:attrName>ppt_x</p:attrName>
                                        </p:attrNameLst>
                                      </p:cBhvr>
                                      <p:tavLst>
                                        <p:tav tm="0">
                                          <p:val>
                                            <p:strVal val="#ppt_x"/>
                                          </p:val>
                                        </p:tav>
                                        <p:tav tm="100000">
                                          <p:val>
                                            <p:strVal val="#ppt_x"/>
                                          </p:val>
                                        </p:tav>
                                      </p:tavLst>
                                    </p:anim>
                                    <p:anim calcmode="lin" valueType="num">
                                      <p:cBhvr additive="base">
                                        <p:cTn id="52" dur="650" fill="hold"/>
                                        <p:tgtEl>
                                          <p:spTgt spid="14"/>
                                        </p:tgtEl>
                                        <p:attrNameLst>
                                          <p:attrName>ppt_y</p:attrName>
                                        </p:attrNameLst>
                                      </p:cBhvr>
                                      <p:tavLst>
                                        <p:tav tm="0">
                                          <p:val>
                                            <p:strVal val="#ppt_y+.06"/>
                                          </p:val>
                                        </p:tav>
                                        <p:tav tm="100000">
                                          <p:val>
                                            <p:strVal val="#ppt_y"/>
                                          </p:val>
                                        </p:tav>
                                      </p:tavLst>
                                    </p:anim>
                                  </p:childTnLst>
                                </p:cTn>
                              </p:par>
                              <p:par>
                                <p:cTn id="53" presetID="42" presetClass="entr" presetSubtype="0" decel="100000" fill="hold" grpId="0" nodeType="withEffect">
                                  <p:stCondLst>
                                    <p:cond delay="120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650" fill="hold"/>
                                        <p:tgtEl>
                                          <p:spTgt spid="15"/>
                                        </p:tgtEl>
                                      </p:cBhvr>
                                    </p:animEffect>
                                    <p:anim calcmode="lin" valueType="num">
                                      <p:cBhvr additive="base">
                                        <p:cTn id="56" dur="650" fill="hold"/>
                                        <p:tgtEl>
                                          <p:spTgt spid="15"/>
                                        </p:tgtEl>
                                        <p:attrNameLst>
                                          <p:attrName>ppt_x</p:attrName>
                                        </p:attrNameLst>
                                      </p:cBhvr>
                                      <p:tavLst>
                                        <p:tav tm="0">
                                          <p:val>
                                            <p:strVal val="#ppt_x"/>
                                          </p:val>
                                        </p:tav>
                                        <p:tav tm="100000">
                                          <p:val>
                                            <p:strVal val="#ppt_x"/>
                                          </p:val>
                                        </p:tav>
                                      </p:tavLst>
                                    </p:anim>
                                    <p:anim calcmode="lin" valueType="num">
                                      <p:cBhvr additive="base">
                                        <p:cTn id="57" dur="650" fill="hold"/>
                                        <p:tgtEl>
                                          <p:spTgt spid="15"/>
                                        </p:tgtEl>
                                        <p:attrNameLst>
                                          <p:attrName>ppt_y</p:attrName>
                                        </p:attrNameLst>
                                      </p:cBhvr>
                                      <p:tavLst>
                                        <p:tav tm="0">
                                          <p:val>
                                            <p:strVal val="#ppt_y+.06"/>
                                          </p:val>
                                        </p:tav>
                                        <p:tav tm="100000">
                                          <p:val>
                                            <p:strVal val="#ppt_y"/>
                                          </p:val>
                                        </p:tav>
                                      </p:tavLst>
                                    </p:anim>
                                  </p:childTnLst>
                                </p:cTn>
                              </p:par>
                              <p:par>
                                <p:cTn id="58" presetID="42" presetClass="entr" presetSubtype="0" decel="100000" fill="hold" grpId="0" nodeType="withEffect">
                                  <p:stCondLst>
                                    <p:cond delay="120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650" fill="hold"/>
                                        <p:tgtEl>
                                          <p:spTgt spid="16"/>
                                        </p:tgtEl>
                                      </p:cBhvr>
                                    </p:animEffect>
                                    <p:anim calcmode="lin" valueType="num">
                                      <p:cBhvr additive="base">
                                        <p:cTn id="61" dur="650" fill="hold"/>
                                        <p:tgtEl>
                                          <p:spTgt spid="16"/>
                                        </p:tgtEl>
                                        <p:attrNameLst>
                                          <p:attrName>ppt_x</p:attrName>
                                        </p:attrNameLst>
                                      </p:cBhvr>
                                      <p:tavLst>
                                        <p:tav tm="0">
                                          <p:val>
                                            <p:strVal val="#ppt_x"/>
                                          </p:val>
                                        </p:tav>
                                        <p:tav tm="100000">
                                          <p:val>
                                            <p:strVal val="#ppt_x"/>
                                          </p:val>
                                        </p:tav>
                                      </p:tavLst>
                                    </p:anim>
                                    <p:anim calcmode="lin" valueType="num">
                                      <p:cBhvr additive="base">
                                        <p:cTn id="62" dur="650" fill="hold"/>
                                        <p:tgtEl>
                                          <p:spTgt spid="16"/>
                                        </p:tgtEl>
                                        <p:attrNameLst>
                                          <p:attrName>ppt_y</p:attrName>
                                        </p:attrNameLst>
                                      </p:cBhvr>
                                      <p:tavLst>
                                        <p:tav tm="0">
                                          <p:val>
                                            <p:strVal val="#ppt_y+.06"/>
                                          </p:val>
                                        </p:tav>
                                        <p:tav tm="100000">
                                          <p:val>
                                            <p:strVal val="#ppt_y"/>
                                          </p:val>
                                        </p:tav>
                                      </p:tavLst>
                                    </p:anim>
                                  </p:childTnLst>
                                </p:cTn>
                              </p:par>
                              <p:par>
                                <p:cTn id="63" presetID="42" presetClass="entr" presetSubtype="0" decel="100000" fill="hold" grpId="0" nodeType="withEffect">
                                  <p:stCondLst>
                                    <p:cond delay="1400"/>
                                  </p:stCondLst>
                                  <p:childTnLst>
                                    <p:set>
                                      <p:cBhvr>
                                        <p:cTn id="64" dur="1" fill="hold">
                                          <p:stCondLst>
                                            <p:cond delay="0"/>
                                          </p:stCondLst>
                                        </p:cTn>
                                        <p:tgtEl>
                                          <p:spTgt spid="17"/>
                                        </p:tgtEl>
                                        <p:attrNameLst>
                                          <p:attrName>style.visibility</p:attrName>
                                        </p:attrNameLst>
                                      </p:cBhvr>
                                      <p:to>
                                        <p:strVal val="visible"/>
                                      </p:to>
                                    </p:set>
                                    <p:animEffect transition="in" filter="fade">
                                      <p:cBhvr>
                                        <p:cTn id="65" dur="650" fill="hold"/>
                                        <p:tgtEl>
                                          <p:spTgt spid="17"/>
                                        </p:tgtEl>
                                      </p:cBhvr>
                                    </p:animEffect>
                                    <p:anim calcmode="lin" valueType="num">
                                      <p:cBhvr additive="base">
                                        <p:cTn id="66" dur="650" fill="hold"/>
                                        <p:tgtEl>
                                          <p:spTgt spid="17"/>
                                        </p:tgtEl>
                                        <p:attrNameLst>
                                          <p:attrName>ppt_x</p:attrName>
                                        </p:attrNameLst>
                                      </p:cBhvr>
                                      <p:tavLst>
                                        <p:tav tm="0">
                                          <p:val>
                                            <p:strVal val="#ppt_x"/>
                                          </p:val>
                                        </p:tav>
                                        <p:tav tm="100000">
                                          <p:val>
                                            <p:strVal val="#ppt_x"/>
                                          </p:val>
                                        </p:tav>
                                      </p:tavLst>
                                    </p:anim>
                                    <p:anim calcmode="lin" valueType="num">
                                      <p:cBhvr additive="base">
                                        <p:cTn id="67" dur="650" fill="hold"/>
                                        <p:tgtEl>
                                          <p:spTgt spid="17"/>
                                        </p:tgtEl>
                                        <p:attrNameLst>
                                          <p:attrName>ppt_y</p:attrName>
                                        </p:attrNameLst>
                                      </p:cBhvr>
                                      <p:tavLst>
                                        <p:tav tm="0">
                                          <p:val>
                                            <p:strVal val="#ppt_y+.06"/>
                                          </p:val>
                                        </p:tav>
                                        <p:tav tm="100000">
                                          <p:val>
                                            <p:strVal val="#ppt_y"/>
                                          </p:val>
                                        </p:tav>
                                      </p:tavLst>
                                    </p:anim>
                                  </p:childTnLst>
                                </p:cTn>
                              </p:par>
                              <p:par>
                                <p:cTn id="68" presetID="42" presetClass="entr" presetSubtype="0" decel="100000" fill="hold" grpId="0" nodeType="withEffect">
                                  <p:stCondLst>
                                    <p:cond delay="140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650" fill="hold"/>
                                        <p:tgtEl>
                                          <p:spTgt spid="18"/>
                                        </p:tgtEl>
                                      </p:cBhvr>
                                    </p:animEffect>
                                    <p:anim calcmode="lin" valueType="num">
                                      <p:cBhvr additive="base">
                                        <p:cTn id="71" dur="650" fill="hold"/>
                                        <p:tgtEl>
                                          <p:spTgt spid="18"/>
                                        </p:tgtEl>
                                        <p:attrNameLst>
                                          <p:attrName>ppt_x</p:attrName>
                                        </p:attrNameLst>
                                      </p:cBhvr>
                                      <p:tavLst>
                                        <p:tav tm="0">
                                          <p:val>
                                            <p:strVal val="#ppt_x"/>
                                          </p:val>
                                        </p:tav>
                                        <p:tav tm="100000">
                                          <p:val>
                                            <p:strVal val="#ppt_x"/>
                                          </p:val>
                                        </p:tav>
                                      </p:tavLst>
                                    </p:anim>
                                    <p:anim calcmode="lin" valueType="num">
                                      <p:cBhvr additive="base">
                                        <p:cTn id="72" dur="650" fill="hold"/>
                                        <p:tgtEl>
                                          <p:spTgt spid="18"/>
                                        </p:tgtEl>
                                        <p:attrNameLst>
                                          <p:attrName>ppt_y</p:attrName>
                                        </p:attrNameLst>
                                      </p:cBhvr>
                                      <p:tavLst>
                                        <p:tav tm="0">
                                          <p:val>
                                            <p:strVal val="#ppt_y+.06"/>
                                          </p:val>
                                        </p:tav>
                                        <p:tav tm="100000">
                                          <p:val>
                                            <p:strVal val="#ppt_y"/>
                                          </p:val>
                                        </p:tav>
                                      </p:tavLst>
                                    </p:anim>
                                  </p:childTnLst>
                                </p:cTn>
                              </p:par>
                              <p:par>
                                <p:cTn id="73" presetID="42" presetClass="entr" presetSubtype="0" decel="100000" fill="hold" grpId="0" nodeType="withEffect">
                                  <p:stCondLst>
                                    <p:cond delay="140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650" fill="hold"/>
                                        <p:tgtEl>
                                          <p:spTgt spid="19"/>
                                        </p:tgtEl>
                                      </p:cBhvr>
                                    </p:animEffect>
                                    <p:anim calcmode="lin" valueType="num">
                                      <p:cBhvr additive="base">
                                        <p:cTn id="76" dur="650" fill="hold"/>
                                        <p:tgtEl>
                                          <p:spTgt spid="19"/>
                                        </p:tgtEl>
                                        <p:attrNameLst>
                                          <p:attrName>ppt_x</p:attrName>
                                        </p:attrNameLst>
                                      </p:cBhvr>
                                      <p:tavLst>
                                        <p:tav tm="0">
                                          <p:val>
                                            <p:strVal val="#ppt_x"/>
                                          </p:val>
                                        </p:tav>
                                        <p:tav tm="100000">
                                          <p:val>
                                            <p:strVal val="#ppt_x"/>
                                          </p:val>
                                        </p:tav>
                                      </p:tavLst>
                                    </p:anim>
                                    <p:anim calcmode="lin" valueType="num">
                                      <p:cBhvr additive="base">
                                        <p:cTn id="77" dur="650" fill="hold"/>
                                        <p:tgtEl>
                                          <p:spTgt spid="19"/>
                                        </p:tgtEl>
                                        <p:attrNameLst>
                                          <p:attrName>ppt_y</p:attrName>
                                        </p:attrNameLst>
                                      </p:cBhvr>
                                      <p:tavLst>
                                        <p:tav tm="0">
                                          <p:val>
                                            <p:strVal val="#ppt_y+.06"/>
                                          </p:val>
                                        </p:tav>
                                        <p:tav tm="100000">
                                          <p:val>
                                            <p:strVal val="#ppt_y"/>
                                          </p:val>
                                        </p:tav>
                                      </p:tavLst>
                                    </p:anim>
                                  </p:childTnLst>
                                </p:cTn>
                              </p:par>
                              <p:par>
                                <p:cTn id="78" presetID="42" presetClass="entr" presetSubtype="0" decel="100000" fill="hold" grpId="0" nodeType="withEffect">
                                  <p:stCondLst>
                                    <p:cond delay="1600"/>
                                  </p:stCondLst>
                                  <p:childTnLst>
                                    <p:set>
                                      <p:cBhvr>
                                        <p:cTn id="79" dur="1" fill="hold">
                                          <p:stCondLst>
                                            <p:cond delay="0"/>
                                          </p:stCondLst>
                                        </p:cTn>
                                        <p:tgtEl>
                                          <p:spTgt spid="20"/>
                                        </p:tgtEl>
                                        <p:attrNameLst>
                                          <p:attrName>style.visibility</p:attrName>
                                        </p:attrNameLst>
                                      </p:cBhvr>
                                      <p:to>
                                        <p:strVal val="visible"/>
                                      </p:to>
                                    </p:set>
                                    <p:animEffect transition="in" filter="fade">
                                      <p:cBhvr>
                                        <p:cTn id="80" dur="650" fill="hold"/>
                                        <p:tgtEl>
                                          <p:spTgt spid="20"/>
                                        </p:tgtEl>
                                      </p:cBhvr>
                                    </p:animEffect>
                                    <p:anim calcmode="lin" valueType="num">
                                      <p:cBhvr additive="base">
                                        <p:cTn id="81" dur="650" fill="hold"/>
                                        <p:tgtEl>
                                          <p:spTgt spid="20"/>
                                        </p:tgtEl>
                                        <p:attrNameLst>
                                          <p:attrName>ppt_x</p:attrName>
                                        </p:attrNameLst>
                                      </p:cBhvr>
                                      <p:tavLst>
                                        <p:tav tm="0">
                                          <p:val>
                                            <p:strVal val="#ppt_x"/>
                                          </p:val>
                                        </p:tav>
                                        <p:tav tm="100000">
                                          <p:val>
                                            <p:strVal val="#ppt_x"/>
                                          </p:val>
                                        </p:tav>
                                      </p:tavLst>
                                    </p:anim>
                                    <p:anim calcmode="lin" valueType="num">
                                      <p:cBhvr additive="base">
                                        <p:cTn id="82" dur="650" fill="hold"/>
                                        <p:tgtEl>
                                          <p:spTgt spid="20"/>
                                        </p:tgtEl>
                                        <p:attrNameLst>
                                          <p:attrName>ppt_y</p:attrName>
                                        </p:attrNameLst>
                                      </p:cBhvr>
                                      <p:tavLst>
                                        <p:tav tm="0">
                                          <p:val>
                                            <p:strVal val="#ppt_y+.06"/>
                                          </p:val>
                                        </p:tav>
                                        <p:tav tm="100000">
                                          <p:val>
                                            <p:strVal val="#ppt_y"/>
                                          </p:val>
                                        </p:tav>
                                      </p:tavLst>
                                    </p:anim>
                                  </p:childTnLst>
                                </p:cTn>
                              </p:par>
                              <p:par>
                                <p:cTn id="83" presetID="42" presetClass="entr" presetSubtype="0" decel="100000" fill="hold" grpId="0" nodeType="withEffect">
                                  <p:stCondLst>
                                    <p:cond delay="1600"/>
                                  </p:stCondLst>
                                  <p:childTnLst>
                                    <p:set>
                                      <p:cBhvr>
                                        <p:cTn id="84" dur="1" fill="hold">
                                          <p:stCondLst>
                                            <p:cond delay="0"/>
                                          </p:stCondLst>
                                        </p:cTn>
                                        <p:tgtEl>
                                          <p:spTgt spid="21"/>
                                        </p:tgtEl>
                                        <p:attrNameLst>
                                          <p:attrName>style.visibility</p:attrName>
                                        </p:attrNameLst>
                                      </p:cBhvr>
                                      <p:to>
                                        <p:strVal val="visible"/>
                                      </p:to>
                                    </p:set>
                                    <p:animEffect transition="in" filter="fade">
                                      <p:cBhvr>
                                        <p:cTn id="85" dur="650" fill="hold"/>
                                        <p:tgtEl>
                                          <p:spTgt spid="21"/>
                                        </p:tgtEl>
                                      </p:cBhvr>
                                    </p:animEffect>
                                    <p:anim calcmode="lin" valueType="num">
                                      <p:cBhvr additive="base">
                                        <p:cTn id="86" dur="650" fill="hold"/>
                                        <p:tgtEl>
                                          <p:spTgt spid="21"/>
                                        </p:tgtEl>
                                        <p:attrNameLst>
                                          <p:attrName>ppt_x</p:attrName>
                                        </p:attrNameLst>
                                      </p:cBhvr>
                                      <p:tavLst>
                                        <p:tav tm="0">
                                          <p:val>
                                            <p:strVal val="#ppt_x"/>
                                          </p:val>
                                        </p:tav>
                                        <p:tav tm="100000">
                                          <p:val>
                                            <p:strVal val="#ppt_x"/>
                                          </p:val>
                                        </p:tav>
                                      </p:tavLst>
                                    </p:anim>
                                    <p:anim calcmode="lin" valueType="num">
                                      <p:cBhvr additive="base">
                                        <p:cTn id="87" dur="650" fill="hold"/>
                                        <p:tgtEl>
                                          <p:spTgt spid="21"/>
                                        </p:tgtEl>
                                        <p:attrNameLst>
                                          <p:attrName>ppt_y</p:attrName>
                                        </p:attrNameLst>
                                      </p:cBhvr>
                                      <p:tavLst>
                                        <p:tav tm="0">
                                          <p:val>
                                            <p:strVal val="#ppt_y+.06"/>
                                          </p:val>
                                        </p:tav>
                                        <p:tav tm="100000">
                                          <p:val>
                                            <p:strVal val="#ppt_y"/>
                                          </p:val>
                                        </p:tav>
                                      </p:tavLst>
                                    </p:anim>
                                  </p:childTnLst>
                                </p:cTn>
                              </p:par>
                              <p:par>
                                <p:cTn id="88" presetID="42" presetClass="entr" presetSubtype="0" decel="100000" fill="hold" grpId="0" nodeType="withEffect">
                                  <p:stCondLst>
                                    <p:cond delay="1600"/>
                                  </p:stCondLst>
                                  <p:childTnLst>
                                    <p:set>
                                      <p:cBhvr>
                                        <p:cTn id="89" dur="1" fill="hold">
                                          <p:stCondLst>
                                            <p:cond delay="0"/>
                                          </p:stCondLst>
                                        </p:cTn>
                                        <p:tgtEl>
                                          <p:spTgt spid="22"/>
                                        </p:tgtEl>
                                        <p:attrNameLst>
                                          <p:attrName>style.visibility</p:attrName>
                                        </p:attrNameLst>
                                      </p:cBhvr>
                                      <p:to>
                                        <p:strVal val="visible"/>
                                      </p:to>
                                    </p:set>
                                    <p:animEffect transition="in" filter="fade">
                                      <p:cBhvr>
                                        <p:cTn id="90" dur="650" fill="hold"/>
                                        <p:tgtEl>
                                          <p:spTgt spid="22"/>
                                        </p:tgtEl>
                                      </p:cBhvr>
                                    </p:animEffect>
                                    <p:anim calcmode="lin" valueType="num">
                                      <p:cBhvr additive="base">
                                        <p:cTn id="91" dur="650" fill="hold"/>
                                        <p:tgtEl>
                                          <p:spTgt spid="22"/>
                                        </p:tgtEl>
                                        <p:attrNameLst>
                                          <p:attrName>ppt_x</p:attrName>
                                        </p:attrNameLst>
                                      </p:cBhvr>
                                      <p:tavLst>
                                        <p:tav tm="0">
                                          <p:val>
                                            <p:strVal val="#ppt_x"/>
                                          </p:val>
                                        </p:tav>
                                        <p:tav tm="100000">
                                          <p:val>
                                            <p:strVal val="#ppt_x"/>
                                          </p:val>
                                        </p:tav>
                                      </p:tavLst>
                                    </p:anim>
                                    <p:anim calcmode="lin" valueType="num">
                                      <p:cBhvr additive="base">
                                        <p:cTn id="92" dur="650" fill="hold"/>
                                        <p:tgtEl>
                                          <p:spTgt spid="22"/>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6035040" y="-320040"/>
            <a:ext cx="5852160" cy="5486400"/>
          </a:xfrm>
          <a:prstGeom prst="rect">
            <a:avLst/>
          </a:prstGeom>
          <a:noFill/>
        </p:spPr>
        <p:txBody>
          <a:bodyPr wrap="square" lIns="36576" tIns="18288" rIns="36576" bIns="18288" anchor="t">
            <a:spAutoFit/>
          </a:bodyPr>
          <a:lstStyle/>
          <a:p>
            <a:pPr algn="r"/>
            <a:r>
              <a:rPr sz="33000" b="1" i="0">
                <a:solidFill>
                  <a:srgbClr val="242826"/>
                </a:solidFill>
                <a:latin typeface="Segoe UI Semibold"/>
              </a:rPr>
              <a:t>02</a:t>
            </a:r>
          </a:p>
        </p:txBody>
      </p:sp>
      <p:sp>
        <p:nvSpPr>
          <p:cNvPr id="3" name="Rectangle 2"/>
          <p:cNvSpPr/>
          <p:nvPr/>
        </p:nvSpPr>
        <p:spPr>
          <a:xfrm>
            <a:off x="822960" y="2331720"/>
            <a:ext cx="82296" cy="1417320"/>
          </a:xfrm>
          <a:prstGeom prst="rect">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188720" y="1783080"/>
            <a:ext cx="8229600" cy="365760"/>
          </a:xfrm>
          <a:prstGeom prst="rect">
            <a:avLst/>
          </a:prstGeom>
          <a:noFill/>
        </p:spPr>
        <p:txBody>
          <a:bodyPr wrap="square" lIns="36576" tIns="18288" rIns="36576" bIns="18288" anchor="t">
            <a:spAutoFit/>
          </a:bodyPr>
          <a:lstStyle/>
          <a:p>
            <a:pPr algn="l"/>
            <a:r>
              <a:rPr sz="1200" b="1" i="0" spc="300">
                <a:solidFill>
                  <a:srgbClr val="9CD848"/>
                </a:solidFill>
                <a:latin typeface="Segoe UI Semibold"/>
              </a:rPr>
              <a:t>PARA LEVAR  ·  MÓDULO 2</a:t>
            </a:r>
          </a:p>
        </p:txBody>
      </p:sp>
      <p:sp>
        <p:nvSpPr>
          <p:cNvPr id="5" name="TextBox 4"/>
          <p:cNvSpPr txBox="1"/>
          <p:nvPr/>
        </p:nvSpPr>
        <p:spPr>
          <a:xfrm>
            <a:off x="1188720" y="2240280"/>
            <a:ext cx="10241280" cy="1645920"/>
          </a:xfrm>
          <a:prstGeom prst="rect">
            <a:avLst/>
          </a:prstGeom>
          <a:noFill/>
        </p:spPr>
        <p:txBody>
          <a:bodyPr wrap="square" lIns="36576" tIns="18288" rIns="36576" bIns="18288" anchor="t">
            <a:spAutoFit/>
          </a:bodyPr>
          <a:lstStyle/>
          <a:p>
            <a:pPr algn="l">
              <a:lnSpc>
                <a:spcPct val="105000"/>
              </a:lnSpc>
            </a:pPr>
            <a:r>
              <a:rPr sz="4800" b="1" i="0">
                <a:solidFill>
                  <a:srgbClr val="F2F2EC"/>
                </a:solidFill>
                <a:latin typeface="Segoe UI Semibold"/>
              </a:rPr>
              <a:t>Dados mostram </a:t>
            </a:r>
            <a:r>
              <a:rPr sz="4800" b="1" i="0">
                <a:solidFill>
                  <a:srgbClr val="9CD848"/>
                </a:solidFill>
                <a:latin typeface="Segoe UI Semibold"/>
              </a:rPr>
              <a:t>o quê</a:t>
            </a:r>
            <a:r>
              <a:rPr sz="4800" b="1" i="0">
                <a:solidFill>
                  <a:srgbClr val="F2F2EC"/>
                </a:solidFill>
                <a:latin typeface="Segoe UI Semibold"/>
              </a:rPr>
              <a:t>.</a:t>
            </a:r>
          </a:p>
          <a:p>
            <a:pPr algn="l">
              <a:lnSpc>
                <a:spcPct val="105000"/>
              </a:lnSpc>
            </a:pPr>
            <a:r>
              <a:rPr sz="4800" b="1" i="0">
                <a:solidFill>
                  <a:srgbClr val="F2F2EC"/>
                </a:solidFill>
                <a:latin typeface="Segoe UI Semibold"/>
              </a:rPr>
              <a:t>Pessoas revelam </a:t>
            </a:r>
            <a:r>
              <a:rPr sz="4800" b="1" i="0">
                <a:solidFill>
                  <a:srgbClr val="9CD848"/>
                </a:solidFill>
                <a:latin typeface="Segoe UI Semibold"/>
              </a:rPr>
              <a:t>o porquê</a:t>
            </a:r>
            <a:r>
              <a:rPr sz="4800" b="1" i="0">
                <a:solidFill>
                  <a:srgbClr val="F2F2EC"/>
                </a:solidFill>
                <a:latin typeface="Segoe UI Semibold"/>
              </a:rPr>
              <a:t>.</a:t>
            </a:r>
          </a:p>
        </p:txBody>
      </p:sp>
      <p:sp>
        <p:nvSpPr>
          <p:cNvPr id="6" name="Rectangle 5"/>
          <p:cNvSpPr/>
          <p:nvPr/>
        </p:nvSpPr>
        <p:spPr>
          <a:xfrm>
            <a:off x="1188720" y="4160520"/>
            <a:ext cx="2377440" cy="54864"/>
          </a:xfrm>
          <a:prstGeom prst="rect">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188720" y="4389120"/>
            <a:ext cx="9875520" cy="731520"/>
          </a:xfrm>
          <a:prstGeom prst="rect">
            <a:avLst/>
          </a:prstGeom>
          <a:noFill/>
        </p:spPr>
        <p:txBody>
          <a:bodyPr wrap="square" lIns="36576" tIns="18288" rIns="36576" bIns="18288" anchor="t">
            <a:spAutoFit/>
          </a:bodyPr>
          <a:lstStyle/>
          <a:p>
            <a:pPr algn="l"/>
            <a:r>
              <a:rPr sz="1800" b="0" i="0">
                <a:solidFill>
                  <a:srgbClr val="B4B8B0"/>
                </a:solidFill>
                <a:latin typeface="Segoe UI"/>
              </a:rPr>
              <a:t>Os números apontam onde olhar. As conversas explicam o que está acontecendo.</a:t>
            </a:r>
          </a:p>
        </p:txBody>
      </p:sp>
      <p:sp>
        <p:nvSpPr>
          <p:cNvPr id="8" name="TextBox 7"/>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400" fill="hold"/>
                                        <p:tgtEl>
                                          <p:spTgt spid="2"/>
                                        </p:tgtEl>
                                      </p:cBhvr>
                                    </p:animEffect>
                                  </p:childTnLst>
                                </p:cTn>
                              </p:par>
                              <p:par>
                                <p:cTn id="8" presetID="22" presetClass="entr" presetSubtype="4" fill="hold" grpId="0" nodeType="withEffect">
                                  <p:stCondLst>
                                    <p:cond delay="300"/>
                                  </p:stCondLst>
                                  <p:childTnLst>
                                    <p:set>
                                      <p:cBhvr>
                                        <p:cTn id="9" dur="1" fill="hold">
                                          <p:stCondLst>
                                            <p:cond delay="0"/>
                                          </p:stCondLst>
                                        </p:cTn>
                                        <p:tgtEl>
                                          <p:spTgt spid="3"/>
                                        </p:tgtEl>
                                        <p:attrNameLst>
                                          <p:attrName>style.visibility</p:attrName>
                                        </p:attrNameLst>
                                      </p:cBhvr>
                                      <p:to>
                                        <p:strVal val="visible"/>
                                      </p:to>
                                    </p:set>
                                    <p:animEffect transition="in" filter="wipe(down)">
                                      <p:cBhvr>
                                        <p:cTn id="10" dur="700" fill="hold"/>
                                        <p:tgtEl>
                                          <p:spTgt spid="3"/>
                                        </p:tgtEl>
                                      </p:cBhvr>
                                    </p:animEffect>
                                  </p:childTnLst>
                                </p:cTn>
                              </p:par>
                              <p:par>
                                <p:cTn id="11" presetID="10" presetClass="entr" presetSubtype="0" fill="hold" grpId="0" nodeType="withEffect">
                                  <p:stCondLst>
                                    <p:cond delay="65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fill="hold"/>
                                        <p:tgtEl>
                                          <p:spTgt spid="4"/>
                                        </p:tgtEl>
                                      </p:cBhvr>
                                    </p:animEffect>
                                  </p:childTnLst>
                                </p:cTn>
                              </p:par>
                              <p:par>
                                <p:cTn id="14" presetID="10" presetClass="entr" presetSubtype="0" fill="hold" grpId="0" nodeType="withEffect">
                                  <p:stCondLst>
                                    <p:cond delay="950"/>
                                  </p:stCondLst>
                                  <p:iterate type="wd">
                                    <p:tmPct val="45000"/>
                                  </p:iterate>
                                  <p:childTnLst>
                                    <p:set>
                                      <p:cBhvr>
                                        <p:cTn id="15" dur="1" fill="hold">
                                          <p:stCondLst>
                                            <p:cond delay="0"/>
                                          </p:stCondLst>
                                        </p:cTn>
                                        <p:tgtEl>
                                          <p:spTgt spid="5"/>
                                        </p:tgtEl>
                                        <p:attrNameLst>
                                          <p:attrName>style.visibility</p:attrName>
                                        </p:attrNameLst>
                                      </p:cBhvr>
                                      <p:to>
                                        <p:strVal val="visible"/>
                                      </p:to>
                                    </p:set>
                                    <p:animEffect transition="in" filter="fade">
                                      <p:cBhvr>
                                        <p:cTn id="16" dur="500" fill="hold"/>
                                        <p:tgtEl>
                                          <p:spTgt spid="5"/>
                                        </p:tgtEl>
                                      </p:cBhvr>
                                    </p:animEffect>
                                  </p:childTnLst>
                                </p:cTn>
                              </p:par>
                              <p:par>
                                <p:cTn id="17" presetID="22" presetClass="entr" presetSubtype="8" fill="hold" grpId="0" nodeType="withEffect">
                                  <p:stCondLst>
                                    <p:cond delay="3425"/>
                                  </p:stCondLst>
                                  <p:childTnLst>
                                    <p:set>
                                      <p:cBhvr>
                                        <p:cTn id="18" dur="1" fill="hold">
                                          <p:stCondLst>
                                            <p:cond delay="0"/>
                                          </p:stCondLst>
                                        </p:cTn>
                                        <p:tgtEl>
                                          <p:spTgt spid="6"/>
                                        </p:tgtEl>
                                        <p:attrNameLst>
                                          <p:attrName>style.visibility</p:attrName>
                                        </p:attrNameLst>
                                      </p:cBhvr>
                                      <p:to>
                                        <p:strVal val="visible"/>
                                      </p:to>
                                    </p:set>
                                    <p:animEffect transition="in" filter="wipe(left)">
                                      <p:cBhvr>
                                        <p:cTn id="19" dur="800" fill="hold"/>
                                        <p:tgtEl>
                                          <p:spTgt spid="6"/>
                                        </p:tgtEl>
                                      </p:cBhvr>
                                    </p:animEffect>
                                  </p:childTnLst>
                                </p:cTn>
                              </p:par>
                              <p:par>
                                <p:cTn id="20" presetID="42" presetClass="entr" presetSubtype="0" decel="100000" fill="hold" grpId="0" nodeType="withEffect">
                                  <p:stCondLst>
                                    <p:cond delay="3725"/>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650" fill="hold"/>
                                        <p:tgtEl>
                                          <p:spTgt spid="7"/>
                                        </p:tgtEl>
                                      </p:cBhvr>
                                    </p:animEffect>
                                    <p:anim calcmode="lin" valueType="num">
                                      <p:cBhvr additive="base">
                                        <p:cTn id="23" dur="650" fill="hold"/>
                                        <p:tgtEl>
                                          <p:spTgt spid="7"/>
                                        </p:tgtEl>
                                        <p:attrNameLst>
                                          <p:attrName>ppt_x</p:attrName>
                                        </p:attrNameLst>
                                      </p:cBhvr>
                                      <p:tavLst>
                                        <p:tav tm="0">
                                          <p:val>
                                            <p:strVal val="#ppt_x"/>
                                          </p:val>
                                        </p:tav>
                                        <p:tav tm="100000">
                                          <p:val>
                                            <p:strVal val="#ppt_x"/>
                                          </p:val>
                                        </p:tav>
                                      </p:tavLst>
                                    </p:anim>
                                    <p:anim calcmode="lin" valueType="num">
                                      <p:cBhvr additive="base">
                                        <p:cTn id="24" dur="650" fill="hold"/>
                                        <p:tgtEl>
                                          <p:spTgt spid="7"/>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9CD848"/>
                </a:solidFill>
                <a:latin typeface="Segoe UI Semibold"/>
              </a:rPr>
              <a:t>MÓDULO 2  ·  DINÂMICA</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Dinâmica 2 — Entrevista em duplas + Matriz CSD</a:t>
            </a:r>
          </a:p>
        </p:txBody>
      </p:sp>
      <p:sp>
        <p:nvSpPr>
          <p:cNvPr id="6" name="Rounded Rectangle 5"/>
          <p:cNvSpPr/>
          <p:nvPr/>
        </p:nvSpPr>
        <p:spPr>
          <a:xfrm>
            <a:off x="548640" y="1554480"/>
            <a:ext cx="3566160" cy="4343400"/>
          </a:xfrm>
          <a:prstGeom prst="roundRect">
            <a:avLst>
              <a:gd name="adj" fmla="val 5000"/>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68680" y="1783080"/>
            <a:ext cx="3017520" cy="365760"/>
          </a:xfrm>
          <a:prstGeom prst="rect">
            <a:avLst/>
          </a:prstGeom>
          <a:noFill/>
        </p:spPr>
        <p:txBody>
          <a:bodyPr wrap="square" lIns="36576" tIns="18288" rIns="36576" bIns="18288" anchor="t">
            <a:spAutoFit/>
          </a:bodyPr>
          <a:lstStyle/>
          <a:p>
            <a:pPr algn="l"/>
            <a:r>
              <a:rPr sz="1100" b="1" i="0" spc="200">
                <a:solidFill>
                  <a:srgbClr val="1A1A1A"/>
                </a:solidFill>
                <a:latin typeface="Segoe UI Semibold"/>
              </a:rPr>
              <a:t>DURAÇÃO</a:t>
            </a:r>
          </a:p>
        </p:txBody>
      </p:sp>
      <p:sp>
        <p:nvSpPr>
          <p:cNvPr id="8" name="TextBox 7"/>
          <p:cNvSpPr txBox="1"/>
          <p:nvPr/>
        </p:nvSpPr>
        <p:spPr>
          <a:xfrm>
            <a:off x="868680" y="2057400"/>
            <a:ext cx="3017520" cy="914400"/>
          </a:xfrm>
          <a:prstGeom prst="rect">
            <a:avLst/>
          </a:prstGeom>
          <a:noFill/>
        </p:spPr>
        <p:txBody>
          <a:bodyPr wrap="square" lIns="36576" tIns="18288" rIns="36576" bIns="18288" anchor="t">
            <a:spAutoFit/>
          </a:bodyPr>
          <a:lstStyle/>
          <a:p>
            <a:pPr algn="l"/>
            <a:r>
              <a:rPr sz="4400" b="1" i="0">
                <a:solidFill>
                  <a:srgbClr val="1A1A1A"/>
                </a:solidFill>
                <a:latin typeface="Segoe UI Semibold"/>
              </a:rPr>
              <a:t>50 min</a:t>
            </a:r>
          </a:p>
        </p:txBody>
      </p:sp>
      <p:sp>
        <p:nvSpPr>
          <p:cNvPr id="9" name="TextBox 8"/>
          <p:cNvSpPr txBox="1"/>
          <p:nvPr/>
        </p:nvSpPr>
        <p:spPr>
          <a:xfrm>
            <a:off x="868680" y="3108960"/>
            <a:ext cx="3017520" cy="365760"/>
          </a:xfrm>
          <a:prstGeom prst="rect">
            <a:avLst/>
          </a:prstGeom>
          <a:noFill/>
        </p:spPr>
        <p:txBody>
          <a:bodyPr wrap="square" lIns="36576" tIns="18288" rIns="36576" bIns="18288" anchor="t">
            <a:spAutoFit/>
          </a:bodyPr>
          <a:lstStyle/>
          <a:p>
            <a:pPr algn="l"/>
            <a:r>
              <a:rPr sz="1100" b="1" i="0" spc="200">
                <a:solidFill>
                  <a:srgbClr val="1A1A1A"/>
                </a:solidFill>
                <a:latin typeface="Segoe UI Semibold"/>
              </a:rPr>
              <a:t>OBJETIVO</a:t>
            </a:r>
          </a:p>
        </p:txBody>
      </p:sp>
      <p:sp>
        <p:nvSpPr>
          <p:cNvPr id="10" name="TextBox 9"/>
          <p:cNvSpPr txBox="1"/>
          <p:nvPr/>
        </p:nvSpPr>
        <p:spPr>
          <a:xfrm>
            <a:off x="868680" y="3429000"/>
            <a:ext cx="3017520" cy="1463040"/>
          </a:xfrm>
          <a:prstGeom prst="rect">
            <a:avLst/>
          </a:prstGeom>
          <a:noFill/>
        </p:spPr>
        <p:txBody>
          <a:bodyPr wrap="square" lIns="36576" tIns="18288" rIns="36576" bIns="18288" anchor="t">
            <a:spAutoFit/>
          </a:bodyPr>
          <a:lstStyle/>
          <a:p>
            <a:pPr algn="l"/>
            <a:r>
              <a:rPr sz="1500" b="0" i="0">
                <a:solidFill>
                  <a:srgbClr val="1A1A1A"/>
                </a:solidFill>
                <a:latin typeface="Segoe UI"/>
              </a:rPr>
              <a:t>Praticar entrevista e organizar o conhecimento sobre um problema real da empresa.</a:t>
            </a:r>
          </a:p>
        </p:txBody>
      </p:sp>
      <p:sp>
        <p:nvSpPr>
          <p:cNvPr id="11" name="TextBox 10"/>
          <p:cNvSpPr txBox="1"/>
          <p:nvPr/>
        </p:nvSpPr>
        <p:spPr>
          <a:xfrm>
            <a:off x="868680" y="4892040"/>
            <a:ext cx="3017520" cy="822960"/>
          </a:xfrm>
          <a:prstGeom prst="rect">
            <a:avLst/>
          </a:prstGeom>
          <a:noFill/>
        </p:spPr>
        <p:txBody>
          <a:bodyPr wrap="square" lIns="36576" tIns="18288" rIns="36576" bIns="18288" anchor="t">
            <a:spAutoFit/>
          </a:bodyPr>
          <a:lstStyle/>
          <a:p>
            <a:pPr algn="l"/>
            <a:r>
              <a:rPr sz="1200" b="1" i="0">
                <a:solidFill>
                  <a:srgbClr val="1A1A1A"/>
                </a:solidFill>
                <a:latin typeface="Segoe UI Semibold"/>
              </a:rPr>
              <a:t>Materiais: </a:t>
            </a:r>
            <a:r>
              <a:rPr sz="1200" b="0" i="0">
                <a:solidFill>
                  <a:srgbClr val="1A1A1A"/>
                </a:solidFill>
                <a:latin typeface="Segoe UI"/>
              </a:rPr>
              <a:t>Folha A3, post-its em 3 cores</a:t>
            </a:r>
          </a:p>
        </p:txBody>
      </p:sp>
      <p:sp>
        <p:nvSpPr>
          <p:cNvPr id="12" name="Oval 11"/>
          <p:cNvSpPr/>
          <p:nvPr/>
        </p:nvSpPr>
        <p:spPr>
          <a:xfrm>
            <a:off x="4480560" y="1760219"/>
            <a:ext cx="457200" cy="457200"/>
          </a:xfrm>
          <a:prstGeom prst="ellipse">
            <a:avLst/>
          </a:prstGeom>
          <a:solidFill>
            <a:srgbClr val="2E3431"/>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400" b="1" i="0">
                <a:solidFill>
                  <a:srgbClr val="9CD848"/>
                </a:solidFill>
                <a:latin typeface="Segoe UI Semibold"/>
              </a:rPr>
              <a:t>1</a:t>
            </a:r>
          </a:p>
        </p:txBody>
      </p:sp>
      <p:sp>
        <p:nvSpPr>
          <p:cNvPr id="13" name="TextBox 12"/>
          <p:cNvSpPr txBox="1"/>
          <p:nvPr/>
        </p:nvSpPr>
        <p:spPr>
          <a:xfrm>
            <a:off x="5120640" y="1554480"/>
            <a:ext cx="6492240" cy="868680"/>
          </a:xfrm>
          <a:prstGeom prst="rect">
            <a:avLst/>
          </a:prstGeom>
          <a:noFill/>
        </p:spPr>
        <p:txBody>
          <a:bodyPr wrap="square" lIns="36576" tIns="18288" rIns="36576" bIns="18288" anchor="ctr">
            <a:spAutoFit/>
          </a:bodyPr>
          <a:lstStyle/>
          <a:p>
            <a:pPr algn="l"/>
            <a:r>
              <a:rPr sz="1600" b="0" i="0">
                <a:solidFill>
                  <a:srgbClr val="F2F2EC"/>
                </a:solidFill>
                <a:latin typeface="Segoe UI"/>
              </a:rPr>
              <a:t>Equipe escolhe um problema da empresa (5 min)</a:t>
            </a:r>
          </a:p>
        </p:txBody>
      </p:sp>
      <p:sp>
        <p:nvSpPr>
          <p:cNvPr id="14" name="Oval 13"/>
          <p:cNvSpPr/>
          <p:nvPr/>
        </p:nvSpPr>
        <p:spPr>
          <a:xfrm>
            <a:off x="4480560" y="2628900"/>
            <a:ext cx="457200" cy="457200"/>
          </a:xfrm>
          <a:prstGeom prst="ellipse">
            <a:avLst/>
          </a:prstGeom>
          <a:solidFill>
            <a:srgbClr val="2E3431"/>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400" b="1" i="0">
                <a:solidFill>
                  <a:srgbClr val="9CD848"/>
                </a:solidFill>
                <a:latin typeface="Segoe UI Semibold"/>
              </a:rPr>
              <a:t>2</a:t>
            </a:r>
          </a:p>
        </p:txBody>
      </p:sp>
      <p:sp>
        <p:nvSpPr>
          <p:cNvPr id="15" name="TextBox 14"/>
          <p:cNvSpPr txBox="1"/>
          <p:nvPr/>
        </p:nvSpPr>
        <p:spPr>
          <a:xfrm>
            <a:off x="5120640" y="2423160"/>
            <a:ext cx="6492240" cy="868680"/>
          </a:xfrm>
          <a:prstGeom prst="rect">
            <a:avLst/>
          </a:prstGeom>
          <a:noFill/>
        </p:spPr>
        <p:txBody>
          <a:bodyPr wrap="square" lIns="36576" tIns="18288" rIns="36576" bIns="18288" anchor="ctr">
            <a:spAutoFit/>
          </a:bodyPr>
          <a:lstStyle/>
          <a:p>
            <a:pPr algn="l"/>
            <a:r>
              <a:rPr sz="1600" b="0" i="0">
                <a:solidFill>
                  <a:srgbClr val="F2F2EC"/>
                </a:solidFill>
                <a:latin typeface="Segoe UI"/>
              </a:rPr>
              <a:t>Montam a Matriz CSD em A3 com post-its (15 min)</a:t>
            </a:r>
          </a:p>
        </p:txBody>
      </p:sp>
      <p:sp>
        <p:nvSpPr>
          <p:cNvPr id="16" name="Oval 15"/>
          <p:cNvSpPr/>
          <p:nvPr/>
        </p:nvSpPr>
        <p:spPr>
          <a:xfrm>
            <a:off x="4480560" y="3497579"/>
            <a:ext cx="457200" cy="457200"/>
          </a:xfrm>
          <a:prstGeom prst="ellipse">
            <a:avLst/>
          </a:prstGeom>
          <a:solidFill>
            <a:srgbClr val="2E3431"/>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400" b="1" i="0">
                <a:solidFill>
                  <a:srgbClr val="9CD848"/>
                </a:solidFill>
                <a:latin typeface="Segoe UI Semibold"/>
              </a:rPr>
              <a:t>3</a:t>
            </a:r>
          </a:p>
        </p:txBody>
      </p:sp>
      <p:sp>
        <p:nvSpPr>
          <p:cNvPr id="17" name="TextBox 16"/>
          <p:cNvSpPr txBox="1"/>
          <p:nvPr/>
        </p:nvSpPr>
        <p:spPr>
          <a:xfrm>
            <a:off x="5120640" y="3291839"/>
            <a:ext cx="6492240" cy="868680"/>
          </a:xfrm>
          <a:prstGeom prst="rect">
            <a:avLst/>
          </a:prstGeom>
          <a:noFill/>
        </p:spPr>
        <p:txBody>
          <a:bodyPr wrap="square" lIns="36576" tIns="18288" rIns="36576" bIns="18288" anchor="ctr">
            <a:spAutoFit/>
          </a:bodyPr>
          <a:lstStyle/>
          <a:p>
            <a:pPr algn="l"/>
            <a:r>
              <a:rPr sz="1600" b="0" i="0">
                <a:solidFill>
                  <a:srgbClr val="F2F2EC"/>
                </a:solidFill>
                <a:latin typeface="Segoe UI"/>
              </a:rPr>
              <a:t>Em duplas, uma pessoa entrevista a outra sobre o problema; depois trocam (20 min)</a:t>
            </a:r>
          </a:p>
        </p:txBody>
      </p:sp>
      <p:sp>
        <p:nvSpPr>
          <p:cNvPr id="18" name="Oval 17"/>
          <p:cNvSpPr/>
          <p:nvPr/>
        </p:nvSpPr>
        <p:spPr>
          <a:xfrm>
            <a:off x="4480560" y="4366259"/>
            <a:ext cx="457200" cy="457200"/>
          </a:xfrm>
          <a:prstGeom prst="ellipse">
            <a:avLst/>
          </a:prstGeom>
          <a:solidFill>
            <a:srgbClr val="2E3431"/>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400" b="1" i="0">
                <a:solidFill>
                  <a:srgbClr val="9CD848"/>
                </a:solidFill>
                <a:latin typeface="Segoe UI Semibold"/>
              </a:rPr>
              <a:t>4</a:t>
            </a:r>
          </a:p>
        </p:txBody>
      </p:sp>
      <p:sp>
        <p:nvSpPr>
          <p:cNvPr id="19" name="TextBox 18"/>
          <p:cNvSpPr txBox="1"/>
          <p:nvPr/>
        </p:nvSpPr>
        <p:spPr>
          <a:xfrm>
            <a:off x="5120640" y="4160520"/>
            <a:ext cx="6492240" cy="868680"/>
          </a:xfrm>
          <a:prstGeom prst="rect">
            <a:avLst/>
          </a:prstGeom>
          <a:noFill/>
        </p:spPr>
        <p:txBody>
          <a:bodyPr wrap="square" lIns="36576" tIns="18288" rIns="36576" bIns="18288" anchor="ctr">
            <a:spAutoFit/>
          </a:bodyPr>
          <a:lstStyle/>
          <a:p>
            <a:pPr algn="l"/>
            <a:r>
              <a:rPr sz="1600" b="0" i="0">
                <a:solidFill>
                  <a:srgbClr val="F2F2EC"/>
                </a:solidFill>
                <a:latin typeface="Segoe UI"/>
              </a:rPr>
              <a:t>Atualizam a Matriz: o que virou certeza? (10 min)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42" presetClass="entr" presetSubtype="0" decel="100000" fill="hold" grpId="0" nodeType="withEffect">
                                  <p:stCondLst>
                                    <p:cond delay="2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50" fill="hold"/>
                                        <p:tgtEl>
                                          <p:spTgt spid="6"/>
                                        </p:tgtEl>
                                      </p:cBhvr>
                                    </p:animEffect>
                                    <p:anim calcmode="lin" valueType="num">
                                      <p:cBhvr additive="base">
                                        <p:cTn id="11" dur="650" fill="hold"/>
                                        <p:tgtEl>
                                          <p:spTgt spid="6"/>
                                        </p:tgtEl>
                                        <p:attrNameLst>
                                          <p:attrName>ppt_x</p:attrName>
                                        </p:attrNameLst>
                                      </p:cBhvr>
                                      <p:tavLst>
                                        <p:tav tm="0">
                                          <p:val>
                                            <p:strVal val="#ppt_x"/>
                                          </p:val>
                                        </p:tav>
                                        <p:tav tm="100000">
                                          <p:val>
                                            <p:strVal val="#ppt_x"/>
                                          </p:val>
                                        </p:tav>
                                      </p:tavLst>
                                    </p:anim>
                                    <p:anim calcmode="lin" valueType="num">
                                      <p:cBhvr additive="base">
                                        <p:cTn id="12" dur="650" fill="hold"/>
                                        <p:tgtEl>
                                          <p:spTgt spid="6"/>
                                        </p:tgtEl>
                                        <p:attrNameLst>
                                          <p:attrName>ppt_y</p:attrName>
                                        </p:attrNameLst>
                                      </p:cBhvr>
                                      <p:tavLst>
                                        <p:tav tm="0">
                                          <p:val>
                                            <p:strVal val="#ppt_y+.06"/>
                                          </p:val>
                                        </p:tav>
                                        <p:tav tm="100000">
                                          <p:val>
                                            <p:strVal val="#ppt_y"/>
                                          </p:val>
                                        </p:tav>
                                      </p:tavLst>
                                    </p:anim>
                                  </p:childTnLst>
                                </p:cTn>
                              </p:par>
                              <p:par>
                                <p:cTn id="13" presetID="42" presetClass="entr" presetSubtype="0" decel="100000" fill="hold" grpId="0" nodeType="withEffect">
                                  <p:stCondLst>
                                    <p:cond delay="20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fill="hold"/>
                                        <p:tgtEl>
                                          <p:spTgt spid="7"/>
                                        </p:tgtEl>
                                      </p:cBhvr>
                                    </p:animEffect>
                                    <p:anim calcmode="lin" valueType="num">
                                      <p:cBhvr additive="base">
                                        <p:cTn id="16" dur="650" fill="hold"/>
                                        <p:tgtEl>
                                          <p:spTgt spid="7"/>
                                        </p:tgtEl>
                                        <p:attrNameLst>
                                          <p:attrName>ppt_x</p:attrName>
                                        </p:attrNameLst>
                                      </p:cBhvr>
                                      <p:tavLst>
                                        <p:tav tm="0">
                                          <p:val>
                                            <p:strVal val="#ppt_x"/>
                                          </p:val>
                                        </p:tav>
                                        <p:tav tm="100000">
                                          <p:val>
                                            <p:strVal val="#ppt_x"/>
                                          </p:val>
                                        </p:tav>
                                      </p:tavLst>
                                    </p:anim>
                                    <p:anim calcmode="lin" valueType="num">
                                      <p:cBhvr additive="base">
                                        <p:cTn id="17" dur="650" fill="hold"/>
                                        <p:tgtEl>
                                          <p:spTgt spid="7"/>
                                        </p:tgtEl>
                                        <p:attrNameLst>
                                          <p:attrName>ppt_y</p:attrName>
                                        </p:attrNameLst>
                                      </p:cBhvr>
                                      <p:tavLst>
                                        <p:tav tm="0">
                                          <p:val>
                                            <p:strVal val="#ppt_y+.06"/>
                                          </p:val>
                                        </p:tav>
                                        <p:tav tm="100000">
                                          <p:val>
                                            <p:strVal val="#ppt_y"/>
                                          </p:val>
                                        </p:tav>
                                      </p:tavLst>
                                    </p:anim>
                                  </p:childTnLst>
                                </p:cTn>
                              </p:par>
                              <p:par>
                                <p:cTn id="18" presetID="53" presetClass="entr" presetSubtype="16" decel="100000" fill="hold" grpId="0" nodeType="withEffect">
                                  <p:stCondLst>
                                    <p:cond delay="50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50" fill="hold"/>
                                        <p:tgtEl>
                                          <p:spTgt spid="8"/>
                                        </p:tgtEl>
                                        <p:attrNameLst>
                                          <p:attrName>ppt_w</p:attrName>
                                        </p:attrNameLst>
                                      </p:cBhvr>
                                      <p:tavLst>
                                        <p:tav tm="0">
                                          <p:val>
                                            <p:strVal val="0"/>
                                          </p:val>
                                        </p:tav>
                                        <p:tav tm="70000">
                                          <p:val>
                                            <p:strVal val="#ppt_w*1.08"/>
                                          </p:val>
                                        </p:tav>
                                        <p:tav tm="100000">
                                          <p:val>
                                            <p:strVal val="#ppt_w"/>
                                          </p:val>
                                        </p:tav>
                                      </p:tavLst>
                                    </p:anim>
                                    <p:anim calcmode="lin" valueType="num">
                                      <p:cBhvr additive="base">
                                        <p:cTn id="21" dur="550" fill="hold"/>
                                        <p:tgtEl>
                                          <p:spTgt spid="8"/>
                                        </p:tgtEl>
                                        <p:attrNameLst>
                                          <p:attrName>ppt_h</p:attrName>
                                        </p:attrNameLst>
                                      </p:cBhvr>
                                      <p:tavLst>
                                        <p:tav tm="0">
                                          <p:val>
                                            <p:strVal val="0"/>
                                          </p:val>
                                        </p:tav>
                                        <p:tav tm="70000">
                                          <p:val>
                                            <p:strVal val="#ppt_h*1.08"/>
                                          </p:val>
                                        </p:tav>
                                        <p:tav tm="100000">
                                          <p:val>
                                            <p:strVal val="#ppt_h"/>
                                          </p:val>
                                        </p:tav>
                                      </p:tavLst>
                                    </p:anim>
                                    <p:animEffect transition="in" filter="fade">
                                      <p:cBhvr>
                                        <p:cTn id="22" dur="330" fill="hold"/>
                                        <p:tgtEl>
                                          <p:spTgt spid="8"/>
                                        </p:tgtEl>
                                      </p:cBhvr>
                                    </p:animEffect>
                                  </p:childTnLst>
                                </p:cTn>
                              </p:par>
                              <p:par>
                                <p:cTn id="23" presetID="10" presetClass="entr" presetSubtype="0" fill="hold" grpId="0" nodeType="withEffect">
                                  <p:stCondLst>
                                    <p:cond delay="75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fill="hold"/>
                                        <p:tgtEl>
                                          <p:spTgt spid="9"/>
                                        </p:tgtEl>
                                      </p:cBhvr>
                                    </p:animEffect>
                                  </p:childTnLst>
                                </p:cTn>
                              </p:par>
                              <p:par>
                                <p:cTn id="26" presetID="10" presetClass="entr" presetSubtype="0" fill="hold" grpId="0" nodeType="withEffect">
                                  <p:stCondLst>
                                    <p:cond delay="75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fill="hold"/>
                                        <p:tgtEl>
                                          <p:spTgt spid="10"/>
                                        </p:tgtEl>
                                      </p:cBhvr>
                                    </p:animEffect>
                                  </p:childTnLst>
                                </p:cTn>
                              </p:par>
                              <p:par>
                                <p:cTn id="29" presetID="10" presetClass="entr" presetSubtype="0" fill="hold" grpId="0" nodeType="withEffect">
                                  <p:stCondLst>
                                    <p:cond delay="75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fill="hold"/>
                                        <p:tgtEl>
                                          <p:spTgt spid="11"/>
                                        </p:tgtEl>
                                      </p:cBhvr>
                                    </p:animEffect>
                                  </p:childTnLst>
                                </p:cTn>
                              </p:par>
                              <p:par>
                                <p:cTn id="32" presetID="42" presetClass="entr" presetSubtype="0" decel="100000" fill="hold" grpId="0" nodeType="withEffect">
                                  <p:stCondLst>
                                    <p:cond delay="95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650" fill="hold"/>
                                        <p:tgtEl>
                                          <p:spTgt spid="12"/>
                                        </p:tgtEl>
                                      </p:cBhvr>
                                    </p:animEffect>
                                    <p:anim calcmode="lin" valueType="num">
                                      <p:cBhvr additive="base">
                                        <p:cTn id="35" dur="650" fill="hold"/>
                                        <p:tgtEl>
                                          <p:spTgt spid="12"/>
                                        </p:tgtEl>
                                        <p:attrNameLst>
                                          <p:attrName>ppt_x</p:attrName>
                                        </p:attrNameLst>
                                      </p:cBhvr>
                                      <p:tavLst>
                                        <p:tav tm="0">
                                          <p:val>
                                            <p:strVal val="#ppt_x"/>
                                          </p:val>
                                        </p:tav>
                                        <p:tav tm="100000">
                                          <p:val>
                                            <p:strVal val="#ppt_x"/>
                                          </p:val>
                                        </p:tav>
                                      </p:tavLst>
                                    </p:anim>
                                    <p:anim calcmode="lin" valueType="num">
                                      <p:cBhvr additive="base">
                                        <p:cTn id="36" dur="650" fill="hold"/>
                                        <p:tgtEl>
                                          <p:spTgt spid="12"/>
                                        </p:tgtEl>
                                        <p:attrNameLst>
                                          <p:attrName>ppt_y</p:attrName>
                                        </p:attrNameLst>
                                      </p:cBhvr>
                                      <p:tavLst>
                                        <p:tav tm="0">
                                          <p:val>
                                            <p:strVal val="#ppt_y+.06"/>
                                          </p:val>
                                        </p:tav>
                                        <p:tav tm="100000">
                                          <p:val>
                                            <p:strVal val="#ppt_y"/>
                                          </p:val>
                                        </p:tav>
                                      </p:tavLst>
                                    </p:anim>
                                  </p:childTnLst>
                                </p:cTn>
                              </p:par>
                              <p:par>
                                <p:cTn id="37" presetID="42" presetClass="entr" presetSubtype="0" decel="100000" fill="hold" grpId="0" nodeType="withEffect">
                                  <p:stCondLst>
                                    <p:cond delay="95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650" fill="hold"/>
                                        <p:tgtEl>
                                          <p:spTgt spid="13"/>
                                        </p:tgtEl>
                                      </p:cBhvr>
                                    </p:animEffect>
                                    <p:anim calcmode="lin" valueType="num">
                                      <p:cBhvr additive="base">
                                        <p:cTn id="40" dur="650" fill="hold"/>
                                        <p:tgtEl>
                                          <p:spTgt spid="13"/>
                                        </p:tgtEl>
                                        <p:attrNameLst>
                                          <p:attrName>ppt_x</p:attrName>
                                        </p:attrNameLst>
                                      </p:cBhvr>
                                      <p:tavLst>
                                        <p:tav tm="0">
                                          <p:val>
                                            <p:strVal val="#ppt_x"/>
                                          </p:val>
                                        </p:tav>
                                        <p:tav tm="100000">
                                          <p:val>
                                            <p:strVal val="#ppt_x"/>
                                          </p:val>
                                        </p:tav>
                                      </p:tavLst>
                                    </p:anim>
                                    <p:anim calcmode="lin" valueType="num">
                                      <p:cBhvr additive="base">
                                        <p:cTn id="41" dur="650" fill="hold"/>
                                        <p:tgtEl>
                                          <p:spTgt spid="13"/>
                                        </p:tgtEl>
                                        <p:attrNameLst>
                                          <p:attrName>ppt_y</p:attrName>
                                        </p:attrNameLst>
                                      </p:cBhvr>
                                      <p:tavLst>
                                        <p:tav tm="0">
                                          <p:val>
                                            <p:strVal val="#ppt_y+.06"/>
                                          </p:val>
                                        </p:tav>
                                        <p:tav tm="100000">
                                          <p:val>
                                            <p:strVal val="#ppt_y"/>
                                          </p:val>
                                        </p:tav>
                                      </p:tavLst>
                                    </p:anim>
                                  </p:childTnLst>
                                </p:cTn>
                              </p:par>
                              <p:par>
                                <p:cTn id="42" presetID="42" presetClass="entr" presetSubtype="0" decel="100000" fill="hold" grpId="0" nodeType="withEffect">
                                  <p:stCondLst>
                                    <p:cond delay="115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650" fill="hold"/>
                                        <p:tgtEl>
                                          <p:spTgt spid="14"/>
                                        </p:tgtEl>
                                      </p:cBhvr>
                                    </p:animEffect>
                                    <p:anim calcmode="lin" valueType="num">
                                      <p:cBhvr additive="base">
                                        <p:cTn id="45" dur="650" fill="hold"/>
                                        <p:tgtEl>
                                          <p:spTgt spid="14"/>
                                        </p:tgtEl>
                                        <p:attrNameLst>
                                          <p:attrName>ppt_x</p:attrName>
                                        </p:attrNameLst>
                                      </p:cBhvr>
                                      <p:tavLst>
                                        <p:tav tm="0">
                                          <p:val>
                                            <p:strVal val="#ppt_x"/>
                                          </p:val>
                                        </p:tav>
                                        <p:tav tm="100000">
                                          <p:val>
                                            <p:strVal val="#ppt_x"/>
                                          </p:val>
                                        </p:tav>
                                      </p:tavLst>
                                    </p:anim>
                                    <p:anim calcmode="lin" valueType="num">
                                      <p:cBhvr additive="base">
                                        <p:cTn id="46" dur="650" fill="hold"/>
                                        <p:tgtEl>
                                          <p:spTgt spid="14"/>
                                        </p:tgtEl>
                                        <p:attrNameLst>
                                          <p:attrName>ppt_y</p:attrName>
                                        </p:attrNameLst>
                                      </p:cBhvr>
                                      <p:tavLst>
                                        <p:tav tm="0">
                                          <p:val>
                                            <p:strVal val="#ppt_y+.06"/>
                                          </p:val>
                                        </p:tav>
                                        <p:tav tm="100000">
                                          <p:val>
                                            <p:strVal val="#ppt_y"/>
                                          </p:val>
                                        </p:tav>
                                      </p:tavLst>
                                    </p:anim>
                                  </p:childTnLst>
                                </p:cTn>
                              </p:par>
                              <p:par>
                                <p:cTn id="47" presetID="42" presetClass="entr" presetSubtype="0" decel="100000" fill="hold" grpId="0" nodeType="withEffect">
                                  <p:stCondLst>
                                    <p:cond delay="115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650" fill="hold"/>
                                        <p:tgtEl>
                                          <p:spTgt spid="15"/>
                                        </p:tgtEl>
                                      </p:cBhvr>
                                    </p:animEffect>
                                    <p:anim calcmode="lin" valueType="num">
                                      <p:cBhvr additive="base">
                                        <p:cTn id="50" dur="650" fill="hold"/>
                                        <p:tgtEl>
                                          <p:spTgt spid="15"/>
                                        </p:tgtEl>
                                        <p:attrNameLst>
                                          <p:attrName>ppt_x</p:attrName>
                                        </p:attrNameLst>
                                      </p:cBhvr>
                                      <p:tavLst>
                                        <p:tav tm="0">
                                          <p:val>
                                            <p:strVal val="#ppt_x"/>
                                          </p:val>
                                        </p:tav>
                                        <p:tav tm="100000">
                                          <p:val>
                                            <p:strVal val="#ppt_x"/>
                                          </p:val>
                                        </p:tav>
                                      </p:tavLst>
                                    </p:anim>
                                    <p:anim calcmode="lin" valueType="num">
                                      <p:cBhvr additive="base">
                                        <p:cTn id="51" dur="650" fill="hold"/>
                                        <p:tgtEl>
                                          <p:spTgt spid="15"/>
                                        </p:tgtEl>
                                        <p:attrNameLst>
                                          <p:attrName>ppt_y</p:attrName>
                                        </p:attrNameLst>
                                      </p:cBhvr>
                                      <p:tavLst>
                                        <p:tav tm="0">
                                          <p:val>
                                            <p:strVal val="#ppt_y+.06"/>
                                          </p:val>
                                        </p:tav>
                                        <p:tav tm="100000">
                                          <p:val>
                                            <p:strVal val="#ppt_y"/>
                                          </p:val>
                                        </p:tav>
                                      </p:tavLst>
                                    </p:anim>
                                  </p:childTnLst>
                                </p:cTn>
                              </p:par>
                              <p:par>
                                <p:cTn id="52" presetID="42" presetClass="entr" presetSubtype="0" decel="100000" fill="hold" grpId="0" nodeType="withEffect">
                                  <p:stCondLst>
                                    <p:cond delay="1350"/>
                                  </p:stCondLst>
                                  <p:childTnLst>
                                    <p:set>
                                      <p:cBhvr>
                                        <p:cTn id="53" dur="1" fill="hold">
                                          <p:stCondLst>
                                            <p:cond delay="0"/>
                                          </p:stCondLst>
                                        </p:cTn>
                                        <p:tgtEl>
                                          <p:spTgt spid="16"/>
                                        </p:tgtEl>
                                        <p:attrNameLst>
                                          <p:attrName>style.visibility</p:attrName>
                                        </p:attrNameLst>
                                      </p:cBhvr>
                                      <p:to>
                                        <p:strVal val="visible"/>
                                      </p:to>
                                    </p:set>
                                    <p:animEffect transition="in" filter="fade">
                                      <p:cBhvr>
                                        <p:cTn id="54" dur="650" fill="hold"/>
                                        <p:tgtEl>
                                          <p:spTgt spid="16"/>
                                        </p:tgtEl>
                                      </p:cBhvr>
                                    </p:animEffect>
                                    <p:anim calcmode="lin" valueType="num">
                                      <p:cBhvr additive="base">
                                        <p:cTn id="55" dur="650" fill="hold"/>
                                        <p:tgtEl>
                                          <p:spTgt spid="16"/>
                                        </p:tgtEl>
                                        <p:attrNameLst>
                                          <p:attrName>ppt_x</p:attrName>
                                        </p:attrNameLst>
                                      </p:cBhvr>
                                      <p:tavLst>
                                        <p:tav tm="0">
                                          <p:val>
                                            <p:strVal val="#ppt_x"/>
                                          </p:val>
                                        </p:tav>
                                        <p:tav tm="100000">
                                          <p:val>
                                            <p:strVal val="#ppt_x"/>
                                          </p:val>
                                        </p:tav>
                                      </p:tavLst>
                                    </p:anim>
                                    <p:anim calcmode="lin" valueType="num">
                                      <p:cBhvr additive="base">
                                        <p:cTn id="56" dur="650" fill="hold"/>
                                        <p:tgtEl>
                                          <p:spTgt spid="16"/>
                                        </p:tgtEl>
                                        <p:attrNameLst>
                                          <p:attrName>ppt_y</p:attrName>
                                        </p:attrNameLst>
                                      </p:cBhvr>
                                      <p:tavLst>
                                        <p:tav tm="0">
                                          <p:val>
                                            <p:strVal val="#ppt_y+.06"/>
                                          </p:val>
                                        </p:tav>
                                        <p:tav tm="100000">
                                          <p:val>
                                            <p:strVal val="#ppt_y"/>
                                          </p:val>
                                        </p:tav>
                                      </p:tavLst>
                                    </p:anim>
                                  </p:childTnLst>
                                </p:cTn>
                              </p:par>
                              <p:par>
                                <p:cTn id="57" presetID="42" presetClass="entr" presetSubtype="0" decel="100000" fill="hold" grpId="0" nodeType="withEffect">
                                  <p:stCondLst>
                                    <p:cond delay="1350"/>
                                  </p:stCondLst>
                                  <p:childTnLst>
                                    <p:set>
                                      <p:cBhvr>
                                        <p:cTn id="58" dur="1" fill="hold">
                                          <p:stCondLst>
                                            <p:cond delay="0"/>
                                          </p:stCondLst>
                                        </p:cTn>
                                        <p:tgtEl>
                                          <p:spTgt spid="17"/>
                                        </p:tgtEl>
                                        <p:attrNameLst>
                                          <p:attrName>style.visibility</p:attrName>
                                        </p:attrNameLst>
                                      </p:cBhvr>
                                      <p:to>
                                        <p:strVal val="visible"/>
                                      </p:to>
                                    </p:set>
                                    <p:animEffect transition="in" filter="fade">
                                      <p:cBhvr>
                                        <p:cTn id="59" dur="650" fill="hold"/>
                                        <p:tgtEl>
                                          <p:spTgt spid="17"/>
                                        </p:tgtEl>
                                      </p:cBhvr>
                                    </p:animEffect>
                                    <p:anim calcmode="lin" valueType="num">
                                      <p:cBhvr additive="base">
                                        <p:cTn id="60" dur="650" fill="hold"/>
                                        <p:tgtEl>
                                          <p:spTgt spid="17"/>
                                        </p:tgtEl>
                                        <p:attrNameLst>
                                          <p:attrName>ppt_x</p:attrName>
                                        </p:attrNameLst>
                                      </p:cBhvr>
                                      <p:tavLst>
                                        <p:tav tm="0">
                                          <p:val>
                                            <p:strVal val="#ppt_x"/>
                                          </p:val>
                                        </p:tav>
                                        <p:tav tm="100000">
                                          <p:val>
                                            <p:strVal val="#ppt_x"/>
                                          </p:val>
                                        </p:tav>
                                      </p:tavLst>
                                    </p:anim>
                                    <p:anim calcmode="lin" valueType="num">
                                      <p:cBhvr additive="base">
                                        <p:cTn id="61" dur="650" fill="hold"/>
                                        <p:tgtEl>
                                          <p:spTgt spid="17"/>
                                        </p:tgtEl>
                                        <p:attrNameLst>
                                          <p:attrName>ppt_y</p:attrName>
                                        </p:attrNameLst>
                                      </p:cBhvr>
                                      <p:tavLst>
                                        <p:tav tm="0">
                                          <p:val>
                                            <p:strVal val="#ppt_y+.06"/>
                                          </p:val>
                                        </p:tav>
                                        <p:tav tm="100000">
                                          <p:val>
                                            <p:strVal val="#ppt_y"/>
                                          </p:val>
                                        </p:tav>
                                      </p:tavLst>
                                    </p:anim>
                                  </p:childTnLst>
                                </p:cTn>
                              </p:par>
                              <p:par>
                                <p:cTn id="62" presetID="42" presetClass="entr" presetSubtype="0" decel="100000" fill="hold" grpId="0" nodeType="withEffect">
                                  <p:stCondLst>
                                    <p:cond delay="155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650" fill="hold"/>
                                        <p:tgtEl>
                                          <p:spTgt spid="18"/>
                                        </p:tgtEl>
                                      </p:cBhvr>
                                    </p:animEffect>
                                    <p:anim calcmode="lin" valueType="num">
                                      <p:cBhvr additive="base">
                                        <p:cTn id="65" dur="650" fill="hold"/>
                                        <p:tgtEl>
                                          <p:spTgt spid="18"/>
                                        </p:tgtEl>
                                        <p:attrNameLst>
                                          <p:attrName>ppt_x</p:attrName>
                                        </p:attrNameLst>
                                      </p:cBhvr>
                                      <p:tavLst>
                                        <p:tav tm="0">
                                          <p:val>
                                            <p:strVal val="#ppt_x"/>
                                          </p:val>
                                        </p:tav>
                                        <p:tav tm="100000">
                                          <p:val>
                                            <p:strVal val="#ppt_x"/>
                                          </p:val>
                                        </p:tav>
                                      </p:tavLst>
                                    </p:anim>
                                    <p:anim calcmode="lin" valueType="num">
                                      <p:cBhvr additive="base">
                                        <p:cTn id="66" dur="650" fill="hold"/>
                                        <p:tgtEl>
                                          <p:spTgt spid="18"/>
                                        </p:tgtEl>
                                        <p:attrNameLst>
                                          <p:attrName>ppt_y</p:attrName>
                                        </p:attrNameLst>
                                      </p:cBhvr>
                                      <p:tavLst>
                                        <p:tav tm="0">
                                          <p:val>
                                            <p:strVal val="#ppt_y+.06"/>
                                          </p:val>
                                        </p:tav>
                                        <p:tav tm="100000">
                                          <p:val>
                                            <p:strVal val="#ppt_y"/>
                                          </p:val>
                                        </p:tav>
                                      </p:tavLst>
                                    </p:anim>
                                  </p:childTnLst>
                                </p:cTn>
                              </p:par>
                              <p:par>
                                <p:cTn id="67" presetID="42" presetClass="entr" presetSubtype="0" decel="100000" fill="hold" grpId="0" nodeType="withEffect">
                                  <p:stCondLst>
                                    <p:cond delay="1550"/>
                                  </p:stCondLst>
                                  <p:childTnLst>
                                    <p:set>
                                      <p:cBhvr>
                                        <p:cTn id="68" dur="1" fill="hold">
                                          <p:stCondLst>
                                            <p:cond delay="0"/>
                                          </p:stCondLst>
                                        </p:cTn>
                                        <p:tgtEl>
                                          <p:spTgt spid="19"/>
                                        </p:tgtEl>
                                        <p:attrNameLst>
                                          <p:attrName>style.visibility</p:attrName>
                                        </p:attrNameLst>
                                      </p:cBhvr>
                                      <p:to>
                                        <p:strVal val="visible"/>
                                      </p:to>
                                    </p:set>
                                    <p:animEffect transition="in" filter="fade">
                                      <p:cBhvr>
                                        <p:cTn id="69" dur="650" fill="hold"/>
                                        <p:tgtEl>
                                          <p:spTgt spid="19"/>
                                        </p:tgtEl>
                                      </p:cBhvr>
                                    </p:animEffect>
                                    <p:anim calcmode="lin" valueType="num">
                                      <p:cBhvr additive="base">
                                        <p:cTn id="70" dur="650" fill="hold"/>
                                        <p:tgtEl>
                                          <p:spTgt spid="19"/>
                                        </p:tgtEl>
                                        <p:attrNameLst>
                                          <p:attrName>ppt_x</p:attrName>
                                        </p:attrNameLst>
                                      </p:cBhvr>
                                      <p:tavLst>
                                        <p:tav tm="0">
                                          <p:val>
                                            <p:strVal val="#ppt_x"/>
                                          </p:val>
                                        </p:tav>
                                        <p:tav tm="100000">
                                          <p:val>
                                            <p:strVal val="#ppt_x"/>
                                          </p:val>
                                        </p:tav>
                                      </p:tavLst>
                                    </p:anim>
                                    <p:anim calcmode="lin" valueType="num">
                                      <p:cBhvr additive="base">
                                        <p:cTn id="71" dur="650" fill="hold"/>
                                        <p:tgtEl>
                                          <p:spTgt spid="19"/>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411480" y="868680"/>
            <a:ext cx="4572000" cy="1828800"/>
          </a:xfrm>
          <a:prstGeom prst="rect">
            <a:avLst/>
          </a:prstGeom>
          <a:noFill/>
        </p:spPr>
        <p:txBody>
          <a:bodyPr wrap="square" lIns="36576" tIns="18288" rIns="36576" bIns="18288" anchor="t">
            <a:spAutoFit/>
          </a:bodyPr>
          <a:lstStyle/>
          <a:p>
            <a:pPr algn="l"/>
            <a:r>
              <a:rPr sz="12000" b="1" i="0">
                <a:solidFill>
                  <a:srgbClr val="4DB35A"/>
                </a:solidFill>
                <a:latin typeface="Segoe UI Semibold"/>
              </a:rPr>
              <a:t>03</a:t>
            </a:r>
          </a:p>
        </p:txBody>
      </p:sp>
      <p:sp>
        <p:nvSpPr>
          <p:cNvPr id="3" name="TextBox 2"/>
          <p:cNvSpPr txBox="1"/>
          <p:nvPr/>
        </p:nvSpPr>
        <p:spPr>
          <a:xfrm>
            <a:off x="548640" y="502920"/>
            <a:ext cx="4572000" cy="365760"/>
          </a:xfrm>
          <a:prstGeom prst="rect">
            <a:avLst/>
          </a:prstGeom>
          <a:noFill/>
        </p:spPr>
        <p:txBody>
          <a:bodyPr wrap="square" lIns="36576" tIns="18288" rIns="36576" bIns="18288" anchor="t">
            <a:spAutoFit/>
          </a:bodyPr>
          <a:lstStyle/>
          <a:p>
            <a:pPr algn="l"/>
            <a:r>
              <a:rPr sz="1200" b="1" i="0" spc="250">
                <a:solidFill>
                  <a:srgbClr val="4DB35A"/>
                </a:solidFill>
                <a:latin typeface="Segoe UI Semibold"/>
              </a:rPr>
              <a:t>ENCONTRO 2  ·  MÓDULO 3</a:t>
            </a:r>
          </a:p>
        </p:txBody>
      </p:sp>
      <p:sp>
        <p:nvSpPr>
          <p:cNvPr id="4" name="TextBox 3"/>
          <p:cNvSpPr txBox="1"/>
          <p:nvPr/>
        </p:nvSpPr>
        <p:spPr>
          <a:xfrm>
            <a:off x="548640" y="2331720"/>
            <a:ext cx="6766560" cy="1280160"/>
          </a:xfrm>
          <a:prstGeom prst="rect">
            <a:avLst/>
          </a:prstGeom>
          <a:noFill/>
        </p:spPr>
        <p:txBody>
          <a:bodyPr wrap="square" lIns="36576" tIns="18288" rIns="36576" bIns="18288" anchor="b">
            <a:spAutoFit/>
          </a:bodyPr>
          <a:lstStyle/>
          <a:p>
            <a:pPr algn="l">
              <a:lnSpc>
                <a:spcPct val="95000"/>
              </a:lnSpc>
            </a:pPr>
            <a:r>
              <a:rPr sz="3800" b="1" i="0">
                <a:solidFill>
                  <a:srgbClr val="F2F2EC"/>
                </a:solidFill>
                <a:latin typeface="Segoe UI Semibold"/>
              </a:rPr>
              <a:t>Definir</a:t>
            </a:r>
          </a:p>
        </p:txBody>
      </p:sp>
      <p:sp>
        <p:nvSpPr>
          <p:cNvPr id="5" name="TextBox 4"/>
          <p:cNvSpPr txBox="1"/>
          <p:nvPr/>
        </p:nvSpPr>
        <p:spPr>
          <a:xfrm>
            <a:off x="548640" y="3675887"/>
            <a:ext cx="6766560" cy="457200"/>
          </a:xfrm>
          <a:prstGeom prst="rect">
            <a:avLst/>
          </a:prstGeom>
          <a:noFill/>
        </p:spPr>
        <p:txBody>
          <a:bodyPr wrap="square" lIns="36576" tIns="18288" rIns="36576" bIns="18288" anchor="t">
            <a:spAutoFit/>
          </a:bodyPr>
          <a:lstStyle/>
          <a:p>
            <a:pPr algn="l"/>
            <a:r>
              <a:rPr sz="1800" b="0" i="0">
                <a:solidFill>
                  <a:srgbClr val="B4B8B0"/>
                </a:solidFill>
                <a:latin typeface="Segoe UI"/>
              </a:rPr>
              <a:t>O problema certo</a:t>
            </a:r>
          </a:p>
        </p:txBody>
      </p:sp>
      <p:sp>
        <p:nvSpPr>
          <p:cNvPr id="6" name="Rounded Rectangle 5"/>
          <p:cNvSpPr/>
          <p:nvPr/>
        </p:nvSpPr>
        <p:spPr>
          <a:xfrm>
            <a:off x="7589520" y="2103120"/>
            <a:ext cx="4069080" cy="342900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863840" y="2286000"/>
            <a:ext cx="3657600" cy="365760"/>
          </a:xfrm>
          <a:prstGeom prst="rect">
            <a:avLst/>
          </a:prstGeom>
          <a:noFill/>
        </p:spPr>
        <p:txBody>
          <a:bodyPr wrap="square" lIns="36576" tIns="18288" rIns="36576" bIns="18288" anchor="t">
            <a:spAutoFit/>
          </a:bodyPr>
          <a:lstStyle/>
          <a:p>
            <a:pPr algn="l"/>
            <a:r>
              <a:rPr sz="1100" b="1" i="0" spc="200">
                <a:solidFill>
                  <a:srgbClr val="4DB35A"/>
                </a:solidFill>
                <a:latin typeface="Segoe UI Semibold"/>
              </a:rPr>
              <a:t>OBJETIVOS</a:t>
            </a:r>
          </a:p>
        </p:txBody>
      </p:sp>
      <p:sp>
        <p:nvSpPr>
          <p:cNvPr id="8" name="TextBox 7"/>
          <p:cNvSpPr txBox="1"/>
          <p:nvPr/>
        </p:nvSpPr>
        <p:spPr>
          <a:xfrm>
            <a:off x="7863840" y="2651760"/>
            <a:ext cx="3611880" cy="2834640"/>
          </a:xfrm>
          <a:prstGeom prst="rect">
            <a:avLst/>
          </a:prstGeom>
          <a:noFill/>
        </p:spPr>
        <p:txBody>
          <a:bodyPr wrap="square">
            <a:spAutoFit/>
          </a:bodyPr>
          <a:lstStyle/>
          <a:p>
            <a:pPr marL="292608" indent="-292608">
              <a:spcAft>
                <a:spcPts val="800"/>
              </a:spcAft>
              <a:buClr>
                <a:srgbClr val="4DB35A"/>
              </a:buClr>
              <a:buFont typeface="Arial"/>
              <a:buChar char="●"/>
            </a:pPr>
            <a:r>
              <a:rPr sz="1350">
                <a:solidFill>
                  <a:srgbClr val="F2F2EC"/>
                </a:solidFill>
                <a:latin typeface="Segoe UI"/>
              </a:rPr>
              <a:t>Reconhecer um problema bem definido</a:t>
            </a:r>
          </a:p>
          <a:p>
            <a:pPr marL="292608" indent="-292608">
              <a:spcAft>
                <a:spcPts val="800"/>
              </a:spcAft>
              <a:buClr>
                <a:srgbClr val="4DB35A"/>
              </a:buClr>
              <a:buFont typeface="Arial"/>
              <a:buChar char="●"/>
            </a:pPr>
            <a:r>
              <a:rPr sz="1350">
                <a:solidFill>
                  <a:srgbClr val="F2F2EC"/>
                </a:solidFill>
                <a:latin typeface="Segoe UI"/>
              </a:rPr>
              <a:t>Usar Job Stories para entender a motivação</a:t>
            </a:r>
          </a:p>
          <a:p>
            <a:pPr marL="292608" indent="-292608">
              <a:spcAft>
                <a:spcPts val="800"/>
              </a:spcAft>
              <a:buClr>
                <a:srgbClr val="4DB35A"/>
              </a:buClr>
              <a:buFont typeface="Arial"/>
              <a:buChar char="●"/>
            </a:pPr>
            <a:r>
              <a:rPr sz="1350">
                <a:solidFill>
                  <a:srgbClr val="F2F2EC"/>
                </a:solidFill>
                <a:latin typeface="Segoe UI"/>
              </a:rPr>
              <a:t>Construir um Mapa de Empatia</a:t>
            </a:r>
          </a:p>
          <a:p>
            <a:pPr marL="292608" indent="-292608">
              <a:buClr>
                <a:srgbClr val="4DB35A"/>
              </a:buClr>
              <a:buFont typeface="Arial"/>
              <a:buChar char="●"/>
            </a:pPr>
            <a:r>
              <a:rPr sz="1350">
                <a:solidFill>
                  <a:srgbClr val="F2F2EC"/>
                </a:solidFill>
                <a:latin typeface="Segoe UI"/>
              </a:rPr>
              <a:t>Escrever um Problem Statement e perguntas “Como poderíamos…?”</a:t>
            </a:r>
          </a:p>
        </p:txBody>
      </p:sp>
      <p:sp>
        <p:nvSpPr>
          <p:cNvPr id="9" name="Rounded Rectangle 8"/>
          <p:cNvSpPr/>
          <p:nvPr/>
        </p:nvSpPr>
        <p:spPr>
          <a:xfrm>
            <a:off x="548640" y="4983480"/>
            <a:ext cx="1221638" cy="310896"/>
          </a:xfrm>
          <a:prstGeom prst="roundRect">
            <a:avLst>
              <a:gd name="adj" fmla="val 50000"/>
            </a:avLst>
          </a:prstGeom>
          <a:solidFill>
            <a:srgbClr val="242826"/>
          </a:solidFill>
          <a:ln w="12700">
            <a:solidFill>
              <a:srgbClr val="3A413D"/>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000" b="0" i="0">
                <a:solidFill>
                  <a:srgbClr val="B4B8B0"/>
                </a:solidFill>
                <a:latin typeface="Segoe UI"/>
              </a:rPr>
              <a:t>Empatizar</a:t>
            </a:r>
          </a:p>
        </p:txBody>
      </p:sp>
      <p:sp>
        <p:nvSpPr>
          <p:cNvPr id="10" name="Rounded Rectangle 9"/>
          <p:cNvSpPr/>
          <p:nvPr/>
        </p:nvSpPr>
        <p:spPr>
          <a:xfrm>
            <a:off x="1843430" y="4983480"/>
            <a:ext cx="1221638" cy="310896"/>
          </a:xfrm>
          <a:prstGeom prst="roundRect">
            <a:avLst>
              <a:gd name="adj" fmla="val 50000"/>
            </a:avLst>
          </a:prstGeom>
          <a:solidFill>
            <a:srgbClr val="4DB35A"/>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000" b="1" i="0">
                <a:solidFill>
                  <a:srgbClr val="1A1A1A"/>
                </a:solidFill>
                <a:latin typeface="Segoe UI Semibold"/>
              </a:rPr>
              <a:t>Definir</a:t>
            </a:r>
          </a:p>
        </p:txBody>
      </p:sp>
      <p:sp>
        <p:nvSpPr>
          <p:cNvPr id="11" name="Rounded Rectangle 10"/>
          <p:cNvSpPr/>
          <p:nvPr/>
        </p:nvSpPr>
        <p:spPr>
          <a:xfrm>
            <a:off x="3138220" y="4983480"/>
            <a:ext cx="1221638" cy="310896"/>
          </a:xfrm>
          <a:prstGeom prst="roundRect">
            <a:avLst>
              <a:gd name="adj" fmla="val 50000"/>
            </a:avLst>
          </a:prstGeom>
          <a:solidFill>
            <a:srgbClr val="242826"/>
          </a:solidFill>
          <a:ln w="12700">
            <a:solidFill>
              <a:srgbClr val="3A413D"/>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000" b="0" i="0">
                <a:solidFill>
                  <a:srgbClr val="B4B8B0"/>
                </a:solidFill>
                <a:latin typeface="Segoe UI"/>
              </a:rPr>
              <a:t>Idear</a:t>
            </a:r>
          </a:p>
        </p:txBody>
      </p:sp>
      <p:sp>
        <p:nvSpPr>
          <p:cNvPr id="12" name="Rounded Rectangle 11"/>
          <p:cNvSpPr/>
          <p:nvPr/>
        </p:nvSpPr>
        <p:spPr>
          <a:xfrm>
            <a:off x="4433011" y="4983480"/>
            <a:ext cx="1221638" cy="310896"/>
          </a:xfrm>
          <a:prstGeom prst="roundRect">
            <a:avLst>
              <a:gd name="adj" fmla="val 50000"/>
            </a:avLst>
          </a:prstGeom>
          <a:solidFill>
            <a:srgbClr val="242826"/>
          </a:solidFill>
          <a:ln w="12700">
            <a:solidFill>
              <a:srgbClr val="3A413D"/>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000" b="0" i="0">
                <a:solidFill>
                  <a:srgbClr val="B4B8B0"/>
                </a:solidFill>
                <a:latin typeface="Segoe UI"/>
              </a:rPr>
              <a:t>Prototipar</a:t>
            </a:r>
          </a:p>
        </p:txBody>
      </p:sp>
      <p:sp>
        <p:nvSpPr>
          <p:cNvPr id="13" name="Rounded Rectangle 12"/>
          <p:cNvSpPr/>
          <p:nvPr/>
        </p:nvSpPr>
        <p:spPr>
          <a:xfrm>
            <a:off x="5727801" y="4983480"/>
            <a:ext cx="1221638" cy="310896"/>
          </a:xfrm>
          <a:prstGeom prst="roundRect">
            <a:avLst>
              <a:gd name="adj" fmla="val 50000"/>
            </a:avLst>
          </a:prstGeom>
          <a:solidFill>
            <a:srgbClr val="242826"/>
          </a:solidFill>
          <a:ln w="12700">
            <a:solidFill>
              <a:srgbClr val="3A413D"/>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000" b="0" i="0">
                <a:solidFill>
                  <a:srgbClr val="B4B8B0"/>
                </a:solidFill>
                <a:latin typeface="Segoe UI"/>
              </a:rPr>
              <a:t>Testar</a:t>
            </a:r>
          </a:p>
        </p:txBody>
      </p:sp>
      <p:sp>
        <p:nvSpPr>
          <p:cNvPr id="14" name="Rounded Rectangle 13">
            <a:hlinkClick r:id="rId3" action="ppaction://hlinksldjump"/>
          </p:cNvPr>
          <p:cNvSpPr/>
          <p:nvPr/>
        </p:nvSpPr>
        <p:spPr>
          <a:xfrm>
            <a:off x="548640" y="4297680"/>
            <a:ext cx="3017520" cy="502920"/>
          </a:xfrm>
          <a:prstGeom prst="roundRect">
            <a:avLst>
              <a:gd name="adj" fmla="val 50000"/>
            </a:avLst>
          </a:prstGeom>
          <a:solidFill>
            <a:srgbClr val="4DB35A"/>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400" b="1" i="0">
                <a:solidFill>
                  <a:srgbClr val="1A1A1A"/>
                </a:solidFill>
                <a:latin typeface="Segoe UI Semibold"/>
              </a:rPr>
              <a:t>▶  Assistir vídeo do módulo</a:t>
            </a:r>
          </a:p>
        </p:txBody>
      </p:sp>
      <p:cxnSp>
        <p:nvCxnSpPr>
          <p:cNvPr id="15" name="Connector 14"/>
          <p:cNvCxnSpPr/>
          <p:nvPr/>
        </p:nvCxnSpPr>
        <p:spPr>
          <a:xfrm>
            <a:off x="9418320" y="640080"/>
            <a:ext cx="1609344" cy="0"/>
          </a:xfrm>
          <a:prstGeom prst="line">
            <a:avLst/>
          </a:prstGeom>
          <a:ln w="30734">
            <a:solidFill>
              <a:srgbClr val="4DB35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418320" y="1092708"/>
            <a:ext cx="1106424" cy="0"/>
          </a:xfrm>
          <a:prstGeom prst="line">
            <a:avLst/>
          </a:prstGeom>
          <a:ln w="30734">
            <a:solidFill>
              <a:srgbClr val="4DB35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524744" y="1092708"/>
            <a:ext cx="352044" cy="352044"/>
          </a:xfrm>
          <a:prstGeom prst="line">
            <a:avLst/>
          </a:prstGeom>
          <a:ln w="30734">
            <a:solidFill>
              <a:srgbClr val="4DB35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876788" y="1444752"/>
            <a:ext cx="854964" cy="0"/>
          </a:xfrm>
          <a:prstGeom prst="line">
            <a:avLst/>
          </a:prstGeom>
          <a:ln w="30734">
            <a:solidFill>
              <a:srgbClr val="4DB35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9418320" y="1545336"/>
            <a:ext cx="603504" cy="0"/>
          </a:xfrm>
          <a:prstGeom prst="line">
            <a:avLst/>
          </a:prstGeom>
          <a:ln w="30734">
            <a:solidFill>
              <a:srgbClr val="4DB35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021824" y="1545336"/>
            <a:ext cx="301752" cy="352044"/>
          </a:xfrm>
          <a:prstGeom prst="line">
            <a:avLst/>
          </a:prstGeom>
          <a:ln w="30734">
            <a:solidFill>
              <a:srgbClr val="4DB35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0323576" y="1897380"/>
            <a:ext cx="1005840" cy="0"/>
          </a:xfrm>
          <a:prstGeom prst="line">
            <a:avLst/>
          </a:prstGeom>
          <a:ln w="30734">
            <a:solidFill>
              <a:srgbClr val="4DB35A"/>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11027664" y="529437"/>
            <a:ext cx="221284" cy="221284"/>
          </a:xfrm>
          <a:prstGeom prst="ellipse">
            <a:avLst/>
          </a:prstGeom>
          <a:solidFill>
            <a:srgbClr val="1A1A1A"/>
          </a:solidFill>
          <a:ln w="30734">
            <a:solidFill>
              <a:srgbClr val="4DB35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11731752" y="1334109"/>
            <a:ext cx="221284" cy="221284"/>
          </a:xfrm>
          <a:prstGeom prst="ellipse">
            <a:avLst/>
          </a:prstGeom>
          <a:solidFill>
            <a:srgbClr val="1A1A1A"/>
          </a:solidFill>
          <a:ln w="30734">
            <a:solidFill>
              <a:srgbClr val="4DB35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11329416" y="1786737"/>
            <a:ext cx="221284" cy="221284"/>
          </a:xfrm>
          <a:prstGeom prst="ellipse">
            <a:avLst/>
          </a:prstGeom>
          <a:solidFill>
            <a:srgbClr val="1A1A1A"/>
          </a:solidFill>
          <a:ln w="30734">
            <a:solidFill>
              <a:srgbClr val="4DB35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700" fill="hold"/>
                                        <p:tgtEl>
                                          <p:spTgt spid="2"/>
                                        </p:tgtEl>
                                        <p:attrNameLst>
                                          <p:attrName>ppt_w</p:attrName>
                                        </p:attrNameLst>
                                      </p:cBhvr>
                                      <p:tavLst>
                                        <p:tav tm="0">
                                          <p:val>
                                            <p:strVal val="0"/>
                                          </p:val>
                                        </p:tav>
                                        <p:tav tm="70000">
                                          <p:val>
                                            <p:strVal val="#ppt_w*1.08"/>
                                          </p:val>
                                        </p:tav>
                                        <p:tav tm="100000">
                                          <p:val>
                                            <p:strVal val="#ppt_w"/>
                                          </p:val>
                                        </p:tav>
                                      </p:tavLst>
                                    </p:anim>
                                    <p:anim calcmode="lin" valueType="num">
                                      <p:cBhvr additive="base">
                                        <p:cTn id="8" dur="700" fill="hold"/>
                                        <p:tgtEl>
                                          <p:spTgt spid="2"/>
                                        </p:tgtEl>
                                        <p:attrNameLst>
                                          <p:attrName>ppt_h</p:attrName>
                                        </p:attrNameLst>
                                      </p:cBhvr>
                                      <p:tavLst>
                                        <p:tav tm="0">
                                          <p:val>
                                            <p:strVal val="0"/>
                                          </p:val>
                                        </p:tav>
                                        <p:tav tm="70000">
                                          <p:val>
                                            <p:strVal val="#ppt_h*1.08"/>
                                          </p:val>
                                        </p:tav>
                                        <p:tav tm="100000">
                                          <p:val>
                                            <p:strVal val="#ppt_h"/>
                                          </p:val>
                                        </p:tav>
                                      </p:tavLst>
                                    </p:anim>
                                    <p:animEffect transition="in" filter="fade">
                                      <p:cBhvr>
                                        <p:cTn id="9" dur="420" fill="hold"/>
                                        <p:tgtEl>
                                          <p:spTgt spid="2"/>
                                        </p:tgtEl>
                                      </p:cBhvr>
                                    </p:animEffect>
                                  </p:childTnLst>
                                </p:cTn>
                              </p:par>
                              <p:par>
                                <p:cTn id="10" presetID="10" presetClass="entr" presetSubtype="0" fill="hold" grpId="0" nodeType="withEffect">
                                  <p:stCondLst>
                                    <p:cond delay="30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fill="hold"/>
                                        <p:tgtEl>
                                          <p:spTgt spid="3"/>
                                        </p:tgtEl>
                                      </p:cBhvr>
                                    </p:animEffect>
                                  </p:childTnLst>
                                </p:cTn>
                              </p:par>
                              <p:par>
                                <p:cTn id="13" presetID="42" presetClass="entr" presetSubtype="0" decel="100000" fill="hold" grpId="0" nodeType="withEffect">
                                  <p:stCondLst>
                                    <p:cond delay="45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650" fill="hold"/>
                                        <p:tgtEl>
                                          <p:spTgt spid="4"/>
                                        </p:tgtEl>
                                      </p:cBhvr>
                                    </p:animEffect>
                                    <p:anim calcmode="lin" valueType="num">
                                      <p:cBhvr additive="base">
                                        <p:cTn id="16" dur="650" fill="hold"/>
                                        <p:tgtEl>
                                          <p:spTgt spid="4"/>
                                        </p:tgtEl>
                                        <p:attrNameLst>
                                          <p:attrName>ppt_x</p:attrName>
                                        </p:attrNameLst>
                                      </p:cBhvr>
                                      <p:tavLst>
                                        <p:tav tm="0">
                                          <p:val>
                                            <p:strVal val="#ppt_x"/>
                                          </p:val>
                                        </p:tav>
                                        <p:tav tm="100000">
                                          <p:val>
                                            <p:strVal val="#ppt_x"/>
                                          </p:val>
                                        </p:tav>
                                      </p:tavLst>
                                    </p:anim>
                                    <p:anim calcmode="lin" valueType="num">
                                      <p:cBhvr additive="base">
                                        <p:cTn id="17" dur="650" fill="hold"/>
                                        <p:tgtEl>
                                          <p:spTgt spid="4"/>
                                        </p:tgtEl>
                                        <p:attrNameLst>
                                          <p:attrName>ppt_y</p:attrName>
                                        </p:attrNameLst>
                                      </p:cBhvr>
                                      <p:tavLst>
                                        <p:tav tm="0">
                                          <p:val>
                                            <p:strVal val="#ppt_y+.06"/>
                                          </p:val>
                                        </p:tav>
                                        <p:tav tm="100000">
                                          <p:val>
                                            <p:strVal val="#ppt_y"/>
                                          </p:val>
                                        </p:tav>
                                      </p:tavLst>
                                    </p:anim>
                                  </p:childTnLst>
                                </p:cTn>
                              </p:par>
                              <p:par>
                                <p:cTn id="18" presetID="42" presetClass="entr" presetSubtype="0" decel="100000" fill="hold" grpId="0" nodeType="withEffect">
                                  <p:stCondLst>
                                    <p:cond delay="65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650" fill="hold"/>
                                        <p:tgtEl>
                                          <p:spTgt spid="5"/>
                                        </p:tgtEl>
                                      </p:cBhvr>
                                    </p:animEffect>
                                    <p:anim calcmode="lin" valueType="num">
                                      <p:cBhvr additive="base">
                                        <p:cTn id="21" dur="650" fill="hold"/>
                                        <p:tgtEl>
                                          <p:spTgt spid="5"/>
                                        </p:tgtEl>
                                        <p:attrNameLst>
                                          <p:attrName>ppt_x</p:attrName>
                                        </p:attrNameLst>
                                      </p:cBhvr>
                                      <p:tavLst>
                                        <p:tav tm="0">
                                          <p:val>
                                            <p:strVal val="#ppt_x"/>
                                          </p:val>
                                        </p:tav>
                                        <p:tav tm="100000">
                                          <p:val>
                                            <p:strVal val="#ppt_x"/>
                                          </p:val>
                                        </p:tav>
                                      </p:tavLst>
                                    </p:anim>
                                    <p:anim calcmode="lin" valueType="num">
                                      <p:cBhvr additive="base">
                                        <p:cTn id="22" dur="650" fill="hold"/>
                                        <p:tgtEl>
                                          <p:spTgt spid="5"/>
                                        </p:tgtEl>
                                        <p:attrNameLst>
                                          <p:attrName>ppt_y</p:attrName>
                                        </p:attrNameLst>
                                      </p:cBhvr>
                                      <p:tavLst>
                                        <p:tav tm="0">
                                          <p:val>
                                            <p:strVal val="#ppt_y+.06"/>
                                          </p:val>
                                        </p:tav>
                                        <p:tav tm="100000">
                                          <p:val>
                                            <p:strVal val="#ppt_y"/>
                                          </p:val>
                                        </p:tav>
                                      </p:tavLst>
                                    </p:anim>
                                  </p:childTnLst>
                                </p:cTn>
                              </p:par>
                              <p:par>
                                <p:cTn id="23" presetID="42" presetClass="entr" presetSubtype="0" decel="100000" fill="hold" grpId="0" nodeType="withEffect">
                                  <p:stCondLst>
                                    <p:cond delay="95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650" fill="hold"/>
                                        <p:tgtEl>
                                          <p:spTgt spid="6"/>
                                        </p:tgtEl>
                                      </p:cBhvr>
                                    </p:animEffect>
                                    <p:anim calcmode="lin" valueType="num">
                                      <p:cBhvr additive="base">
                                        <p:cTn id="26" dur="650" fill="hold"/>
                                        <p:tgtEl>
                                          <p:spTgt spid="6"/>
                                        </p:tgtEl>
                                        <p:attrNameLst>
                                          <p:attrName>ppt_x</p:attrName>
                                        </p:attrNameLst>
                                      </p:cBhvr>
                                      <p:tavLst>
                                        <p:tav tm="0">
                                          <p:val>
                                            <p:strVal val="#ppt_x"/>
                                          </p:val>
                                        </p:tav>
                                        <p:tav tm="100000">
                                          <p:val>
                                            <p:strVal val="#ppt_x"/>
                                          </p:val>
                                        </p:tav>
                                      </p:tavLst>
                                    </p:anim>
                                    <p:anim calcmode="lin" valueType="num">
                                      <p:cBhvr additive="base">
                                        <p:cTn id="27" dur="650" fill="hold"/>
                                        <p:tgtEl>
                                          <p:spTgt spid="6"/>
                                        </p:tgtEl>
                                        <p:attrNameLst>
                                          <p:attrName>ppt_y</p:attrName>
                                        </p:attrNameLst>
                                      </p:cBhvr>
                                      <p:tavLst>
                                        <p:tav tm="0">
                                          <p:val>
                                            <p:strVal val="#ppt_y+.06"/>
                                          </p:val>
                                        </p:tav>
                                        <p:tav tm="100000">
                                          <p:val>
                                            <p:strVal val="#ppt_y"/>
                                          </p:val>
                                        </p:tav>
                                      </p:tavLst>
                                    </p:anim>
                                  </p:childTnLst>
                                </p:cTn>
                              </p:par>
                              <p:par>
                                <p:cTn id="28" presetID="42" presetClass="entr" presetSubtype="0" decel="100000" fill="hold" grpId="0" nodeType="withEffect">
                                  <p:stCondLst>
                                    <p:cond delay="95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650" fill="hold"/>
                                        <p:tgtEl>
                                          <p:spTgt spid="7"/>
                                        </p:tgtEl>
                                      </p:cBhvr>
                                    </p:animEffect>
                                    <p:anim calcmode="lin" valueType="num">
                                      <p:cBhvr additive="base">
                                        <p:cTn id="31" dur="650" fill="hold"/>
                                        <p:tgtEl>
                                          <p:spTgt spid="7"/>
                                        </p:tgtEl>
                                        <p:attrNameLst>
                                          <p:attrName>ppt_x</p:attrName>
                                        </p:attrNameLst>
                                      </p:cBhvr>
                                      <p:tavLst>
                                        <p:tav tm="0">
                                          <p:val>
                                            <p:strVal val="#ppt_x"/>
                                          </p:val>
                                        </p:tav>
                                        <p:tav tm="100000">
                                          <p:val>
                                            <p:strVal val="#ppt_x"/>
                                          </p:val>
                                        </p:tav>
                                      </p:tavLst>
                                    </p:anim>
                                    <p:anim calcmode="lin" valueType="num">
                                      <p:cBhvr additive="base">
                                        <p:cTn id="32" dur="650" fill="hold"/>
                                        <p:tgtEl>
                                          <p:spTgt spid="7"/>
                                        </p:tgtEl>
                                        <p:attrNameLst>
                                          <p:attrName>ppt_y</p:attrName>
                                        </p:attrNameLst>
                                      </p:cBhvr>
                                      <p:tavLst>
                                        <p:tav tm="0">
                                          <p:val>
                                            <p:strVal val="#ppt_y+.06"/>
                                          </p:val>
                                        </p:tav>
                                        <p:tav tm="100000">
                                          <p:val>
                                            <p:strVal val="#ppt_y"/>
                                          </p:val>
                                        </p:tav>
                                      </p:tavLst>
                                    </p:anim>
                                  </p:childTnLst>
                                </p:cTn>
                              </p:par>
                              <p:par>
                                <p:cTn id="33" presetID="10" presetClass="entr" presetSubtype="0" fill="hold" grpId="0" nodeType="withEffect">
                                  <p:stCondLst>
                                    <p:cond delay="125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500" fill="hold"/>
                                        <p:tgtEl>
                                          <p:spTgt spid="8"/>
                                        </p:tgtEl>
                                      </p:cBhvr>
                                    </p:animEffect>
                                  </p:childTnLst>
                                </p:cTn>
                              </p:par>
                              <p:par>
                                <p:cTn id="36" presetID="22" presetClass="entr" presetSubtype="8" fill="hold" grpId="0" nodeType="withEffect">
                                  <p:stCondLst>
                                    <p:cond delay="1450"/>
                                  </p:stCondLst>
                                  <p:childTnLst>
                                    <p:set>
                                      <p:cBhvr>
                                        <p:cTn id="37" dur="1" fill="hold">
                                          <p:stCondLst>
                                            <p:cond delay="0"/>
                                          </p:stCondLst>
                                        </p:cTn>
                                        <p:tgtEl>
                                          <p:spTgt spid="9"/>
                                        </p:tgtEl>
                                        <p:attrNameLst>
                                          <p:attrName>style.visibility</p:attrName>
                                        </p:attrNameLst>
                                      </p:cBhvr>
                                      <p:to>
                                        <p:strVal val="visible"/>
                                      </p:to>
                                    </p:set>
                                    <p:animEffect transition="in" filter="wipe(left)">
                                      <p:cBhvr>
                                        <p:cTn id="38" dur="600" fill="hold"/>
                                        <p:tgtEl>
                                          <p:spTgt spid="9"/>
                                        </p:tgtEl>
                                      </p:cBhvr>
                                    </p:animEffect>
                                  </p:childTnLst>
                                </p:cTn>
                              </p:par>
                              <p:par>
                                <p:cTn id="39" presetID="22" presetClass="entr" presetSubtype="8" fill="hold" grpId="0" nodeType="withEffect">
                                  <p:stCondLst>
                                    <p:cond delay="145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1" dur="600" fill="hold"/>
                                        <p:tgtEl>
                                          <p:spTgt spid="10"/>
                                        </p:tgtEl>
                                      </p:cBhvr>
                                    </p:animEffect>
                                  </p:childTnLst>
                                </p:cTn>
                              </p:par>
                              <p:par>
                                <p:cTn id="42" presetID="22" presetClass="entr" presetSubtype="8" fill="hold" grpId="0" nodeType="withEffect">
                                  <p:stCondLst>
                                    <p:cond delay="1450"/>
                                  </p:stCondLst>
                                  <p:childTnLst>
                                    <p:set>
                                      <p:cBhvr>
                                        <p:cTn id="43" dur="1" fill="hold">
                                          <p:stCondLst>
                                            <p:cond delay="0"/>
                                          </p:stCondLst>
                                        </p:cTn>
                                        <p:tgtEl>
                                          <p:spTgt spid="11"/>
                                        </p:tgtEl>
                                        <p:attrNameLst>
                                          <p:attrName>style.visibility</p:attrName>
                                        </p:attrNameLst>
                                      </p:cBhvr>
                                      <p:to>
                                        <p:strVal val="visible"/>
                                      </p:to>
                                    </p:set>
                                    <p:animEffect transition="in" filter="wipe(left)">
                                      <p:cBhvr>
                                        <p:cTn id="44" dur="600" fill="hold"/>
                                        <p:tgtEl>
                                          <p:spTgt spid="11"/>
                                        </p:tgtEl>
                                      </p:cBhvr>
                                    </p:animEffect>
                                  </p:childTnLst>
                                </p:cTn>
                              </p:par>
                              <p:par>
                                <p:cTn id="45" presetID="22" presetClass="entr" presetSubtype="8" fill="hold" grpId="0" nodeType="withEffect">
                                  <p:stCondLst>
                                    <p:cond delay="1450"/>
                                  </p:stCondLst>
                                  <p:childTnLst>
                                    <p:set>
                                      <p:cBhvr>
                                        <p:cTn id="46" dur="1" fill="hold">
                                          <p:stCondLst>
                                            <p:cond delay="0"/>
                                          </p:stCondLst>
                                        </p:cTn>
                                        <p:tgtEl>
                                          <p:spTgt spid="12"/>
                                        </p:tgtEl>
                                        <p:attrNameLst>
                                          <p:attrName>style.visibility</p:attrName>
                                        </p:attrNameLst>
                                      </p:cBhvr>
                                      <p:to>
                                        <p:strVal val="visible"/>
                                      </p:to>
                                    </p:set>
                                    <p:animEffect transition="in" filter="wipe(left)">
                                      <p:cBhvr>
                                        <p:cTn id="47" dur="600" fill="hold"/>
                                        <p:tgtEl>
                                          <p:spTgt spid="12"/>
                                        </p:tgtEl>
                                      </p:cBhvr>
                                    </p:animEffect>
                                  </p:childTnLst>
                                </p:cTn>
                              </p:par>
                              <p:par>
                                <p:cTn id="48" presetID="22" presetClass="entr" presetSubtype="8" fill="hold" grpId="0" nodeType="withEffect">
                                  <p:stCondLst>
                                    <p:cond delay="1450"/>
                                  </p:stCondLst>
                                  <p:childTnLst>
                                    <p:set>
                                      <p:cBhvr>
                                        <p:cTn id="49" dur="1" fill="hold">
                                          <p:stCondLst>
                                            <p:cond delay="0"/>
                                          </p:stCondLst>
                                        </p:cTn>
                                        <p:tgtEl>
                                          <p:spTgt spid="13"/>
                                        </p:tgtEl>
                                        <p:attrNameLst>
                                          <p:attrName>style.visibility</p:attrName>
                                        </p:attrNameLst>
                                      </p:cBhvr>
                                      <p:to>
                                        <p:strVal val="visible"/>
                                      </p:to>
                                    </p:set>
                                    <p:animEffect transition="in" filter="wipe(left)">
                                      <p:cBhvr>
                                        <p:cTn id="50" dur="600" fill="hold"/>
                                        <p:tgtEl>
                                          <p:spTgt spid="13"/>
                                        </p:tgtEl>
                                      </p:cBhvr>
                                    </p:animEffect>
                                  </p:childTnLst>
                                </p:cTn>
                              </p:par>
                              <p:par>
                                <p:cTn id="51" presetID="53" presetClass="entr" presetSubtype="16" decel="100000" fill="hold" grpId="0" nodeType="withEffect">
                                  <p:stCondLst>
                                    <p:cond delay="1700"/>
                                  </p:stCondLst>
                                  <p:childTnLst>
                                    <p:set>
                                      <p:cBhvr>
                                        <p:cTn id="52" dur="1" fill="hold">
                                          <p:stCondLst>
                                            <p:cond delay="0"/>
                                          </p:stCondLst>
                                        </p:cTn>
                                        <p:tgtEl>
                                          <p:spTgt spid="14"/>
                                        </p:tgtEl>
                                        <p:attrNameLst>
                                          <p:attrName>style.visibility</p:attrName>
                                        </p:attrNameLst>
                                      </p:cBhvr>
                                      <p:to>
                                        <p:strVal val="visible"/>
                                      </p:to>
                                    </p:set>
                                    <p:anim calcmode="lin" valueType="num">
                                      <p:cBhvr additive="base">
                                        <p:cTn id="53" dur="450" fill="hold"/>
                                        <p:tgtEl>
                                          <p:spTgt spid="14"/>
                                        </p:tgtEl>
                                        <p:attrNameLst>
                                          <p:attrName>ppt_w</p:attrName>
                                        </p:attrNameLst>
                                      </p:cBhvr>
                                      <p:tavLst>
                                        <p:tav tm="0">
                                          <p:val>
                                            <p:strVal val="0"/>
                                          </p:val>
                                        </p:tav>
                                        <p:tav tm="70000">
                                          <p:val>
                                            <p:strVal val="#ppt_w*1.08"/>
                                          </p:val>
                                        </p:tav>
                                        <p:tav tm="100000">
                                          <p:val>
                                            <p:strVal val="#ppt_w"/>
                                          </p:val>
                                        </p:tav>
                                      </p:tavLst>
                                    </p:anim>
                                    <p:anim calcmode="lin" valueType="num">
                                      <p:cBhvr additive="base">
                                        <p:cTn id="54" dur="450" fill="hold"/>
                                        <p:tgtEl>
                                          <p:spTgt spid="14"/>
                                        </p:tgtEl>
                                        <p:attrNameLst>
                                          <p:attrName>ppt_h</p:attrName>
                                        </p:attrNameLst>
                                      </p:cBhvr>
                                      <p:tavLst>
                                        <p:tav tm="0">
                                          <p:val>
                                            <p:strVal val="0"/>
                                          </p:val>
                                        </p:tav>
                                        <p:tav tm="70000">
                                          <p:val>
                                            <p:strVal val="#ppt_h*1.08"/>
                                          </p:val>
                                        </p:tav>
                                        <p:tav tm="100000">
                                          <p:val>
                                            <p:strVal val="#ppt_h"/>
                                          </p:val>
                                        </p:tav>
                                      </p:tavLst>
                                    </p:anim>
                                    <p:animEffect transition="in" filter="fade">
                                      <p:cBhvr>
                                        <p:cTn id="55" dur="270" fill="hold"/>
                                        <p:tgtEl>
                                          <p:spTgt spid="14"/>
                                        </p:tgtEl>
                                      </p:cBhvr>
                                    </p:animEffect>
                                  </p:childTnLst>
                                </p:cTn>
                              </p:par>
                              <p:par>
                                <p:cTn id="56" presetID="22" presetClass="entr" presetSubtype="8" fill="hold" nodeType="withEffect">
                                  <p:stCondLst>
                                    <p:cond delay="1850"/>
                                  </p:stCondLst>
                                  <p:childTnLst>
                                    <p:set>
                                      <p:cBhvr>
                                        <p:cTn id="57" dur="1" fill="hold">
                                          <p:stCondLst>
                                            <p:cond delay="0"/>
                                          </p:stCondLst>
                                        </p:cTn>
                                        <p:tgtEl>
                                          <p:spTgt spid="15"/>
                                        </p:tgtEl>
                                        <p:attrNameLst>
                                          <p:attrName>style.visibility</p:attrName>
                                        </p:attrNameLst>
                                      </p:cBhvr>
                                      <p:to>
                                        <p:strVal val="visible"/>
                                      </p:to>
                                    </p:set>
                                    <p:animEffect transition="in" filter="wipe(left)">
                                      <p:cBhvr>
                                        <p:cTn id="58" dur="900" fill="hold"/>
                                        <p:tgtEl>
                                          <p:spTgt spid="15"/>
                                        </p:tgtEl>
                                      </p:cBhvr>
                                    </p:animEffect>
                                  </p:childTnLst>
                                </p:cTn>
                              </p:par>
                              <p:par>
                                <p:cTn id="59" presetID="22" presetClass="entr" presetSubtype="8" fill="hold" nodeType="withEffect">
                                  <p:stCondLst>
                                    <p:cond delay="1850"/>
                                  </p:stCondLst>
                                  <p:childTnLst>
                                    <p:set>
                                      <p:cBhvr>
                                        <p:cTn id="60" dur="1" fill="hold">
                                          <p:stCondLst>
                                            <p:cond delay="0"/>
                                          </p:stCondLst>
                                        </p:cTn>
                                        <p:tgtEl>
                                          <p:spTgt spid="16"/>
                                        </p:tgtEl>
                                        <p:attrNameLst>
                                          <p:attrName>style.visibility</p:attrName>
                                        </p:attrNameLst>
                                      </p:cBhvr>
                                      <p:to>
                                        <p:strVal val="visible"/>
                                      </p:to>
                                    </p:set>
                                    <p:animEffect transition="in" filter="wipe(left)">
                                      <p:cBhvr>
                                        <p:cTn id="61" dur="900" fill="hold"/>
                                        <p:tgtEl>
                                          <p:spTgt spid="16"/>
                                        </p:tgtEl>
                                      </p:cBhvr>
                                    </p:animEffect>
                                  </p:childTnLst>
                                </p:cTn>
                              </p:par>
                              <p:par>
                                <p:cTn id="62" presetID="22" presetClass="entr" presetSubtype="8" fill="hold" nodeType="withEffect">
                                  <p:stCondLst>
                                    <p:cond delay="1850"/>
                                  </p:stCondLst>
                                  <p:childTnLst>
                                    <p:set>
                                      <p:cBhvr>
                                        <p:cTn id="63" dur="1" fill="hold">
                                          <p:stCondLst>
                                            <p:cond delay="0"/>
                                          </p:stCondLst>
                                        </p:cTn>
                                        <p:tgtEl>
                                          <p:spTgt spid="17"/>
                                        </p:tgtEl>
                                        <p:attrNameLst>
                                          <p:attrName>style.visibility</p:attrName>
                                        </p:attrNameLst>
                                      </p:cBhvr>
                                      <p:to>
                                        <p:strVal val="visible"/>
                                      </p:to>
                                    </p:set>
                                    <p:animEffect transition="in" filter="wipe(left)">
                                      <p:cBhvr>
                                        <p:cTn id="64" dur="900" fill="hold"/>
                                        <p:tgtEl>
                                          <p:spTgt spid="17"/>
                                        </p:tgtEl>
                                      </p:cBhvr>
                                    </p:animEffect>
                                  </p:childTnLst>
                                </p:cTn>
                              </p:par>
                              <p:par>
                                <p:cTn id="65" presetID="22" presetClass="entr" presetSubtype="8" fill="hold" nodeType="withEffect">
                                  <p:stCondLst>
                                    <p:cond delay="1850"/>
                                  </p:stCondLst>
                                  <p:childTnLst>
                                    <p:set>
                                      <p:cBhvr>
                                        <p:cTn id="66" dur="1" fill="hold">
                                          <p:stCondLst>
                                            <p:cond delay="0"/>
                                          </p:stCondLst>
                                        </p:cTn>
                                        <p:tgtEl>
                                          <p:spTgt spid="18"/>
                                        </p:tgtEl>
                                        <p:attrNameLst>
                                          <p:attrName>style.visibility</p:attrName>
                                        </p:attrNameLst>
                                      </p:cBhvr>
                                      <p:to>
                                        <p:strVal val="visible"/>
                                      </p:to>
                                    </p:set>
                                    <p:animEffect transition="in" filter="wipe(left)">
                                      <p:cBhvr>
                                        <p:cTn id="67" dur="900" fill="hold"/>
                                        <p:tgtEl>
                                          <p:spTgt spid="18"/>
                                        </p:tgtEl>
                                      </p:cBhvr>
                                    </p:animEffect>
                                  </p:childTnLst>
                                </p:cTn>
                              </p:par>
                              <p:par>
                                <p:cTn id="68" presetID="22" presetClass="entr" presetSubtype="8" fill="hold" nodeType="withEffect">
                                  <p:stCondLst>
                                    <p:cond delay="1850"/>
                                  </p:stCondLst>
                                  <p:childTnLst>
                                    <p:set>
                                      <p:cBhvr>
                                        <p:cTn id="69" dur="1" fill="hold">
                                          <p:stCondLst>
                                            <p:cond delay="0"/>
                                          </p:stCondLst>
                                        </p:cTn>
                                        <p:tgtEl>
                                          <p:spTgt spid="19"/>
                                        </p:tgtEl>
                                        <p:attrNameLst>
                                          <p:attrName>style.visibility</p:attrName>
                                        </p:attrNameLst>
                                      </p:cBhvr>
                                      <p:to>
                                        <p:strVal val="visible"/>
                                      </p:to>
                                    </p:set>
                                    <p:animEffect transition="in" filter="wipe(left)">
                                      <p:cBhvr>
                                        <p:cTn id="70" dur="900" fill="hold"/>
                                        <p:tgtEl>
                                          <p:spTgt spid="19"/>
                                        </p:tgtEl>
                                      </p:cBhvr>
                                    </p:animEffect>
                                  </p:childTnLst>
                                </p:cTn>
                              </p:par>
                              <p:par>
                                <p:cTn id="71" presetID="22" presetClass="entr" presetSubtype="8" fill="hold" nodeType="withEffect">
                                  <p:stCondLst>
                                    <p:cond delay="1850"/>
                                  </p:stCondLst>
                                  <p:childTnLst>
                                    <p:set>
                                      <p:cBhvr>
                                        <p:cTn id="72" dur="1" fill="hold">
                                          <p:stCondLst>
                                            <p:cond delay="0"/>
                                          </p:stCondLst>
                                        </p:cTn>
                                        <p:tgtEl>
                                          <p:spTgt spid="20"/>
                                        </p:tgtEl>
                                        <p:attrNameLst>
                                          <p:attrName>style.visibility</p:attrName>
                                        </p:attrNameLst>
                                      </p:cBhvr>
                                      <p:to>
                                        <p:strVal val="visible"/>
                                      </p:to>
                                    </p:set>
                                    <p:animEffect transition="in" filter="wipe(left)">
                                      <p:cBhvr>
                                        <p:cTn id="73" dur="900" fill="hold"/>
                                        <p:tgtEl>
                                          <p:spTgt spid="20"/>
                                        </p:tgtEl>
                                      </p:cBhvr>
                                    </p:animEffect>
                                  </p:childTnLst>
                                </p:cTn>
                              </p:par>
                              <p:par>
                                <p:cTn id="74" presetID="22" presetClass="entr" presetSubtype="8" fill="hold" nodeType="withEffect">
                                  <p:stCondLst>
                                    <p:cond delay="1850"/>
                                  </p:stCondLst>
                                  <p:childTnLst>
                                    <p:set>
                                      <p:cBhvr>
                                        <p:cTn id="75" dur="1" fill="hold">
                                          <p:stCondLst>
                                            <p:cond delay="0"/>
                                          </p:stCondLst>
                                        </p:cTn>
                                        <p:tgtEl>
                                          <p:spTgt spid="21"/>
                                        </p:tgtEl>
                                        <p:attrNameLst>
                                          <p:attrName>style.visibility</p:attrName>
                                        </p:attrNameLst>
                                      </p:cBhvr>
                                      <p:to>
                                        <p:strVal val="visible"/>
                                      </p:to>
                                    </p:set>
                                    <p:animEffect transition="in" filter="wipe(left)">
                                      <p:cBhvr>
                                        <p:cTn id="76" dur="900" fill="hold"/>
                                        <p:tgtEl>
                                          <p:spTgt spid="21"/>
                                        </p:tgtEl>
                                      </p:cBhvr>
                                    </p:animEffect>
                                  </p:childTnLst>
                                </p:cTn>
                              </p:par>
                              <p:par>
                                <p:cTn id="77" presetID="53" presetClass="entr" presetSubtype="16" decel="100000" fill="hold" grpId="0" nodeType="withEffect">
                                  <p:stCondLst>
                                    <p:cond delay="2600"/>
                                  </p:stCondLst>
                                  <p:childTnLst>
                                    <p:set>
                                      <p:cBhvr>
                                        <p:cTn id="78" dur="1" fill="hold">
                                          <p:stCondLst>
                                            <p:cond delay="0"/>
                                          </p:stCondLst>
                                        </p:cTn>
                                        <p:tgtEl>
                                          <p:spTgt spid="22"/>
                                        </p:tgtEl>
                                        <p:attrNameLst>
                                          <p:attrName>style.visibility</p:attrName>
                                        </p:attrNameLst>
                                      </p:cBhvr>
                                      <p:to>
                                        <p:strVal val="visible"/>
                                      </p:to>
                                    </p:set>
                                    <p:anim calcmode="lin" valueType="num">
                                      <p:cBhvr additive="base">
                                        <p:cTn id="79" dur="450" fill="hold"/>
                                        <p:tgtEl>
                                          <p:spTgt spid="22"/>
                                        </p:tgtEl>
                                        <p:attrNameLst>
                                          <p:attrName>ppt_w</p:attrName>
                                        </p:attrNameLst>
                                      </p:cBhvr>
                                      <p:tavLst>
                                        <p:tav tm="0">
                                          <p:val>
                                            <p:strVal val="0"/>
                                          </p:val>
                                        </p:tav>
                                        <p:tav tm="70000">
                                          <p:val>
                                            <p:strVal val="#ppt_w*1.08"/>
                                          </p:val>
                                        </p:tav>
                                        <p:tav tm="100000">
                                          <p:val>
                                            <p:strVal val="#ppt_w"/>
                                          </p:val>
                                        </p:tav>
                                      </p:tavLst>
                                    </p:anim>
                                    <p:anim calcmode="lin" valueType="num">
                                      <p:cBhvr additive="base">
                                        <p:cTn id="80" dur="450" fill="hold"/>
                                        <p:tgtEl>
                                          <p:spTgt spid="22"/>
                                        </p:tgtEl>
                                        <p:attrNameLst>
                                          <p:attrName>ppt_h</p:attrName>
                                        </p:attrNameLst>
                                      </p:cBhvr>
                                      <p:tavLst>
                                        <p:tav tm="0">
                                          <p:val>
                                            <p:strVal val="0"/>
                                          </p:val>
                                        </p:tav>
                                        <p:tav tm="70000">
                                          <p:val>
                                            <p:strVal val="#ppt_h*1.08"/>
                                          </p:val>
                                        </p:tav>
                                        <p:tav tm="100000">
                                          <p:val>
                                            <p:strVal val="#ppt_h"/>
                                          </p:val>
                                        </p:tav>
                                      </p:tavLst>
                                    </p:anim>
                                    <p:animEffect transition="in" filter="fade">
                                      <p:cBhvr>
                                        <p:cTn id="81" dur="270" fill="hold"/>
                                        <p:tgtEl>
                                          <p:spTgt spid="22"/>
                                        </p:tgtEl>
                                      </p:cBhvr>
                                    </p:animEffect>
                                  </p:childTnLst>
                                </p:cTn>
                              </p:par>
                              <p:par>
                                <p:cTn id="82" presetID="53" presetClass="entr" presetSubtype="16" decel="100000" fill="hold" grpId="0" nodeType="withEffect">
                                  <p:stCondLst>
                                    <p:cond delay="2720"/>
                                  </p:stCondLst>
                                  <p:childTnLst>
                                    <p:set>
                                      <p:cBhvr>
                                        <p:cTn id="83" dur="1" fill="hold">
                                          <p:stCondLst>
                                            <p:cond delay="0"/>
                                          </p:stCondLst>
                                        </p:cTn>
                                        <p:tgtEl>
                                          <p:spTgt spid="23"/>
                                        </p:tgtEl>
                                        <p:attrNameLst>
                                          <p:attrName>style.visibility</p:attrName>
                                        </p:attrNameLst>
                                      </p:cBhvr>
                                      <p:to>
                                        <p:strVal val="visible"/>
                                      </p:to>
                                    </p:set>
                                    <p:anim calcmode="lin" valueType="num">
                                      <p:cBhvr additive="base">
                                        <p:cTn id="84" dur="450" fill="hold"/>
                                        <p:tgtEl>
                                          <p:spTgt spid="23"/>
                                        </p:tgtEl>
                                        <p:attrNameLst>
                                          <p:attrName>ppt_w</p:attrName>
                                        </p:attrNameLst>
                                      </p:cBhvr>
                                      <p:tavLst>
                                        <p:tav tm="0">
                                          <p:val>
                                            <p:strVal val="0"/>
                                          </p:val>
                                        </p:tav>
                                        <p:tav tm="70000">
                                          <p:val>
                                            <p:strVal val="#ppt_w*1.08"/>
                                          </p:val>
                                        </p:tav>
                                        <p:tav tm="100000">
                                          <p:val>
                                            <p:strVal val="#ppt_w"/>
                                          </p:val>
                                        </p:tav>
                                      </p:tavLst>
                                    </p:anim>
                                    <p:anim calcmode="lin" valueType="num">
                                      <p:cBhvr additive="base">
                                        <p:cTn id="85" dur="450" fill="hold"/>
                                        <p:tgtEl>
                                          <p:spTgt spid="23"/>
                                        </p:tgtEl>
                                        <p:attrNameLst>
                                          <p:attrName>ppt_h</p:attrName>
                                        </p:attrNameLst>
                                      </p:cBhvr>
                                      <p:tavLst>
                                        <p:tav tm="0">
                                          <p:val>
                                            <p:strVal val="0"/>
                                          </p:val>
                                        </p:tav>
                                        <p:tav tm="70000">
                                          <p:val>
                                            <p:strVal val="#ppt_h*1.08"/>
                                          </p:val>
                                        </p:tav>
                                        <p:tav tm="100000">
                                          <p:val>
                                            <p:strVal val="#ppt_h"/>
                                          </p:val>
                                        </p:tav>
                                      </p:tavLst>
                                    </p:anim>
                                    <p:animEffect transition="in" filter="fade">
                                      <p:cBhvr>
                                        <p:cTn id="86" dur="270" fill="hold"/>
                                        <p:tgtEl>
                                          <p:spTgt spid="23"/>
                                        </p:tgtEl>
                                      </p:cBhvr>
                                    </p:animEffect>
                                  </p:childTnLst>
                                </p:cTn>
                              </p:par>
                              <p:par>
                                <p:cTn id="87" presetID="53" presetClass="entr" presetSubtype="16" decel="100000" fill="hold" grpId="0" nodeType="withEffect">
                                  <p:stCondLst>
                                    <p:cond delay="2840"/>
                                  </p:stCondLst>
                                  <p:childTnLst>
                                    <p:set>
                                      <p:cBhvr>
                                        <p:cTn id="88" dur="1" fill="hold">
                                          <p:stCondLst>
                                            <p:cond delay="0"/>
                                          </p:stCondLst>
                                        </p:cTn>
                                        <p:tgtEl>
                                          <p:spTgt spid="24"/>
                                        </p:tgtEl>
                                        <p:attrNameLst>
                                          <p:attrName>style.visibility</p:attrName>
                                        </p:attrNameLst>
                                      </p:cBhvr>
                                      <p:to>
                                        <p:strVal val="visible"/>
                                      </p:to>
                                    </p:set>
                                    <p:anim calcmode="lin" valueType="num">
                                      <p:cBhvr additive="base">
                                        <p:cTn id="89" dur="450" fill="hold"/>
                                        <p:tgtEl>
                                          <p:spTgt spid="24"/>
                                        </p:tgtEl>
                                        <p:attrNameLst>
                                          <p:attrName>ppt_w</p:attrName>
                                        </p:attrNameLst>
                                      </p:cBhvr>
                                      <p:tavLst>
                                        <p:tav tm="0">
                                          <p:val>
                                            <p:strVal val="0"/>
                                          </p:val>
                                        </p:tav>
                                        <p:tav tm="70000">
                                          <p:val>
                                            <p:strVal val="#ppt_w*1.08"/>
                                          </p:val>
                                        </p:tav>
                                        <p:tav tm="100000">
                                          <p:val>
                                            <p:strVal val="#ppt_w"/>
                                          </p:val>
                                        </p:tav>
                                      </p:tavLst>
                                    </p:anim>
                                    <p:anim calcmode="lin" valueType="num">
                                      <p:cBhvr additive="base">
                                        <p:cTn id="90" dur="450" fill="hold"/>
                                        <p:tgtEl>
                                          <p:spTgt spid="24"/>
                                        </p:tgtEl>
                                        <p:attrNameLst>
                                          <p:attrName>ppt_h</p:attrName>
                                        </p:attrNameLst>
                                      </p:cBhvr>
                                      <p:tavLst>
                                        <p:tav tm="0">
                                          <p:val>
                                            <p:strVal val="0"/>
                                          </p:val>
                                        </p:tav>
                                        <p:tav tm="70000">
                                          <p:val>
                                            <p:strVal val="#ppt_h*1.08"/>
                                          </p:val>
                                        </p:tav>
                                        <p:tav tm="100000">
                                          <p:val>
                                            <p:strVal val="#ppt_h"/>
                                          </p:val>
                                        </p:tav>
                                      </p:tavLst>
                                    </p:anim>
                                    <p:animEffect transition="in" filter="fade">
                                      <p:cBhvr>
                                        <p:cTn id="91" dur="270" fill="hold"/>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22" grpId="0" animBg="1"/>
      <p:bldP spid="23" grpId="0" animBg="1"/>
      <p:bldP spid="24" grpId="0" animBg="1"/>
    </p:bldLst>
  </p:timing>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4DB35A"/>
                </a:solidFill>
                <a:latin typeface="Segoe UI Semibold"/>
              </a:rPr>
              <a:t>VÍDEO  ·  MÓDULO 3</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5"/>
          <a:stretch>
            <a:fillRect/>
          </a:stretch>
        </p:blipFill>
        <p:spPr>
          <a:xfrm>
            <a:off x="11167567" y="6291072"/>
            <a:ext cx="585673" cy="384048"/>
          </a:xfrm>
          <a:prstGeom prst="rect">
            <a:avLst/>
          </a:prstGeom>
        </p:spPr>
      </p:pic>
      <p:sp>
        <p:nvSpPr>
          <p:cNvPr id="5" name="TextBox 4"/>
          <p:cNvSpPr txBox="1"/>
          <p:nvPr/>
        </p:nvSpPr>
        <p:spPr>
          <a:xfrm>
            <a:off x="548640" y="603504"/>
            <a:ext cx="8778240" cy="548640"/>
          </a:xfrm>
          <a:prstGeom prst="rect">
            <a:avLst/>
          </a:prstGeom>
          <a:noFill/>
        </p:spPr>
        <p:txBody>
          <a:bodyPr wrap="square" lIns="36576" tIns="18288" rIns="36576" bIns="18288" anchor="t">
            <a:spAutoFit/>
          </a:bodyPr>
          <a:lstStyle/>
          <a:p>
            <a:pPr algn="l"/>
            <a:r>
              <a:rPr sz="2100" b="1" i="0">
                <a:solidFill>
                  <a:srgbClr val="F2F2EC"/>
                </a:solidFill>
                <a:latin typeface="Segoe UI Semibold"/>
              </a:rPr>
              <a:t>Casos e Inovações: debate com Design Thinking</a:t>
            </a:r>
          </a:p>
        </p:txBody>
      </p:sp>
      <p:sp>
        <p:nvSpPr>
          <p:cNvPr id="10" name="Rounded Rectangle 9">
            <a:hlinkClick r:id="rId6" action="ppaction://hlinksldjump"/>
          </p:cNvPr>
          <p:cNvSpPr/>
          <p:nvPr/>
        </p:nvSpPr>
        <p:spPr>
          <a:xfrm>
            <a:off x="9448495" y="566928"/>
            <a:ext cx="2194560" cy="502920"/>
          </a:xfrm>
          <a:prstGeom prst="roundRect">
            <a:avLst>
              <a:gd name="adj" fmla="val 50000"/>
            </a:avLst>
          </a:prstGeom>
          <a:solidFill>
            <a:srgbClr val="2E343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400" b="1" i="0">
                <a:solidFill>
                  <a:srgbClr val="F2F2EC"/>
                </a:solidFill>
                <a:latin typeface="Segoe UI Semibold"/>
              </a:rPr>
              <a:t>↩  Voltar</a:t>
            </a:r>
          </a:p>
        </p:txBody>
      </p:sp>
      <p:pic>
        <p:nvPicPr>
          <p:cNvPr id="11" name="Vídeo M3">
            <a:hlinkClick r:id="" action="ppaction://media"/>
          </p:cNvPr>
          <p:cNvPicPr>
            <a:picLocks noChangeAspect="1"/>
          </p:cNvPicPr>
          <p:nvPr>
            <a:videoFile r:link="rId2"/>
            <p:extLst>
              <p:ext uri="{DAA4B4D4-6D71-4841-9C94-3DE7FCFB9230}">
                <p14:media xmlns:p14="http://schemas.microsoft.com/office/powerpoint/2010/main" r:link="rId1"/>
              </p:ext>
            </p:extLst>
          </p:nvPr>
        </p:nvPicPr>
        <p:blipFill>
          <a:blip r:embed="rId7"/>
          <a:stretch>
            <a:fillRect/>
          </a:stretch>
        </p:blipFill>
        <p:spPr>
          <a:xfrm>
            <a:off x="1706727" y="1325880"/>
            <a:ext cx="8778240" cy="4937760"/>
          </a:xfrm>
          <a:prstGeom prst="rect">
            <a:avLst/>
          </a:prstGeom>
        </p:spPr>
      </p:pic>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9122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11"/>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11"/>
                                        </p:tgtEl>
                                      </p:cBhvr>
                                    </p:cmd>
                                  </p:childTnLst>
                                </p:cTn>
                              </p:par>
                            </p:childTnLst>
                          </p:cTn>
                        </p:par>
                      </p:childTnLst>
                    </p:cTn>
                  </p:par>
                </p:childTnLst>
              </p:cTn>
              <p:nextCondLst>
                <p:cond evt="onClick" delay="0">
                  <p:tgtEl>
                    <p:spTgt spid="11"/>
                  </p:tgtEl>
                </p:cond>
              </p:nextCondLst>
            </p:seq>
            <p:video>
              <p:cMediaNode vol="80000">
                <p:cTn id="12" fill="hold" display="0">
                  <p:stCondLst>
                    <p:cond delay="indefinite"/>
                  </p:stCondLst>
                </p:cTn>
                <p:tgtEl>
                  <p:spTgt spid="11"/>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4DB35A"/>
                </a:solidFill>
                <a:latin typeface="Segoe UI Semibold"/>
              </a:rPr>
              <a:t>MÓDULO 3  ·  DEFINIR</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914400" y="1188720"/>
            <a:ext cx="1828800" cy="1828800"/>
          </a:xfrm>
          <a:prstGeom prst="rect">
            <a:avLst/>
          </a:prstGeom>
          <a:noFill/>
        </p:spPr>
        <p:txBody>
          <a:bodyPr wrap="square" lIns="36576" tIns="18288" rIns="36576" bIns="18288" anchor="t">
            <a:spAutoFit/>
          </a:bodyPr>
          <a:lstStyle/>
          <a:p>
            <a:pPr algn="l"/>
            <a:r>
              <a:rPr sz="16000" b="1" i="0">
                <a:solidFill>
                  <a:srgbClr val="4DB35A"/>
                </a:solidFill>
                <a:latin typeface="Georgia"/>
              </a:rPr>
              <a:t>“</a:t>
            </a:r>
          </a:p>
        </p:txBody>
      </p:sp>
      <p:sp>
        <p:nvSpPr>
          <p:cNvPr id="6" name="TextBox 5"/>
          <p:cNvSpPr txBox="1"/>
          <p:nvPr/>
        </p:nvSpPr>
        <p:spPr>
          <a:xfrm>
            <a:off x="1463040" y="2377440"/>
            <a:ext cx="9326880" cy="2194560"/>
          </a:xfrm>
          <a:prstGeom prst="rect">
            <a:avLst/>
          </a:prstGeom>
          <a:noFill/>
        </p:spPr>
        <p:txBody>
          <a:bodyPr wrap="square" lIns="36576" tIns="18288" rIns="36576" bIns="18288" anchor="t">
            <a:spAutoFit/>
          </a:bodyPr>
          <a:lstStyle/>
          <a:p>
            <a:pPr algn="l">
              <a:lnSpc>
                <a:spcPct val="105000"/>
              </a:lnSpc>
            </a:pPr>
            <a:r>
              <a:rPr sz="4000" b="1" i="0">
                <a:solidFill>
                  <a:srgbClr val="F2F2EC"/>
                </a:solidFill>
                <a:latin typeface="Segoe UI Semibold"/>
              </a:rPr>
              <a:t>Um problema bem definido já está meio resolvido.</a:t>
            </a:r>
          </a:p>
        </p:txBody>
      </p:sp>
      <p:sp>
        <p:nvSpPr>
          <p:cNvPr id="7" name="TextBox 6"/>
          <p:cNvSpPr txBox="1"/>
          <p:nvPr/>
        </p:nvSpPr>
        <p:spPr>
          <a:xfrm>
            <a:off x="1463040" y="4663440"/>
            <a:ext cx="9144000" cy="457200"/>
          </a:xfrm>
          <a:prstGeom prst="rect">
            <a:avLst/>
          </a:prstGeom>
          <a:noFill/>
        </p:spPr>
        <p:txBody>
          <a:bodyPr wrap="square" lIns="36576" tIns="18288" rIns="36576" bIns="18288" anchor="t">
            <a:spAutoFit/>
          </a:bodyPr>
          <a:lstStyle/>
          <a:p>
            <a:pPr algn="l"/>
            <a:r>
              <a:rPr sz="1600" b="0" i="0">
                <a:solidFill>
                  <a:srgbClr val="B4B8B0"/>
                </a:solidFill>
                <a:latin typeface="Segoe UI"/>
              </a:rPr>
              <a:t>— Máxima atribuída a Charles Kettering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decel="10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600" fill="hold"/>
                                        <p:tgtEl>
                                          <p:spTgt spid="5"/>
                                        </p:tgtEl>
                                        <p:attrNameLst>
                                          <p:attrName>ppt_w</p:attrName>
                                        </p:attrNameLst>
                                      </p:cBhvr>
                                      <p:tavLst>
                                        <p:tav tm="0">
                                          <p:val>
                                            <p:strVal val="0"/>
                                          </p:val>
                                        </p:tav>
                                        <p:tav tm="70000">
                                          <p:val>
                                            <p:strVal val="#ppt_w*1.08"/>
                                          </p:val>
                                        </p:tav>
                                        <p:tav tm="100000">
                                          <p:val>
                                            <p:strVal val="#ppt_w"/>
                                          </p:val>
                                        </p:tav>
                                      </p:tavLst>
                                    </p:anim>
                                    <p:anim calcmode="lin" valueType="num">
                                      <p:cBhvr additive="base">
                                        <p:cTn id="8" dur="600" fill="hold"/>
                                        <p:tgtEl>
                                          <p:spTgt spid="5"/>
                                        </p:tgtEl>
                                        <p:attrNameLst>
                                          <p:attrName>ppt_h</p:attrName>
                                        </p:attrNameLst>
                                      </p:cBhvr>
                                      <p:tavLst>
                                        <p:tav tm="0">
                                          <p:val>
                                            <p:strVal val="0"/>
                                          </p:val>
                                        </p:tav>
                                        <p:tav tm="70000">
                                          <p:val>
                                            <p:strVal val="#ppt_h*1.08"/>
                                          </p:val>
                                        </p:tav>
                                        <p:tav tm="100000">
                                          <p:val>
                                            <p:strVal val="#ppt_h"/>
                                          </p:val>
                                        </p:tav>
                                      </p:tavLst>
                                    </p:anim>
                                    <p:animEffect transition="in" filter="fade">
                                      <p:cBhvr>
                                        <p:cTn id="9" dur="360" fill="hold"/>
                                        <p:tgtEl>
                                          <p:spTgt spid="5"/>
                                        </p:tgtEl>
                                      </p:cBhvr>
                                    </p:animEffect>
                                  </p:childTnLst>
                                </p:cTn>
                              </p:par>
                              <p:par>
                                <p:cTn id="10" presetID="10" presetClass="entr" presetSubtype="0" fill="hold" grpId="0" nodeType="withEffect">
                                  <p:stCondLst>
                                    <p:cond delay="350"/>
                                  </p:stCondLst>
                                  <p:iterate type="wd">
                                    <p:tmPct val="35000"/>
                                  </p:iterate>
                                  <p:childTnLst>
                                    <p:set>
                                      <p:cBhvr>
                                        <p:cTn id="11" dur="1" fill="hold">
                                          <p:stCondLst>
                                            <p:cond delay="0"/>
                                          </p:stCondLst>
                                        </p:cTn>
                                        <p:tgtEl>
                                          <p:spTgt spid="6"/>
                                        </p:tgtEl>
                                        <p:attrNameLst>
                                          <p:attrName>style.visibility</p:attrName>
                                        </p:attrNameLst>
                                      </p:cBhvr>
                                      <p:to>
                                        <p:strVal val="visible"/>
                                      </p:to>
                                    </p:set>
                                    <p:animEffect transition="in" filter="fade">
                                      <p:cBhvr>
                                        <p:cTn id="12" dur="420" fill="hold"/>
                                        <p:tgtEl>
                                          <p:spTgt spid="6"/>
                                        </p:tgtEl>
                                      </p:cBhvr>
                                    </p:animEffect>
                                  </p:childTnLst>
                                </p:cTn>
                              </p:par>
                              <p:par>
                                <p:cTn id="13" presetID="42" presetClass="entr" presetSubtype="0" decel="100000" fill="hold" grpId="0" nodeType="withEffect">
                                  <p:stCondLst>
                                    <p:cond delay="2099"/>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fill="hold"/>
                                        <p:tgtEl>
                                          <p:spTgt spid="7"/>
                                        </p:tgtEl>
                                      </p:cBhvr>
                                    </p:animEffect>
                                    <p:anim calcmode="lin" valueType="num">
                                      <p:cBhvr additive="base">
                                        <p:cTn id="16" dur="650" fill="hold"/>
                                        <p:tgtEl>
                                          <p:spTgt spid="7"/>
                                        </p:tgtEl>
                                        <p:attrNameLst>
                                          <p:attrName>ppt_x</p:attrName>
                                        </p:attrNameLst>
                                      </p:cBhvr>
                                      <p:tavLst>
                                        <p:tav tm="0">
                                          <p:val>
                                            <p:strVal val="#ppt_x"/>
                                          </p:val>
                                        </p:tav>
                                        <p:tav tm="100000">
                                          <p:val>
                                            <p:strVal val="#ppt_x"/>
                                          </p:val>
                                        </p:tav>
                                      </p:tavLst>
                                    </p:anim>
                                    <p:anim calcmode="lin" valueType="num">
                                      <p:cBhvr additive="base">
                                        <p:cTn id="17" dur="650" fill="hold"/>
                                        <p:tgtEl>
                                          <p:spTgt spid="7"/>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4DB35A"/>
                </a:solidFill>
                <a:latin typeface="Segoe UI Semibold"/>
              </a:rPr>
              <a:t>MÓDULO 3  ·  DEFINIR</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Por que definir o problema</a:t>
            </a:r>
          </a:p>
        </p:txBody>
      </p:sp>
      <p:sp>
        <p:nvSpPr>
          <p:cNvPr id="6" name="TextBox 5"/>
          <p:cNvSpPr txBox="1"/>
          <p:nvPr/>
        </p:nvSpPr>
        <p:spPr>
          <a:xfrm>
            <a:off x="548640" y="1645920"/>
            <a:ext cx="6675120" cy="4206240"/>
          </a:xfrm>
          <a:prstGeom prst="rect">
            <a:avLst/>
          </a:prstGeom>
          <a:noFill/>
        </p:spPr>
        <p:txBody>
          <a:bodyPr wrap="square">
            <a:spAutoFit/>
          </a:bodyPr>
          <a:lstStyle/>
          <a:p>
            <a:pPr marL="292608" indent="-292608">
              <a:spcAft>
                <a:spcPts val="1600"/>
              </a:spcAft>
              <a:buClr>
                <a:srgbClr val="4DB35A"/>
              </a:buClr>
              <a:buFont typeface="Arial"/>
              <a:buChar char="●"/>
            </a:pPr>
            <a:r>
              <a:rPr sz="1800">
                <a:solidFill>
                  <a:srgbClr val="F2F2EC"/>
                </a:solidFill>
                <a:latin typeface="Segoe UI"/>
              </a:rPr>
              <a:t>Evita gastar tempo e dinheiro na solução errada</a:t>
            </a:r>
          </a:p>
          <a:p>
            <a:pPr marL="292608" indent="-292608">
              <a:spcAft>
                <a:spcPts val="1600"/>
              </a:spcAft>
              <a:buClr>
                <a:srgbClr val="4DB35A"/>
              </a:buClr>
              <a:buFont typeface="Arial"/>
              <a:buChar char="●"/>
            </a:pPr>
            <a:r>
              <a:rPr sz="1800">
                <a:solidFill>
                  <a:srgbClr val="F2F2EC"/>
                </a:solidFill>
                <a:latin typeface="Segoe UI"/>
              </a:rPr>
              <a:t>Alinha o time: todos resolvem o mesmo problema</a:t>
            </a:r>
          </a:p>
          <a:p>
            <a:pPr marL="292608" indent="-292608">
              <a:spcAft>
                <a:spcPts val="1600"/>
              </a:spcAft>
              <a:buClr>
                <a:srgbClr val="4DB35A"/>
              </a:buClr>
              <a:buFont typeface="Arial"/>
              <a:buChar char="●"/>
            </a:pPr>
            <a:r>
              <a:rPr sz="1800">
                <a:solidFill>
                  <a:srgbClr val="F2F2EC"/>
                </a:solidFill>
                <a:latin typeface="Segoe UI"/>
              </a:rPr>
              <a:t>Delimita o escopo do que precisa ser criado</a:t>
            </a:r>
          </a:p>
          <a:p>
            <a:pPr marL="292608" indent="-292608">
              <a:buClr>
                <a:srgbClr val="4DB35A"/>
              </a:buClr>
              <a:buFont typeface="Arial"/>
              <a:buChar char="●"/>
            </a:pPr>
            <a:r>
              <a:rPr sz="1800">
                <a:solidFill>
                  <a:srgbClr val="F2F2EC"/>
                </a:solidFill>
                <a:latin typeface="Segoe UI"/>
              </a:rPr>
              <a:t>Serve de bússola para a etapa de ideação</a:t>
            </a:r>
          </a:p>
        </p:txBody>
      </p:sp>
      <p:sp>
        <p:nvSpPr>
          <p:cNvPr id="7" name="Rounded Rectangle 6"/>
          <p:cNvSpPr/>
          <p:nvPr/>
        </p:nvSpPr>
        <p:spPr>
          <a:xfrm>
            <a:off x="7680960" y="1645920"/>
            <a:ext cx="3959352" cy="402336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955279" y="1691640"/>
            <a:ext cx="1371600" cy="1097280"/>
          </a:xfrm>
          <a:prstGeom prst="rect">
            <a:avLst/>
          </a:prstGeom>
          <a:noFill/>
        </p:spPr>
        <p:txBody>
          <a:bodyPr wrap="square" lIns="36576" tIns="18288" rIns="36576" bIns="18288" anchor="t">
            <a:spAutoFit/>
          </a:bodyPr>
          <a:lstStyle/>
          <a:p>
            <a:pPr algn="l"/>
            <a:r>
              <a:rPr sz="8000" b="1" i="0">
                <a:solidFill>
                  <a:srgbClr val="4DB35A"/>
                </a:solidFill>
                <a:latin typeface="Georgia"/>
              </a:rPr>
              <a:t>“</a:t>
            </a:r>
          </a:p>
        </p:txBody>
      </p:sp>
      <p:sp>
        <p:nvSpPr>
          <p:cNvPr id="9" name="TextBox 8"/>
          <p:cNvSpPr txBox="1"/>
          <p:nvPr/>
        </p:nvSpPr>
        <p:spPr>
          <a:xfrm>
            <a:off x="8001000" y="2743200"/>
            <a:ext cx="3383280" cy="2743200"/>
          </a:xfrm>
          <a:prstGeom prst="rect">
            <a:avLst/>
          </a:prstGeom>
          <a:noFill/>
        </p:spPr>
        <p:txBody>
          <a:bodyPr wrap="square" lIns="36576" tIns="18288" rIns="36576" bIns="18288" anchor="t">
            <a:spAutoFit/>
          </a:bodyPr>
          <a:lstStyle/>
          <a:p>
            <a:pPr algn="l">
              <a:lnSpc>
                <a:spcPct val="110000"/>
              </a:lnSpc>
            </a:pPr>
            <a:r>
              <a:rPr sz="2100" b="1" i="0">
                <a:solidFill>
                  <a:srgbClr val="F2F2EC"/>
                </a:solidFill>
                <a:latin typeface="Segoe UI Semibold"/>
              </a:rPr>
              <a:t>Antes de perguntar 'como resolver', pergunte 'o que exatamente estamos resolvendo'.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50" fill="hold"/>
                                        <p:tgtEl>
                                          <p:spTgt spid="6"/>
                                        </p:tgtEl>
                                      </p:cBhvr>
                                    </p:animEffect>
                                    <p:anim calcmode="lin" valueType="num">
                                      <p:cBhvr additive="base">
                                        <p:cTn id="11" dur="650" fill="hold"/>
                                        <p:tgtEl>
                                          <p:spTgt spid="6"/>
                                        </p:tgtEl>
                                        <p:attrNameLst>
                                          <p:attrName>ppt_x</p:attrName>
                                        </p:attrNameLst>
                                      </p:cBhvr>
                                      <p:tavLst>
                                        <p:tav tm="0">
                                          <p:val>
                                            <p:strVal val="#ppt_x"/>
                                          </p:val>
                                        </p:tav>
                                        <p:tav tm="100000">
                                          <p:val>
                                            <p:strVal val="#ppt_x"/>
                                          </p:val>
                                        </p:tav>
                                      </p:tavLst>
                                    </p:anim>
                                    <p:anim calcmode="lin" valueType="num">
                                      <p:cBhvr additive="base">
                                        <p:cTn id="12" dur="650" fill="hold"/>
                                        <p:tgtEl>
                                          <p:spTgt spid="6"/>
                                        </p:tgtEl>
                                        <p:attrNameLst>
                                          <p:attrName>ppt_y</p:attrName>
                                        </p:attrNameLst>
                                      </p:cBhvr>
                                      <p:tavLst>
                                        <p:tav tm="0">
                                          <p:val>
                                            <p:strVal val="#ppt_y+.06"/>
                                          </p:val>
                                        </p:tav>
                                        <p:tav tm="100000">
                                          <p:val>
                                            <p:strVal val="#ppt_y"/>
                                          </p:val>
                                        </p:tav>
                                      </p:tavLst>
                                    </p:anim>
                                  </p:childTnLst>
                                </p:cTn>
                              </p:par>
                              <p:par>
                                <p:cTn id="13" presetID="42" presetClass="entr" presetSubtype="0" decel="100000" fill="hold" grpId="0" nodeType="withEffect">
                                  <p:stCondLst>
                                    <p:cond delay="75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fill="hold"/>
                                        <p:tgtEl>
                                          <p:spTgt spid="7"/>
                                        </p:tgtEl>
                                      </p:cBhvr>
                                    </p:animEffect>
                                    <p:anim calcmode="lin" valueType="num">
                                      <p:cBhvr additive="base">
                                        <p:cTn id="16" dur="650" fill="hold"/>
                                        <p:tgtEl>
                                          <p:spTgt spid="7"/>
                                        </p:tgtEl>
                                        <p:attrNameLst>
                                          <p:attrName>ppt_x</p:attrName>
                                        </p:attrNameLst>
                                      </p:cBhvr>
                                      <p:tavLst>
                                        <p:tav tm="0">
                                          <p:val>
                                            <p:strVal val="#ppt_x"/>
                                          </p:val>
                                        </p:tav>
                                        <p:tav tm="100000">
                                          <p:val>
                                            <p:strVal val="#ppt_x"/>
                                          </p:val>
                                        </p:tav>
                                      </p:tavLst>
                                    </p:anim>
                                    <p:anim calcmode="lin" valueType="num">
                                      <p:cBhvr additive="base">
                                        <p:cTn id="17" dur="650" fill="hold"/>
                                        <p:tgtEl>
                                          <p:spTgt spid="7"/>
                                        </p:tgtEl>
                                        <p:attrNameLst>
                                          <p:attrName>ppt_y</p:attrName>
                                        </p:attrNameLst>
                                      </p:cBhvr>
                                      <p:tavLst>
                                        <p:tav tm="0">
                                          <p:val>
                                            <p:strVal val="#ppt_y+.06"/>
                                          </p:val>
                                        </p:tav>
                                        <p:tav tm="100000">
                                          <p:val>
                                            <p:strVal val="#ppt_y"/>
                                          </p:val>
                                        </p:tav>
                                      </p:tavLst>
                                    </p:anim>
                                  </p:childTnLst>
                                </p:cTn>
                              </p:par>
                              <p:par>
                                <p:cTn id="18" presetID="53" presetClass="entr" presetSubtype="16" decel="100000" fill="hold" grpId="0" nodeType="withEffect">
                                  <p:stCondLst>
                                    <p:cond delay="105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450" fill="hold"/>
                                        <p:tgtEl>
                                          <p:spTgt spid="8"/>
                                        </p:tgtEl>
                                        <p:attrNameLst>
                                          <p:attrName>ppt_w</p:attrName>
                                        </p:attrNameLst>
                                      </p:cBhvr>
                                      <p:tavLst>
                                        <p:tav tm="0">
                                          <p:val>
                                            <p:strVal val="0"/>
                                          </p:val>
                                        </p:tav>
                                        <p:tav tm="70000">
                                          <p:val>
                                            <p:strVal val="#ppt_w*1.08"/>
                                          </p:val>
                                        </p:tav>
                                        <p:tav tm="100000">
                                          <p:val>
                                            <p:strVal val="#ppt_w"/>
                                          </p:val>
                                        </p:tav>
                                      </p:tavLst>
                                    </p:anim>
                                    <p:anim calcmode="lin" valueType="num">
                                      <p:cBhvr additive="base">
                                        <p:cTn id="21" dur="450" fill="hold"/>
                                        <p:tgtEl>
                                          <p:spTgt spid="8"/>
                                        </p:tgtEl>
                                        <p:attrNameLst>
                                          <p:attrName>ppt_h</p:attrName>
                                        </p:attrNameLst>
                                      </p:cBhvr>
                                      <p:tavLst>
                                        <p:tav tm="0">
                                          <p:val>
                                            <p:strVal val="0"/>
                                          </p:val>
                                        </p:tav>
                                        <p:tav tm="70000">
                                          <p:val>
                                            <p:strVal val="#ppt_h*1.08"/>
                                          </p:val>
                                        </p:tav>
                                        <p:tav tm="100000">
                                          <p:val>
                                            <p:strVal val="#ppt_h"/>
                                          </p:val>
                                        </p:tav>
                                      </p:tavLst>
                                    </p:anim>
                                    <p:animEffect transition="in" filter="fade">
                                      <p:cBhvr>
                                        <p:cTn id="22" dur="270" fill="hold"/>
                                        <p:tgtEl>
                                          <p:spTgt spid="8"/>
                                        </p:tgtEl>
                                      </p:cBhvr>
                                    </p:animEffect>
                                  </p:childTnLst>
                                </p:cTn>
                              </p:par>
                              <p:par>
                                <p:cTn id="23" presetID="10" presetClass="entr" presetSubtype="0" fill="hold" grpId="0" nodeType="withEffect">
                                  <p:stCondLst>
                                    <p:cond delay="1250"/>
                                  </p:stCondLst>
                                  <p:iterate type="wd">
                                    <p:tmPct val="35000"/>
                                  </p:iterate>
                                  <p:childTnLst>
                                    <p:set>
                                      <p:cBhvr>
                                        <p:cTn id="24" dur="1" fill="hold">
                                          <p:stCondLst>
                                            <p:cond delay="0"/>
                                          </p:stCondLst>
                                        </p:cTn>
                                        <p:tgtEl>
                                          <p:spTgt spid="9"/>
                                        </p:tgtEl>
                                        <p:attrNameLst>
                                          <p:attrName>style.visibility</p:attrName>
                                        </p:attrNameLst>
                                      </p:cBhvr>
                                      <p:to>
                                        <p:strVal val="visible"/>
                                      </p:to>
                                    </p:set>
                                    <p:animEffect transition="in" filter="fade">
                                      <p:cBhvr>
                                        <p:cTn id="25" dur="420" fill="hold"/>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4DB35A"/>
                </a:solidFill>
                <a:latin typeface="Segoe UI Semibold"/>
              </a:rPr>
              <a:t>MÓDULO 3  ·  DEFINIR</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O que define um bom problema</a:t>
            </a:r>
          </a:p>
        </p:txBody>
      </p:sp>
      <p:sp>
        <p:nvSpPr>
          <p:cNvPr id="6" name="TextBox 5"/>
          <p:cNvSpPr txBox="1"/>
          <p:nvPr/>
        </p:nvSpPr>
        <p:spPr>
          <a:xfrm>
            <a:off x="548640" y="1325880"/>
            <a:ext cx="10972800" cy="457200"/>
          </a:xfrm>
          <a:prstGeom prst="rect">
            <a:avLst/>
          </a:prstGeom>
          <a:noFill/>
        </p:spPr>
        <p:txBody>
          <a:bodyPr wrap="square" lIns="36576" tIns="18288" rIns="36576" bIns="18288" anchor="t">
            <a:spAutoFit/>
          </a:bodyPr>
          <a:lstStyle/>
          <a:p>
            <a:pPr algn="l"/>
            <a:r>
              <a:rPr sz="1700" b="0" i="0">
                <a:solidFill>
                  <a:srgbClr val="B4B8B0"/>
                </a:solidFill>
                <a:latin typeface="Segoe UI"/>
              </a:rPr>
              <a:t>Nem amplo demais, nem estreito demais.</a:t>
            </a:r>
          </a:p>
        </p:txBody>
      </p:sp>
      <p:sp>
        <p:nvSpPr>
          <p:cNvPr id="7" name="Rounded Rectangle 6"/>
          <p:cNvSpPr/>
          <p:nvPr/>
        </p:nvSpPr>
        <p:spPr>
          <a:xfrm>
            <a:off x="548640" y="2148840"/>
            <a:ext cx="3514344" cy="356616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68680" y="3246120"/>
            <a:ext cx="2874264" cy="822960"/>
          </a:xfrm>
          <a:prstGeom prst="rect">
            <a:avLst/>
          </a:prstGeom>
          <a:noFill/>
        </p:spPr>
        <p:txBody>
          <a:bodyPr wrap="square" lIns="36576" tIns="18288" rIns="36576" bIns="18288" anchor="t">
            <a:spAutoFit/>
          </a:bodyPr>
          <a:lstStyle/>
          <a:p>
            <a:pPr algn="l"/>
            <a:r>
              <a:rPr sz="1900" b="1" i="0">
                <a:solidFill>
                  <a:srgbClr val="F2F2EC"/>
                </a:solidFill>
                <a:latin typeface="Segoe UI Semibold"/>
              </a:rPr>
              <a:t>Centrado em pessoas</a:t>
            </a:r>
          </a:p>
        </p:txBody>
      </p:sp>
      <p:sp>
        <p:nvSpPr>
          <p:cNvPr id="9" name="TextBox 8"/>
          <p:cNvSpPr txBox="1"/>
          <p:nvPr/>
        </p:nvSpPr>
        <p:spPr>
          <a:xfrm>
            <a:off x="868680" y="4160520"/>
            <a:ext cx="2874264" cy="1508760"/>
          </a:xfrm>
          <a:prstGeom prst="rect">
            <a:avLst/>
          </a:prstGeom>
          <a:noFill/>
        </p:spPr>
        <p:txBody>
          <a:bodyPr wrap="square" lIns="36576" tIns="18288" rIns="36576" bIns="18288" anchor="t">
            <a:spAutoFit/>
          </a:bodyPr>
          <a:lstStyle/>
          <a:p>
            <a:pPr algn="l"/>
            <a:r>
              <a:rPr sz="1450" b="0" i="0">
                <a:solidFill>
                  <a:srgbClr val="B4B8B0"/>
                </a:solidFill>
                <a:latin typeface="Segoe UI"/>
              </a:rPr>
              <a:t>Fala das dores e necessidades de quem vive o problema, não da tecnologia ou do lucro.</a:t>
            </a:r>
          </a:p>
        </p:txBody>
      </p:sp>
      <p:sp>
        <p:nvSpPr>
          <p:cNvPr id="10" name="Oval 9"/>
          <p:cNvSpPr/>
          <p:nvPr/>
        </p:nvSpPr>
        <p:spPr>
          <a:xfrm>
            <a:off x="859536" y="2459736"/>
            <a:ext cx="566928" cy="566928"/>
          </a:xfrm>
          <a:prstGeom prst="ellipse">
            <a:avLst/>
          </a:prstGeom>
          <a:solidFill>
            <a:srgbClr val="4DB35A"/>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700" b="1" i="0">
                <a:solidFill>
                  <a:srgbClr val="1A1A1A"/>
                </a:solidFill>
                <a:latin typeface="Segoe UI Semibold"/>
              </a:rPr>
              <a:t>1</a:t>
            </a:r>
          </a:p>
        </p:txBody>
      </p:sp>
      <p:sp>
        <p:nvSpPr>
          <p:cNvPr id="11" name="Rounded Rectangle 10"/>
          <p:cNvSpPr/>
          <p:nvPr/>
        </p:nvSpPr>
        <p:spPr>
          <a:xfrm>
            <a:off x="4337304" y="2148840"/>
            <a:ext cx="3514344" cy="356616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657344" y="3246120"/>
            <a:ext cx="2874264" cy="822960"/>
          </a:xfrm>
          <a:prstGeom prst="rect">
            <a:avLst/>
          </a:prstGeom>
          <a:noFill/>
        </p:spPr>
        <p:txBody>
          <a:bodyPr wrap="square" lIns="36576" tIns="18288" rIns="36576" bIns="18288" anchor="t">
            <a:spAutoFit/>
          </a:bodyPr>
          <a:lstStyle/>
          <a:p>
            <a:pPr algn="l"/>
            <a:r>
              <a:rPr sz="1900" b="1" i="0">
                <a:solidFill>
                  <a:srgbClr val="F2F2EC"/>
                </a:solidFill>
                <a:latin typeface="Segoe UI Semibold"/>
              </a:rPr>
              <a:t>Aberto a soluções</a:t>
            </a:r>
          </a:p>
        </p:txBody>
      </p:sp>
      <p:sp>
        <p:nvSpPr>
          <p:cNvPr id="13" name="TextBox 12"/>
          <p:cNvSpPr txBox="1"/>
          <p:nvPr/>
        </p:nvSpPr>
        <p:spPr>
          <a:xfrm>
            <a:off x="4657344" y="4160520"/>
            <a:ext cx="2874264" cy="1508760"/>
          </a:xfrm>
          <a:prstGeom prst="rect">
            <a:avLst/>
          </a:prstGeom>
          <a:noFill/>
        </p:spPr>
        <p:txBody>
          <a:bodyPr wrap="square" lIns="36576" tIns="18288" rIns="36576" bIns="18288" anchor="t">
            <a:spAutoFit/>
          </a:bodyPr>
          <a:lstStyle/>
          <a:p>
            <a:pPr algn="l"/>
            <a:r>
              <a:rPr sz="1450" b="0" i="0">
                <a:solidFill>
                  <a:srgbClr val="B4B8B0"/>
                </a:solidFill>
                <a:latin typeface="Segoe UI"/>
              </a:rPr>
              <a:t>Não traz a solução embutida. 'Precisamos de um app' não é um problema.</a:t>
            </a:r>
          </a:p>
        </p:txBody>
      </p:sp>
      <p:sp>
        <p:nvSpPr>
          <p:cNvPr id="14" name="Oval 13"/>
          <p:cNvSpPr/>
          <p:nvPr/>
        </p:nvSpPr>
        <p:spPr>
          <a:xfrm>
            <a:off x="4648200" y="2459736"/>
            <a:ext cx="566928" cy="566928"/>
          </a:xfrm>
          <a:prstGeom prst="ellipse">
            <a:avLst/>
          </a:prstGeom>
          <a:solidFill>
            <a:srgbClr val="4DB35A"/>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700" b="1" i="0">
                <a:solidFill>
                  <a:srgbClr val="1A1A1A"/>
                </a:solidFill>
                <a:latin typeface="Segoe UI Semibold"/>
              </a:rPr>
              <a:t>2</a:t>
            </a:r>
          </a:p>
        </p:txBody>
      </p:sp>
      <p:sp>
        <p:nvSpPr>
          <p:cNvPr id="15" name="Rounded Rectangle 14"/>
          <p:cNvSpPr/>
          <p:nvPr/>
        </p:nvSpPr>
        <p:spPr>
          <a:xfrm>
            <a:off x="8125968" y="2148840"/>
            <a:ext cx="3514344" cy="356616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446008" y="3246120"/>
            <a:ext cx="2874264" cy="822960"/>
          </a:xfrm>
          <a:prstGeom prst="rect">
            <a:avLst/>
          </a:prstGeom>
          <a:noFill/>
        </p:spPr>
        <p:txBody>
          <a:bodyPr wrap="square" lIns="36576" tIns="18288" rIns="36576" bIns="18288" anchor="t">
            <a:spAutoFit/>
          </a:bodyPr>
          <a:lstStyle/>
          <a:p>
            <a:pPr algn="l"/>
            <a:r>
              <a:rPr sz="1900" b="1" i="0">
                <a:solidFill>
                  <a:srgbClr val="F2F2EC"/>
                </a:solidFill>
                <a:latin typeface="Segoe UI Semibold"/>
              </a:rPr>
              <a:t>Gerenciável</a:t>
            </a:r>
          </a:p>
        </p:txBody>
      </p:sp>
      <p:sp>
        <p:nvSpPr>
          <p:cNvPr id="17" name="TextBox 16"/>
          <p:cNvSpPr txBox="1"/>
          <p:nvPr/>
        </p:nvSpPr>
        <p:spPr>
          <a:xfrm>
            <a:off x="8446008" y="4160520"/>
            <a:ext cx="2874264" cy="1508760"/>
          </a:xfrm>
          <a:prstGeom prst="rect">
            <a:avLst/>
          </a:prstGeom>
          <a:noFill/>
        </p:spPr>
        <p:txBody>
          <a:bodyPr wrap="square" lIns="36576" tIns="18288" rIns="36576" bIns="18288" anchor="t">
            <a:spAutoFit/>
          </a:bodyPr>
          <a:lstStyle/>
          <a:p>
            <a:pPr algn="l"/>
            <a:r>
              <a:rPr sz="1450" b="0" i="0">
                <a:solidFill>
                  <a:srgbClr val="B4B8B0"/>
                </a:solidFill>
                <a:latin typeface="Segoe UI"/>
              </a:rPr>
              <a:t>Amplo o bastante para criar, específico o bastante para agir.</a:t>
            </a:r>
          </a:p>
        </p:txBody>
      </p:sp>
      <p:sp>
        <p:nvSpPr>
          <p:cNvPr id="18" name="Oval 17"/>
          <p:cNvSpPr/>
          <p:nvPr/>
        </p:nvSpPr>
        <p:spPr>
          <a:xfrm>
            <a:off x="8436864" y="2459736"/>
            <a:ext cx="566928" cy="566928"/>
          </a:xfrm>
          <a:prstGeom prst="ellipse">
            <a:avLst/>
          </a:prstGeom>
          <a:solidFill>
            <a:srgbClr val="4DB35A"/>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700" b="1" i="0">
                <a:solidFill>
                  <a:srgbClr val="1A1A1A"/>
                </a:solidFill>
                <a:latin typeface="Segoe UI Semibold"/>
              </a:rPr>
              <a:t>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fill="hold"/>
                                        <p:tgtEl>
                                          <p:spTgt spid="6"/>
                                        </p:tgtEl>
                                      </p:cBhvr>
                                    </p:animEffect>
                                  </p:childTnLst>
                                </p:cTn>
                              </p:par>
                              <p:par>
                                <p:cTn id="11" presetID="42" presetClass="entr" presetSubtype="0" decel="100000" fill="hold" grpId="0" nodeType="withEffect">
                                  <p:stCondLst>
                                    <p:cond delay="45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650" fill="hold"/>
                                        <p:tgtEl>
                                          <p:spTgt spid="7"/>
                                        </p:tgtEl>
                                      </p:cBhvr>
                                    </p:animEffect>
                                    <p:anim calcmode="lin" valueType="num">
                                      <p:cBhvr additive="base">
                                        <p:cTn id="14" dur="650" fill="hold"/>
                                        <p:tgtEl>
                                          <p:spTgt spid="7"/>
                                        </p:tgtEl>
                                        <p:attrNameLst>
                                          <p:attrName>ppt_x</p:attrName>
                                        </p:attrNameLst>
                                      </p:cBhvr>
                                      <p:tavLst>
                                        <p:tav tm="0">
                                          <p:val>
                                            <p:strVal val="#ppt_x"/>
                                          </p:val>
                                        </p:tav>
                                        <p:tav tm="100000">
                                          <p:val>
                                            <p:strVal val="#ppt_x"/>
                                          </p:val>
                                        </p:tav>
                                      </p:tavLst>
                                    </p:anim>
                                    <p:anim calcmode="lin" valueType="num">
                                      <p:cBhvr additive="base">
                                        <p:cTn id="15" dur="650" fill="hold"/>
                                        <p:tgtEl>
                                          <p:spTgt spid="7"/>
                                        </p:tgtEl>
                                        <p:attrNameLst>
                                          <p:attrName>ppt_y</p:attrName>
                                        </p:attrNameLst>
                                      </p:cBhvr>
                                      <p:tavLst>
                                        <p:tav tm="0">
                                          <p:val>
                                            <p:strVal val="#ppt_y+.06"/>
                                          </p:val>
                                        </p:tav>
                                        <p:tav tm="100000">
                                          <p:val>
                                            <p:strVal val="#ppt_y"/>
                                          </p:val>
                                        </p:tav>
                                      </p:tavLst>
                                    </p:anim>
                                  </p:childTnLst>
                                </p:cTn>
                              </p:par>
                              <p:par>
                                <p:cTn id="16" presetID="42" presetClass="entr" presetSubtype="0" decel="100000" fill="hold" grpId="0" nodeType="withEffect">
                                  <p:stCondLst>
                                    <p:cond delay="45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650" fill="hold"/>
                                        <p:tgtEl>
                                          <p:spTgt spid="8"/>
                                        </p:tgtEl>
                                      </p:cBhvr>
                                    </p:animEffect>
                                    <p:anim calcmode="lin" valueType="num">
                                      <p:cBhvr additive="base">
                                        <p:cTn id="19" dur="650" fill="hold"/>
                                        <p:tgtEl>
                                          <p:spTgt spid="8"/>
                                        </p:tgtEl>
                                        <p:attrNameLst>
                                          <p:attrName>ppt_x</p:attrName>
                                        </p:attrNameLst>
                                      </p:cBhvr>
                                      <p:tavLst>
                                        <p:tav tm="0">
                                          <p:val>
                                            <p:strVal val="#ppt_x"/>
                                          </p:val>
                                        </p:tav>
                                        <p:tav tm="100000">
                                          <p:val>
                                            <p:strVal val="#ppt_x"/>
                                          </p:val>
                                        </p:tav>
                                      </p:tavLst>
                                    </p:anim>
                                    <p:anim calcmode="lin" valueType="num">
                                      <p:cBhvr additive="base">
                                        <p:cTn id="20" dur="650" fill="hold"/>
                                        <p:tgtEl>
                                          <p:spTgt spid="8"/>
                                        </p:tgtEl>
                                        <p:attrNameLst>
                                          <p:attrName>ppt_y</p:attrName>
                                        </p:attrNameLst>
                                      </p:cBhvr>
                                      <p:tavLst>
                                        <p:tav tm="0">
                                          <p:val>
                                            <p:strVal val="#ppt_y+.06"/>
                                          </p:val>
                                        </p:tav>
                                        <p:tav tm="100000">
                                          <p:val>
                                            <p:strVal val="#ppt_y"/>
                                          </p:val>
                                        </p:tav>
                                      </p:tavLst>
                                    </p:anim>
                                  </p:childTnLst>
                                </p:cTn>
                              </p:par>
                              <p:par>
                                <p:cTn id="21" presetID="42" presetClass="entr" presetSubtype="0" decel="100000" fill="hold" grpId="0" nodeType="withEffect">
                                  <p:stCondLst>
                                    <p:cond delay="45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650" fill="hold"/>
                                        <p:tgtEl>
                                          <p:spTgt spid="9"/>
                                        </p:tgtEl>
                                      </p:cBhvr>
                                    </p:animEffect>
                                    <p:anim calcmode="lin" valueType="num">
                                      <p:cBhvr additive="base">
                                        <p:cTn id="24" dur="650" fill="hold"/>
                                        <p:tgtEl>
                                          <p:spTgt spid="9"/>
                                        </p:tgtEl>
                                        <p:attrNameLst>
                                          <p:attrName>ppt_x</p:attrName>
                                        </p:attrNameLst>
                                      </p:cBhvr>
                                      <p:tavLst>
                                        <p:tav tm="0">
                                          <p:val>
                                            <p:strVal val="#ppt_x"/>
                                          </p:val>
                                        </p:tav>
                                        <p:tav tm="100000">
                                          <p:val>
                                            <p:strVal val="#ppt_x"/>
                                          </p:val>
                                        </p:tav>
                                      </p:tavLst>
                                    </p:anim>
                                    <p:anim calcmode="lin" valueType="num">
                                      <p:cBhvr additive="base">
                                        <p:cTn id="25" dur="650" fill="hold"/>
                                        <p:tgtEl>
                                          <p:spTgt spid="9"/>
                                        </p:tgtEl>
                                        <p:attrNameLst>
                                          <p:attrName>ppt_y</p:attrName>
                                        </p:attrNameLst>
                                      </p:cBhvr>
                                      <p:tavLst>
                                        <p:tav tm="0">
                                          <p:val>
                                            <p:strVal val="#ppt_y+.06"/>
                                          </p:val>
                                        </p:tav>
                                        <p:tav tm="100000">
                                          <p:val>
                                            <p:strVal val="#ppt_y"/>
                                          </p:val>
                                        </p:tav>
                                      </p:tavLst>
                                    </p:anim>
                                  </p:childTnLst>
                                </p:cTn>
                              </p:par>
                              <p:par>
                                <p:cTn id="26" presetID="53" presetClass="entr" presetSubtype="16" decel="100000" fill="hold" grpId="0" nodeType="withEffect">
                                  <p:stCondLst>
                                    <p:cond delay="600"/>
                                  </p:stCondLst>
                                  <p:childTnLst>
                                    <p:set>
                                      <p:cBhvr>
                                        <p:cTn id="27" dur="1" fill="hold">
                                          <p:stCondLst>
                                            <p:cond delay="0"/>
                                          </p:stCondLst>
                                        </p:cTn>
                                        <p:tgtEl>
                                          <p:spTgt spid="10"/>
                                        </p:tgtEl>
                                        <p:attrNameLst>
                                          <p:attrName>style.visibility</p:attrName>
                                        </p:attrNameLst>
                                      </p:cBhvr>
                                      <p:to>
                                        <p:strVal val="visible"/>
                                      </p:to>
                                    </p:set>
                                    <p:anim calcmode="lin" valueType="num">
                                      <p:cBhvr additive="base">
                                        <p:cTn id="28" dur="450" fill="hold"/>
                                        <p:tgtEl>
                                          <p:spTgt spid="10"/>
                                        </p:tgtEl>
                                        <p:attrNameLst>
                                          <p:attrName>ppt_w</p:attrName>
                                        </p:attrNameLst>
                                      </p:cBhvr>
                                      <p:tavLst>
                                        <p:tav tm="0">
                                          <p:val>
                                            <p:strVal val="0"/>
                                          </p:val>
                                        </p:tav>
                                        <p:tav tm="70000">
                                          <p:val>
                                            <p:strVal val="#ppt_w*1.08"/>
                                          </p:val>
                                        </p:tav>
                                        <p:tav tm="100000">
                                          <p:val>
                                            <p:strVal val="#ppt_w"/>
                                          </p:val>
                                        </p:tav>
                                      </p:tavLst>
                                    </p:anim>
                                    <p:anim calcmode="lin" valueType="num">
                                      <p:cBhvr additive="base">
                                        <p:cTn id="29" dur="450" fill="hold"/>
                                        <p:tgtEl>
                                          <p:spTgt spid="10"/>
                                        </p:tgtEl>
                                        <p:attrNameLst>
                                          <p:attrName>ppt_h</p:attrName>
                                        </p:attrNameLst>
                                      </p:cBhvr>
                                      <p:tavLst>
                                        <p:tav tm="0">
                                          <p:val>
                                            <p:strVal val="0"/>
                                          </p:val>
                                        </p:tav>
                                        <p:tav tm="70000">
                                          <p:val>
                                            <p:strVal val="#ppt_h*1.08"/>
                                          </p:val>
                                        </p:tav>
                                        <p:tav tm="100000">
                                          <p:val>
                                            <p:strVal val="#ppt_h"/>
                                          </p:val>
                                        </p:tav>
                                      </p:tavLst>
                                    </p:anim>
                                    <p:animEffect transition="in" filter="fade">
                                      <p:cBhvr>
                                        <p:cTn id="30" dur="270" fill="hold"/>
                                        <p:tgtEl>
                                          <p:spTgt spid="10"/>
                                        </p:tgtEl>
                                      </p:cBhvr>
                                    </p:animEffect>
                                  </p:childTnLst>
                                </p:cTn>
                              </p:par>
                              <p:par>
                                <p:cTn id="31" presetID="42" presetClass="entr" presetSubtype="0" decel="100000" fill="hold" grpId="0" nodeType="withEffect">
                                  <p:stCondLst>
                                    <p:cond delay="78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650" fill="hold"/>
                                        <p:tgtEl>
                                          <p:spTgt spid="11"/>
                                        </p:tgtEl>
                                      </p:cBhvr>
                                    </p:animEffect>
                                    <p:anim calcmode="lin" valueType="num">
                                      <p:cBhvr additive="base">
                                        <p:cTn id="34" dur="650" fill="hold"/>
                                        <p:tgtEl>
                                          <p:spTgt spid="11"/>
                                        </p:tgtEl>
                                        <p:attrNameLst>
                                          <p:attrName>ppt_x</p:attrName>
                                        </p:attrNameLst>
                                      </p:cBhvr>
                                      <p:tavLst>
                                        <p:tav tm="0">
                                          <p:val>
                                            <p:strVal val="#ppt_x"/>
                                          </p:val>
                                        </p:tav>
                                        <p:tav tm="100000">
                                          <p:val>
                                            <p:strVal val="#ppt_x"/>
                                          </p:val>
                                        </p:tav>
                                      </p:tavLst>
                                    </p:anim>
                                    <p:anim calcmode="lin" valueType="num">
                                      <p:cBhvr additive="base">
                                        <p:cTn id="35" dur="650" fill="hold"/>
                                        <p:tgtEl>
                                          <p:spTgt spid="11"/>
                                        </p:tgtEl>
                                        <p:attrNameLst>
                                          <p:attrName>ppt_y</p:attrName>
                                        </p:attrNameLst>
                                      </p:cBhvr>
                                      <p:tavLst>
                                        <p:tav tm="0">
                                          <p:val>
                                            <p:strVal val="#ppt_y+.06"/>
                                          </p:val>
                                        </p:tav>
                                        <p:tav tm="100000">
                                          <p:val>
                                            <p:strVal val="#ppt_y"/>
                                          </p:val>
                                        </p:tav>
                                      </p:tavLst>
                                    </p:anim>
                                  </p:childTnLst>
                                </p:cTn>
                              </p:par>
                              <p:par>
                                <p:cTn id="36" presetID="42" presetClass="entr" presetSubtype="0" decel="100000" fill="hold" grpId="0" nodeType="withEffect">
                                  <p:stCondLst>
                                    <p:cond delay="78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650" fill="hold"/>
                                        <p:tgtEl>
                                          <p:spTgt spid="12"/>
                                        </p:tgtEl>
                                      </p:cBhvr>
                                    </p:animEffect>
                                    <p:anim calcmode="lin" valueType="num">
                                      <p:cBhvr additive="base">
                                        <p:cTn id="39" dur="650" fill="hold"/>
                                        <p:tgtEl>
                                          <p:spTgt spid="12"/>
                                        </p:tgtEl>
                                        <p:attrNameLst>
                                          <p:attrName>ppt_x</p:attrName>
                                        </p:attrNameLst>
                                      </p:cBhvr>
                                      <p:tavLst>
                                        <p:tav tm="0">
                                          <p:val>
                                            <p:strVal val="#ppt_x"/>
                                          </p:val>
                                        </p:tav>
                                        <p:tav tm="100000">
                                          <p:val>
                                            <p:strVal val="#ppt_x"/>
                                          </p:val>
                                        </p:tav>
                                      </p:tavLst>
                                    </p:anim>
                                    <p:anim calcmode="lin" valueType="num">
                                      <p:cBhvr additive="base">
                                        <p:cTn id="40" dur="650" fill="hold"/>
                                        <p:tgtEl>
                                          <p:spTgt spid="12"/>
                                        </p:tgtEl>
                                        <p:attrNameLst>
                                          <p:attrName>ppt_y</p:attrName>
                                        </p:attrNameLst>
                                      </p:cBhvr>
                                      <p:tavLst>
                                        <p:tav tm="0">
                                          <p:val>
                                            <p:strVal val="#ppt_y+.06"/>
                                          </p:val>
                                        </p:tav>
                                        <p:tav tm="100000">
                                          <p:val>
                                            <p:strVal val="#ppt_y"/>
                                          </p:val>
                                        </p:tav>
                                      </p:tavLst>
                                    </p:anim>
                                  </p:childTnLst>
                                </p:cTn>
                              </p:par>
                              <p:par>
                                <p:cTn id="41" presetID="42" presetClass="entr" presetSubtype="0" decel="100000" fill="hold" grpId="0" nodeType="withEffect">
                                  <p:stCondLst>
                                    <p:cond delay="78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650" fill="hold"/>
                                        <p:tgtEl>
                                          <p:spTgt spid="13"/>
                                        </p:tgtEl>
                                      </p:cBhvr>
                                    </p:animEffect>
                                    <p:anim calcmode="lin" valueType="num">
                                      <p:cBhvr additive="base">
                                        <p:cTn id="44" dur="650" fill="hold"/>
                                        <p:tgtEl>
                                          <p:spTgt spid="13"/>
                                        </p:tgtEl>
                                        <p:attrNameLst>
                                          <p:attrName>ppt_x</p:attrName>
                                        </p:attrNameLst>
                                      </p:cBhvr>
                                      <p:tavLst>
                                        <p:tav tm="0">
                                          <p:val>
                                            <p:strVal val="#ppt_x"/>
                                          </p:val>
                                        </p:tav>
                                        <p:tav tm="100000">
                                          <p:val>
                                            <p:strVal val="#ppt_x"/>
                                          </p:val>
                                        </p:tav>
                                      </p:tavLst>
                                    </p:anim>
                                    <p:anim calcmode="lin" valueType="num">
                                      <p:cBhvr additive="base">
                                        <p:cTn id="45" dur="650" fill="hold"/>
                                        <p:tgtEl>
                                          <p:spTgt spid="13"/>
                                        </p:tgtEl>
                                        <p:attrNameLst>
                                          <p:attrName>ppt_y</p:attrName>
                                        </p:attrNameLst>
                                      </p:cBhvr>
                                      <p:tavLst>
                                        <p:tav tm="0">
                                          <p:val>
                                            <p:strVal val="#ppt_y+.06"/>
                                          </p:val>
                                        </p:tav>
                                        <p:tav tm="100000">
                                          <p:val>
                                            <p:strVal val="#ppt_y"/>
                                          </p:val>
                                        </p:tav>
                                      </p:tavLst>
                                    </p:anim>
                                  </p:childTnLst>
                                </p:cTn>
                              </p:par>
                              <p:par>
                                <p:cTn id="46" presetID="53" presetClass="entr" presetSubtype="16" decel="100000" fill="hold" grpId="0" nodeType="withEffect">
                                  <p:stCondLst>
                                    <p:cond delay="930"/>
                                  </p:stCondLst>
                                  <p:childTnLst>
                                    <p:set>
                                      <p:cBhvr>
                                        <p:cTn id="47" dur="1" fill="hold">
                                          <p:stCondLst>
                                            <p:cond delay="0"/>
                                          </p:stCondLst>
                                        </p:cTn>
                                        <p:tgtEl>
                                          <p:spTgt spid="14"/>
                                        </p:tgtEl>
                                        <p:attrNameLst>
                                          <p:attrName>style.visibility</p:attrName>
                                        </p:attrNameLst>
                                      </p:cBhvr>
                                      <p:to>
                                        <p:strVal val="visible"/>
                                      </p:to>
                                    </p:set>
                                    <p:anim calcmode="lin" valueType="num">
                                      <p:cBhvr additive="base">
                                        <p:cTn id="48" dur="450" fill="hold"/>
                                        <p:tgtEl>
                                          <p:spTgt spid="14"/>
                                        </p:tgtEl>
                                        <p:attrNameLst>
                                          <p:attrName>ppt_w</p:attrName>
                                        </p:attrNameLst>
                                      </p:cBhvr>
                                      <p:tavLst>
                                        <p:tav tm="0">
                                          <p:val>
                                            <p:strVal val="0"/>
                                          </p:val>
                                        </p:tav>
                                        <p:tav tm="70000">
                                          <p:val>
                                            <p:strVal val="#ppt_w*1.08"/>
                                          </p:val>
                                        </p:tav>
                                        <p:tav tm="100000">
                                          <p:val>
                                            <p:strVal val="#ppt_w"/>
                                          </p:val>
                                        </p:tav>
                                      </p:tavLst>
                                    </p:anim>
                                    <p:anim calcmode="lin" valueType="num">
                                      <p:cBhvr additive="base">
                                        <p:cTn id="49" dur="450" fill="hold"/>
                                        <p:tgtEl>
                                          <p:spTgt spid="14"/>
                                        </p:tgtEl>
                                        <p:attrNameLst>
                                          <p:attrName>ppt_h</p:attrName>
                                        </p:attrNameLst>
                                      </p:cBhvr>
                                      <p:tavLst>
                                        <p:tav tm="0">
                                          <p:val>
                                            <p:strVal val="0"/>
                                          </p:val>
                                        </p:tav>
                                        <p:tav tm="70000">
                                          <p:val>
                                            <p:strVal val="#ppt_h*1.08"/>
                                          </p:val>
                                        </p:tav>
                                        <p:tav tm="100000">
                                          <p:val>
                                            <p:strVal val="#ppt_h"/>
                                          </p:val>
                                        </p:tav>
                                      </p:tavLst>
                                    </p:anim>
                                    <p:animEffect transition="in" filter="fade">
                                      <p:cBhvr>
                                        <p:cTn id="50" dur="270" fill="hold"/>
                                        <p:tgtEl>
                                          <p:spTgt spid="14"/>
                                        </p:tgtEl>
                                      </p:cBhvr>
                                    </p:animEffect>
                                  </p:childTnLst>
                                </p:cTn>
                              </p:par>
                              <p:par>
                                <p:cTn id="51" presetID="42" presetClass="entr" presetSubtype="0" decel="100000" fill="hold" grpId="0" nodeType="withEffect">
                                  <p:stCondLst>
                                    <p:cond delay="1110"/>
                                  </p:stCondLst>
                                  <p:childTnLst>
                                    <p:set>
                                      <p:cBhvr>
                                        <p:cTn id="52" dur="1" fill="hold">
                                          <p:stCondLst>
                                            <p:cond delay="0"/>
                                          </p:stCondLst>
                                        </p:cTn>
                                        <p:tgtEl>
                                          <p:spTgt spid="15"/>
                                        </p:tgtEl>
                                        <p:attrNameLst>
                                          <p:attrName>style.visibility</p:attrName>
                                        </p:attrNameLst>
                                      </p:cBhvr>
                                      <p:to>
                                        <p:strVal val="visible"/>
                                      </p:to>
                                    </p:set>
                                    <p:animEffect transition="in" filter="fade">
                                      <p:cBhvr>
                                        <p:cTn id="53" dur="650" fill="hold"/>
                                        <p:tgtEl>
                                          <p:spTgt spid="15"/>
                                        </p:tgtEl>
                                      </p:cBhvr>
                                    </p:animEffect>
                                    <p:anim calcmode="lin" valueType="num">
                                      <p:cBhvr additive="base">
                                        <p:cTn id="54" dur="650" fill="hold"/>
                                        <p:tgtEl>
                                          <p:spTgt spid="15"/>
                                        </p:tgtEl>
                                        <p:attrNameLst>
                                          <p:attrName>ppt_x</p:attrName>
                                        </p:attrNameLst>
                                      </p:cBhvr>
                                      <p:tavLst>
                                        <p:tav tm="0">
                                          <p:val>
                                            <p:strVal val="#ppt_x"/>
                                          </p:val>
                                        </p:tav>
                                        <p:tav tm="100000">
                                          <p:val>
                                            <p:strVal val="#ppt_x"/>
                                          </p:val>
                                        </p:tav>
                                      </p:tavLst>
                                    </p:anim>
                                    <p:anim calcmode="lin" valueType="num">
                                      <p:cBhvr additive="base">
                                        <p:cTn id="55" dur="650" fill="hold"/>
                                        <p:tgtEl>
                                          <p:spTgt spid="15"/>
                                        </p:tgtEl>
                                        <p:attrNameLst>
                                          <p:attrName>ppt_y</p:attrName>
                                        </p:attrNameLst>
                                      </p:cBhvr>
                                      <p:tavLst>
                                        <p:tav tm="0">
                                          <p:val>
                                            <p:strVal val="#ppt_y+.06"/>
                                          </p:val>
                                        </p:tav>
                                        <p:tav tm="100000">
                                          <p:val>
                                            <p:strVal val="#ppt_y"/>
                                          </p:val>
                                        </p:tav>
                                      </p:tavLst>
                                    </p:anim>
                                  </p:childTnLst>
                                </p:cTn>
                              </p:par>
                              <p:par>
                                <p:cTn id="56" presetID="42" presetClass="entr" presetSubtype="0" decel="100000" fill="hold" grpId="0" nodeType="withEffect">
                                  <p:stCondLst>
                                    <p:cond delay="111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650" fill="hold"/>
                                        <p:tgtEl>
                                          <p:spTgt spid="16"/>
                                        </p:tgtEl>
                                      </p:cBhvr>
                                    </p:animEffect>
                                    <p:anim calcmode="lin" valueType="num">
                                      <p:cBhvr additive="base">
                                        <p:cTn id="59" dur="650" fill="hold"/>
                                        <p:tgtEl>
                                          <p:spTgt spid="16"/>
                                        </p:tgtEl>
                                        <p:attrNameLst>
                                          <p:attrName>ppt_x</p:attrName>
                                        </p:attrNameLst>
                                      </p:cBhvr>
                                      <p:tavLst>
                                        <p:tav tm="0">
                                          <p:val>
                                            <p:strVal val="#ppt_x"/>
                                          </p:val>
                                        </p:tav>
                                        <p:tav tm="100000">
                                          <p:val>
                                            <p:strVal val="#ppt_x"/>
                                          </p:val>
                                        </p:tav>
                                      </p:tavLst>
                                    </p:anim>
                                    <p:anim calcmode="lin" valueType="num">
                                      <p:cBhvr additive="base">
                                        <p:cTn id="60" dur="650" fill="hold"/>
                                        <p:tgtEl>
                                          <p:spTgt spid="16"/>
                                        </p:tgtEl>
                                        <p:attrNameLst>
                                          <p:attrName>ppt_y</p:attrName>
                                        </p:attrNameLst>
                                      </p:cBhvr>
                                      <p:tavLst>
                                        <p:tav tm="0">
                                          <p:val>
                                            <p:strVal val="#ppt_y+.06"/>
                                          </p:val>
                                        </p:tav>
                                        <p:tav tm="100000">
                                          <p:val>
                                            <p:strVal val="#ppt_y"/>
                                          </p:val>
                                        </p:tav>
                                      </p:tavLst>
                                    </p:anim>
                                  </p:childTnLst>
                                </p:cTn>
                              </p:par>
                              <p:par>
                                <p:cTn id="61" presetID="42" presetClass="entr" presetSubtype="0" decel="100000" fill="hold" grpId="0" nodeType="withEffect">
                                  <p:stCondLst>
                                    <p:cond delay="1110"/>
                                  </p:stCondLst>
                                  <p:childTnLst>
                                    <p:set>
                                      <p:cBhvr>
                                        <p:cTn id="62" dur="1" fill="hold">
                                          <p:stCondLst>
                                            <p:cond delay="0"/>
                                          </p:stCondLst>
                                        </p:cTn>
                                        <p:tgtEl>
                                          <p:spTgt spid="17"/>
                                        </p:tgtEl>
                                        <p:attrNameLst>
                                          <p:attrName>style.visibility</p:attrName>
                                        </p:attrNameLst>
                                      </p:cBhvr>
                                      <p:to>
                                        <p:strVal val="visible"/>
                                      </p:to>
                                    </p:set>
                                    <p:animEffect transition="in" filter="fade">
                                      <p:cBhvr>
                                        <p:cTn id="63" dur="650" fill="hold"/>
                                        <p:tgtEl>
                                          <p:spTgt spid="17"/>
                                        </p:tgtEl>
                                      </p:cBhvr>
                                    </p:animEffect>
                                    <p:anim calcmode="lin" valueType="num">
                                      <p:cBhvr additive="base">
                                        <p:cTn id="64" dur="650" fill="hold"/>
                                        <p:tgtEl>
                                          <p:spTgt spid="17"/>
                                        </p:tgtEl>
                                        <p:attrNameLst>
                                          <p:attrName>ppt_x</p:attrName>
                                        </p:attrNameLst>
                                      </p:cBhvr>
                                      <p:tavLst>
                                        <p:tav tm="0">
                                          <p:val>
                                            <p:strVal val="#ppt_x"/>
                                          </p:val>
                                        </p:tav>
                                        <p:tav tm="100000">
                                          <p:val>
                                            <p:strVal val="#ppt_x"/>
                                          </p:val>
                                        </p:tav>
                                      </p:tavLst>
                                    </p:anim>
                                    <p:anim calcmode="lin" valueType="num">
                                      <p:cBhvr additive="base">
                                        <p:cTn id="65" dur="650" fill="hold"/>
                                        <p:tgtEl>
                                          <p:spTgt spid="17"/>
                                        </p:tgtEl>
                                        <p:attrNameLst>
                                          <p:attrName>ppt_y</p:attrName>
                                        </p:attrNameLst>
                                      </p:cBhvr>
                                      <p:tavLst>
                                        <p:tav tm="0">
                                          <p:val>
                                            <p:strVal val="#ppt_y+.06"/>
                                          </p:val>
                                        </p:tav>
                                        <p:tav tm="100000">
                                          <p:val>
                                            <p:strVal val="#ppt_y"/>
                                          </p:val>
                                        </p:tav>
                                      </p:tavLst>
                                    </p:anim>
                                  </p:childTnLst>
                                </p:cTn>
                              </p:par>
                              <p:par>
                                <p:cTn id="66" presetID="53" presetClass="entr" presetSubtype="16" decel="100000" fill="hold" grpId="0" nodeType="withEffect">
                                  <p:stCondLst>
                                    <p:cond delay="1260"/>
                                  </p:stCondLst>
                                  <p:childTnLst>
                                    <p:set>
                                      <p:cBhvr>
                                        <p:cTn id="67" dur="1" fill="hold">
                                          <p:stCondLst>
                                            <p:cond delay="0"/>
                                          </p:stCondLst>
                                        </p:cTn>
                                        <p:tgtEl>
                                          <p:spTgt spid="18"/>
                                        </p:tgtEl>
                                        <p:attrNameLst>
                                          <p:attrName>style.visibility</p:attrName>
                                        </p:attrNameLst>
                                      </p:cBhvr>
                                      <p:to>
                                        <p:strVal val="visible"/>
                                      </p:to>
                                    </p:set>
                                    <p:anim calcmode="lin" valueType="num">
                                      <p:cBhvr additive="base">
                                        <p:cTn id="68" dur="450" fill="hold"/>
                                        <p:tgtEl>
                                          <p:spTgt spid="18"/>
                                        </p:tgtEl>
                                        <p:attrNameLst>
                                          <p:attrName>ppt_w</p:attrName>
                                        </p:attrNameLst>
                                      </p:cBhvr>
                                      <p:tavLst>
                                        <p:tav tm="0">
                                          <p:val>
                                            <p:strVal val="0"/>
                                          </p:val>
                                        </p:tav>
                                        <p:tav tm="70000">
                                          <p:val>
                                            <p:strVal val="#ppt_w*1.08"/>
                                          </p:val>
                                        </p:tav>
                                        <p:tav tm="100000">
                                          <p:val>
                                            <p:strVal val="#ppt_w"/>
                                          </p:val>
                                        </p:tav>
                                      </p:tavLst>
                                    </p:anim>
                                    <p:anim calcmode="lin" valueType="num">
                                      <p:cBhvr additive="base">
                                        <p:cTn id="69" dur="450" fill="hold"/>
                                        <p:tgtEl>
                                          <p:spTgt spid="18"/>
                                        </p:tgtEl>
                                        <p:attrNameLst>
                                          <p:attrName>ppt_h</p:attrName>
                                        </p:attrNameLst>
                                      </p:cBhvr>
                                      <p:tavLst>
                                        <p:tav tm="0">
                                          <p:val>
                                            <p:strVal val="0"/>
                                          </p:val>
                                        </p:tav>
                                        <p:tav tm="70000">
                                          <p:val>
                                            <p:strVal val="#ppt_h*1.08"/>
                                          </p:val>
                                        </p:tav>
                                        <p:tav tm="100000">
                                          <p:val>
                                            <p:strVal val="#ppt_h"/>
                                          </p:val>
                                        </p:tav>
                                      </p:tavLst>
                                    </p:anim>
                                    <p:animEffect transition="in" filter="fade">
                                      <p:cBhvr>
                                        <p:cTn id="70" dur="270" fill="hold"/>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4DB35A"/>
                </a:solidFill>
                <a:latin typeface="Segoe UI Semibold"/>
              </a:rPr>
              <a:t>MÓDULO 3  ·  DEFINIR</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Hierarquia de necessidades</a:t>
            </a:r>
          </a:p>
        </p:txBody>
      </p:sp>
      <p:sp>
        <p:nvSpPr>
          <p:cNvPr id="6" name="Trapezoid 5"/>
          <p:cNvSpPr/>
          <p:nvPr/>
        </p:nvSpPr>
        <p:spPr>
          <a:xfrm>
            <a:off x="548640" y="5027371"/>
            <a:ext cx="6035040" cy="713232"/>
          </a:xfrm>
          <a:prstGeom prst="trapezoid">
            <a:avLst>
              <a:gd name="adj" fmla="val 74224"/>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2103120" y="5027371"/>
            <a:ext cx="2926080" cy="713232"/>
          </a:xfrm>
          <a:prstGeom prst="rect">
            <a:avLst/>
          </a:prstGeom>
          <a:noFill/>
        </p:spPr>
        <p:txBody>
          <a:bodyPr wrap="square" lIns="36576" tIns="18288" rIns="36576" bIns="18288" anchor="ctr">
            <a:spAutoFit/>
          </a:bodyPr>
          <a:lstStyle/>
          <a:p>
            <a:pPr algn="ctr"/>
            <a:r>
              <a:rPr sz="1500" b="1" i="0">
                <a:solidFill>
                  <a:srgbClr val="1A1A1A"/>
                </a:solidFill>
                <a:latin typeface="Segoe UI Semibold"/>
              </a:rPr>
              <a:t>Fisiológicas</a:t>
            </a:r>
          </a:p>
        </p:txBody>
      </p:sp>
      <p:sp>
        <p:nvSpPr>
          <p:cNvPr id="8" name="Trapezoid 7"/>
          <p:cNvSpPr/>
          <p:nvPr/>
        </p:nvSpPr>
        <p:spPr>
          <a:xfrm>
            <a:off x="1078029" y="4259275"/>
            <a:ext cx="4976261" cy="713232"/>
          </a:xfrm>
          <a:prstGeom prst="trapezoid">
            <a:avLst>
              <a:gd name="adj" fmla="val 74224"/>
            </a:avLst>
          </a:prstGeom>
          <a:solidFill>
            <a:srgbClr val="4DB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2103120" y="4259275"/>
            <a:ext cx="2926080" cy="713232"/>
          </a:xfrm>
          <a:prstGeom prst="rect">
            <a:avLst/>
          </a:prstGeom>
          <a:noFill/>
        </p:spPr>
        <p:txBody>
          <a:bodyPr wrap="square" lIns="36576" tIns="18288" rIns="36576" bIns="18288" anchor="ctr">
            <a:spAutoFit/>
          </a:bodyPr>
          <a:lstStyle/>
          <a:p>
            <a:pPr algn="ctr"/>
            <a:r>
              <a:rPr sz="1500" b="1" i="0">
                <a:solidFill>
                  <a:srgbClr val="1A1A1A"/>
                </a:solidFill>
                <a:latin typeface="Segoe UI Semibold"/>
              </a:rPr>
              <a:t>Segurança</a:t>
            </a:r>
          </a:p>
        </p:txBody>
      </p:sp>
      <p:sp>
        <p:nvSpPr>
          <p:cNvPr id="10" name="Trapezoid 9"/>
          <p:cNvSpPr/>
          <p:nvPr/>
        </p:nvSpPr>
        <p:spPr>
          <a:xfrm>
            <a:off x="1607418" y="3491179"/>
            <a:ext cx="3917482" cy="713232"/>
          </a:xfrm>
          <a:prstGeom prst="trapezoid">
            <a:avLst>
              <a:gd name="adj" fmla="val 74224"/>
            </a:avLst>
          </a:prstGeom>
          <a:solidFill>
            <a:srgbClr val="2F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2103120" y="3491179"/>
            <a:ext cx="2926080" cy="713232"/>
          </a:xfrm>
          <a:prstGeom prst="rect">
            <a:avLst/>
          </a:prstGeom>
          <a:noFill/>
        </p:spPr>
        <p:txBody>
          <a:bodyPr wrap="square" lIns="36576" tIns="18288" rIns="36576" bIns="18288" anchor="ctr">
            <a:spAutoFit/>
          </a:bodyPr>
          <a:lstStyle/>
          <a:p>
            <a:pPr algn="ctr"/>
            <a:r>
              <a:rPr sz="1500" b="1" i="0">
                <a:solidFill>
                  <a:srgbClr val="1A1A1A"/>
                </a:solidFill>
                <a:latin typeface="Segoe UI Semibold"/>
              </a:rPr>
              <a:t>Relacionamento</a:t>
            </a:r>
          </a:p>
        </p:txBody>
      </p:sp>
      <p:sp>
        <p:nvSpPr>
          <p:cNvPr id="12" name="Trapezoid 11"/>
          <p:cNvSpPr/>
          <p:nvPr/>
        </p:nvSpPr>
        <p:spPr>
          <a:xfrm>
            <a:off x="2136808" y="2723083"/>
            <a:ext cx="2858703" cy="713232"/>
          </a:xfrm>
          <a:prstGeom prst="trapezoid">
            <a:avLst>
              <a:gd name="adj" fmla="val 74224"/>
            </a:avLst>
          </a:prstGeom>
          <a:solidFill>
            <a:srgbClr val="2A9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2103120" y="2723083"/>
            <a:ext cx="2926080" cy="713232"/>
          </a:xfrm>
          <a:prstGeom prst="rect">
            <a:avLst/>
          </a:prstGeom>
          <a:noFill/>
        </p:spPr>
        <p:txBody>
          <a:bodyPr wrap="square" lIns="36576" tIns="18288" rIns="36576" bIns="18288" anchor="ctr">
            <a:spAutoFit/>
          </a:bodyPr>
          <a:lstStyle/>
          <a:p>
            <a:pPr algn="ctr"/>
            <a:r>
              <a:rPr sz="1500" b="1" i="0">
                <a:solidFill>
                  <a:srgbClr val="1A1A1A"/>
                </a:solidFill>
                <a:latin typeface="Segoe UI Semibold"/>
              </a:rPr>
              <a:t>Estima</a:t>
            </a:r>
          </a:p>
        </p:txBody>
      </p:sp>
      <p:sp>
        <p:nvSpPr>
          <p:cNvPr id="14" name="Isosceles Triangle 13"/>
          <p:cNvSpPr/>
          <p:nvPr/>
        </p:nvSpPr>
        <p:spPr>
          <a:xfrm>
            <a:off x="2666197" y="1417320"/>
            <a:ext cx="1799924" cy="1250899"/>
          </a:xfrm>
          <a:prstGeom prst="triangle">
            <a:avLst/>
          </a:prstGeom>
          <a:solidFill>
            <a:srgbClr val="1F7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2651760" y="2284171"/>
            <a:ext cx="1828800" cy="329184"/>
          </a:xfrm>
          <a:prstGeom prst="rect">
            <a:avLst/>
          </a:prstGeom>
          <a:noFill/>
        </p:spPr>
        <p:txBody>
          <a:bodyPr wrap="square" lIns="36576" tIns="18288" rIns="36576" bIns="18288" anchor="ctr">
            <a:spAutoFit/>
          </a:bodyPr>
          <a:lstStyle/>
          <a:p>
            <a:pPr algn="ctr"/>
            <a:r>
              <a:rPr sz="1100" b="1" i="0">
                <a:solidFill>
                  <a:srgbClr val="1A1A1A"/>
                </a:solidFill>
                <a:latin typeface="Segoe UI Semibold"/>
              </a:rPr>
              <a:t>Autorrealização</a:t>
            </a:r>
          </a:p>
        </p:txBody>
      </p:sp>
      <p:sp>
        <p:nvSpPr>
          <p:cNvPr id="16" name="TextBox 15"/>
          <p:cNvSpPr txBox="1"/>
          <p:nvPr/>
        </p:nvSpPr>
        <p:spPr>
          <a:xfrm>
            <a:off x="6858000" y="1828800"/>
            <a:ext cx="4754880" cy="3200400"/>
          </a:xfrm>
          <a:prstGeom prst="rect">
            <a:avLst/>
          </a:prstGeom>
          <a:noFill/>
        </p:spPr>
        <p:txBody>
          <a:bodyPr wrap="square" lIns="36576" tIns="18288" rIns="36576" bIns="18288" anchor="t">
            <a:spAutoFit/>
          </a:bodyPr>
          <a:lstStyle/>
          <a:p>
            <a:pPr algn="l">
              <a:lnSpc>
                <a:spcPct val="115000"/>
              </a:lnSpc>
            </a:pPr>
            <a:r>
              <a:rPr sz="1800" b="0" i="0">
                <a:solidFill>
                  <a:srgbClr val="B4B8B0"/>
                </a:solidFill>
                <a:latin typeface="Segoe UI"/>
              </a:rPr>
              <a:t>Proposta por Abraham Maslow: necessidades básicas vêm antes. Uma solução sofisticada não resolve nada se a necessidade básica do cliente não foi atendida.</a:t>
            </a:r>
          </a:p>
        </p:txBody>
      </p:sp>
      <p:sp>
        <p:nvSpPr>
          <p:cNvPr id="17" name="TextBox 16"/>
          <p:cNvSpPr txBox="1"/>
          <p:nvPr/>
        </p:nvSpPr>
        <p:spPr>
          <a:xfrm>
            <a:off x="6858000" y="4754880"/>
            <a:ext cx="4754880" cy="731520"/>
          </a:xfrm>
          <a:prstGeom prst="rect">
            <a:avLst/>
          </a:prstGeom>
          <a:noFill/>
        </p:spPr>
        <p:txBody>
          <a:bodyPr wrap="square" lIns="36576" tIns="18288" rIns="36576" bIns="18288" anchor="t">
            <a:spAutoFit/>
          </a:bodyPr>
          <a:lstStyle/>
          <a:p>
            <a:pPr algn="l"/>
            <a:r>
              <a:rPr sz="1600" b="1" i="0">
                <a:solidFill>
                  <a:srgbClr val="4DB35A"/>
                </a:solidFill>
                <a:latin typeface="Segoe UI Semibold"/>
              </a:rPr>
              <a:t>Base primeiro: </a:t>
            </a:r>
            <a:r>
              <a:rPr sz="1600" b="0" i="0">
                <a:solidFill>
                  <a:srgbClr val="F2F2EC"/>
                </a:solidFill>
                <a:latin typeface="Segoe UI"/>
              </a:rPr>
              <a:t>atenda o essencial antes de encantar.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50" fill="hold"/>
                                        <p:tgtEl>
                                          <p:spTgt spid="6"/>
                                        </p:tgtEl>
                                      </p:cBhvr>
                                    </p:animEffect>
                                    <p:anim calcmode="lin" valueType="num">
                                      <p:cBhvr additive="base">
                                        <p:cTn id="11" dur="650" fill="hold"/>
                                        <p:tgtEl>
                                          <p:spTgt spid="6"/>
                                        </p:tgtEl>
                                        <p:attrNameLst>
                                          <p:attrName>ppt_x</p:attrName>
                                        </p:attrNameLst>
                                      </p:cBhvr>
                                      <p:tavLst>
                                        <p:tav tm="0">
                                          <p:val>
                                            <p:strVal val="#ppt_x"/>
                                          </p:val>
                                        </p:tav>
                                        <p:tav tm="100000">
                                          <p:val>
                                            <p:strVal val="#ppt_x"/>
                                          </p:val>
                                        </p:tav>
                                      </p:tavLst>
                                    </p:anim>
                                    <p:anim calcmode="lin" valueType="num">
                                      <p:cBhvr additive="base">
                                        <p:cTn id="12" dur="650" fill="hold"/>
                                        <p:tgtEl>
                                          <p:spTgt spid="6"/>
                                        </p:tgtEl>
                                        <p:attrNameLst>
                                          <p:attrName>ppt_y</p:attrName>
                                        </p:attrNameLst>
                                      </p:cBhvr>
                                      <p:tavLst>
                                        <p:tav tm="0">
                                          <p:val>
                                            <p:strVal val="#ppt_y+.06"/>
                                          </p:val>
                                        </p:tav>
                                        <p:tav tm="100000">
                                          <p:val>
                                            <p:strVal val="#ppt_y"/>
                                          </p:val>
                                        </p:tav>
                                      </p:tavLst>
                                    </p:anim>
                                  </p:childTnLst>
                                </p:cTn>
                              </p:par>
                              <p:par>
                                <p:cTn id="13" presetID="42" presetClass="entr" presetSubtype="0" decel="100000" fill="hold" grpId="0" nodeType="withEffect">
                                  <p:stCondLst>
                                    <p:cond delay="25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fill="hold"/>
                                        <p:tgtEl>
                                          <p:spTgt spid="7"/>
                                        </p:tgtEl>
                                      </p:cBhvr>
                                    </p:animEffect>
                                    <p:anim calcmode="lin" valueType="num">
                                      <p:cBhvr additive="base">
                                        <p:cTn id="16" dur="650" fill="hold"/>
                                        <p:tgtEl>
                                          <p:spTgt spid="7"/>
                                        </p:tgtEl>
                                        <p:attrNameLst>
                                          <p:attrName>ppt_x</p:attrName>
                                        </p:attrNameLst>
                                      </p:cBhvr>
                                      <p:tavLst>
                                        <p:tav tm="0">
                                          <p:val>
                                            <p:strVal val="#ppt_x"/>
                                          </p:val>
                                        </p:tav>
                                        <p:tav tm="100000">
                                          <p:val>
                                            <p:strVal val="#ppt_x"/>
                                          </p:val>
                                        </p:tav>
                                      </p:tavLst>
                                    </p:anim>
                                    <p:anim calcmode="lin" valueType="num">
                                      <p:cBhvr additive="base">
                                        <p:cTn id="17" dur="650" fill="hold"/>
                                        <p:tgtEl>
                                          <p:spTgt spid="7"/>
                                        </p:tgtEl>
                                        <p:attrNameLst>
                                          <p:attrName>ppt_y</p:attrName>
                                        </p:attrNameLst>
                                      </p:cBhvr>
                                      <p:tavLst>
                                        <p:tav tm="0">
                                          <p:val>
                                            <p:strVal val="#ppt_y+.06"/>
                                          </p:val>
                                        </p:tav>
                                        <p:tav tm="100000">
                                          <p:val>
                                            <p:strVal val="#ppt_y"/>
                                          </p:val>
                                        </p:tav>
                                      </p:tavLst>
                                    </p:anim>
                                  </p:childTnLst>
                                </p:cTn>
                              </p:par>
                              <p:par>
                                <p:cTn id="18" presetID="42" presetClass="entr" presetSubtype="0" decel="100000" fill="hold" grpId="0" nodeType="withEffect">
                                  <p:stCondLst>
                                    <p:cond delay="55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650" fill="hold"/>
                                        <p:tgtEl>
                                          <p:spTgt spid="8"/>
                                        </p:tgtEl>
                                      </p:cBhvr>
                                    </p:animEffect>
                                    <p:anim calcmode="lin" valueType="num">
                                      <p:cBhvr additive="base">
                                        <p:cTn id="21" dur="650" fill="hold"/>
                                        <p:tgtEl>
                                          <p:spTgt spid="8"/>
                                        </p:tgtEl>
                                        <p:attrNameLst>
                                          <p:attrName>ppt_x</p:attrName>
                                        </p:attrNameLst>
                                      </p:cBhvr>
                                      <p:tavLst>
                                        <p:tav tm="0">
                                          <p:val>
                                            <p:strVal val="#ppt_x"/>
                                          </p:val>
                                        </p:tav>
                                        <p:tav tm="100000">
                                          <p:val>
                                            <p:strVal val="#ppt_x"/>
                                          </p:val>
                                        </p:tav>
                                      </p:tavLst>
                                    </p:anim>
                                    <p:anim calcmode="lin" valueType="num">
                                      <p:cBhvr additive="base">
                                        <p:cTn id="22" dur="650" fill="hold"/>
                                        <p:tgtEl>
                                          <p:spTgt spid="8"/>
                                        </p:tgtEl>
                                        <p:attrNameLst>
                                          <p:attrName>ppt_y</p:attrName>
                                        </p:attrNameLst>
                                      </p:cBhvr>
                                      <p:tavLst>
                                        <p:tav tm="0">
                                          <p:val>
                                            <p:strVal val="#ppt_y+.06"/>
                                          </p:val>
                                        </p:tav>
                                        <p:tav tm="100000">
                                          <p:val>
                                            <p:strVal val="#ppt_y"/>
                                          </p:val>
                                        </p:tav>
                                      </p:tavLst>
                                    </p:anim>
                                  </p:childTnLst>
                                </p:cTn>
                              </p:par>
                              <p:par>
                                <p:cTn id="23" presetID="42" presetClass="entr" presetSubtype="0" decel="100000" fill="hold" grpId="0" nodeType="withEffect">
                                  <p:stCondLst>
                                    <p:cond delay="55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650" fill="hold"/>
                                        <p:tgtEl>
                                          <p:spTgt spid="9"/>
                                        </p:tgtEl>
                                      </p:cBhvr>
                                    </p:animEffect>
                                    <p:anim calcmode="lin" valueType="num">
                                      <p:cBhvr additive="base">
                                        <p:cTn id="26" dur="650" fill="hold"/>
                                        <p:tgtEl>
                                          <p:spTgt spid="9"/>
                                        </p:tgtEl>
                                        <p:attrNameLst>
                                          <p:attrName>ppt_x</p:attrName>
                                        </p:attrNameLst>
                                      </p:cBhvr>
                                      <p:tavLst>
                                        <p:tav tm="0">
                                          <p:val>
                                            <p:strVal val="#ppt_x"/>
                                          </p:val>
                                        </p:tav>
                                        <p:tav tm="100000">
                                          <p:val>
                                            <p:strVal val="#ppt_x"/>
                                          </p:val>
                                        </p:tav>
                                      </p:tavLst>
                                    </p:anim>
                                    <p:anim calcmode="lin" valueType="num">
                                      <p:cBhvr additive="base">
                                        <p:cTn id="27" dur="650" fill="hold"/>
                                        <p:tgtEl>
                                          <p:spTgt spid="9"/>
                                        </p:tgtEl>
                                        <p:attrNameLst>
                                          <p:attrName>ppt_y</p:attrName>
                                        </p:attrNameLst>
                                      </p:cBhvr>
                                      <p:tavLst>
                                        <p:tav tm="0">
                                          <p:val>
                                            <p:strVal val="#ppt_y+.06"/>
                                          </p:val>
                                        </p:tav>
                                        <p:tav tm="100000">
                                          <p:val>
                                            <p:strVal val="#ppt_y"/>
                                          </p:val>
                                        </p:tav>
                                      </p:tavLst>
                                    </p:anim>
                                  </p:childTnLst>
                                </p:cTn>
                              </p:par>
                              <p:par>
                                <p:cTn id="28" presetID="42" presetClass="entr" presetSubtype="0" decel="100000" fill="hold" grpId="0" nodeType="withEffect">
                                  <p:stCondLst>
                                    <p:cond delay="85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650" fill="hold"/>
                                        <p:tgtEl>
                                          <p:spTgt spid="10"/>
                                        </p:tgtEl>
                                      </p:cBhvr>
                                    </p:animEffect>
                                    <p:anim calcmode="lin" valueType="num">
                                      <p:cBhvr additive="base">
                                        <p:cTn id="31" dur="650" fill="hold"/>
                                        <p:tgtEl>
                                          <p:spTgt spid="10"/>
                                        </p:tgtEl>
                                        <p:attrNameLst>
                                          <p:attrName>ppt_x</p:attrName>
                                        </p:attrNameLst>
                                      </p:cBhvr>
                                      <p:tavLst>
                                        <p:tav tm="0">
                                          <p:val>
                                            <p:strVal val="#ppt_x"/>
                                          </p:val>
                                        </p:tav>
                                        <p:tav tm="100000">
                                          <p:val>
                                            <p:strVal val="#ppt_x"/>
                                          </p:val>
                                        </p:tav>
                                      </p:tavLst>
                                    </p:anim>
                                    <p:anim calcmode="lin" valueType="num">
                                      <p:cBhvr additive="base">
                                        <p:cTn id="32" dur="650" fill="hold"/>
                                        <p:tgtEl>
                                          <p:spTgt spid="10"/>
                                        </p:tgtEl>
                                        <p:attrNameLst>
                                          <p:attrName>ppt_y</p:attrName>
                                        </p:attrNameLst>
                                      </p:cBhvr>
                                      <p:tavLst>
                                        <p:tav tm="0">
                                          <p:val>
                                            <p:strVal val="#ppt_y+.06"/>
                                          </p:val>
                                        </p:tav>
                                        <p:tav tm="100000">
                                          <p:val>
                                            <p:strVal val="#ppt_y"/>
                                          </p:val>
                                        </p:tav>
                                      </p:tavLst>
                                    </p:anim>
                                  </p:childTnLst>
                                </p:cTn>
                              </p:par>
                              <p:par>
                                <p:cTn id="33" presetID="42" presetClass="entr" presetSubtype="0" decel="100000" fill="hold" grpId="0" nodeType="withEffect">
                                  <p:stCondLst>
                                    <p:cond delay="85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650" fill="hold"/>
                                        <p:tgtEl>
                                          <p:spTgt spid="11"/>
                                        </p:tgtEl>
                                      </p:cBhvr>
                                    </p:animEffect>
                                    <p:anim calcmode="lin" valueType="num">
                                      <p:cBhvr additive="base">
                                        <p:cTn id="36" dur="650" fill="hold"/>
                                        <p:tgtEl>
                                          <p:spTgt spid="11"/>
                                        </p:tgtEl>
                                        <p:attrNameLst>
                                          <p:attrName>ppt_x</p:attrName>
                                        </p:attrNameLst>
                                      </p:cBhvr>
                                      <p:tavLst>
                                        <p:tav tm="0">
                                          <p:val>
                                            <p:strVal val="#ppt_x"/>
                                          </p:val>
                                        </p:tav>
                                        <p:tav tm="100000">
                                          <p:val>
                                            <p:strVal val="#ppt_x"/>
                                          </p:val>
                                        </p:tav>
                                      </p:tavLst>
                                    </p:anim>
                                    <p:anim calcmode="lin" valueType="num">
                                      <p:cBhvr additive="base">
                                        <p:cTn id="37" dur="650" fill="hold"/>
                                        <p:tgtEl>
                                          <p:spTgt spid="11"/>
                                        </p:tgtEl>
                                        <p:attrNameLst>
                                          <p:attrName>ppt_y</p:attrName>
                                        </p:attrNameLst>
                                      </p:cBhvr>
                                      <p:tavLst>
                                        <p:tav tm="0">
                                          <p:val>
                                            <p:strVal val="#ppt_y+.06"/>
                                          </p:val>
                                        </p:tav>
                                        <p:tav tm="100000">
                                          <p:val>
                                            <p:strVal val="#ppt_y"/>
                                          </p:val>
                                        </p:tav>
                                      </p:tavLst>
                                    </p:anim>
                                  </p:childTnLst>
                                </p:cTn>
                              </p:par>
                              <p:par>
                                <p:cTn id="38" presetID="42" presetClass="entr" presetSubtype="0" decel="100000" fill="hold" grpId="0" nodeType="withEffect">
                                  <p:stCondLst>
                                    <p:cond delay="115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650" fill="hold"/>
                                        <p:tgtEl>
                                          <p:spTgt spid="12"/>
                                        </p:tgtEl>
                                      </p:cBhvr>
                                    </p:animEffect>
                                    <p:anim calcmode="lin" valueType="num">
                                      <p:cBhvr additive="base">
                                        <p:cTn id="41" dur="650" fill="hold"/>
                                        <p:tgtEl>
                                          <p:spTgt spid="12"/>
                                        </p:tgtEl>
                                        <p:attrNameLst>
                                          <p:attrName>ppt_x</p:attrName>
                                        </p:attrNameLst>
                                      </p:cBhvr>
                                      <p:tavLst>
                                        <p:tav tm="0">
                                          <p:val>
                                            <p:strVal val="#ppt_x"/>
                                          </p:val>
                                        </p:tav>
                                        <p:tav tm="100000">
                                          <p:val>
                                            <p:strVal val="#ppt_x"/>
                                          </p:val>
                                        </p:tav>
                                      </p:tavLst>
                                    </p:anim>
                                    <p:anim calcmode="lin" valueType="num">
                                      <p:cBhvr additive="base">
                                        <p:cTn id="42" dur="650" fill="hold"/>
                                        <p:tgtEl>
                                          <p:spTgt spid="12"/>
                                        </p:tgtEl>
                                        <p:attrNameLst>
                                          <p:attrName>ppt_y</p:attrName>
                                        </p:attrNameLst>
                                      </p:cBhvr>
                                      <p:tavLst>
                                        <p:tav tm="0">
                                          <p:val>
                                            <p:strVal val="#ppt_y+.06"/>
                                          </p:val>
                                        </p:tav>
                                        <p:tav tm="100000">
                                          <p:val>
                                            <p:strVal val="#ppt_y"/>
                                          </p:val>
                                        </p:tav>
                                      </p:tavLst>
                                    </p:anim>
                                  </p:childTnLst>
                                </p:cTn>
                              </p:par>
                              <p:par>
                                <p:cTn id="43" presetID="42" presetClass="entr" presetSubtype="0" decel="100000" fill="hold" grpId="0" nodeType="withEffect">
                                  <p:stCondLst>
                                    <p:cond delay="115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650" fill="hold"/>
                                        <p:tgtEl>
                                          <p:spTgt spid="13"/>
                                        </p:tgtEl>
                                      </p:cBhvr>
                                    </p:animEffect>
                                    <p:anim calcmode="lin" valueType="num">
                                      <p:cBhvr additive="base">
                                        <p:cTn id="46" dur="650" fill="hold"/>
                                        <p:tgtEl>
                                          <p:spTgt spid="13"/>
                                        </p:tgtEl>
                                        <p:attrNameLst>
                                          <p:attrName>ppt_x</p:attrName>
                                        </p:attrNameLst>
                                      </p:cBhvr>
                                      <p:tavLst>
                                        <p:tav tm="0">
                                          <p:val>
                                            <p:strVal val="#ppt_x"/>
                                          </p:val>
                                        </p:tav>
                                        <p:tav tm="100000">
                                          <p:val>
                                            <p:strVal val="#ppt_x"/>
                                          </p:val>
                                        </p:tav>
                                      </p:tavLst>
                                    </p:anim>
                                    <p:anim calcmode="lin" valueType="num">
                                      <p:cBhvr additive="base">
                                        <p:cTn id="47" dur="650" fill="hold"/>
                                        <p:tgtEl>
                                          <p:spTgt spid="13"/>
                                        </p:tgtEl>
                                        <p:attrNameLst>
                                          <p:attrName>ppt_y</p:attrName>
                                        </p:attrNameLst>
                                      </p:cBhvr>
                                      <p:tavLst>
                                        <p:tav tm="0">
                                          <p:val>
                                            <p:strVal val="#ppt_y+.06"/>
                                          </p:val>
                                        </p:tav>
                                        <p:tav tm="100000">
                                          <p:val>
                                            <p:strVal val="#ppt_y"/>
                                          </p:val>
                                        </p:tav>
                                      </p:tavLst>
                                    </p:anim>
                                  </p:childTnLst>
                                </p:cTn>
                              </p:par>
                              <p:par>
                                <p:cTn id="48" presetID="42" presetClass="entr" presetSubtype="0" decel="100000" fill="hold" grpId="0" nodeType="withEffect">
                                  <p:stCondLst>
                                    <p:cond delay="145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650" fill="hold"/>
                                        <p:tgtEl>
                                          <p:spTgt spid="14"/>
                                        </p:tgtEl>
                                      </p:cBhvr>
                                    </p:animEffect>
                                    <p:anim calcmode="lin" valueType="num">
                                      <p:cBhvr additive="base">
                                        <p:cTn id="51" dur="650" fill="hold"/>
                                        <p:tgtEl>
                                          <p:spTgt spid="14"/>
                                        </p:tgtEl>
                                        <p:attrNameLst>
                                          <p:attrName>ppt_x</p:attrName>
                                        </p:attrNameLst>
                                      </p:cBhvr>
                                      <p:tavLst>
                                        <p:tav tm="0">
                                          <p:val>
                                            <p:strVal val="#ppt_x"/>
                                          </p:val>
                                        </p:tav>
                                        <p:tav tm="100000">
                                          <p:val>
                                            <p:strVal val="#ppt_x"/>
                                          </p:val>
                                        </p:tav>
                                      </p:tavLst>
                                    </p:anim>
                                    <p:anim calcmode="lin" valueType="num">
                                      <p:cBhvr additive="base">
                                        <p:cTn id="52" dur="650" fill="hold"/>
                                        <p:tgtEl>
                                          <p:spTgt spid="14"/>
                                        </p:tgtEl>
                                        <p:attrNameLst>
                                          <p:attrName>ppt_y</p:attrName>
                                        </p:attrNameLst>
                                      </p:cBhvr>
                                      <p:tavLst>
                                        <p:tav tm="0">
                                          <p:val>
                                            <p:strVal val="#ppt_y+.06"/>
                                          </p:val>
                                        </p:tav>
                                        <p:tav tm="100000">
                                          <p:val>
                                            <p:strVal val="#ppt_y"/>
                                          </p:val>
                                        </p:tav>
                                      </p:tavLst>
                                    </p:anim>
                                  </p:childTnLst>
                                </p:cTn>
                              </p:par>
                              <p:par>
                                <p:cTn id="53" presetID="42" presetClass="entr" presetSubtype="0" decel="100000" fill="hold" grpId="0" nodeType="withEffect">
                                  <p:stCondLst>
                                    <p:cond delay="145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650" fill="hold"/>
                                        <p:tgtEl>
                                          <p:spTgt spid="15"/>
                                        </p:tgtEl>
                                      </p:cBhvr>
                                    </p:animEffect>
                                    <p:anim calcmode="lin" valueType="num">
                                      <p:cBhvr additive="base">
                                        <p:cTn id="56" dur="650" fill="hold"/>
                                        <p:tgtEl>
                                          <p:spTgt spid="15"/>
                                        </p:tgtEl>
                                        <p:attrNameLst>
                                          <p:attrName>ppt_x</p:attrName>
                                        </p:attrNameLst>
                                      </p:cBhvr>
                                      <p:tavLst>
                                        <p:tav tm="0">
                                          <p:val>
                                            <p:strVal val="#ppt_x"/>
                                          </p:val>
                                        </p:tav>
                                        <p:tav tm="100000">
                                          <p:val>
                                            <p:strVal val="#ppt_x"/>
                                          </p:val>
                                        </p:tav>
                                      </p:tavLst>
                                    </p:anim>
                                    <p:anim calcmode="lin" valueType="num">
                                      <p:cBhvr additive="base">
                                        <p:cTn id="57" dur="650" fill="hold"/>
                                        <p:tgtEl>
                                          <p:spTgt spid="15"/>
                                        </p:tgtEl>
                                        <p:attrNameLst>
                                          <p:attrName>ppt_y</p:attrName>
                                        </p:attrNameLst>
                                      </p:cBhvr>
                                      <p:tavLst>
                                        <p:tav tm="0">
                                          <p:val>
                                            <p:strVal val="#ppt_y+.06"/>
                                          </p:val>
                                        </p:tav>
                                        <p:tav tm="100000">
                                          <p:val>
                                            <p:strVal val="#ppt_y"/>
                                          </p:val>
                                        </p:tav>
                                      </p:tavLst>
                                    </p:anim>
                                  </p:childTnLst>
                                </p:cTn>
                              </p:par>
                              <p:par>
                                <p:cTn id="58" presetID="10" presetClass="entr" presetSubtype="0" fill="hold" grpId="0" nodeType="withEffect">
                                  <p:stCondLst>
                                    <p:cond delay="185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500" fill="hold"/>
                                        <p:tgtEl>
                                          <p:spTgt spid="16"/>
                                        </p:tgtEl>
                                      </p:cBhvr>
                                    </p:animEffect>
                                  </p:childTnLst>
                                </p:cTn>
                              </p:par>
                              <p:par>
                                <p:cTn id="61" presetID="42" presetClass="entr" presetSubtype="0" decel="100000" fill="hold" grpId="0" nodeType="withEffect">
                                  <p:stCondLst>
                                    <p:cond delay="2250"/>
                                  </p:stCondLst>
                                  <p:childTnLst>
                                    <p:set>
                                      <p:cBhvr>
                                        <p:cTn id="62" dur="1" fill="hold">
                                          <p:stCondLst>
                                            <p:cond delay="0"/>
                                          </p:stCondLst>
                                        </p:cTn>
                                        <p:tgtEl>
                                          <p:spTgt spid="17"/>
                                        </p:tgtEl>
                                        <p:attrNameLst>
                                          <p:attrName>style.visibility</p:attrName>
                                        </p:attrNameLst>
                                      </p:cBhvr>
                                      <p:to>
                                        <p:strVal val="visible"/>
                                      </p:to>
                                    </p:set>
                                    <p:animEffect transition="in" filter="fade">
                                      <p:cBhvr>
                                        <p:cTn id="63" dur="650" fill="hold"/>
                                        <p:tgtEl>
                                          <p:spTgt spid="17"/>
                                        </p:tgtEl>
                                      </p:cBhvr>
                                    </p:animEffect>
                                    <p:anim calcmode="lin" valueType="num">
                                      <p:cBhvr additive="base">
                                        <p:cTn id="64" dur="650" fill="hold"/>
                                        <p:tgtEl>
                                          <p:spTgt spid="17"/>
                                        </p:tgtEl>
                                        <p:attrNameLst>
                                          <p:attrName>ppt_x</p:attrName>
                                        </p:attrNameLst>
                                      </p:cBhvr>
                                      <p:tavLst>
                                        <p:tav tm="0">
                                          <p:val>
                                            <p:strVal val="#ppt_x"/>
                                          </p:val>
                                        </p:tav>
                                        <p:tav tm="100000">
                                          <p:val>
                                            <p:strVal val="#ppt_x"/>
                                          </p:val>
                                        </p:tav>
                                      </p:tavLst>
                                    </p:anim>
                                    <p:anim calcmode="lin" valueType="num">
                                      <p:cBhvr additive="base">
                                        <p:cTn id="65" dur="650" fill="hold"/>
                                        <p:tgtEl>
                                          <p:spTgt spid="17"/>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4DB35A"/>
                </a:solidFill>
                <a:latin typeface="Segoe UI Semibold"/>
              </a:rPr>
              <a:t>MÓDULO 3  ·  DEFINIR</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Job Story: foco na motivação</a:t>
            </a:r>
          </a:p>
        </p:txBody>
      </p:sp>
      <p:sp>
        <p:nvSpPr>
          <p:cNvPr id="6" name="Rounded Rectangle 5"/>
          <p:cNvSpPr/>
          <p:nvPr/>
        </p:nvSpPr>
        <p:spPr>
          <a:xfrm>
            <a:off x="548640" y="1600200"/>
            <a:ext cx="11091672" cy="1188720"/>
          </a:xfrm>
          <a:prstGeom prst="roundRect">
            <a:avLst>
              <a:gd name="adj" fmla="val 10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68680" y="1709928"/>
            <a:ext cx="2560320" cy="365760"/>
          </a:xfrm>
          <a:prstGeom prst="rect">
            <a:avLst/>
          </a:prstGeom>
          <a:noFill/>
        </p:spPr>
        <p:txBody>
          <a:bodyPr wrap="square" lIns="36576" tIns="18288" rIns="36576" bIns="18288" anchor="t">
            <a:spAutoFit/>
          </a:bodyPr>
          <a:lstStyle/>
          <a:p>
            <a:pPr algn="l"/>
            <a:r>
              <a:rPr sz="1000" b="1" i="0" spc="200">
                <a:solidFill>
                  <a:srgbClr val="7D827B"/>
                </a:solidFill>
                <a:latin typeface="Segoe UI Semibold"/>
              </a:rPr>
              <a:t>SITUAÇÃO</a:t>
            </a:r>
          </a:p>
        </p:txBody>
      </p:sp>
      <p:sp>
        <p:nvSpPr>
          <p:cNvPr id="8" name="TextBox 7"/>
          <p:cNvSpPr txBox="1"/>
          <p:nvPr/>
        </p:nvSpPr>
        <p:spPr>
          <a:xfrm>
            <a:off x="868680" y="1984248"/>
            <a:ext cx="2560320" cy="640080"/>
          </a:xfrm>
          <a:prstGeom prst="rect">
            <a:avLst/>
          </a:prstGeom>
          <a:noFill/>
        </p:spPr>
        <p:txBody>
          <a:bodyPr wrap="square" lIns="36576" tIns="18288" rIns="36576" bIns="18288" anchor="t">
            <a:spAutoFit/>
          </a:bodyPr>
          <a:lstStyle/>
          <a:p>
            <a:pPr algn="l"/>
            <a:r>
              <a:rPr sz="2600" b="1" i="0">
                <a:solidFill>
                  <a:srgbClr val="9CD848"/>
                </a:solidFill>
                <a:latin typeface="Segoe UI Semibold"/>
              </a:rPr>
              <a:t>Quando…</a:t>
            </a:r>
          </a:p>
        </p:txBody>
      </p:sp>
      <p:sp>
        <p:nvSpPr>
          <p:cNvPr id="9" name="TextBox 8"/>
          <p:cNvSpPr txBox="1"/>
          <p:nvPr/>
        </p:nvSpPr>
        <p:spPr>
          <a:xfrm>
            <a:off x="3566160" y="1600200"/>
            <a:ext cx="7863840" cy="1188720"/>
          </a:xfrm>
          <a:prstGeom prst="rect">
            <a:avLst/>
          </a:prstGeom>
          <a:noFill/>
        </p:spPr>
        <p:txBody>
          <a:bodyPr wrap="square" lIns="36576" tIns="18288" rIns="36576" bIns="18288" anchor="ctr">
            <a:spAutoFit/>
          </a:bodyPr>
          <a:lstStyle/>
          <a:p>
            <a:pPr algn="l"/>
            <a:r>
              <a:rPr sz="2200" b="0" i="0">
                <a:solidFill>
                  <a:srgbClr val="F2F2EC"/>
                </a:solidFill>
                <a:latin typeface="Segoe UI"/>
              </a:rPr>
              <a:t>estou entre dois atendimentos na loja,</a:t>
            </a:r>
          </a:p>
        </p:txBody>
      </p:sp>
      <p:sp>
        <p:nvSpPr>
          <p:cNvPr id="10" name="Rounded Rectangle 9"/>
          <p:cNvSpPr/>
          <p:nvPr/>
        </p:nvSpPr>
        <p:spPr>
          <a:xfrm>
            <a:off x="548640" y="2971800"/>
            <a:ext cx="11091672" cy="1188720"/>
          </a:xfrm>
          <a:prstGeom prst="roundRect">
            <a:avLst>
              <a:gd name="adj" fmla="val 10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68680" y="3081528"/>
            <a:ext cx="2560320" cy="365760"/>
          </a:xfrm>
          <a:prstGeom prst="rect">
            <a:avLst/>
          </a:prstGeom>
          <a:noFill/>
        </p:spPr>
        <p:txBody>
          <a:bodyPr wrap="square" lIns="36576" tIns="18288" rIns="36576" bIns="18288" anchor="t">
            <a:spAutoFit/>
          </a:bodyPr>
          <a:lstStyle/>
          <a:p>
            <a:pPr algn="l"/>
            <a:r>
              <a:rPr sz="1000" b="1" i="0" spc="200">
                <a:solidFill>
                  <a:srgbClr val="7D827B"/>
                </a:solidFill>
                <a:latin typeface="Segoe UI Semibold"/>
              </a:rPr>
              <a:t>MOTIVAÇÃO</a:t>
            </a:r>
          </a:p>
        </p:txBody>
      </p:sp>
      <p:sp>
        <p:nvSpPr>
          <p:cNvPr id="12" name="TextBox 11"/>
          <p:cNvSpPr txBox="1"/>
          <p:nvPr/>
        </p:nvSpPr>
        <p:spPr>
          <a:xfrm>
            <a:off x="868680" y="3355848"/>
            <a:ext cx="2560320" cy="640080"/>
          </a:xfrm>
          <a:prstGeom prst="rect">
            <a:avLst/>
          </a:prstGeom>
          <a:noFill/>
        </p:spPr>
        <p:txBody>
          <a:bodyPr wrap="square" lIns="36576" tIns="18288" rIns="36576" bIns="18288" anchor="t">
            <a:spAutoFit/>
          </a:bodyPr>
          <a:lstStyle/>
          <a:p>
            <a:pPr algn="l"/>
            <a:r>
              <a:rPr sz="2600" b="1" i="0">
                <a:solidFill>
                  <a:srgbClr val="2FA38A"/>
                </a:solidFill>
                <a:latin typeface="Segoe UI Semibold"/>
              </a:rPr>
              <a:t>eu quero…</a:t>
            </a:r>
          </a:p>
        </p:txBody>
      </p:sp>
      <p:sp>
        <p:nvSpPr>
          <p:cNvPr id="13" name="TextBox 12"/>
          <p:cNvSpPr txBox="1"/>
          <p:nvPr/>
        </p:nvSpPr>
        <p:spPr>
          <a:xfrm>
            <a:off x="3566160" y="2971800"/>
            <a:ext cx="7863840" cy="1188720"/>
          </a:xfrm>
          <a:prstGeom prst="rect">
            <a:avLst/>
          </a:prstGeom>
          <a:noFill/>
        </p:spPr>
        <p:txBody>
          <a:bodyPr wrap="square" lIns="36576" tIns="18288" rIns="36576" bIns="18288" anchor="ctr">
            <a:spAutoFit/>
          </a:bodyPr>
          <a:lstStyle/>
          <a:p>
            <a:pPr algn="l"/>
            <a:r>
              <a:rPr sz="2200" b="0" i="0">
                <a:solidFill>
                  <a:srgbClr val="F2F2EC"/>
                </a:solidFill>
                <a:latin typeface="Segoe UI"/>
              </a:rPr>
              <a:t>responder rapidamente as dúvidas dos clientes,</a:t>
            </a:r>
          </a:p>
        </p:txBody>
      </p:sp>
      <p:sp>
        <p:nvSpPr>
          <p:cNvPr id="14" name="Rounded Rectangle 13"/>
          <p:cNvSpPr/>
          <p:nvPr/>
        </p:nvSpPr>
        <p:spPr>
          <a:xfrm>
            <a:off x="548640" y="4343400"/>
            <a:ext cx="11091672" cy="1188720"/>
          </a:xfrm>
          <a:prstGeom prst="roundRect">
            <a:avLst>
              <a:gd name="adj" fmla="val 10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68680" y="4453128"/>
            <a:ext cx="2560320" cy="365760"/>
          </a:xfrm>
          <a:prstGeom prst="rect">
            <a:avLst/>
          </a:prstGeom>
          <a:noFill/>
        </p:spPr>
        <p:txBody>
          <a:bodyPr wrap="square" lIns="36576" tIns="18288" rIns="36576" bIns="18288" anchor="t">
            <a:spAutoFit/>
          </a:bodyPr>
          <a:lstStyle/>
          <a:p>
            <a:pPr algn="l"/>
            <a:r>
              <a:rPr sz="1000" b="1" i="0" spc="200">
                <a:solidFill>
                  <a:srgbClr val="7D827B"/>
                </a:solidFill>
                <a:latin typeface="Segoe UI Semibold"/>
              </a:rPr>
              <a:t>RESULTADO</a:t>
            </a:r>
          </a:p>
        </p:txBody>
      </p:sp>
      <p:sp>
        <p:nvSpPr>
          <p:cNvPr id="16" name="TextBox 15"/>
          <p:cNvSpPr txBox="1"/>
          <p:nvPr/>
        </p:nvSpPr>
        <p:spPr>
          <a:xfrm>
            <a:off x="868680" y="4727448"/>
            <a:ext cx="2560320" cy="640080"/>
          </a:xfrm>
          <a:prstGeom prst="rect">
            <a:avLst/>
          </a:prstGeom>
          <a:noFill/>
        </p:spPr>
        <p:txBody>
          <a:bodyPr wrap="square" lIns="36576" tIns="18288" rIns="36576" bIns="18288" anchor="t">
            <a:spAutoFit/>
          </a:bodyPr>
          <a:lstStyle/>
          <a:p>
            <a:pPr algn="l"/>
            <a:r>
              <a:rPr sz="2600" b="1" i="0">
                <a:solidFill>
                  <a:srgbClr val="2A9FC0"/>
                </a:solidFill>
                <a:latin typeface="Segoe UI Semibold"/>
              </a:rPr>
              <a:t>para que…</a:t>
            </a:r>
          </a:p>
        </p:txBody>
      </p:sp>
      <p:sp>
        <p:nvSpPr>
          <p:cNvPr id="17" name="TextBox 16"/>
          <p:cNvSpPr txBox="1"/>
          <p:nvPr/>
        </p:nvSpPr>
        <p:spPr>
          <a:xfrm>
            <a:off x="3566160" y="4343400"/>
            <a:ext cx="7863840" cy="1188720"/>
          </a:xfrm>
          <a:prstGeom prst="rect">
            <a:avLst/>
          </a:prstGeom>
          <a:noFill/>
        </p:spPr>
        <p:txBody>
          <a:bodyPr wrap="square" lIns="36576" tIns="18288" rIns="36576" bIns="18288" anchor="ctr">
            <a:spAutoFit/>
          </a:bodyPr>
          <a:lstStyle/>
          <a:p>
            <a:pPr algn="l"/>
            <a:r>
              <a:rPr sz="2200" b="0" i="0">
                <a:solidFill>
                  <a:srgbClr val="F2F2EC"/>
                </a:solidFill>
                <a:latin typeface="Segoe UI"/>
              </a:rPr>
              <a:t>eu não perca a venda por demora.</a:t>
            </a:r>
          </a:p>
        </p:txBody>
      </p:sp>
      <p:sp>
        <p:nvSpPr>
          <p:cNvPr id="18" name="TextBox 17"/>
          <p:cNvSpPr txBox="1"/>
          <p:nvPr/>
        </p:nvSpPr>
        <p:spPr>
          <a:xfrm>
            <a:off x="548640" y="5760720"/>
            <a:ext cx="11064240" cy="365760"/>
          </a:xfrm>
          <a:prstGeom prst="rect">
            <a:avLst/>
          </a:prstGeom>
          <a:noFill/>
        </p:spPr>
        <p:txBody>
          <a:bodyPr wrap="square" lIns="36576" tIns="18288" rIns="36576" bIns="18288" anchor="t">
            <a:spAutoFit/>
          </a:bodyPr>
          <a:lstStyle/>
          <a:p>
            <a:pPr algn="l"/>
            <a:r>
              <a:rPr sz="1400" b="0" i="0">
                <a:solidFill>
                  <a:srgbClr val="7D827B"/>
                </a:solidFill>
                <a:latin typeface="Segoe UI"/>
              </a:rPr>
              <a:t>Foque na situação e na motivação, não no perfil demográfico.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50" fill="hold"/>
                                        <p:tgtEl>
                                          <p:spTgt spid="6"/>
                                        </p:tgtEl>
                                      </p:cBhvr>
                                    </p:animEffect>
                                    <p:anim calcmode="lin" valueType="num">
                                      <p:cBhvr additive="base">
                                        <p:cTn id="11" dur="650" fill="hold"/>
                                        <p:tgtEl>
                                          <p:spTgt spid="6"/>
                                        </p:tgtEl>
                                        <p:attrNameLst>
                                          <p:attrName>ppt_x</p:attrName>
                                        </p:attrNameLst>
                                      </p:cBhvr>
                                      <p:tavLst>
                                        <p:tav tm="0">
                                          <p:val>
                                            <p:strVal val="#ppt_x"/>
                                          </p:val>
                                        </p:tav>
                                        <p:tav tm="100000">
                                          <p:val>
                                            <p:strVal val="#ppt_x"/>
                                          </p:val>
                                        </p:tav>
                                      </p:tavLst>
                                    </p:anim>
                                    <p:anim calcmode="lin" valueType="num">
                                      <p:cBhvr additive="base">
                                        <p:cTn id="12" dur="650" fill="hold"/>
                                        <p:tgtEl>
                                          <p:spTgt spid="6"/>
                                        </p:tgtEl>
                                        <p:attrNameLst>
                                          <p:attrName>ppt_y</p:attrName>
                                        </p:attrNameLst>
                                      </p:cBhvr>
                                      <p:tavLst>
                                        <p:tav tm="0">
                                          <p:val>
                                            <p:strVal val="#ppt_y+.06"/>
                                          </p:val>
                                        </p:tav>
                                        <p:tav tm="100000">
                                          <p:val>
                                            <p:strVal val="#ppt_y"/>
                                          </p:val>
                                        </p:tav>
                                      </p:tavLst>
                                    </p:anim>
                                  </p:childTnLst>
                                </p:cTn>
                              </p:par>
                              <p:par>
                                <p:cTn id="13" presetID="42" presetClass="entr" presetSubtype="0" decel="100000" fill="hold" grpId="0" nodeType="withEffect">
                                  <p:stCondLst>
                                    <p:cond delay="25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fill="hold"/>
                                        <p:tgtEl>
                                          <p:spTgt spid="7"/>
                                        </p:tgtEl>
                                      </p:cBhvr>
                                    </p:animEffect>
                                    <p:anim calcmode="lin" valueType="num">
                                      <p:cBhvr additive="base">
                                        <p:cTn id="16" dur="650" fill="hold"/>
                                        <p:tgtEl>
                                          <p:spTgt spid="7"/>
                                        </p:tgtEl>
                                        <p:attrNameLst>
                                          <p:attrName>ppt_x</p:attrName>
                                        </p:attrNameLst>
                                      </p:cBhvr>
                                      <p:tavLst>
                                        <p:tav tm="0">
                                          <p:val>
                                            <p:strVal val="#ppt_x"/>
                                          </p:val>
                                        </p:tav>
                                        <p:tav tm="100000">
                                          <p:val>
                                            <p:strVal val="#ppt_x"/>
                                          </p:val>
                                        </p:tav>
                                      </p:tavLst>
                                    </p:anim>
                                    <p:anim calcmode="lin" valueType="num">
                                      <p:cBhvr additive="base">
                                        <p:cTn id="17" dur="650" fill="hold"/>
                                        <p:tgtEl>
                                          <p:spTgt spid="7"/>
                                        </p:tgtEl>
                                        <p:attrNameLst>
                                          <p:attrName>ppt_y</p:attrName>
                                        </p:attrNameLst>
                                      </p:cBhvr>
                                      <p:tavLst>
                                        <p:tav tm="0">
                                          <p:val>
                                            <p:strVal val="#ppt_y+.06"/>
                                          </p:val>
                                        </p:tav>
                                        <p:tav tm="100000">
                                          <p:val>
                                            <p:strVal val="#ppt_y"/>
                                          </p:val>
                                        </p:tav>
                                      </p:tavLst>
                                    </p:anim>
                                  </p:childTnLst>
                                </p:cTn>
                              </p:par>
                              <p:par>
                                <p:cTn id="18" presetID="42" presetClass="entr" presetSubtype="0" decel="100000" fill="hold" grpId="0" nodeType="withEffect">
                                  <p:stCondLst>
                                    <p:cond delay="25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650" fill="hold"/>
                                        <p:tgtEl>
                                          <p:spTgt spid="8"/>
                                        </p:tgtEl>
                                      </p:cBhvr>
                                    </p:animEffect>
                                    <p:anim calcmode="lin" valueType="num">
                                      <p:cBhvr additive="base">
                                        <p:cTn id="21" dur="650" fill="hold"/>
                                        <p:tgtEl>
                                          <p:spTgt spid="8"/>
                                        </p:tgtEl>
                                        <p:attrNameLst>
                                          <p:attrName>ppt_x</p:attrName>
                                        </p:attrNameLst>
                                      </p:cBhvr>
                                      <p:tavLst>
                                        <p:tav tm="0">
                                          <p:val>
                                            <p:strVal val="#ppt_x"/>
                                          </p:val>
                                        </p:tav>
                                        <p:tav tm="100000">
                                          <p:val>
                                            <p:strVal val="#ppt_x"/>
                                          </p:val>
                                        </p:tav>
                                      </p:tavLst>
                                    </p:anim>
                                    <p:anim calcmode="lin" valueType="num">
                                      <p:cBhvr additive="base">
                                        <p:cTn id="22" dur="650" fill="hold"/>
                                        <p:tgtEl>
                                          <p:spTgt spid="8"/>
                                        </p:tgtEl>
                                        <p:attrNameLst>
                                          <p:attrName>ppt_y</p:attrName>
                                        </p:attrNameLst>
                                      </p:cBhvr>
                                      <p:tavLst>
                                        <p:tav tm="0">
                                          <p:val>
                                            <p:strVal val="#ppt_y+.06"/>
                                          </p:val>
                                        </p:tav>
                                        <p:tav tm="100000">
                                          <p:val>
                                            <p:strVal val="#ppt_y"/>
                                          </p:val>
                                        </p:tav>
                                      </p:tavLst>
                                    </p:anim>
                                  </p:childTnLst>
                                </p:cTn>
                              </p:par>
                              <p:par>
                                <p:cTn id="23" presetID="10" presetClass="entr" presetSubtype="0" fill="hold" grpId="0" nodeType="withEffect">
                                  <p:stCondLst>
                                    <p:cond delay="450"/>
                                  </p:stCondLst>
                                  <p:iterate type="wd">
                                    <p:tmPct val="25000"/>
                                  </p:iterate>
                                  <p:childTnLst>
                                    <p:set>
                                      <p:cBhvr>
                                        <p:cTn id="24" dur="1" fill="hold">
                                          <p:stCondLst>
                                            <p:cond delay="0"/>
                                          </p:stCondLst>
                                        </p:cTn>
                                        <p:tgtEl>
                                          <p:spTgt spid="9"/>
                                        </p:tgtEl>
                                        <p:attrNameLst>
                                          <p:attrName>style.visibility</p:attrName>
                                        </p:attrNameLst>
                                      </p:cBhvr>
                                      <p:to>
                                        <p:strVal val="visible"/>
                                      </p:to>
                                    </p:set>
                                    <p:animEffect transition="in" filter="fade">
                                      <p:cBhvr>
                                        <p:cTn id="25" dur="420" fill="hold"/>
                                        <p:tgtEl>
                                          <p:spTgt spid="9"/>
                                        </p:tgtEl>
                                      </p:cBhvr>
                                    </p:animEffect>
                                  </p:childTnLst>
                                </p:cTn>
                              </p:par>
                              <p:par>
                                <p:cTn id="26" presetID="42" presetClass="entr" presetSubtype="0" decel="100000" fill="hold" grpId="0" nodeType="withEffect">
                                  <p:stCondLst>
                                    <p:cond delay="90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650" fill="hold"/>
                                        <p:tgtEl>
                                          <p:spTgt spid="10"/>
                                        </p:tgtEl>
                                      </p:cBhvr>
                                    </p:animEffect>
                                    <p:anim calcmode="lin" valueType="num">
                                      <p:cBhvr additive="base">
                                        <p:cTn id="29" dur="650" fill="hold"/>
                                        <p:tgtEl>
                                          <p:spTgt spid="10"/>
                                        </p:tgtEl>
                                        <p:attrNameLst>
                                          <p:attrName>ppt_x</p:attrName>
                                        </p:attrNameLst>
                                      </p:cBhvr>
                                      <p:tavLst>
                                        <p:tav tm="0">
                                          <p:val>
                                            <p:strVal val="#ppt_x"/>
                                          </p:val>
                                        </p:tav>
                                        <p:tav tm="100000">
                                          <p:val>
                                            <p:strVal val="#ppt_x"/>
                                          </p:val>
                                        </p:tav>
                                      </p:tavLst>
                                    </p:anim>
                                    <p:anim calcmode="lin" valueType="num">
                                      <p:cBhvr additive="base">
                                        <p:cTn id="30" dur="650" fill="hold"/>
                                        <p:tgtEl>
                                          <p:spTgt spid="10"/>
                                        </p:tgtEl>
                                        <p:attrNameLst>
                                          <p:attrName>ppt_y</p:attrName>
                                        </p:attrNameLst>
                                      </p:cBhvr>
                                      <p:tavLst>
                                        <p:tav tm="0">
                                          <p:val>
                                            <p:strVal val="#ppt_y+.06"/>
                                          </p:val>
                                        </p:tav>
                                        <p:tav tm="100000">
                                          <p:val>
                                            <p:strVal val="#ppt_y"/>
                                          </p:val>
                                        </p:tav>
                                      </p:tavLst>
                                    </p:anim>
                                  </p:childTnLst>
                                </p:cTn>
                              </p:par>
                              <p:par>
                                <p:cTn id="31" presetID="42" presetClass="entr" presetSubtype="0" decel="100000" fill="hold" grpId="0" nodeType="withEffect">
                                  <p:stCondLst>
                                    <p:cond delay="90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650" fill="hold"/>
                                        <p:tgtEl>
                                          <p:spTgt spid="11"/>
                                        </p:tgtEl>
                                      </p:cBhvr>
                                    </p:animEffect>
                                    <p:anim calcmode="lin" valueType="num">
                                      <p:cBhvr additive="base">
                                        <p:cTn id="34" dur="650" fill="hold"/>
                                        <p:tgtEl>
                                          <p:spTgt spid="11"/>
                                        </p:tgtEl>
                                        <p:attrNameLst>
                                          <p:attrName>ppt_x</p:attrName>
                                        </p:attrNameLst>
                                      </p:cBhvr>
                                      <p:tavLst>
                                        <p:tav tm="0">
                                          <p:val>
                                            <p:strVal val="#ppt_x"/>
                                          </p:val>
                                        </p:tav>
                                        <p:tav tm="100000">
                                          <p:val>
                                            <p:strVal val="#ppt_x"/>
                                          </p:val>
                                        </p:tav>
                                      </p:tavLst>
                                    </p:anim>
                                    <p:anim calcmode="lin" valueType="num">
                                      <p:cBhvr additive="base">
                                        <p:cTn id="35" dur="650" fill="hold"/>
                                        <p:tgtEl>
                                          <p:spTgt spid="11"/>
                                        </p:tgtEl>
                                        <p:attrNameLst>
                                          <p:attrName>ppt_y</p:attrName>
                                        </p:attrNameLst>
                                      </p:cBhvr>
                                      <p:tavLst>
                                        <p:tav tm="0">
                                          <p:val>
                                            <p:strVal val="#ppt_y+.06"/>
                                          </p:val>
                                        </p:tav>
                                        <p:tav tm="100000">
                                          <p:val>
                                            <p:strVal val="#ppt_y"/>
                                          </p:val>
                                        </p:tav>
                                      </p:tavLst>
                                    </p:anim>
                                  </p:childTnLst>
                                </p:cTn>
                              </p:par>
                              <p:par>
                                <p:cTn id="36" presetID="42" presetClass="entr" presetSubtype="0" decel="100000" fill="hold" grpId="0" nodeType="withEffect">
                                  <p:stCondLst>
                                    <p:cond delay="90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650" fill="hold"/>
                                        <p:tgtEl>
                                          <p:spTgt spid="12"/>
                                        </p:tgtEl>
                                      </p:cBhvr>
                                    </p:animEffect>
                                    <p:anim calcmode="lin" valueType="num">
                                      <p:cBhvr additive="base">
                                        <p:cTn id="39" dur="650" fill="hold"/>
                                        <p:tgtEl>
                                          <p:spTgt spid="12"/>
                                        </p:tgtEl>
                                        <p:attrNameLst>
                                          <p:attrName>ppt_x</p:attrName>
                                        </p:attrNameLst>
                                      </p:cBhvr>
                                      <p:tavLst>
                                        <p:tav tm="0">
                                          <p:val>
                                            <p:strVal val="#ppt_x"/>
                                          </p:val>
                                        </p:tav>
                                        <p:tav tm="100000">
                                          <p:val>
                                            <p:strVal val="#ppt_x"/>
                                          </p:val>
                                        </p:tav>
                                      </p:tavLst>
                                    </p:anim>
                                    <p:anim calcmode="lin" valueType="num">
                                      <p:cBhvr additive="base">
                                        <p:cTn id="40" dur="650" fill="hold"/>
                                        <p:tgtEl>
                                          <p:spTgt spid="12"/>
                                        </p:tgtEl>
                                        <p:attrNameLst>
                                          <p:attrName>ppt_y</p:attrName>
                                        </p:attrNameLst>
                                      </p:cBhvr>
                                      <p:tavLst>
                                        <p:tav tm="0">
                                          <p:val>
                                            <p:strVal val="#ppt_y+.06"/>
                                          </p:val>
                                        </p:tav>
                                        <p:tav tm="100000">
                                          <p:val>
                                            <p:strVal val="#ppt_y"/>
                                          </p:val>
                                        </p:tav>
                                      </p:tavLst>
                                    </p:anim>
                                  </p:childTnLst>
                                </p:cTn>
                              </p:par>
                              <p:par>
                                <p:cTn id="41" presetID="10" presetClass="entr" presetSubtype="0" fill="hold" grpId="0" nodeType="withEffect">
                                  <p:stCondLst>
                                    <p:cond delay="1100"/>
                                  </p:stCondLst>
                                  <p:iterate type="wd">
                                    <p:tmPct val="25000"/>
                                  </p:iterate>
                                  <p:childTnLst>
                                    <p:set>
                                      <p:cBhvr>
                                        <p:cTn id="42" dur="1" fill="hold">
                                          <p:stCondLst>
                                            <p:cond delay="0"/>
                                          </p:stCondLst>
                                        </p:cTn>
                                        <p:tgtEl>
                                          <p:spTgt spid="13"/>
                                        </p:tgtEl>
                                        <p:attrNameLst>
                                          <p:attrName>style.visibility</p:attrName>
                                        </p:attrNameLst>
                                      </p:cBhvr>
                                      <p:to>
                                        <p:strVal val="visible"/>
                                      </p:to>
                                    </p:set>
                                    <p:animEffect transition="in" filter="fade">
                                      <p:cBhvr>
                                        <p:cTn id="43" dur="420" fill="hold"/>
                                        <p:tgtEl>
                                          <p:spTgt spid="13"/>
                                        </p:tgtEl>
                                      </p:cBhvr>
                                    </p:animEffect>
                                  </p:childTnLst>
                                </p:cTn>
                              </p:par>
                              <p:par>
                                <p:cTn id="44" presetID="42" presetClass="entr" presetSubtype="0" decel="100000" fill="hold" grpId="0" nodeType="withEffect">
                                  <p:stCondLst>
                                    <p:cond delay="155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650" fill="hold"/>
                                        <p:tgtEl>
                                          <p:spTgt spid="14"/>
                                        </p:tgtEl>
                                      </p:cBhvr>
                                    </p:animEffect>
                                    <p:anim calcmode="lin" valueType="num">
                                      <p:cBhvr additive="base">
                                        <p:cTn id="47" dur="650" fill="hold"/>
                                        <p:tgtEl>
                                          <p:spTgt spid="14"/>
                                        </p:tgtEl>
                                        <p:attrNameLst>
                                          <p:attrName>ppt_x</p:attrName>
                                        </p:attrNameLst>
                                      </p:cBhvr>
                                      <p:tavLst>
                                        <p:tav tm="0">
                                          <p:val>
                                            <p:strVal val="#ppt_x"/>
                                          </p:val>
                                        </p:tav>
                                        <p:tav tm="100000">
                                          <p:val>
                                            <p:strVal val="#ppt_x"/>
                                          </p:val>
                                        </p:tav>
                                      </p:tavLst>
                                    </p:anim>
                                    <p:anim calcmode="lin" valueType="num">
                                      <p:cBhvr additive="base">
                                        <p:cTn id="48" dur="650" fill="hold"/>
                                        <p:tgtEl>
                                          <p:spTgt spid="14"/>
                                        </p:tgtEl>
                                        <p:attrNameLst>
                                          <p:attrName>ppt_y</p:attrName>
                                        </p:attrNameLst>
                                      </p:cBhvr>
                                      <p:tavLst>
                                        <p:tav tm="0">
                                          <p:val>
                                            <p:strVal val="#ppt_y+.06"/>
                                          </p:val>
                                        </p:tav>
                                        <p:tav tm="100000">
                                          <p:val>
                                            <p:strVal val="#ppt_y"/>
                                          </p:val>
                                        </p:tav>
                                      </p:tavLst>
                                    </p:anim>
                                  </p:childTnLst>
                                </p:cTn>
                              </p:par>
                              <p:par>
                                <p:cTn id="49" presetID="42" presetClass="entr" presetSubtype="0" decel="100000" fill="hold" grpId="0" nodeType="withEffect">
                                  <p:stCondLst>
                                    <p:cond delay="1550"/>
                                  </p:stCondLst>
                                  <p:childTnLst>
                                    <p:set>
                                      <p:cBhvr>
                                        <p:cTn id="50" dur="1" fill="hold">
                                          <p:stCondLst>
                                            <p:cond delay="0"/>
                                          </p:stCondLst>
                                        </p:cTn>
                                        <p:tgtEl>
                                          <p:spTgt spid="15"/>
                                        </p:tgtEl>
                                        <p:attrNameLst>
                                          <p:attrName>style.visibility</p:attrName>
                                        </p:attrNameLst>
                                      </p:cBhvr>
                                      <p:to>
                                        <p:strVal val="visible"/>
                                      </p:to>
                                    </p:set>
                                    <p:animEffect transition="in" filter="fade">
                                      <p:cBhvr>
                                        <p:cTn id="51" dur="650" fill="hold"/>
                                        <p:tgtEl>
                                          <p:spTgt spid="15"/>
                                        </p:tgtEl>
                                      </p:cBhvr>
                                    </p:animEffect>
                                    <p:anim calcmode="lin" valueType="num">
                                      <p:cBhvr additive="base">
                                        <p:cTn id="52" dur="650" fill="hold"/>
                                        <p:tgtEl>
                                          <p:spTgt spid="15"/>
                                        </p:tgtEl>
                                        <p:attrNameLst>
                                          <p:attrName>ppt_x</p:attrName>
                                        </p:attrNameLst>
                                      </p:cBhvr>
                                      <p:tavLst>
                                        <p:tav tm="0">
                                          <p:val>
                                            <p:strVal val="#ppt_x"/>
                                          </p:val>
                                        </p:tav>
                                        <p:tav tm="100000">
                                          <p:val>
                                            <p:strVal val="#ppt_x"/>
                                          </p:val>
                                        </p:tav>
                                      </p:tavLst>
                                    </p:anim>
                                    <p:anim calcmode="lin" valueType="num">
                                      <p:cBhvr additive="base">
                                        <p:cTn id="53" dur="650" fill="hold"/>
                                        <p:tgtEl>
                                          <p:spTgt spid="15"/>
                                        </p:tgtEl>
                                        <p:attrNameLst>
                                          <p:attrName>ppt_y</p:attrName>
                                        </p:attrNameLst>
                                      </p:cBhvr>
                                      <p:tavLst>
                                        <p:tav tm="0">
                                          <p:val>
                                            <p:strVal val="#ppt_y+.06"/>
                                          </p:val>
                                        </p:tav>
                                        <p:tav tm="100000">
                                          <p:val>
                                            <p:strVal val="#ppt_y"/>
                                          </p:val>
                                        </p:tav>
                                      </p:tavLst>
                                    </p:anim>
                                  </p:childTnLst>
                                </p:cTn>
                              </p:par>
                              <p:par>
                                <p:cTn id="54" presetID="42" presetClass="entr" presetSubtype="0" decel="100000" fill="hold" grpId="0" nodeType="withEffect">
                                  <p:stCondLst>
                                    <p:cond delay="1550"/>
                                  </p:stCondLst>
                                  <p:childTnLst>
                                    <p:set>
                                      <p:cBhvr>
                                        <p:cTn id="55" dur="1" fill="hold">
                                          <p:stCondLst>
                                            <p:cond delay="0"/>
                                          </p:stCondLst>
                                        </p:cTn>
                                        <p:tgtEl>
                                          <p:spTgt spid="16"/>
                                        </p:tgtEl>
                                        <p:attrNameLst>
                                          <p:attrName>style.visibility</p:attrName>
                                        </p:attrNameLst>
                                      </p:cBhvr>
                                      <p:to>
                                        <p:strVal val="visible"/>
                                      </p:to>
                                    </p:set>
                                    <p:animEffect transition="in" filter="fade">
                                      <p:cBhvr>
                                        <p:cTn id="56" dur="650" fill="hold"/>
                                        <p:tgtEl>
                                          <p:spTgt spid="16"/>
                                        </p:tgtEl>
                                      </p:cBhvr>
                                    </p:animEffect>
                                    <p:anim calcmode="lin" valueType="num">
                                      <p:cBhvr additive="base">
                                        <p:cTn id="57" dur="650" fill="hold"/>
                                        <p:tgtEl>
                                          <p:spTgt spid="16"/>
                                        </p:tgtEl>
                                        <p:attrNameLst>
                                          <p:attrName>ppt_x</p:attrName>
                                        </p:attrNameLst>
                                      </p:cBhvr>
                                      <p:tavLst>
                                        <p:tav tm="0">
                                          <p:val>
                                            <p:strVal val="#ppt_x"/>
                                          </p:val>
                                        </p:tav>
                                        <p:tav tm="100000">
                                          <p:val>
                                            <p:strVal val="#ppt_x"/>
                                          </p:val>
                                        </p:tav>
                                      </p:tavLst>
                                    </p:anim>
                                    <p:anim calcmode="lin" valueType="num">
                                      <p:cBhvr additive="base">
                                        <p:cTn id="58" dur="650" fill="hold"/>
                                        <p:tgtEl>
                                          <p:spTgt spid="16"/>
                                        </p:tgtEl>
                                        <p:attrNameLst>
                                          <p:attrName>ppt_y</p:attrName>
                                        </p:attrNameLst>
                                      </p:cBhvr>
                                      <p:tavLst>
                                        <p:tav tm="0">
                                          <p:val>
                                            <p:strVal val="#ppt_y+.06"/>
                                          </p:val>
                                        </p:tav>
                                        <p:tav tm="100000">
                                          <p:val>
                                            <p:strVal val="#ppt_y"/>
                                          </p:val>
                                        </p:tav>
                                      </p:tavLst>
                                    </p:anim>
                                  </p:childTnLst>
                                </p:cTn>
                              </p:par>
                              <p:par>
                                <p:cTn id="59" presetID="10" presetClass="entr" presetSubtype="0" fill="hold" grpId="0" nodeType="withEffect">
                                  <p:stCondLst>
                                    <p:cond delay="1750"/>
                                  </p:stCondLst>
                                  <p:iterate type="wd">
                                    <p:tmPct val="25000"/>
                                  </p:iterate>
                                  <p:childTnLst>
                                    <p:set>
                                      <p:cBhvr>
                                        <p:cTn id="60" dur="1" fill="hold">
                                          <p:stCondLst>
                                            <p:cond delay="0"/>
                                          </p:stCondLst>
                                        </p:cTn>
                                        <p:tgtEl>
                                          <p:spTgt spid="17"/>
                                        </p:tgtEl>
                                        <p:attrNameLst>
                                          <p:attrName>style.visibility</p:attrName>
                                        </p:attrNameLst>
                                      </p:cBhvr>
                                      <p:to>
                                        <p:strVal val="visible"/>
                                      </p:to>
                                    </p:set>
                                    <p:animEffect transition="in" filter="fade">
                                      <p:cBhvr>
                                        <p:cTn id="61" dur="420" fill="hold"/>
                                        <p:tgtEl>
                                          <p:spTgt spid="17"/>
                                        </p:tgtEl>
                                      </p:cBhvr>
                                    </p:animEffect>
                                  </p:childTnLst>
                                </p:cTn>
                              </p:par>
                              <p:par>
                                <p:cTn id="62" presetID="10" presetClass="entr" presetSubtype="0" fill="hold" grpId="0" nodeType="withEffect">
                                  <p:stCondLst>
                                    <p:cond delay="310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00" fill="hold"/>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4DB35A"/>
                </a:solidFill>
                <a:latin typeface="Segoe UI Semibold"/>
              </a:rPr>
              <a:t>MÓDULO 3  ·  DEFINIR</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Mapa de Empatia</a:t>
            </a:r>
          </a:p>
        </p:txBody>
      </p:sp>
      <p:sp>
        <p:nvSpPr>
          <p:cNvPr id="6" name="Rounded Rectangle 5"/>
          <p:cNvSpPr/>
          <p:nvPr/>
        </p:nvSpPr>
        <p:spPr>
          <a:xfrm>
            <a:off x="548640" y="1463040"/>
            <a:ext cx="5486400" cy="160020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68680" y="1737360"/>
            <a:ext cx="2971800" cy="457200"/>
          </a:xfrm>
          <a:prstGeom prst="rect">
            <a:avLst/>
          </a:prstGeom>
          <a:noFill/>
        </p:spPr>
        <p:txBody>
          <a:bodyPr wrap="square" lIns="36576" tIns="18288" rIns="36576" bIns="18288" anchor="t">
            <a:spAutoFit/>
          </a:bodyPr>
          <a:lstStyle/>
          <a:p>
            <a:pPr algn="l"/>
            <a:r>
              <a:rPr sz="2000" b="1" i="0">
                <a:solidFill>
                  <a:srgbClr val="9CD848"/>
                </a:solidFill>
                <a:latin typeface="Segoe UI Semibold"/>
              </a:rPr>
              <a:t>Pensa e sente</a:t>
            </a:r>
          </a:p>
        </p:txBody>
      </p:sp>
      <p:sp>
        <p:nvSpPr>
          <p:cNvPr id="8" name="TextBox 7"/>
          <p:cNvSpPr txBox="1"/>
          <p:nvPr/>
        </p:nvSpPr>
        <p:spPr>
          <a:xfrm>
            <a:off x="868680" y="2240280"/>
            <a:ext cx="2971800" cy="731520"/>
          </a:xfrm>
          <a:prstGeom prst="rect">
            <a:avLst/>
          </a:prstGeom>
          <a:noFill/>
        </p:spPr>
        <p:txBody>
          <a:bodyPr wrap="square" lIns="36576" tIns="18288" rIns="36576" bIns="18288" anchor="t">
            <a:spAutoFit/>
          </a:bodyPr>
          <a:lstStyle/>
          <a:p>
            <a:pPr algn="l"/>
            <a:r>
              <a:rPr sz="1400" b="0" i="0">
                <a:solidFill>
                  <a:srgbClr val="B4B8B0"/>
                </a:solidFill>
                <a:latin typeface="Segoe UI"/>
              </a:rPr>
              <a:t>Preocupações, sonhos, medos</a:t>
            </a:r>
          </a:p>
        </p:txBody>
      </p:sp>
      <p:sp>
        <p:nvSpPr>
          <p:cNvPr id="9" name="Rounded Rectangle 8"/>
          <p:cNvSpPr/>
          <p:nvPr/>
        </p:nvSpPr>
        <p:spPr>
          <a:xfrm>
            <a:off x="6153912" y="1463040"/>
            <a:ext cx="5486400" cy="160020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348472" y="1737360"/>
            <a:ext cx="2971800" cy="457200"/>
          </a:xfrm>
          <a:prstGeom prst="rect">
            <a:avLst/>
          </a:prstGeom>
          <a:noFill/>
        </p:spPr>
        <p:txBody>
          <a:bodyPr wrap="square" lIns="36576" tIns="18288" rIns="36576" bIns="18288" anchor="t">
            <a:spAutoFit/>
          </a:bodyPr>
          <a:lstStyle/>
          <a:p>
            <a:pPr algn="r"/>
            <a:r>
              <a:rPr sz="2000" b="1" i="0">
                <a:solidFill>
                  <a:srgbClr val="4DB35A"/>
                </a:solidFill>
                <a:latin typeface="Segoe UI Semibold"/>
              </a:rPr>
              <a:t>Vê</a:t>
            </a:r>
          </a:p>
        </p:txBody>
      </p:sp>
      <p:sp>
        <p:nvSpPr>
          <p:cNvPr id="11" name="TextBox 10"/>
          <p:cNvSpPr txBox="1"/>
          <p:nvPr/>
        </p:nvSpPr>
        <p:spPr>
          <a:xfrm>
            <a:off x="8348472" y="2240280"/>
            <a:ext cx="2971800" cy="731520"/>
          </a:xfrm>
          <a:prstGeom prst="rect">
            <a:avLst/>
          </a:prstGeom>
          <a:noFill/>
        </p:spPr>
        <p:txBody>
          <a:bodyPr wrap="square" lIns="36576" tIns="18288" rIns="36576" bIns="18288" anchor="t">
            <a:spAutoFit/>
          </a:bodyPr>
          <a:lstStyle/>
          <a:p>
            <a:pPr algn="r"/>
            <a:r>
              <a:rPr sz="1400" b="0" i="0">
                <a:solidFill>
                  <a:srgbClr val="B4B8B0"/>
                </a:solidFill>
                <a:latin typeface="Segoe UI"/>
              </a:rPr>
              <a:t>Ambiente, amigos, ofertas do mercado</a:t>
            </a:r>
          </a:p>
        </p:txBody>
      </p:sp>
      <p:sp>
        <p:nvSpPr>
          <p:cNvPr id="12" name="Rounded Rectangle 11"/>
          <p:cNvSpPr/>
          <p:nvPr/>
        </p:nvSpPr>
        <p:spPr>
          <a:xfrm>
            <a:off x="548640" y="3182112"/>
            <a:ext cx="5486400" cy="160020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68680" y="3456432"/>
            <a:ext cx="2971800" cy="457200"/>
          </a:xfrm>
          <a:prstGeom prst="rect">
            <a:avLst/>
          </a:prstGeom>
          <a:noFill/>
        </p:spPr>
        <p:txBody>
          <a:bodyPr wrap="square" lIns="36576" tIns="18288" rIns="36576" bIns="18288" anchor="t">
            <a:spAutoFit/>
          </a:bodyPr>
          <a:lstStyle/>
          <a:p>
            <a:pPr algn="l"/>
            <a:r>
              <a:rPr sz="2000" b="1" i="0">
                <a:solidFill>
                  <a:srgbClr val="2FA38A"/>
                </a:solidFill>
                <a:latin typeface="Segoe UI Semibold"/>
              </a:rPr>
              <a:t>Fala e faz</a:t>
            </a:r>
          </a:p>
        </p:txBody>
      </p:sp>
      <p:sp>
        <p:nvSpPr>
          <p:cNvPr id="14" name="TextBox 13"/>
          <p:cNvSpPr txBox="1"/>
          <p:nvPr/>
        </p:nvSpPr>
        <p:spPr>
          <a:xfrm>
            <a:off x="868680" y="3959352"/>
            <a:ext cx="2971800" cy="731520"/>
          </a:xfrm>
          <a:prstGeom prst="rect">
            <a:avLst/>
          </a:prstGeom>
          <a:noFill/>
        </p:spPr>
        <p:txBody>
          <a:bodyPr wrap="square" lIns="36576" tIns="18288" rIns="36576" bIns="18288" anchor="t">
            <a:spAutoFit/>
          </a:bodyPr>
          <a:lstStyle/>
          <a:p>
            <a:pPr algn="l"/>
            <a:r>
              <a:rPr sz="1400" b="0" i="0">
                <a:solidFill>
                  <a:srgbClr val="B4B8B0"/>
                </a:solidFill>
                <a:latin typeface="Segoe UI"/>
              </a:rPr>
              <a:t>Atitudes em público, comportamento</a:t>
            </a:r>
          </a:p>
        </p:txBody>
      </p:sp>
      <p:sp>
        <p:nvSpPr>
          <p:cNvPr id="15" name="Rounded Rectangle 14"/>
          <p:cNvSpPr/>
          <p:nvPr/>
        </p:nvSpPr>
        <p:spPr>
          <a:xfrm>
            <a:off x="6153912" y="3182112"/>
            <a:ext cx="5486400" cy="160020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348472" y="3456432"/>
            <a:ext cx="2971800" cy="457200"/>
          </a:xfrm>
          <a:prstGeom prst="rect">
            <a:avLst/>
          </a:prstGeom>
          <a:noFill/>
        </p:spPr>
        <p:txBody>
          <a:bodyPr wrap="square" lIns="36576" tIns="18288" rIns="36576" bIns="18288" anchor="t">
            <a:spAutoFit/>
          </a:bodyPr>
          <a:lstStyle/>
          <a:p>
            <a:pPr algn="r"/>
            <a:r>
              <a:rPr sz="2000" b="1" i="0">
                <a:solidFill>
                  <a:srgbClr val="2A9FC0"/>
                </a:solidFill>
                <a:latin typeface="Segoe UI Semibold"/>
              </a:rPr>
              <a:t>Ouve</a:t>
            </a:r>
          </a:p>
        </p:txBody>
      </p:sp>
      <p:sp>
        <p:nvSpPr>
          <p:cNvPr id="17" name="TextBox 16"/>
          <p:cNvSpPr txBox="1"/>
          <p:nvPr/>
        </p:nvSpPr>
        <p:spPr>
          <a:xfrm>
            <a:off x="8348472" y="3959352"/>
            <a:ext cx="2971800" cy="731520"/>
          </a:xfrm>
          <a:prstGeom prst="rect">
            <a:avLst/>
          </a:prstGeom>
          <a:noFill/>
        </p:spPr>
        <p:txBody>
          <a:bodyPr wrap="square" lIns="36576" tIns="18288" rIns="36576" bIns="18288" anchor="t">
            <a:spAutoFit/>
          </a:bodyPr>
          <a:lstStyle/>
          <a:p>
            <a:pPr algn="r"/>
            <a:r>
              <a:rPr sz="1400" b="0" i="0">
                <a:solidFill>
                  <a:srgbClr val="B4B8B0"/>
                </a:solidFill>
                <a:latin typeface="Segoe UI"/>
              </a:rPr>
              <a:t>O que dizem amigos, chefe, influenciadores</a:t>
            </a:r>
          </a:p>
        </p:txBody>
      </p:sp>
      <p:sp>
        <p:nvSpPr>
          <p:cNvPr id="18" name="Oval 17"/>
          <p:cNvSpPr/>
          <p:nvPr/>
        </p:nvSpPr>
        <p:spPr>
          <a:xfrm>
            <a:off x="5408676" y="2436876"/>
            <a:ext cx="1371600" cy="1371600"/>
          </a:xfrm>
          <a:prstGeom prst="ellipse">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5500116" y="2528316"/>
            <a:ext cx="1188720" cy="1188720"/>
          </a:xfrm>
          <a:prstGeom prst="ellipse">
            <a:avLst/>
          </a:prstGeom>
          <a:solidFill>
            <a:srgbClr val="4DB35A"/>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400" b="1" i="0">
                <a:solidFill>
                  <a:srgbClr val="1A1A1A"/>
                </a:solidFill>
                <a:latin typeface="Segoe UI Semibold"/>
              </a:rPr>
              <a:t>Persona</a:t>
            </a:r>
          </a:p>
        </p:txBody>
      </p:sp>
      <p:sp>
        <p:nvSpPr>
          <p:cNvPr id="20" name="Rounded Rectangle 19"/>
          <p:cNvSpPr/>
          <p:nvPr/>
        </p:nvSpPr>
        <p:spPr>
          <a:xfrm>
            <a:off x="548640" y="4946903"/>
            <a:ext cx="5486400" cy="1143000"/>
          </a:xfrm>
          <a:prstGeom prst="roundRect">
            <a:avLst>
              <a:gd name="adj" fmla="val 10000"/>
            </a:avLst>
          </a:prstGeom>
          <a:solidFill>
            <a:srgbClr val="2E34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868680" y="5084064"/>
            <a:ext cx="4846320" cy="457200"/>
          </a:xfrm>
          <a:prstGeom prst="rect">
            <a:avLst/>
          </a:prstGeom>
          <a:noFill/>
        </p:spPr>
        <p:txBody>
          <a:bodyPr wrap="square" lIns="36576" tIns="18288" rIns="36576" bIns="18288" anchor="t">
            <a:spAutoFit/>
          </a:bodyPr>
          <a:lstStyle/>
          <a:p>
            <a:pPr algn="l"/>
            <a:r>
              <a:rPr sz="1900" b="1" i="0">
                <a:solidFill>
                  <a:srgbClr val="9CD848"/>
                </a:solidFill>
                <a:latin typeface="Segoe UI Semibold"/>
              </a:rPr>
              <a:t>Dores</a:t>
            </a:r>
          </a:p>
        </p:txBody>
      </p:sp>
      <p:sp>
        <p:nvSpPr>
          <p:cNvPr id="22" name="TextBox 21"/>
          <p:cNvSpPr txBox="1"/>
          <p:nvPr/>
        </p:nvSpPr>
        <p:spPr>
          <a:xfrm>
            <a:off x="868680" y="5513831"/>
            <a:ext cx="4846320" cy="457200"/>
          </a:xfrm>
          <a:prstGeom prst="rect">
            <a:avLst/>
          </a:prstGeom>
          <a:noFill/>
        </p:spPr>
        <p:txBody>
          <a:bodyPr wrap="square" lIns="36576" tIns="18288" rIns="36576" bIns="18288" anchor="t">
            <a:spAutoFit/>
          </a:bodyPr>
          <a:lstStyle/>
          <a:p>
            <a:pPr algn="l"/>
            <a:r>
              <a:rPr sz="1400" b="0" i="0">
                <a:solidFill>
                  <a:srgbClr val="B4B8B0"/>
                </a:solidFill>
                <a:latin typeface="Segoe UI"/>
              </a:rPr>
              <a:t>Frustrações, obstáculos, riscos</a:t>
            </a:r>
          </a:p>
        </p:txBody>
      </p:sp>
      <p:sp>
        <p:nvSpPr>
          <p:cNvPr id="23" name="Rounded Rectangle 22"/>
          <p:cNvSpPr/>
          <p:nvPr/>
        </p:nvSpPr>
        <p:spPr>
          <a:xfrm>
            <a:off x="6153912" y="4946903"/>
            <a:ext cx="5486400" cy="1143000"/>
          </a:xfrm>
          <a:prstGeom prst="roundRect">
            <a:avLst>
              <a:gd name="adj" fmla="val 10000"/>
            </a:avLst>
          </a:prstGeom>
          <a:solidFill>
            <a:srgbClr val="2E34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473951" y="5084064"/>
            <a:ext cx="4846320" cy="457200"/>
          </a:xfrm>
          <a:prstGeom prst="rect">
            <a:avLst/>
          </a:prstGeom>
          <a:noFill/>
        </p:spPr>
        <p:txBody>
          <a:bodyPr wrap="square" lIns="36576" tIns="18288" rIns="36576" bIns="18288" anchor="t">
            <a:spAutoFit/>
          </a:bodyPr>
          <a:lstStyle/>
          <a:p>
            <a:pPr algn="l"/>
            <a:r>
              <a:rPr sz="1900" b="1" i="0">
                <a:solidFill>
                  <a:srgbClr val="2FA38A"/>
                </a:solidFill>
                <a:latin typeface="Segoe UI Semibold"/>
              </a:rPr>
              <a:t>Ganhos</a:t>
            </a:r>
          </a:p>
        </p:txBody>
      </p:sp>
      <p:sp>
        <p:nvSpPr>
          <p:cNvPr id="25" name="TextBox 24"/>
          <p:cNvSpPr txBox="1"/>
          <p:nvPr/>
        </p:nvSpPr>
        <p:spPr>
          <a:xfrm>
            <a:off x="6473951" y="5513831"/>
            <a:ext cx="4846320" cy="457200"/>
          </a:xfrm>
          <a:prstGeom prst="rect">
            <a:avLst/>
          </a:prstGeom>
          <a:noFill/>
        </p:spPr>
        <p:txBody>
          <a:bodyPr wrap="square" lIns="36576" tIns="18288" rIns="36576" bIns="18288" anchor="t">
            <a:spAutoFit/>
          </a:bodyPr>
          <a:lstStyle/>
          <a:p>
            <a:pPr algn="l"/>
            <a:r>
              <a:rPr sz="1400" b="0" i="0">
                <a:solidFill>
                  <a:srgbClr val="B4B8B0"/>
                </a:solidFill>
                <a:latin typeface="Segoe UI"/>
              </a:rPr>
              <a:t>Desejos, necessidades, medidas de sucesso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42" presetClass="entr" presetSubtype="0" decel="100000" fill="hold" grpId="0" nodeType="withEffect">
                                  <p:stCondLst>
                                    <p:cond delay="2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50" fill="hold"/>
                                        <p:tgtEl>
                                          <p:spTgt spid="6"/>
                                        </p:tgtEl>
                                      </p:cBhvr>
                                    </p:animEffect>
                                    <p:anim calcmode="lin" valueType="num">
                                      <p:cBhvr additive="base">
                                        <p:cTn id="11" dur="650" fill="hold"/>
                                        <p:tgtEl>
                                          <p:spTgt spid="6"/>
                                        </p:tgtEl>
                                        <p:attrNameLst>
                                          <p:attrName>ppt_x</p:attrName>
                                        </p:attrNameLst>
                                      </p:cBhvr>
                                      <p:tavLst>
                                        <p:tav tm="0">
                                          <p:val>
                                            <p:strVal val="#ppt_x"/>
                                          </p:val>
                                        </p:tav>
                                        <p:tav tm="100000">
                                          <p:val>
                                            <p:strVal val="#ppt_x"/>
                                          </p:val>
                                        </p:tav>
                                      </p:tavLst>
                                    </p:anim>
                                    <p:anim calcmode="lin" valueType="num">
                                      <p:cBhvr additive="base">
                                        <p:cTn id="12" dur="650" fill="hold"/>
                                        <p:tgtEl>
                                          <p:spTgt spid="6"/>
                                        </p:tgtEl>
                                        <p:attrNameLst>
                                          <p:attrName>ppt_y</p:attrName>
                                        </p:attrNameLst>
                                      </p:cBhvr>
                                      <p:tavLst>
                                        <p:tav tm="0">
                                          <p:val>
                                            <p:strVal val="#ppt_y+.06"/>
                                          </p:val>
                                        </p:tav>
                                        <p:tav tm="100000">
                                          <p:val>
                                            <p:strVal val="#ppt_y"/>
                                          </p:val>
                                        </p:tav>
                                      </p:tavLst>
                                    </p:anim>
                                  </p:childTnLst>
                                </p:cTn>
                              </p:par>
                              <p:par>
                                <p:cTn id="13" presetID="42" presetClass="entr" presetSubtype="0" decel="100000" fill="hold" grpId="0" nodeType="withEffect">
                                  <p:stCondLst>
                                    <p:cond delay="20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fill="hold"/>
                                        <p:tgtEl>
                                          <p:spTgt spid="7"/>
                                        </p:tgtEl>
                                      </p:cBhvr>
                                    </p:animEffect>
                                    <p:anim calcmode="lin" valueType="num">
                                      <p:cBhvr additive="base">
                                        <p:cTn id="16" dur="650" fill="hold"/>
                                        <p:tgtEl>
                                          <p:spTgt spid="7"/>
                                        </p:tgtEl>
                                        <p:attrNameLst>
                                          <p:attrName>ppt_x</p:attrName>
                                        </p:attrNameLst>
                                      </p:cBhvr>
                                      <p:tavLst>
                                        <p:tav tm="0">
                                          <p:val>
                                            <p:strVal val="#ppt_x"/>
                                          </p:val>
                                        </p:tav>
                                        <p:tav tm="100000">
                                          <p:val>
                                            <p:strVal val="#ppt_x"/>
                                          </p:val>
                                        </p:tav>
                                      </p:tavLst>
                                    </p:anim>
                                    <p:anim calcmode="lin" valueType="num">
                                      <p:cBhvr additive="base">
                                        <p:cTn id="17" dur="650" fill="hold"/>
                                        <p:tgtEl>
                                          <p:spTgt spid="7"/>
                                        </p:tgtEl>
                                        <p:attrNameLst>
                                          <p:attrName>ppt_y</p:attrName>
                                        </p:attrNameLst>
                                      </p:cBhvr>
                                      <p:tavLst>
                                        <p:tav tm="0">
                                          <p:val>
                                            <p:strVal val="#ppt_y+.06"/>
                                          </p:val>
                                        </p:tav>
                                        <p:tav tm="100000">
                                          <p:val>
                                            <p:strVal val="#ppt_y"/>
                                          </p:val>
                                        </p:tav>
                                      </p:tavLst>
                                    </p:anim>
                                  </p:childTnLst>
                                </p:cTn>
                              </p:par>
                              <p:par>
                                <p:cTn id="18" presetID="42" presetClass="entr" presetSubtype="0" decel="100000" fill="hold" grpId="0" nodeType="withEffect">
                                  <p:stCondLst>
                                    <p:cond delay="20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650" fill="hold"/>
                                        <p:tgtEl>
                                          <p:spTgt spid="8"/>
                                        </p:tgtEl>
                                      </p:cBhvr>
                                    </p:animEffect>
                                    <p:anim calcmode="lin" valueType="num">
                                      <p:cBhvr additive="base">
                                        <p:cTn id="21" dur="650" fill="hold"/>
                                        <p:tgtEl>
                                          <p:spTgt spid="8"/>
                                        </p:tgtEl>
                                        <p:attrNameLst>
                                          <p:attrName>ppt_x</p:attrName>
                                        </p:attrNameLst>
                                      </p:cBhvr>
                                      <p:tavLst>
                                        <p:tav tm="0">
                                          <p:val>
                                            <p:strVal val="#ppt_x"/>
                                          </p:val>
                                        </p:tav>
                                        <p:tav tm="100000">
                                          <p:val>
                                            <p:strVal val="#ppt_x"/>
                                          </p:val>
                                        </p:tav>
                                      </p:tavLst>
                                    </p:anim>
                                    <p:anim calcmode="lin" valueType="num">
                                      <p:cBhvr additive="base">
                                        <p:cTn id="22" dur="650" fill="hold"/>
                                        <p:tgtEl>
                                          <p:spTgt spid="8"/>
                                        </p:tgtEl>
                                        <p:attrNameLst>
                                          <p:attrName>ppt_y</p:attrName>
                                        </p:attrNameLst>
                                      </p:cBhvr>
                                      <p:tavLst>
                                        <p:tav tm="0">
                                          <p:val>
                                            <p:strVal val="#ppt_y+.06"/>
                                          </p:val>
                                        </p:tav>
                                        <p:tav tm="100000">
                                          <p:val>
                                            <p:strVal val="#ppt_y"/>
                                          </p:val>
                                        </p:tav>
                                      </p:tavLst>
                                    </p:anim>
                                  </p:childTnLst>
                                </p:cTn>
                              </p:par>
                              <p:par>
                                <p:cTn id="23" presetID="42" presetClass="entr" presetSubtype="0" decel="100000" fill="hold" grpId="0" nodeType="withEffect">
                                  <p:stCondLst>
                                    <p:cond delay="4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650" fill="hold"/>
                                        <p:tgtEl>
                                          <p:spTgt spid="9"/>
                                        </p:tgtEl>
                                      </p:cBhvr>
                                    </p:animEffect>
                                    <p:anim calcmode="lin" valueType="num">
                                      <p:cBhvr additive="base">
                                        <p:cTn id="26" dur="650" fill="hold"/>
                                        <p:tgtEl>
                                          <p:spTgt spid="9"/>
                                        </p:tgtEl>
                                        <p:attrNameLst>
                                          <p:attrName>ppt_x</p:attrName>
                                        </p:attrNameLst>
                                      </p:cBhvr>
                                      <p:tavLst>
                                        <p:tav tm="0">
                                          <p:val>
                                            <p:strVal val="#ppt_x"/>
                                          </p:val>
                                        </p:tav>
                                        <p:tav tm="100000">
                                          <p:val>
                                            <p:strVal val="#ppt_x"/>
                                          </p:val>
                                        </p:tav>
                                      </p:tavLst>
                                    </p:anim>
                                    <p:anim calcmode="lin" valueType="num">
                                      <p:cBhvr additive="base">
                                        <p:cTn id="27" dur="650" fill="hold"/>
                                        <p:tgtEl>
                                          <p:spTgt spid="9"/>
                                        </p:tgtEl>
                                        <p:attrNameLst>
                                          <p:attrName>ppt_y</p:attrName>
                                        </p:attrNameLst>
                                      </p:cBhvr>
                                      <p:tavLst>
                                        <p:tav tm="0">
                                          <p:val>
                                            <p:strVal val="#ppt_y+.06"/>
                                          </p:val>
                                        </p:tav>
                                        <p:tav tm="100000">
                                          <p:val>
                                            <p:strVal val="#ppt_y"/>
                                          </p:val>
                                        </p:tav>
                                      </p:tavLst>
                                    </p:anim>
                                  </p:childTnLst>
                                </p:cTn>
                              </p:par>
                              <p:par>
                                <p:cTn id="28" presetID="42" presetClass="entr" presetSubtype="0" decel="100000" fill="hold" grpId="0" nodeType="withEffect">
                                  <p:stCondLst>
                                    <p:cond delay="40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650" fill="hold"/>
                                        <p:tgtEl>
                                          <p:spTgt spid="10"/>
                                        </p:tgtEl>
                                      </p:cBhvr>
                                    </p:animEffect>
                                    <p:anim calcmode="lin" valueType="num">
                                      <p:cBhvr additive="base">
                                        <p:cTn id="31" dur="650" fill="hold"/>
                                        <p:tgtEl>
                                          <p:spTgt spid="10"/>
                                        </p:tgtEl>
                                        <p:attrNameLst>
                                          <p:attrName>ppt_x</p:attrName>
                                        </p:attrNameLst>
                                      </p:cBhvr>
                                      <p:tavLst>
                                        <p:tav tm="0">
                                          <p:val>
                                            <p:strVal val="#ppt_x"/>
                                          </p:val>
                                        </p:tav>
                                        <p:tav tm="100000">
                                          <p:val>
                                            <p:strVal val="#ppt_x"/>
                                          </p:val>
                                        </p:tav>
                                      </p:tavLst>
                                    </p:anim>
                                    <p:anim calcmode="lin" valueType="num">
                                      <p:cBhvr additive="base">
                                        <p:cTn id="32" dur="650" fill="hold"/>
                                        <p:tgtEl>
                                          <p:spTgt spid="10"/>
                                        </p:tgtEl>
                                        <p:attrNameLst>
                                          <p:attrName>ppt_y</p:attrName>
                                        </p:attrNameLst>
                                      </p:cBhvr>
                                      <p:tavLst>
                                        <p:tav tm="0">
                                          <p:val>
                                            <p:strVal val="#ppt_y+.06"/>
                                          </p:val>
                                        </p:tav>
                                        <p:tav tm="100000">
                                          <p:val>
                                            <p:strVal val="#ppt_y"/>
                                          </p:val>
                                        </p:tav>
                                      </p:tavLst>
                                    </p:anim>
                                  </p:childTnLst>
                                </p:cTn>
                              </p:par>
                              <p:par>
                                <p:cTn id="33" presetID="42" presetClass="entr" presetSubtype="0" decel="100000" fill="hold" grpId="0" nodeType="withEffect">
                                  <p:stCondLst>
                                    <p:cond delay="40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650" fill="hold"/>
                                        <p:tgtEl>
                                          <p:spTgt spid="11"/>
                                        </p:tgtEl>
                                      </p:cBhvr>
                                    </p:animEffect>
                                    <p:anim calcmode="lin" valueType="num">
                                      <p:cBhvr additive="base">
                                        <p:cTn id="36" dur="650" fill="hold"/>
                                        <p:tgtEl>
                                          <p:spTgt spid="11"/>
                                        </p:tgtEl>
                                        <p:attrNameLst>
                                          <p:attrName>ppt_x</p:attrName>
                                        </p:attrNameLst>
                                      </p:cBhvr>
                                      <p:tavLst>
                                        <p:tav tm="0">
                                          <p:val>
                                            <p:strVal val="#ppt_x"/>
                                          </p:val>
                                        </p:tav>
                                        <p:tav tm="100000">
                                          <p:val>
                                            <p:strVal val="#ppt_x"/>
                                          </p:val>
                                        </p:tav>
                                      </p:tavLst>
                                    </p:anim>
                                    <p:anim calcmode="lin" valueType="num">
                                      <p:cBhvr additive="base">
                                        <p:cTn id="37" dur="650" fill="hold"/>
                                        <p:tgtEl>
                                          <p:spTgt spid="11"/>
                                        </p:tgtEl>
                                        <p:attrNameLst>
                                          <p:attrName>ppt_y</p:attrName>
                                        </p:attrNameLst>
                                      </p:cBhvr>
                                      <p:tavLst>
                                        <p:tav tm="0">
                                          <p:val>
                                            <p:strVal val="#ppt_y+.06"/>
                                          </p:val>
                                        </p:tav>
                                        <p:tav tm="100000">
                                          <p:val>
                                            <p:strVal val="#ppt_y"/>
                                          </p:val>
                                        </p:tav>
                                      </p:tavLst>
                                    </p:anim>
                                  </p:childTnLst>
                                </p:cTn>
                              </p:par>
                              <p:par>
                                <p:cTn id="38" presetID="42" presetClass="entr" presetSubtype="0" decel="100000" fill="hold" grpId="0" nodeType="withEffect">
                                  <p:stCondLst>
                                    <p:cond delay="60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650" fill="hold"/>
                                        <p:tgtEl>
                                          <p:spTgt spid="12"/>
                                        </p:tgtEl>
                                      </p:cBhvr>
                                    </p:animEffect>
                                    <p:anim calcmode="lin" valueType="num">
                                      <p:cBhvr additive="base">
                                        <p:cTn id="41" dur="650" fill="hold"/>
                                        <p:tgtEl>
                                          <p:spTgt spid="12"/>
                                        </p:tgtEl>
                                        <p:attrNameLst>
                                          <p:attrName>ppt_x</p:attrName>
                                        </p:attrNameLst>
                                      </p:cBhvr>
                                      <p:tavLst>
                                        <p:tav tm="0">
                                          <p:val>
                                            <p:strVal val="#ppt_x"/>
                                          </p:val>
                                        </p:tav>
                                        <p:tav tm="100000">
                                          <p:val>
                                            <p:strVal val="#ppt_x"/>
                                          </p:val>
                                        </p:tav>
                                      </p:tavLst>
                                    </p:anim>
                                    <p:anim calcmode="lin" valueType="num">
                                      <p:cBhvr additive="base">
                                        <p:cTn id="42" dur="650" fill="hold"/>
                                        <p:tgtEl>
                                          <p:spTgt spid="12"/>
                                        </p:tgtEl>
                                        <p:attrNameLst>
                                          <p:attrName>ppt_y</p:attrName>
                                        </p:attrNameLst>
                                      </p:cBhvr>
                                      <p:tavLst>
                                        <p:tav tm="0">
                                          <p:val>
                                            <p:strVal val="#ppt_y+.06"/>
                                          </p:val>
                                        </p:tav>
                                        <p:tav tm="100000">
                                          <p:val>
                                            <p:strVal val="#ppt_y"/>
                                          </p:val>
                                        </p:tav>
                                      </p:tavLst>
                                    </p:anim>
                                  </p:childTnLst>
                                </p:cTn>
                              </p:par>
                              <p:par>
                                <p:cTn id="43" presetID="42" presetClass="entr" presetSubtype="0" decel="100000" fill="hold" grpId="0" nodeType="withEffect">
                                  <p:stCondLst>
                                    <p:cond delay="60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650" fill="hold"/>
                                        <p:tgtEl>
                                          <p:spTgt spid="13"/>
                                        </p:tgtEl>
                                      </p:cBhvr>
                                    </p:animEffect>
                                    <p:anim calcmode="lin" valueType="num">
                                      <p:cBhvr additive="base">
                                        <p:cTn id="46" dur="650" fill="hold"/>
                                        <p:tgtEl>
                                          <p:spTgt spid="13"/>
                                        </p:tgtEl>
                                        <p:attrNameLst>
                                          <p:attrName>ppt_x</p:attrName>
                                        </p:attrNameLst>
                                      </p:cBhvr>
                                      <p:tavLst>
                                        <p:tav tm="0">
                                          <p:val>
                                            <p:strVal val="#ppt_x"/>
                                          </p:val>
                                        </p:tav>
                                        <p:tav tm="100000">
                                          <p:val>
                                            <p:strVal val="#ppt_x"/>
                                          </p:val>
                                        </p:tav>
                                      </p:tavLst>
                                    </p:anim>
                                    <p:anim calcmode="lin" valueType="num">
                                      <p:cBhvr additive="base">
                                        <p:cTn id="47" dur="650" fill="hold"/>
                                        <p:tgtEl>
                                          <p:spTgt spid="13"/>
                                        </p:tgtEl>
                                        <p:attrNameLst>
                                          <p:attrName>ppt_y</p:attrName>
                                        </p:attrNameLst>
                                      </p:cBhvr>
                                      <p:tavLst>
                                        <p:tav tm="0">
                                          <p:val>
                                            <p:strVal val="#ppt_y+.06"/>
                                          </p:val>
                                        </p:tav>
                                        <p:tav tm="100000">
                                          <p:val>
                                            <p:strVal val="#ppt_y"/>
                                          </p:val>
                                        </p:tav>
                                      </p:tavLst>
                                    </p:anim>
                                  </p:childTnLst>
                                </p:cTn>
                              </p:par>
                              <p:par>
                                <p:cTn id="48" presetID="42" presetClass="entr" presetSubtype="0" decel="100000" fill="hold" grpId="0" nodeType="withEffect">
                                  <p:stCondLst>
                                    <p:cond delay="60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650" fill="hold"/>
                                        <p:tgtEl>
                                          <p:spTgt spid="14"/>
                                        </p:tgtEl>
                                      </p:cBhvr>
                                    </p:animEffect>
                                    <p:anim calcmode="lin" valueType="num">
                                      <p:cBhvr additive="base">
                                        <p:cTn id="51" dur="650" fill="hold"/>
                                        <p:tgtEl>
                                          <p:spTgt spid="14"/>
                                        </p:tgtEl>
                                        <p:attrNameLst>
                                          <p:attrName>ppt_x</p:attrName>
                                        </p:attrNameLst>
                                      </p:cBhvr>
                                      <p:tavLst>
                                        <p:tav tm="0">
                                          <p:val>
                                            <p:strVal val="#ppt_x"/>
                                          </p:val>
                                        </p:tav>
                                        <p:tav tm="100000">
                                          <p:val>
                                            <p:strVal val="#ppt_x"/>
                                          </p:val>
                                        </p:tav>
                                      </p:tavLst>
                                    </p:anim>
                                    <p:anim calcmode="lin" valueType="num">
                                      <p:cBhvr additive="base">
                                        <p:cTn id="52" dur="650" fill="hold"/>
                                        <p:tgtEl>
                                          <p:spTgt spid="14"/>
                                        </p:tgtEl>
                                        <p:attrNameLst>
                                          <p:attrName>ppt_y</p:attrName>
                                        </p:attrNameLst>
                                      </p:cBhvr>
                                      <p:tavLst>
                                        <p:tav tm="0">
                                          <p:val>
                                            <p:strVal val="#ppt_y+.06"/>
                                          </p:val>
                                        </p:tav>
                                        <p:tav tm="100000">
                                          <p:val>
                                            <p:strVal val="#ppt_y"/>
                                          </p:val>
                                        </p:tav>
                                      </p:tavLst>
                                    </p:anim>
                                  </p:childTnLst>
                                </p:cTn>
                              </p:par>
                              <p:par>
                                <p:cTn id="53" presetID="42" presetClass="entr" presetSubtype="0" decel="100000" fill="hold" grpId="0" nodeType="withEffect">
                                  <p:stCondLst>
                                    <p:cond delay="80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650" fill="hold"/>
                                        <p:tgtEl>
                                          <p:spTgt spid="15"/>
                                        </p:tgtEl>
                                      </p:cBhvr>
                                    </p:animEffect>
                                    <p:anim calcmode="lin" valueType="num">
                                      <p:cBhvr additive="base">
                                        <p:cTn id="56" dur="650" fill="hold"/>
                                        <p:tgtEl>
                                          <p:spTgt spid="15"/>
                                        </p:tgtEl>
                                        <p:attrNameLst>
                                          <p:attrName>ppt_x</p:attrName>
                                        </p:attrNameLst>
                                      </p:cBhvr>
                                      <p:tavLst>
                                        <p:tav tm="0">
                                          <p:val>
                                            <p:strVal val="#ppt_x"/>
                                          </p:val>
                                        </p:tav>
                                        <p:tav tm="100000">
                                          <p:val>
                                            <p:strVal val="#ppt_x"/>
                                          </p:val>
                                        </p:tav>
                                      </p:tavLst>
                                    </p:anim>
                                    <p:anim calcmode="lin" valueType="num">
                                      <p:cBhvr additive="base">
                                        <p:cTn id="57" dur="650" fill="hold"/>
                                        <p:tgtEl>
                                          <p:spTgt spid="15"/>
                                        </p:tgtEl>
                                        <p:attrNameLst>
                                          <p:attrName>ppt_y</p:attrName>
                                        </p:attrNameLst>
                                      </p:cBhvr>
                                      <p:tavLst>
                                        <p:tav tm="0">
                                          <p:val>
                                            <p:strVal val="#ppt_y+.06"/>
                                          </p:val>
                                        </p:tav>
                                        <p:tav tm="100000">
                                          <p:val>
                                            <p:strVal val="#ppt_y"/>
                                          </p:val>
                                        </p:tav>
                                      </p:tavLst>
                                    </p:anim>
                                  </p:childTnLst>
                                </p:cTn>
                              </p:par>
                              <p:par>
                                <p:cTn id="58" presetID="42" presetClass="entr" presetSubtype="0" decel="100000" fill="hold" grpId="0" nodeType="withEffect">
                                  <p:stCondLst>
                                    <p:cond delay="80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650" fill="hold"/>
                                        <p:tgtEl>
                                          <p:spTgt spid="16"/>
                                        </p:tgtEl>
                                      </p:cBhvr>
                                    </p:animEffect>
                                    <p:anim calcmode="lin" valueType="num">
                                      <p:cBhvr additive="base">
                                        <p:cTn id="61" dur="650" fill="hold"/>
                                        <p:tgtEl>
                                          <p:spTgt spid="16"/>
                                        </p:tgtEl>
                                        <p:attrNameLst>
                                          <p:attrName>ppt_x</p:attrName>
                                        </p:attrNameLst>
                                      </p:cBhvr>
                                      <p:tavLst>
                                        <p:tav tm="0">
                                          <p:val>
                                            <p:strVal val="#ppt_x"/>
                                          </p:val>
                                        </p:tav>
                                        <p:tav tm="100000">
                                          <p:val>
                                            <p:strVal val="#ppt_x"/>
                                          </p:val>
                                        </p:tav>
                                      </p:tavLst>
                                    </p:anim>
                                    <p:anim calcmode="lin" valueType="num">
                                      <p:cBhvr additive="base">
                                        <p:cTn id="62" dur="650" fill="hold"/>
                                        <p:tgtEl>
                                          <p:spTgt spid="16"/>
                                        </p:tgtEl>
                                        <p:attrNameLst>
                                          <p:attrName>ppt_y</p:attrName>
                                        </p:attrNameLst>
                                      </p:cBhvr>
                                      <p:tavLst>
                                        <p:tav tm="0">
                                          <p:val>
                                            <p:strVal val="#ppt_y+.06"/>
                                          </p:val>
                                        </p:tav>
                                        <p:tav tm="100000">
                                          <p:val>
                                            <p:strVal val="#ppt_y"/>
                                          </p:val>
                                        </p:tav>
                                      </p:tavLst>
                                    </p:anim>
                                  </p:childTnLst>
                                </p:cTn>
                              </p:par>
                              <p:par>
                                <p:cTn id="63" presetID="42" presetClass="entr" presetSubtype="0" decel="100000" fill="hold" grpId="0" nodeType="withEffect">
                                  <p:stCondLst>
                                    <p:cond delay="800"/>
                                  </p:stCondLst>
                                  <p:childTnLst>
                                    <p:set>
                                      <p:cBhvr>
                                        <p:cTn id="64" dur="1" fill="hold">
                                          <p:stCondLst>
                                            <p:cond delay="0"/>
                                          </p:stCondLst>
                                        </p:cTn>
                                        <p:tgtEl>
                                          <p:spTgt spid="17"/>
                                        </p:tgtEl>
                                        <p:attrNameLst>
                                          <p:attrName>style.visibility</p:attrName>
                                        </p:attrNameLst>
                                      </p:cBhvr>
                                      <p:to>
                                        <p:strVal val="visible"/>
                                      </p:to>
                                    </p:set>
                                    <p:animEffect transition="in" filter="fade">
                                      <p:cBhvr>
                                        <p:cTn id="65" dur="650" fill="hold"/>
                                        <p:tgtEl>
                                          <p:spTgt spid="17"/>
                                        </p:tgtEl>
                                      </p:cBhvr>
                                    </p:animEffect>
                                    <p:anim calcmode="lin" valueType="num">
                                      <p:cBhvr additive="base">
                                        <p:cTn id="66" dur="650" fill="hold"/>
                                        <p:tgtEl>
                                          <p:spTgt spid="17"/>
                                        </p:tgtEl>
                                        <p:attrNameLst>
                                          <p:attrName>ppt_x</p:attrName>
                                        </p:attrNameLst>
                                      </p:cBhvr>
                                      <p:tavLst>
                                        <p:tav tm="0">
                                          <p:val>
                                            <p:strVal val="#ppt_x"/>
                                          </p:val>
                                        </p:tav>
                                        <p:tav tm="100000">
                                          <p:val>
                                            <p:strVal val="#ppt_x"/>
                                          </p:val>
                                        </p:tav>
                                      </p:tavLst>
                                    </p:anim>
                                    <p:anim calcmode="lin" valueType="num">
                                      <p:cBhvr additive="base">
                                        <p:cTn id="67" dur="650" fill="hold"/>
                                        <p:tgtEl>
                                          <p:spTgt spid="17"/>
                                        </p:tgtEl>
                                        <p:attrNameLst>
                                          <p:attrName>ppt_y</p:attrName>
                                        </p:attrNameLst>
                                      </p:cBhvr>
                                      <p:tavLst>
                                        <p:tav tm="0">
                                          <p:val>
                                            <p:strVal val="#ppt_y+.06"/>
                                          </p:val>
                                        </p:tav>
                                        <p:tav tm="100000">
                                          <p:val>
                                            <p:strVal val="#ppt_y"/>
                                          </p:val>
                                        </p:tav>
                                      </p:tavLst>
                                    </p:anim>
                                  </p:childTnLst>
                                </p:cTn>
                              </p:par>
                              <p:par>
                                <p:cTn id="68" presetID="53" presetClass="entr" presetSubtype="16" decel="100000" fill="hold" grpId="0" nodeType="withEffect">
                                  <p:stCondLst>
                                    <p:cond delay="1150"/>
                                  </p:stCondLst>
                                  <p:childTnLst>
                                    <p:set>
                                      <p:cBhvr>
                                        <p:cTn id="69" dur="1" fill="hold">
                                          <p:stCondLst>
                                            <p:cond delay="0"/>
                                          </p:stCondLst>
                                        </p:cTn>
                                        <p:tgtEl>
                                          <p:spTgt spid="18"/>
                                        </p:tgtEl>
                                        <p:attrNameLst>
                                          <p:attrName>style.visibility</p:attrName>
                                        </p:attrNameLst>
                                      </p:cBhvr>
                                      <p:to>
                                        <p:strVal val="visible"/>
                                      </p:to>
                                    </p:set>
                                    <p:anim calcmode="lin" valueType="num">
                                      <p:cBhvr additive="base">
                                        <p:cTn id="70" dur="600" fill="hold"/>
                                        <p:tgtEl>
                                          <p:spTgt spid="18"/>
                                        </p:tgtEl>
                                        <p:attrNameLst>
                                          <p:attrName>ppt_w</p:attrName>
                                        </p:attrNameLst>
                                      </p:cBhvr>
                                      <p:tavLst>
                                        <p:tav tm="0">
                                          <p:val>
                                            <p:strVal val="0"/>
                                          </p:val>
                                        </p:tav>
                                        <p:tav tm="70000">
                                          <p:val>
                                            <p:strVal val="#ppt_w*1.08"/>
                                          </p:val>
                                        </p:tav>
                                        <p:tav tm="100000">
                                          <p:val>
                                            <p:strVal val="#ppt_w"/>
                                          </p:val>
                                        </p:tav>
                                      </p:tavLst>
                                    </p:anim>
                                    <p:anim calcmode="lin" valueType="num">
                                      <p:cBhvr additive="base">
                                        <p:cTn id="71" dur="600" fill="hold"/>
                                        <p:tgtEl>
                                          <p:spTgt spid="18"/>
                                        </p:tgtEl>
                                        <p:attrNameLst>
                                          <p:attrName>ppt_h</p:attrName>
                                        </p:attrNameLst>
                                      </p:cBhvr>
                                      <p:tavLst>
                                        <p:tav tm="0">
                                          <p:val>
                                            <p:strVal val="0"/>
                                          </p:val>
                                        </p:tav>
                                        <p:tav tm="70000">
                                          <p:val>
                                            <p:strVal val="#ppt_h*1.08"/>
                                          </p:val>
                                        </p:tav>
                                        <p:tav tm="100000">
                                          <p:val>
                                            <p:strVal val="#ppt_h"/>
                                          </p:val>
                                        </p:tav>
                                      </p:tavLst>
                                    </p:anim>
                                    <p:animEffect transition="in" filter="fade">
                                      <p:cBhvr>
                                        <p:cTn id="72" dur="360" fill="hold"/>
                                        <p:tgtEl>
                                          <p:spTgt spid="18"/>
                                        </p:tgtEl>
                                      </p:cBhvr>
                                    </p:animEffect>
                                  </p:childTnLst>
                                </p:cTn>
                              </p:par>
                              <p:par>
                                <p:cTn id="73" presetID="53" presetClass="entr" presetSubtype="16" decel="100000" fill="hold" grpId="0" nodeType="withEffect">
                                  <p:stCondLst>
                                    <p:cond delay="1150"/>
                                  </p:stCondLst>
                                  <p:childTnLst>
                                    <p:set>
                                      <p:cBhvr>
                                        <p:cTn id="74" dur="1" fill="hold">
                                          <p:stCondLst>
                                            <p:cond delay="0"/>
                                          </p:stCondLst>
                                        </p:cTn>
                                        <p:tgtEl>
                                          <p:spTgt spid="19"/>
                                        </p:tgtEl>
                                        <p:attrNameLst>
                                          <p:attrName>style.visibility</p:attrName>
                                        </p:attrNameLst>
                                      </p:cBhvr>
                                      <p:to>
                                        <p:strVal val="visible"/>
                                      </p:to>
                                    </p:set>
                                    <p:anim calcmode="lin" valueType="num">
                                      <p:cBhvr additive="base">
                                        <p:cTn id="75" dur="600" fill="hold"/>
                                        <p:tgtEl>
                                          <p:spTgt spid="19"/>
                                        </p:tgtEl>
                                        <p:attrNameLst>
                                          <p:attrName>ppt_w</p:attrName>
                                        </p:attrNameLst>
                                      </p:cBhvr>
                                      <p:tavLst>
                                        <p:tav tm="0">
                                          <p:val>
                                            <p:strVal val="0"/>
                                          </p:val>
                                        </p:tav>
                                        <p:tav tm="70000">
                                          <p:val>
                                            <p:strVal val="#ppt_w*1.08"/>
                                          </p:val>
                                        </p:tav>
                                        <p:tav tm="100000">
                                          <p:val>
                                            <p:strVal val="#ppt_w"/>
                                          </p:val>
                                        </p:tav>
                                      </p:tavLst>
                                    </p:anim>
                                    <p:anim calcmode="lin" valueType="num">
                                      <p:cBhvr additive="base">
                                        <p:cTn id="76" dur="600" fill="hold"/>
                                        <p:tgtEl>
                                          <p:spTgt spid="19"/>
                                        </p:tgtEl>
                                        <p:attrNameLst>
                                          <p:attrName>ppt_h</p:attrName>
                                        </p:attrNameLst>
                                      </p:cBhvr>
                                      <p:tavLst>
                                        <p:tav tm="0">
                                          <p:val>
                                            <p:strVal val="0"/>
                                          </p:val>
                                        </p:tav>
                                        <p:tav tm="70000">
                                          <p:val>
                                            <p:strVal val="#ppt_h*1.08"/>
                                          </p:val>
                                        </p:tav>
                                        <p:tav tm="100000">
                                          <p:val>
                                            <p:strVal val="#ppt_h"/>
                                          </p:val>
                                        </p:tav>
                                      </p:tavLst>
                                    </p:anim>
                                    <p:animEffect transition="in" filter="fade">
                                      <p:cBhvr>
                                        <p:cTn id="77" dur="360" fill="hold"/>
                                        <p:tgtEl>
                                          <p:spTgt spid="19"/>
                                        </p:tgtEl>
                                      </p:cBhvr>
                                    </p:animEffect>
                                  </p:childTnLst>
                                </p:cTn>
                              </p:par>
                              <p:par>
                                <p:cTn id="78" presetID="42" presetClass="entr" presetSubtype="0" decel="100000" fill="hold" grpId="0" nodeType="withEffect">
                                  <p:stCondLst>
                                    <p:cond delay="1450"/>
                                  </p:stCondLst>
                                  <p:childTnLst>
                                    <p:set>
                                      <p:cBhvr>
                                        <p:cTn id="79" dur="1" fill="hold">
                                          <p:stCondLst>
                                            <p:cond delay="0"/>
                                          </p:stCondLst>
                                        </p:cTn>
                                        <p:tgtEl>
                                          <p:spTgt spid="20"/>
                                        </p:tgtEl>
                                        <p:attrNameLst>
                                          <p:attrName>style.visibility</p:attrName>
                                        </p:attrNameLst>
                                      </p:cBhvr>
                                      <p:to>
                                        <p:strVal val="visible"/>
                                      </p:to>
                                    </p:set>
                                    <p:animEffect transition="in" filter="fade">
                                      <p:cBhvr>
                                        <p:cTn id="80" dur="650" fill="hold"/>
                                        <p:tgtEl>
                                          <p:spTgt spid="20"/>
                                        </p:tgtEl>
                                      </p:cBhvr>
                                    </p:animEffect>
                                    <p:anim calcmode="lin" valueType="num">
                                      <p:cBhvr additive="base">
                                        <p:cTn id="81" dur="650" fill="hold"/>
                                        <p:tgtEl>
                                          <p:spTgt spid="20"/>
                                        </p:tgtEl>
                                        <p:attrNameLst>
                                          <p:attrName>ppt_x</p:attrName>
                                        </p:attrNameLst>
                                      </p:cBhvr>
                                      <p:tavLst>
                                        <p:tav tm="0">
                                          <p:val>
                                            <p:strVal val="#ppt_x"/>
                                          </p:val>
                                        </p:tav>
                                        <p:tav tm="100000">
                                          <p:val>
                                            <p:strVal val="#ppt_x"/>
                                          </p:val>
                                        </p:tav>
                                      </p:tavLst>
                                    </p:anim>
                                    <p:anim calcmode="lin" valueType="num">
                                      <p:cBhvr additive="base">
                                        <p:cTn id="82" dur="650" fill="hold"/>
                                        <p:tgtEl>
                                          <p:spTgt spid="20"/>
                                        </p:tgtEl>
                                        <p:attrNameLst>
                                          <p:attrName>ppt_y</p:attrName>
                                        </p:attrNameLst>
                                      </p:cBhvr>
                                      <p:tavLst>
                                        <p:tav tm="0">
                                          <p:val>
                                            <p:strVal val="#ppt_y+.06"/>
                                          </p:val>
                                        </p:tav>
                                        <p:tav tm="100000">
                                          <p:val>
                                            <p:strVal val="#ppt_y"/>
                                          </p:val>
                                        </p:tav>
                                      </p:tavLst>
                                    </p:anim>
                                  </p:childTnLst>
                                </p:cTn>
                              </p:par>
                              <p:par>
                                <p:cTn id="83" presetID="42" presetClass="entr" presetSubtype="0" decel="100000" fill="hold" grpId="0" nodeType="withEffect">
                                  <p:stCondLst>
                                    <p:cond delay="1450"/>
                                  </p:stCondLst>
                                  <p:childTnLst>
                                    <p:set>
                                      <p:cBhvr>
                                        <p:cTn id="84" dur="1" fill="hold">
                                          <p:stCondLst>
                                            <p:cond delay="0"/>
                                          </p:stCondLst>
                                        </p:cTn>
                                        <p:tgtEl>
                                          <p:spTgt spid="21"/>
                                        </p:tgtEl>
                                        <p:attrNameLst>
                                          <p:attrName>style.visibility</p:attrName>
                                        </p:attrNameLst>
                                      </p:cBhvr>
                                      <p:to>
                                        <p:strVal val="visible"/>
                                      </p:to>
                                    </p:set>
                                    <p:animEffect transition="in" filter="fade">
                                      <p:cBhvr>
                                        <p:cTn id="85" dur="650" fill="hold"/>
                                        <p:tgtEl>
                                          <p:spTgt spid="21"/>
                                        </p:tgtEl>
                                      </p:cBhvr>
                                    </p:animEffect>
                                    <p:anim calcmode="lin" valueType="num">
                                      <p:cBhvr additive="base">
                                        <p:cTn id="86" dur="650" fill="hold"/>
                                        <p:tgtEl>
                                          <p:spTgt spid="21"/>
                                        </p:tgtEl>
                                        <p:attrNameLst>
                                          <p:attrName>ppt_x</p:attrName>
                                        </p:attrNameLst>
                                      </p:cBhvr>
                                      <p:tavLst>
                                        <p:tav tm="0">
                                          <p:val>
                                            <p:strVal val="#ppt_x"/>
                                          </p:val>
                                        </p:tav>
                                        <p:tav tm="100000">
                                          <p:val>
                                            <p:strVal val="#ppt_x"/>
                                          </p:val>
                                        </p:tav>
                                      </p:tavLst>
                                    </p:anim>
                                    <p:anim calcmode="lin" valueType="num">
                                      <p:cBhvr additive="base">
                                        <p:cTn id="87" dur="650" fill="hold"/>
                                        <p:tgtEl>
                                          <p:spTgt spid="21"/>
                                        </p:tgtEl>
                                        <p:attrNameLst>
                                          <p:attrName>ppt_y</p:attrName>
                                        </p:attrNameLst>
                                      </p:cBhvr>
                                      <p:tavLst>
                                        <p:tav tm="0">
                                          <p:val>
                                            <p:strVal val="#ppt_y+.06"/>
                                          </p:val>
                                        </p:tav>
                                        <p:tav tm="100000">
                                          <p:val>
                                            <p:strVal val="#ppt_y"/>
                                          </p:val>
                                        </p:tav>
                                      </p:tavLst>
                                    </p:anim>
                                  </p:childTnLst>
                                </p:cTn>
                              </p:par>
                              <p:par>
                                <p:cTn id="88" presetID="42" presetClass="entr" presetSubtype="0" decel="100000" fill="hold" grpId="0" nodeType="withEffect">
                                  <p:stCondLst>
                                    <p:cond delay="1450"/>
                                  </p:stCondLst>
                                  <p:childTnLst>
                                    <p:set>
                                      <p:cBhvr>
                                        <p:cTn id="89" dur="1" fill="hold">
                                          <p:stCondLst>
                                            <p:cond delay="0"/>
                                          </p:stCondLst>
                                        </p:cTn>
                                        <p:tgtEl>
                                          <p:spTgt spid="22"/>
                                        </p:tgtEl>
                                        <p:attrNameLst>
                                          <p:attrName>style.visibility</p:attrName>
                                        </p:attrNameLst>
                                      </p:cBhvr>
                                      <p:to>
                                        <p:strVal val="visible"/>
                                      </p:to>
                                    </p:set>
                                    <p:animEffect transition="in" filter="fade">
                                      <p:cBhvr>
                                        <p:cTn id="90" dur="650" fill="hold"/>
                                        <p:tgtEl>
                                          <p:spTgt spid="22"/>
                                        </p:tgtEl>
                                      </p:cBhvr>
                                    </p:animEffect>
                                    <p:anim calcmode="lin" valueType="num">
                                      <p:cBhvr additive="base">
                                        <p:cTn id="91" dur="650" fill="hold"/>
                                        <p:tgtEl>
                                          <p:spTgt spid="22"/>
                                        </p:tgtEl>
                                        <p:attrNameLst>
                                          <p:attrName>ppt_x</p:attrName>
                                        </p:attrNameLst>
                                      </p:cBhvr>
                                      <p:tavLst>
                                        <p:tav tm="0">
                                          <p:val>
                                            <p:strVal val="#ppt_x"/>
                                          </p:val>
                                        </p:tav>
                                        <p:tav tm="100000">
                                          <p:val>
                                            <p:strVal val="#ppt_x"/>
                                          </p:val>
                                        </p:tav>
                                      </p:tavLst>
                                    </p:anim>
                                    <p:anim calcmode="lin" valueType="num">
                                      <p:cBhvr additive="base">
                                        <p:cTn id="92" dur="650" fill="hold"/>
                                        <p:tgtEl>
                                          <p:spTgt spid="22"/>
                                        </p:tgtEl>
                                        <p:attrNameLst>
                                          <p:attrName>ppt_y</p:attrName>
                                        </p:attrNameLst>
                                      </p:cBhvr>
                                      <p:tavLst>
                                        <p:tav tm="0">
                                          <p:val>
                                            <p:strVal val="#ppt_y+.06"/>
                                          </p:val>
                                        </p:tav>
                                        <p:tav tm="100000">
                                          <p:val>
                                            <p:strVal val="#ppt_y"/>
                                          </p:val>
                                        </p:tav>
                                      </p:tavLst>
                                    </p:anim>
                                  </p:childTnLst>
                                </p:cTn>
                              </p:par>
                              <p:par>
                                <p:cTn id="93" presetID="42" presetClass="entr" presetSubtype="0" decel="100000" fill="hold" grpId="0" nodeType="withEffect">
                                  <p:stCondLst>
                                    <p:cond delay="1750"/>
                                  </p:stCondLst>
                                  <p:childTnLst>
                                    <p:set>
                                      <p:cBhvr>
                                        <p:cTn id="94" dur="1" fill="hold">
                                          <p:stCondLst>
                                            <p:cond delay="0"/>
                                          </p:stCondLst>
                                        </p:cTn>
                                        <p:tgtEl>
                                          <p:spTgt spid="23"/>
                                        </p:tgtEl>
                                        <p:attrNameLst>
                                          <p:attrName>style.visibility</p:attrName>
                                        </p:attrNameLst>
                                      </p:cBhvr>
                                      <p:to>
                                        <p:strVal val="visible"/>
                                      </p:to>
                                    </p:set>
                                    <p:animEffect transition="in" filter="fade">
                                      <p:cBhvr>
                                        <p:cTn id="95" dur="650" fill="hold"/>
                                        <p:tgtEl>
                                          <p:spTgt spid="23"/>
                                        </p:tgtEl>
                                      </p:cBhvr>
                                    </p:animEffect>
                                    <p:anim calcmode="lin" valueType="num">
                                      <p:cBhvr additive="base">
                                        <p:cTn id="96" dur="650" fill="hold"/>
                                        <p:tgtEl>
                                          <p:spTgt spid="23"/>
                                        </p:tgtEl>
                                        <p:attrNameLst>
                                          <p:attrName>ppt_x</p:attrName>
                                        </p:attrNameLst>
                                      </p:cBhvr>
                                      <p:tavLst>
                                        <p:tav tm="0">
                                          <p:val>
                                            <p:strVal val="#ppt_x"/>
                                          </p:val>
                                        </p:tav>
                                        <p:tav tm="100000">
                                          <p:val>
                                            <p:strVal val="#ppt_x"/>
                                          </p:val>
                                        </p:tav>
                                      </p:tavLst>
                                    </p:anim>
                                    <p:anim calcmode="lin" valueType="num">
                                      <p:cBhvr additive="base">
                                        <p:cTn id="97" dur="650" fill="hold"/>
                                        <p:tgtEl>
                                          <p:spTgt spid="23"/>
                                        </p:tgtEl>
                                        <p:attrNameLst>
                                          <p:attrName>ppt_y</p:attrName>
                                        </p:attrNameLst>
                                      </p:cBhvr>
                                      <p:tavLst>
                                        <p:tav tm="0">
                                          <p:val>
                                            <p:strVal val="#ppt_y+.06"/>
                                          </p:val>
                                        </p:tav>
                                        <p:tav tm="100000">
                                          <p:val>
                                            <p:strVal val="#ppt_y"/>
                                          </p:val>
                                        </p:tav>
                                      </p:tavLst>
                                    </p:anim>
                                  </p:childTnLst>
                                </p:cTn>
                              </p:par>
                              <p:par>
                                <p:cTn id="98" presetID="42" presetClass="entr" presetSubtype="0" decel="100000" fill="hold" grpId="0" nodeType="withEffect">
                                  <p:stCondLst>
                                    <p:cond delay="175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650" fill="hold"/>
                                        <p:tgtEl>
                                          <p:spTgt spid="24"/>
                                        </p:tgtEl>
                                      </p:cBhvr>
                                    </p:animEffect>
                                    <p:anim calcmode="lin" valueType="num">
                                      <p:cBhvr additive="base">
                                        <p:cTn id="101" dur="650" fill="hold"/>
                                        <p:tgtEl>
                                          <p:spTgt spid="24"/>
                                        </p:tgtEl>
                                        <p:attrNameLst>
                                          <p:attrName>ppt_x</p:attrName>
                                        </p:attrNameLst>
                                      </p:cBhvr>
                                      <p:tavLst>
                                        <p:tav tm="0">
                                          <p:val>
                                            <p:strVal val="#ppt_x"/>
                                          </p:val>
                                        </p:tav>
                                        <p:tav tm="100000">
                                          <p:val>
                                            <p:strVal val="#ppt_x"/>
                                          </p:val>
                                        </p:tav>
                                      </p:tavLst>
                                    </p:anim>
                                    <p:anim calcmode="lin" valueType="num">
                                      <p:cBhvr additive="base">
                                        <p:cTn id="102" dur="650" fill="hold"/>
                                        <p:tgtEl>
                                          <p:spTgt spid="24"/>
                                        </p:tgtEl>
                                        <p:attrNameLst>
                                          <p:attrName>ppt_y</p:attrName>
                                        </p:attrNameLst>
                                      </p:cBhvr>
                                      <p:tavLst>
                                        <p:tav tm="0">
                                          <p:val>
                                            <p:strVal val="#ppt_y+.06"/>
                                          </p:val>
                                        </p:tav>
                                        <p:tav tm="100000">
                                          <p:val>
                                            <p:strVal val="#ppt_y"/>
                                          </p:val>
                                        </p:tav>
                                      </p:tavLst>
                                    </p:anim>
                                  </p:childTnLst>
                                </p:cTn>
                              </p:par>
                              <p:par>
                                <p:cTn id="103" presetID="42" presetClass="entr" presetSubtype="0" decel="100000" fill="hold" grpId="0" nodeType="withEffect">
                                  <p:stCondLst>
                                    <p:cond delay="1750"/>
                                  </p:stCondLst>
                                  <p:childTnLst>
                                    <p:set>
                                      <p:cBhvr>
                                        <p:cTn id="104" dur="1" fill="hold">
                                          <p:stCondLst>
                                            <p:cond delay="0"/>
                                          </p:stCondLst>
                                        </p:cTn>
                                        <p:tgtEl>
                                          <p:spTgt spid="25"/>
                                        </p:tgtEl>
                                        <p:attrNameLst>
                                          <p:attrName>style.visibility</p:attrName>
                                        </p:attrNameLst>
                                      </p:cBhvr>
                                      <p:to>
                                        <p:strVal val="visible"/>
                                      </p:to>
                                    </p:set>
                                    <p:animEffect transition="in" filter="fade">
                                      <p:cBhvr>
                                        <p:cTn id="105" dur="650" fill="hold"/>
                                        <p:tgtEl>
                                          <p:spTgt spid="25"/>
                                        </p:tgtEl>
                                      </p:cBhvr>
                                    </p:animEffect>
                                    <p:anim calcmode="lin" valueType="num">
                                      <p:cBhvr additive="base">
                                        <p:cTn id="106" dur="650" fill="hold"/>
                                        <p:tgtEl>
                                          <p:spTgt spid="25"/>
                                        </p:tgtEl>
                                        <p:attrNameLst>
                                          <p:attrName>ppt_x</p:attrName>
                                        </p:attrNameLst>
                                      </p:cBhvr>
                                      <p:tavLst>
                                        <p:tav tm="0">
                                          <p:val>
                                            <p:strVal val="#ppt_x"/>
                                          </p:val>
                                        </p:tav>
                                        <p:tav tm="100000">
                                          <p:val>
                                            <p:strVal val="#ppt_x"/>
                                          </p:val>
                                        </p:tav>
                                      </p:tavLst>
                                    </p:anim>
                                    <p:anim calcmode="lin" valueType="num">
                                      <p:cBhvr additive="base">
                                        <p:cTn id="107" dur="650" fill="hold"/>
                                        <p:tgtEl>
                                          <p:spTgt spid="25"/>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4DB35A"/>
                </a:solidFill>
                <a:latin typeface="Segoe UI Semibold"/>
              </a:rPr>
              <a:t>MÓDULO 3  ·  DEFINIR</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Problem Statement</a:t>
            </a:r>
          </a:p>
        </p:txBody>
      </p:sp>
      <p:sp>
        <p:nvSpPr>
          <p:cNvPr id="6" name="Rounded Rectangle 5"/>
          <p:cNvSpPr/>
          <p:nvPr/>
        </p:nvSpPr>
        <p:spPr>
          <a:xfrm>
            <a:off x="548640" y="1645920"/>
            <a:ext cx="11091672" cy="1645920"/>
          </a:xfrm>
          <a:prstGeom prst="roundRect">
            <a:avLst>
              <a:gd name="adj" fmla="val 8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22960" y="1645920"/>
            <a:ext cx="10515600" cy="1645920"/>
          </a:xfrm>
          <a:prstGeom prst="rect">
            <a:avLst/>
          </a:prstGeom>
          <a:noFill/>
        </p:spPr>
        <p:txBody>
          <a:bodyPr wrap="square" lIns="36576" tIns="18288" rIns="36576" bIns="18288" anchor="ctr">
            <a:spAutoFit/>
          </a:bodyPr>
          <a:lstStyle/>
          <a:p>
            <a:pPr algn="ctr"/>
            <a:r>
              <a:rPr sz="3400" b="1" i="0">
                <a:solidFill>
                  <a:srgbClr val="9CD848"/>
                </a:solidFill>
                <a:latin typeface="Segoe UI Semibold"/>
              </a:rPr>
              <a:t>[Persona]</a:t>
            </a:r>
            <a:r>
              <a:rPr sz="3400" b="0" i="0">
                <a:solidFill>
                  <a:srgbClr val="F2F2EC"/>
                </a:solidFill>
                <a:latin typeface="Segoe UI"/>
              </a:rPr>
              <a:t> precisa de </a:t>
            </a:r>
            <a:r>
              <a:rPr sz="3400" b="1" i="0">
                <a:solidFill>
                  <a:srgbClr val="2FA38A"/>
                </a:solidFill>
                <a:latin typeface="Segoe UI Semibold"/>
              </a:rPr>
              <a:t>[necessidade]</a:t>
            </a:r>
            <a:r>
              <a:rPr sz="3400" b="0" i="0">
                <a:solidFill>
                  <a:srgbClr val="F2F2EC"/>
                </a:solidFill>
                <a:latin typeface="Segoe UI"/>
              </a:rPr>
              <a:t> porque </a:t>
            </a:r>
            <a:r>
              <a:rPr sz="3400" b="1" i="0">
                <a:solidFill>
                  <a:srgbClr val="2A9FC0"/>
                </a:solidFill>
                <a:latin typeface="Segoe UI Semibold"/>
              </a:rPr>
              <a:t>[insight]</a:t>
            </a:r>
            <a:r>
              <a:rPr sz="3400" b="0" i="0">
                <a:solidFill>
                  <a:srgbClr val="F2F2EC"/>
                </a:solidFill>
                <a:latin typeface="Segoe UI"/>
              </a:rPr>
              <a:t>.</a:t>
            </a:r>
          </a:p>
        </p:txBody>
      </p:sp>
      <p:sp>
        <p:nvSpPr>
          <p:cNvPr id="8" name="TextBox 7"/>
          <p:cNvSpPr txBox="1"/>
          <p:nvPr/>
        </p:nvSpPr>
        <p:spPr>
          <a:xfrm>
            <a:off x="548640" y="3657600"/>
            <a:ext cx="2743200" cy="365760"/>
          </a:xfrm>
          <a:prstGeom prst="rect">
            <a:avLst/>
          </a:prstGeom>
          <a:noFill/>
        </p:spPr>
        <p:txBody>
          <a:bodyPr wrap="square" lIns="36576" tIns="18288" rIns="36576" bIns="18288" anchor="t">
            <a:spAutoFit/>
          </a:bodyPr>
          <a:lstStyle/>
          <a:p>
            <a:pPr algn="l"/>
            <a:r>
              <a:rPr sz="1100" b="1" i="0" spc="200">
                <a:solidFill>
                  <a:srgbClr val="4DB35A"/>
                </a:solidFill>
                <a:latin typeface="Segoe UI Semibold"/>
              </a:rPr>
              <a:t>EXEMPLO</a:t>
            </a:r>
          </a:p>
        </p:txBody>
      </p:sp>
      <p:sp>
        <p:nvSpPr>
          <p:cNvPr id="9" name="TextBox 8"/>
          <p:cNvSpPr txBox="1"/>
          <p:nvPr/>
        </p:nvSpPr>
        <p:spPr>
          <a:xfrm>
            <a:off x="548640" y="4023360"/>
            <a:ext cx="11064240" cy="1645920"/>
          </a:xfrm>
          <a:prstGeom prst="rect">
            <a:avLst/>
          </a:prstGeom>
          <a:noFill/>
        </p:spPr>
        <p:txBody>
          <a:bodyPr wrap="square" lIns="36576" tIns="18288" rIns="36576" bIns="18288" anchor="t">
            <a:spAutoFit/>
          </a:bodyPr>
          <a:lstStyle/>
          <a:p>
            <a:pPr algn="l">
              <a:lnSpc>
                <a:spcPct val="110000"/>
              </a:lnSpc>
            </a:pPr>
            <a:r>
              <a:rPr sz="2000" b="0" i="1">
                <a:solidFill>
                  <a:srgbClr val="B4B8B0"/>
                </a:solidFill>
                <a:latin typeface="Segoe UI"/>
              </a:rPr>
              <a:t>Carla, dona de loja, precisa responder clientes em minutos, mesmo durante o atendimento presencial, porque metade das vendas perdidas acontece por demora na resposta.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42" presetClass="entr" presetSubtype="0" decel="100000" fill="hold" grpId="0" nodeType="withEffect">
                                  <p:stCondLst>
                                    <p:cond delay="2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50" fill="hold"/>
                                        <p:tgtEl>
                                          <p:spTgt spid="6"/>
                                        </p:tgtEl>
                                      </p:cBhvr>
                                    </p:animEffect>
                                    <p:anim calcmode="lin" valueType="num">
                                      <p:cBhvr additive="base">
                                        <p:cTn id="11" dur="650" fill="hold"/>
                                        <p:tgtEl>
                                          <p:spTgt spid="6"/>
                                        </p:tgtEl>
                                        <p:attrNameLst>
                                          <p:attrName>ppt_x</p:attrName>
                                        </p:attrNameLst>
                                      </p:cBhvr>
                                      <p:tavLst>
                                        <p:tav tm="0">
                                          <p:val>
                                            <p:strVal val="#ppt_x"/>
                                          </p:val>
                                        </p:tav>
                                        <p:tav tm="100000">
                                          <p:val>
                                            <p:strVal val="#ppt_x"/>
                                          </p:val>
                                        </p:tav>
                                      </p:tavLst>
                                    </p:anim>
                                    <p:anim calcmode="lin" valueType="num">
                                      <p:cBhvr additive="base">
                                        <p:cTn id="12" dur="650" fill="hold"/>
                                        <p:tgtEl>
                                          <p:spTgt spid="6"/>
                                        </p:tgtEl>
                                        <p:attrNameLst>
                                          <p:attrName>ppt_y</p:attrName>
                                        </p:attrNameLst>
                                      </p:cBhvr>
                                      <p:tavLst>
                                        <p:tav tm="0">
                                          <p:val>
                                            <p:strVal val="#ppt_y+.06"/>
                                          </p:val>
                                        </p:tav>
                                        <p:tav tm="100000">
                                          <p:val>
                                            <p:strVal val="#ppt_y"/>
                                          </p:val>
                                        </p:tav>
                                      </p:tavLst>
                                    </p:anim>
                                  </p:childTnLst>
                                </p:cTn>
                              </p:par>
                              <p:par>
                                <p:cTn id="13" presetID="10" presetClass="entr" presetSubtype="0" fill="hold" grpId="0" nodeType="withEffect">
                                  <p:stCondLst>
                                    <p:cond delay="550"/>
                                  </p:stCondLst>
                                  <p:iterate type="wd">
                                    <p:tmPct val="60000"/>
                                  </p:iterate>
                                  <p:childTnLst>
                                    <p:set>
                                      <p:cBhvr>
                                        <p:cTn id="14" dur="1" fill="hold">
                                          <p:stCondLst>
                                            <p:cond delay="0"/>
                                          </p:stCondLst>
                                        </p:cTn>
                                        <p:tgtEl>
                                          <p:spTgt spid="7"/>
                                        </p:tgtEl>
                                        <p:attrNameLst>
                                          <p:attrName>style.visibility</p:attrName>
                                        </p:attrNameLst>
                                      </p:cBhvr>
                                      <p:to>
                                        <p:strVal val="visible"/>
                                      </p:to>
                                    </p:set>
                                    <p:animEffect transition="in" filter="fade">
                                      <p:cBhvr>
                                        <p:cTn id="15" dur="500" fill="hold"/>
                                        <p:tgtEl>
                                          <p:spTgt spid="7"/>
                                        </p:tgtEl>
                                      </p:cBhvr>
                                    </p:animEffect>
                                  </p:childTnLst>
                                </p:cTn>
                              </p:par>
                              <p:par>
                                <p:cTn id="16" presetID="10" presetClass="entr" presetSubtype="0" fill="hold" grpId="0" nodeType="withEffect">
                                  <p:stCondLst>
                                    <p:cond delay="295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fill="hold"/>
                                        <p:tgtEl>
                                          <p:spTgt spid="8"/>
                                        </p:tgtEl>
                                      </p:cBhvr>
                                    </p:animEffect>
                                  </p:childTnLst>
                                </p:cTn>
                              </p:par>
                              <p:par>
                                <p:cTn id="19" presetID="42" presetClass="entr" presetSubtype="0" decel="100000" fill="hold" grpId="0" nodeType="withEffect">
                                  <p:stCondLst>
                                    <p:cond delay="315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650" fill="hold"/>
                                        <p:tgtEl>
                                          <p:spTgt spid="9"/>
                                        </p:tgtEl>
                                      </p:cBhvr>
                                    </p:animEffect>
                                    <p:anim calcmode="lin" valueType="num">
                                      <p:cBhvr additive="base">
                                        <p:cTn id="22" dur="650" fill="hold"/>
                                        <p:tgtEl>
                                          <p:spTgt spid="9"/>
                                        </p:tgtEl>
                                        <p:attrNameLst>
                                          <p:attrName>ppt_x</p:attrName>
                                        </p:attrNameLst>
                                      </p:cBhvr>
                                      <p:tavLst>
                                        <p:tav tm="0">
                                          <p:val>
                                            <p:strVal val="#ppt_x"/>
                                          </p:val>
                                        </p:tav>
                                        <p:tav tm="100000">
                                          <p:val>
                                            <p:strVal val="#ppt_x"/>
                                          </p:val>
                                        </p:tav>
                                      </p:tavLst>
                                    </p:anim>
                                    <p:anim calcmode="lin" valueType="num">
                                      <p:cBhvr additive="base">
                                        <p:cTn id="23" dur="650" fill="hold"/>
                                        <p:tgtEl>
                                          <p:spTgt spid="9"/>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4DB35A"/>
                </a:solidFill>
                <a:latin typeface="Segoe UI Semibold"/>
              </a:rPr>
              <a:t>MÓDULO 3  ·  DEFINIR</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1005840"/>
            <a:ext cx="4572000" cy="2560320"/>
          </a:xfrm>
          <a:prstGeom prst="rect">
            <a:avLst/>
          </a:prstGeom>
          <a:noFill/>
        </p:spPr>
        <p:txBody>
          <a:bodyPr wrap="square" lIns="36576" tIns="18288" rIns="36576" bIns="18288" anchor="t">
            <a:spAutoFit/>
          </a:bodyPr>
          <a:lstStyle/>
          <a:p>
            <a:pPr algn="l">
              <a:lnSpc>
                <a:spcPct val="95000"/>
              </a:lnSpc>
            </a:pPr>
            <a:r>
              <a:rPr sz="5000" b="1" i="0">
                <a:solidFill>
                  <a:srgbClr val="F2F2EC"/>
                </a:solidFill>
                <a:latin typeface="Segoe UI Semibold"/>
              </a:rPr>
              <a:t>Como</a:t>
            </a:r>
          </a:p>
          <a:p>
            <a:pPr algn="l">
              <a:lnSpc>
                <a:spcPct val="95000"/>
              </a:lnSpc>
            </a:pPr>
            <a:r>
              <a:rPr sz="5000" b="1" i="0">
                <a:solidFill>
                  <a:srgbClr val="F2F2EC"/>
                </a:solidFill>
                <a:latin typeface="Segoe UI Semibold"/>
              </a:rPr>
              <a:t>poderíamos</a:t>
            </a:r>
          </a:p>
          <a:p>
            <a:pPr algn="l">
              <a:lnSpc>
                <a:spcPct val="95000"/>
              </a:lnSpc>
            </a:pPr>
            <a:r>
              <a:rPr sz="5000" b="1" i="0">
                <a:solidFill>
                  <a:srgbClr val="4DB35A"/>
                </a:solidFill>
                <a:latin typeface="Segoe UI Semibold"/>
              </a:rPr>
              <a:t>…?</a:t>
            </a:r>
          </a:p>
        </p:txBody>
      </p:sp>
      <p:sp>
        <p:nvSpPr>
          <p:cNvPr id="6" name="TextBox 5"/>
          <p:cNvSpPr txBox="1"/>
          <p:nvPr/>
        </p:nvSpPr>
        <p:spPr>
          <a:xfrm>
            <a:off x="548640" y="3977639"/>
            <a:ext cx="4206240" cy="1371600"/>
          </a:xfrm>
          <a:prstGeom prst="rect">
            <a:avLst/>
          </a:prstGeom>
          <a:noFill/>
        </p:spPr>
        <p:txBody>
          <a:bodyPr wrap="square" lIns="36576" tIns="18288" rIns="36576" bIns="18288" anchor="t">
            <a:spAutoFit/>
          </a:bodyPr>
          <a:lstStyle/>
          <a:p>
            <a:pPr algn="l"/>
            <a:r>
              <a:rPr sz="1700" b="0" i="0">
                <a:solidFill>
                  <a:srgbClr val="B4B8B0"/>
                </a:solidFill>
                <a:latin typeface="Segoe UI"/>
              </a:rPr>
              <a:t>Transforme o problema em uma pergunta que convida à criação. Em inglês: How Might We (HMW).</a:t>
            </a:r>
          </a:p>
        </p:txBody>
      </p:sp>
      <p:sp>
        <p:nvSpPr>
          <p:cNvPr id="7" name="Rounded Rectangle 6"/>
          <p:cNvSpPr/>
          <p:nvPr/>
        </p:nvSpPr>
        <p:spPr>
          <a:xfrm>
            <a:off x="5394960" y="1188720"/>
            <a:ext cx="6245352" cy="1325880"/>
          </a:xfrm>
          <a:prstGeom prst="roundRect">
            <a:avLst>
              <a:gd name="adj" fmla="val 10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355080" y="1188720"/>
            <a:ext cx="5120640" cy="1325880"/>
          </a:xfrm>
          <a:prstGeom prst="rect">
            <a:avLst/>
          </a:prstGeom>
          <a:noFill/>
        </p:spPr>
        <p:txBody>
          <a:bodyPr wrap="square" lIns="36576" tIns="18288" rIns="36576" bIns="18288" anchor="ctr">
            <a:spAutoFit/>
          </a:bodyPr>
          <a:lstStyle/>
          <a:p>
            <a:pPr algn="l"/>
            <a:r>
              <a:rPr sz="1700" b="0" i="0">
                <a:solidFill>
                  <a:srgbClr val="F2F2EC"/>
                </a:solidFill>
                <a:latin typeface="Segoe UI"/>
              </a:rPr>
              <a:t>Como poderíamos ajudar a Carla a responder clientes sem parar o atendimento?</a:t>
            </a:r>
          </a:p>
        </p:txBody>
      </p:sp>
      <p:sp>
        <p:nvSpPr>
          <p:cNvPr id="9" name="Oval 8"/>
          <p:cNvSpPr/>
          <p:nvPr/>
        </p:nvSpPr>
        <p:spPr>
          <a:xfrm>
            <a:off x="5669280" y="1618488"/>
            <a:ext cx="457200" cy="457200"/>
          </a:xfrm>
          <a:prstGeom prst="ellipse">
            <a:avLst/>
          </a:prstGeom>
          <a:solidFill>
            <a:srgbClr val="4DB35A"/>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600" b="1" i="0">
                <a:solidFill>
                  <a:srgbClr val="1A1A1A"/>
                </a:solidFill>
                <a:latin typeface="Segoe UI Semibold"/>
              </a:rPr>
              <a:t>?</a:t>
            </a:r>
          </a:p>
        </p:txBody>
      </p:sp>
      <p:sp>
        <p:nvSpPr>
          <p:cNvPr id="10" name="Rounded Rectangle 9"/>
          <p:cNvSpPr/>
          <p:nvPr/>
        </p:nvSpPr>
        <p:spPr>
          <a:xfrm>
            <a:off x="5394960" y="2743200"/>
            <a:ext cx="6245352" cy="1325880"/>
          </a:xfrm>
          <a:prstGeom prst="roundRect">
            <a:avLst>
              <a:gd name="adj" fmla="val 10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355080" y="2743200"/>
            <a:ext cx="5120640" cy="1325880"/>
          </a:xfrm>
          <a:prstGeom prst="rect">
            <a:avLst/>
          </a:prstGeom>
          <a:noFill/>
        </p:spPr>
        <p:txBody>
          <a:bodyPr wrap="square" lIns="36576" tIns="18288" rIns="36576" bIns="18288" anchor="ctr">
            <a:spAutoFit/>
          </a:bodyPr>
          <a:lstStyle/>
          <a:p>
            <a:pPr algn="l"/>
            <a:r>
              <a:rPr sz="1700" b="0" i="0">
                <a:solidFill>
                  <a:srgbClr val="F2F2EC"/>
                </a:solidFill>
                <a:latin typeface="Segoe UI"/>
              </a:rPr>
              <a:t>Como poderíamos fazer o cliente encontrar sozinho as respostas mais comuns?</a:t>
            </a:r>
          </a:p>
        </p:txBody>
      </p:sp>
      <p:sp>
        <p:nvSpPr>
          <p:cNvPr id="12" name="Oval 11"/>
          <p:cNvSpPr/>
          <p:nvPr/>
        </p:nvSpPr>
        <p:spPr>
          <a:xfrm>
            <a:off x="5669280" y="3172968"/>
            <a:ext cx="457200" cy="457200"/>
          </a:xfrm>
          <a:prstGeom prst="ellipse">
            <a:avLst/>
          </a:prstGeom>
          <a:solidFill>
            <a:srgbClr val="4DB35A"/>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600" b="1" i="0">
                <a:solidFill>
                  <a:srgbClr val="1A1A1A"/>
                </a:solidFill>
                <a:latin typeface="Segoe UI Semibold"/>
              </a:rPr>
              <a:t>?</a:t>
            </a:r>
          </a:p>
        </p:txBody>
      </p:sp>
      <p:sp>
        <p:nvSpPr>
          <p:cNvPr id="13" name="Rounded Rectangle 12"/>
          <p:cNvSpPr/>
          <p:nvPr/>
        </p:nvSpPr>
        <p:spPr>
          <a:xfrm>
            <a:off x="5394960" y="4297680"/>
            <a:ext cx="6245352" cy="1325880"/>
          </a:xfrm>
          <a:prstGeom prst="roundRect">
            <a:avLst>
              <a:gd name="adj" fmla="val 10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355080" y="4297680"/>
            <a:ext cx="5120640" cy="1325880"/>
          </a:xfrm>
          <a:prstGeom prst="rect">
            <a:avLst/>
          </a:prstGeom>
          <a:noFill/>
        </p:spPr>
        <p:txBody>
          <a:bodyPr wrap="square" lIns="36576" tIns="18288" rIns="36576" bIns="18288" anchor="ctr">
            <a:spAutoFit/>
          </a:bodyPr>
          <a:lstStyle/>
          <a:p>
            <a:pPr algn="l"/>
            <a:r>
              <a:rPr sz="1700" b="0" i="0">
                <a:solidFill>
                  <a:srgbClr val="F2F2EC"/>
                </a:solidFill>
                <a:latin typeface="Segoe UI"/>
              </a:rPr>
              <a:t>Como poderíamos transformar a espera em parte da experiência?</a:t>
            </a:r>
          </a:p>
        </p:txBody>
      </p:sp>
      <p:sp>
        <p:nvSpPr>
          <p:cNvPr id="15" name="Oval 14"/>
          <p:cNvSpPr/>
          <p:nvPr/>
        </p:nvSpPr>
        <p:spPr>
          <a:xfrm>
            <a:off x="5669280" y="4727448"/>
            <a:ext cx="457200" cy="457200"/>
          </a:xfrm>
          <a:prstGeom prst="ellipse">
            <a:avLst/>
          </a:prstGeom>
          <a:solidFill>
            <a:srgbClr val="4DB35A"/>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600" b="1" i="0">
                <a:solidFill>
                  <a:srgbClr val="1A1A1A"/>
                </a:solidFill>
                <a:latin typeface="Segoe UI Semibold"/>
              </a:rPr>
              <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type="wd">
                                    <p:tmPct val="7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fill="hold"/>
                                        <p:tgtEl>
                                          <p:spTgt spid="5"/>
                                        </p:tgtEl>
                                      </p:cBhvr>
                                    </p:animEffect>
                                  </p:childTnLst>
                                </p:cTn>
                              </p:par>
                              <p:par>
                                <p:cTn id="8" presetID="10" presetClass="entr" presetSubtype="0" fill="hold" grpId="0" nodeType="withEffect">
                                  <p:stCondLst>
                                    <p:cond delay="14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fill="hold"/>
                                        <p:tgtEl>
                                          <p:spTgt spid="6"/>
                                        </p:tgtEl>
                                      </p:cBhvr>
                                    </p:animEffect>
                                  </p:childTnLst>
                                </p:cTn>
                              </p:par>
                              <p:par>
                                <p:cTn id="11" presetID="42" presetClass="entr" presetSubtype="0" decel="100000" fill="hold" grpId="0" nodeType="withEffect">
                                  <p:stCondLst>
                                    <p:cond delay="175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650" fill="hold"/>
                                        <p:tgtEl>
                                          <p:spTgt spid="7"/>
                                        </p:tgtEl>
                                      </p:cBhvr>
                                    </p:animEffect>
                                    <p:anim calcmode="lin" valueType="num">
                                      <p:cBhvr additive="base">
                                        <p:cTn id="14" dur="650" fill="hold"/>
                                        <p:tgtEl>
                                          <p:spTgt spid="7"/>
                                        </p:tgtEl>
                                        <p:attrNameLst>
                                          <p:attrName>ppt_x</p:attrName>
                                        </p:attrNameLst>
                                      </p:cBhvr>
                                      <p:tavLst>
                                        <p:tav tm="0">
                                          <p:val>
                                            <p:strVal val="#ppt_x"/>
                                          </p:val>
                                        </p:tav>
                                        <p:tav tm="100000">
                                          <p:val>
                                            <p:strVal val="#ppt_x"/>
                                          </p:val>
                                        </p:tav>
                                      </p:tavLst>
                                    </p:anim>
                                    <p:anim calcmode="lin" valueType="num">
                                      <p:cBhvr additive="base">
                                        <p:cTn id="15" dur="650" fill="hold"/>
                                        <p:tgtEl>
                                          <p:spTgt spid="7"/>
                                        </p:tgtEl>
                                        <p:attrNameLst>
                                          <p:attrName>ppt_y</p:attrName>
                                        </p:attrNameLst>
                                      </p:cBhvr>
                                      <p:tavLst>
                                        <p:tav tm="0">
                                          <p:val>
                                            <p:strVal val="#ppt_y+.06"/>
                                          </p:val>
                                        </p:tav>
                                        <p:tav tm="100000">
                                          <p:val>
                                            <p:strVal val="#ppt_y"/>
                                          </p:val>
                                        </p:tav>
                                      </p:tavLst>
                                    </p:anim>
                                  </p:childTnLst>
                                </p:cTn>
                              </p:par>
                              <p:par>
                                <p:cTn id="16" presetID="42" presetClass="entr" presetSubtype="0" decel="100000" fill="hold" grpId="0" nodeType="withEffect">
                                  <p:stCondLst>
                                    <p:cond delay="175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650" fill="hold"/>
                                        <p:tgtEl>
                                          <p:spTgt spid="8"/>
                                        </p:tgtEl>
                                      </p:cBhvr>
                                    </p:animEffect>
                                    <p:anim calcmode="lin" valueType="num">
                                      <p:cBhvr additive="base">
                                        <p:cTn id="19" dur="650" fill="hold"/>
                                        <p:tgtEl>
                                          <p:spTgt spid="8"/>
                                        </p:tgtEl>
                                        <p:attrNameLst>
                                          <p:attrName>ppt_x</p:attrName>
                                        </p:attrNameLst>
                                      </p:cBhvr>
                                      <p:tavLst>
                                        <p:tav tm="0">
                                          <p:val>
                                            <p:strVal val="#ppt_x"/>
                                          </p:val>
                                        </p:tav>
                                        <p:tav tm="100000">
                                          <p:val>
                                            <p:strVal val="#ppt_x"/>
                                          </p:val>
                                        </p:tav>
                                      </p:tavLst>
                                    </p:anim>
                                    <p:anim calcmode="lin" valueType="num">
                                      <p:cBhvr additive="base">
                                        <p:cTn id="20" dur="650" fill="hold"/>
                                        <p:tgtEl>
                                          <p:spTgt spid="8"/>
                                        </p:tgtEl>
                                        <p:attrNameLst>
                                          <p:attrName>ppt_y</p:attrName>
                                        </p:attrNameLst>
                                      </p:cBhvr>
                                      <p:tavLst>
                                        <p:tav tm="0">
                                          <p:val>
                                            <p:strVal val="#ppt_y+.06"/>
                                          </p:val>
                                        </p:tav>
                                        <p:tav tm="100000">
                                          <p:val>
                                            <p:strVal val="#ppt_y"/>
                                          </p:val>
                                        </p:tav>
                                      </p:tavLst>
                                    </p:anim>
                                  </p:childTnLst>
                                </p:cTn>
                              </p:par>
                              <p:par>
                                <p:cTn id="21" presetID="53" presetClass="entr" presetSubtype="16" decel="100000" fill="hold" grpId="0" nodeType="withEffect">
                                  <p:stCondLst>
                                    <p:cond delay="187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450" fill="hold"/>
                                        <p:tgtEl>
                                          <p:spTgt spid="9"/>
                                        </p:tgtEl>
                                        <p:attrNameLst>
                                          <p:attrName>ppt_w</p:attrName>
                                        </p:attrNameLst>
                                      </p:cBhvr>
                                      <p:tavLst>
                                        <p:tav tm="0">
                                          <p:val>
                                            <p:strVal val="0"/>
                                          </p:val>
                                        </p:tav>
                                        <p:tav tm="70000">
                                          <p:val>
                                            <p:strVal val="#ppt_w*1.08"/>
                                          </p:val>
                                        </p:tav>
                                        <p:tav tm="100000">
                                          <p:val>
                                            <p:strVal val="#ppt_w"/>
                                          </p:val>
                                        </p:tav>
                                      </p:tavLst>
                                    </p:anim>
                                    <p:anim calcmode="lin" valueType="num">
                                      <p:cBhvr additive="base">
                                        <p:cTn id="24" dur="450" fill="hold"/>
                                        <p:tgtEl>
                                          <p:spTgt spid="9"/>
                                        </p:tgtEl>
                                        <p:attrNameLst>
                                          <p:attrName>ppt_h</p:attrName>
                                        </p:attrNameLst>
                                      </p:cBhvr>
                                      <p:tavLst>
                                        <p:tav tm="0">
                                          <p:val>
                                            <p:strVal val="0"/>
                                          </p:val>
                                        </p:tav>
                                        <p:tav tm="70000">
                                          <p:val>
                                            <p:strVal val="#ppt_h*1.08"/>
                                          </p:val>
                                        </p:tav>
                                        <p:tav tm="100000">
                                          <p:val>
                                            <p:strVal val="#ppt_h"/>
                                          </p:val>
                                        </p:tav>
                                      </p:tavLst>
                                    </p:anim>
                                    <p:animEffect transition="in" filter="fade">
                                      <p:cBhvr>
                                        <p:cTn id="25" dur="270" fill="hold"/>
                                        <p:tgtEl>
                                          <p:spTgt spid="9"/>
                                        </p:tgtEl>
                                      </p:cBhvr>
                                    </p:animEffect>
                                  </p:childTnLst>
                                </p:cTn>
                              </p:par>
                              <p:par>
                                <p:cTn id="26" presetID="42" presetClass="entr" presetSubtype="0" decel="100000" fill="hold" grpId="0" nodeType="withEffect">
                                  <p:stCondLst>
                                    <p:cond delay="222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650" fill="hold"/>
                                        <p:tgtEl>
                                          <p:spTgt spid="10"/>
                                        </p:tgtEl>
                                      </p:cBhvr>
                                    </p:animEffect>
                                    <p:anim calcmode="lin" valueType="num">
                                      <p:cBhvr additive="base">
                                        <p:cTn id="29" dur="650" fill="hold"/>
                                        <p:tgtEl>
                                          <p:spTgt spid="10"/>
                                        </p:tgtEl>
                                        <p:attrNameLst>
                                          <p:attrName>ppt_x</p:attrName>
                                        </p:attrNameLst>
                                      </p:cBhvr>
                                      <p:tavLst>
                                        <p:tav tm="0">
                                          <p:val>
                                            <p:strVal val="#ppt_x"/>
                                          </p:val>
                                        </p:tav>
                                        <p:tav tm="100000">
                                          <p:val>
                                            <p:strVal val="#ppt_x"/>
                                          </p:val>
                                        </p:tav>
                                      </p:tavLst>
                                    </p:anim>
                                    <p:anim calcmode="lin" valueType="num">
                                      <p:cBhvr additive="base">
                                        <p:cTn id="30" dur="650" fill="hold"/>
                                        <p:tgtEl>
                                          <p:spTgt spid="10"/>
                                        </p:tgtEl>
                                        <p:attrNameLst>
                                          <p:attrName>ppt_y</p:attrName>
                                        </p:attrNameLst>
                                      </p:cBhvr>
                                      <p:tavLst>
                                        <p:tav tm="0">
                                          <p:val>
                                            <p:strVal val="#ppt_y+.06"/>
                                          </p:val>
                                        </p:tav>
                                        <p:tav tm="100000">
                                          <p:val>
                                            <p:strVal val="#ppt_y"/>
                                          </p:val>
                                        </p:tav>
                                      </p:tavLst>
                                    </p:anim>
                                  </p:childTnLst>
                                </p:cTn>
                              </p:par>
                              <p:par>
                                <p:cTn id="31" presetID="42" presetClass="entr" presetSubtype="0" decel="100000" fill="hold" grpId="0" nodeType="withEffect">
                                  <p:stCondLst>
                                    <p:cond delay="222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650" fill="hold"/>
                                        <p:tgtEl>
                                          <p:spTgt spid="11"/>
                                        </p:tgtEl>
                                      </p:cBhvr>
                                    </p:animEffect>
                                    <p:anim calcmode="lin" valueType="num">
                                      <p:cBhvr additive="base">
                                        <p:cTn id="34" dur="650" fill="hold"/>
                                        <p:tgtEl>
                                          <p:spTgt spid="11"/>
                                        </p:tgtEl>
                                        <p:attrNameLst>
                                          <p:attrName>ppt_x</p:attrName>
                                        </p:attrNameLst>
                                      </p:cBhvr>
                                      <p:tavLst>
                                        <p:tav tm="0">
                                          <p:val>
                                            <p:strVal val="#ppt_x"/>
                                          </p:val>
                                        </p:tav>
                                        <p:tav tm="100000">
                                          <p:val>
                                            <p:strVal val="#ppt_x"/>
                                          </p:val>
                                        </p:tav>
                                      </p:tavLst>
                                    </p:anim>
                                    <p:anim calcmode="lin" valueType="num">
                                      <p:cBhvr additive="base">
                                        <p:cTn id="35" dur="650" fill="hold"/>
                                        <p:tgtEl>
                                          <p:spTgt spid="11"/>
                                        </p:tgtEl>
                                        <p:attrNameLst>
                                          <p:attrName>ppt_y</p:attrName>
                                        </p:attrNameLst>
                                      </p:cBhvr>
                                      <p:tavLst>
                                        <p:tav tm="0">
                                          <p:val>
                                            <p:strVal val="#ppt_y+.06"/>
                                          </p:val>
                                        </p:tav>
                                        <p:tav tm="100000">
                                          <p:val>
                                            <p:strVal val="#ppt_y"/>
                                          </p:val>
                                        </p:tav>
                                      </p:tavLst>
                                    </p:anim>
                                  </p:childTnLst>
                                </p:cTn>
                              </p:par>
                              <p:par>
                                <p:cTn id="36" presetID="53" presetClass="entr" presetSubtype="16" decel="100000" fill="hold" grpId="0" nodeType="withEffect">
                                  <p:stCondLst>
                                    <p:cond delay="2340"/>
                                  </p:stCondLst>
                                  <p:childTnLst>
                                    <p:set>
                                      <p:cBhvr>
                                        <p:cTn id="37" dur="1" fill="hold">
                                          <p:stCondLst>
                                            <p:cond delay="0"/>
                                          </p:stCondLst>
                                        </p:cTn>
                                        <p:tgtEl>
                                          <p:spTgt spid="12"/>
                                        </p:tgtEl>
                                        <p:attrNameLst>
                                          <p:attrName>style.visibility</p:attrName>
                                        </p:attrNameLst>
                                      </p:cBhvr>
                                      <p:to>
                                        <p:strVal val="visible"/>
                                      </p:to>
                                    </p:set>
                                    <p:anim calcmode="lin" valueType="num">
                                      <p:cBhvr additive="base">
                                        <p:cTn id="38" dur="450" fill="hold"/>
                                        <p:tgtEl>
                                          <p:spTgt spid="12"/>
                                        </p:tgtEl>
                                        <p:attrNameLst>
                                          <p:attrName>ppt_w</p:attrName>
                                        </p:attrNameLst>
                                      </p:cBhvr>
                                      <p:tavLst>
                                        <p:tav tm="0">
                                          <p:val>
                                            <p:strVal val="0"/>
                                          </p:val>
                                        </p:tav>
                                        <p:tav tm="70000">
                                          <p:val>
                                            <p:strVal val="#ppt_w*1.08"/>
                                          </p:val>
                                        </p:tav>
                                        <p:tav tm="100000">
                                          <p:val>
                                            <p:strVal val="#ppt_w"/>
                                          </p:val>
                                        </p:tav>
                                      </p:tavLst>
                                    </p:anim>
                                    <p:anim calcmode="lin" valueType="num">
                                      <p:cBhvr additive="base">
                                        <p:cTn id="39" dur="450" fill="hold"/>
                                        <p:tgtEl>
                                          <p:spTgt spid="12"/>
                                        </p:tgtEl>
                                        <p:attrNameLst>
                                          <p:attrName>ppt_h</p:attrName>
                                        </p:attrNameLst>
                                      </p:cBhvr>
                                      <p:tavLst>
                                        <p:tav tm="0">
                                          <p:val>
                                            <p:strVal val="0"/>
                                          </p:val>
                                        </p:tav>
                                        <p:tav tm="70000">
                                          <p:val>
                                            <p:strVal val="#ppt_h*1.08"/>
                                          </p:val>
                                        </p:tav>
                                        <p:tav tm="100000">
                                          <p:val>
                                            <p:strVal val="#ppt_h"/>
                                          </p:val>
                                        </p:tav>
                                      </p:tavLst>
                                    </p:anim>
                                    <p:animEffect transition="in" filter="fade">
                                      <p:cBhvr>
                                        <p:cTn id="40" dur="270" fill="hold"/>
                                        <p:tgtEl>
                                          <p:spTgt spid="12"/>
                                        </p:tgtEl>
                                      </p:cBhvr>
                                    </p:animEffect>
                                  </p:childTnLst>
                                </p:cTn>
                              </p:par>
                              <p:par>
                                <p:cTn id="41" presetID="42" presetClass="entr" presetSubtype="0" decel="100000" fill="hold" grpId="0" nodeType="withEffect">
                                  <p:stCondLst>
                                    <p:cond delay="269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650" fill="hold"/>
                                        <p:tgtEl>
                                          <p:spTgt spid="13"/>
                                        </p:tgtEl>
                                      </p:cBhvr>
                                    </p:animEffect>
                                    <p:anim calcmode="lin" valueType="num">
                                      <p:cBhvr additive="base">
                                        <p:cTn id="44" dur="650" fill="hold"/>
                                        <p:tgtEl>
                                          <p:spTgt spid="13"/>
                                        </p:tgtEl>
                                        <p:attrNameLst>
                                          <p:attrName>ppt_x</p:attrName>
                                        </p:attrNameLst>
                                      </p:cBhvr>
                                      <p:tavLst>
                                        <p:tav tm="0">
                                          <p:val>
                                            <p:strVal val="#ppt_x"/>
                                          </p:val>
                                        </p:tav>
                                        <p:tav tm="100000">
                                          <p:val>
                                            <p:strVal val="#ppt_x"/>
                                          </p:val>
                                        </p:tav>
                                      </p:tavLst>
                                    </p:anim>
                                    <p:anim calcmode="lin" valueType="num">
                                      <p:cBhvr additive="base">
                                        <p:cTn id="45" dur="650" fill="hold"/>
                                        <p:tgtEl>
                                          <p:spTgt spid="13"/>
                                        </p:tgtEl>
                                        <p:attrNameLst>
                                          <p:attrName>ppt_y</p:attrName>
                                        </p:attrNameLst>
                                      </p:cBhvr>
                                      <p:tavLst>
                                        <p:tav tm="0">
                                          <p:val>
                                            <p:strVal val="#ppt_y+.06"/>
                                          </p:val>
                                        </p:tav>
                                        <p:tav tm="100000">
                                          <p:val>
                                            <p:strVal val="#ppt_y"/>
                                          </p:val>
                                        </p:tav>
                                      </p:tavLst>
                                    </p:anim>
                                  </p:childTnLst>
                                </p:cTn>
                              </p:par>
                              <p:par>
                                <p:cTn id="46" presetID="42" presetClass="entr" presetSubtype="0" decel="100000" fill="hold" grpId="0" nodeType="withEffect">
                                  <p:stCondLst>
                                    <p:cond delay="2690"/>
                                  </p:stCondLst>
                                  <p:childTnLst>
                                    <p:set>
                                      <p:cBhvr>
                                        <p:cTn id="47" dur="1" fill="hold">
                                          <p:stCondLst>
                                            <p:cond delay="0"/>
                                          </p:stCondLst>
                                        </p:cTn>
                                        <p:tgtEl>
                                          <p:spTgt spid="14"/>
                                        </p:tgtEl>
                                        <p:attrNameLst>
                                          <p:attrName>style.visibility</p:attrName>
                                        </p:attrNameLst>
                                      </p:cBhvr>
                                      <p:to>
                                        <p:strVal val="visible"/>
                                      </p:to>
                                    </p:set>
                                    <p:animEffect transition="in" filter="fade">
                                      <p:cBhvr>
                                        <p:cTn id="48" dur="650" fill="hold"/>
                                        <p:tgtEl>
                                          <p:spTgt spid="14"/>
                                        </p:tgtEl>
                                      </p:cBhvr>
                                    </p:animEffect>
                                    <p:anim calcmode="lin" valueType="num">
                                      <p:cBhvr additive="base">
                                        <p:cTn id="49" dur="650" fill="hold"/>
                                        <p:tgtEl>
                                          <p:spTgt spid="14"/>
                                        </p:tgtEl>
                                        <p:attrNameLst>
                                          <p:attrName>ppt_x</p:attrName>
                                        </p:attrNameLst>
                                      </p:cBhvr>
                                      <p:tavLst>
                                        <p:tav tm="0">
                                          <p:val>
                                            <p:strVal val="#ppt_x"/>
                                          </p:val>
                                        </p:tav>
                                        <p:tav tm="100000">
                                          <p:val>
                                            <p:strVal val="#ppt_x"/>
                                          </p:val>
                                        </p:tav>
                                      </p:tavLst>
                                    </p:anim>
                                    <p:anim calcmode="lin" valueType="num">
                                      <p:cBhvr additive="base">
                                        <p:cTn id="50" dur="650" fill="hold"/>
                                        <p:tgtEl>
                                          <p:spTgt spid="14"/>
                                        </p:tgtEl>
                                        <p:attrNameLst>
                                          <p:attrName>ppt_y</p:attrName>
                                        </p:attrNameLst>
                                      </p:cBhvr>
                                      <p:tavLst>
                                        <p:tav tm="0">
                                          <p:val>
                                            <p:strVal val="#ppt_y+.06"/>
                                          </p:val>
                                        </p:tav>
                                        <p:tav tm="100000">
                                          <p:val>
                                            <p:strVal val="#ppt_y"/>
                                          </p:val>
                                        </p:tav>
                                      </p:tavLst>
                                    </p:anim>
                                  </p:childTnLst>
                                </p:cTn>
                              </p:par>
                              <p:par>
                                <p:cTn id="51" presetID="53" presetClass="entr" presetSubtype="16" decel="100000" fill="hold" grpId="0" nodeType="withEffect">
                                  <p:stCondLst>
                                    <p:cond delay="2810"/>
                                  </p:stCondLst>
                                  <p:childTnLst>
                                    <p:set>
                                      <p:cBhvr>
                                        <p:cTn id="52" dur="1" fill="hold">
                                          <p:stCondLst>
                                            <p:cond delay="0"/>
                                          </p:stCondLst>
                                        </p:cTn>
                                        <p:tgtEl>
                                          <p:spTgt spid="15"/>
                                        </p:tgtEl>
                                        <p:attrNameLst>
                                          <p:attrName>style.visibility</p:attrName>
                                        </p:attrNameLst>
                                      </p:cBhvr>
                                      <p:to>
                                        <p:strVal val="visible"/>
                                      </p:to>
                                    </p:set>
                                    <p:anim calcmode="lin" valueType="num">
                                      <p:cBhvr additive="base">
                                        <p:cTn id="53" dur="450" fill="hold"/>
                                        <p:tgtEl>
                                          <p:spTgt spid="15"/>
                                        </p:tgtEl>
                                        <p:attrNameLst>
                                          <p:attrName>ppt_w</p:attrName>
                                        </p:attrNameLst>
                                      </p:cBhvr>
                                      <p:tavLst>
                                        <p:tav tm="0">
                                          <p:val>
                                            <p:strVal val="0"/>
                                          </p:val>
                                        </p:tav>
                                        <p:tav tm="70000">
                                          <p:val>
                                            <p:strVal val="#ppt_w*1.08"/>
                                          </p:val>
                                        </p:tav>
                                        <p:tav tm="100000">
                                          <p:val>
                                            <p:strVal val="#ppt_w"/>
                                          </p:val>
                                        </p:tav>
                                      </p:tavLst>
                                    </p:anim>
                                    <p:anim calcmode="lin" valueType="num">
                                      <p:cBhvr additive="base">
                                        <p:cTn id="54" dur="450" fill="hold"/>
                                        <p:tgtEl>
                                          <p:spTgt spid="15"/>
                                        </p:tgtEl>
                                        <p:attrNameLst>
                                          <p:attrName>ppt_h</p:attrName>
                                        </p:attrNameLst>
                                      </p:cBhvr>
                                      <p:tavLst>
                                        <p:tav tm="0">
                                          <p:val>
                                            <p:strVal val="0"/>
                                          </p:val>
                                        </p:tav>
                                        <p:tav tm="70000">
                                          <p:val>
                                            <p:strVal val="#ppt_h*1.08"/>
                                          </p:val>
                                        </p:tav>
                                        <p:tav tm="100000">
                                          <p:val>
                                            <p:strVal val="#ppt_h"/>
                                          </p:val>
                                        </p:tav>
                                      </p:tavLst>
                                    </p:anim>
                                    <p:animEffect transition="in" filter="fade">
                                      <p:cBhvr>
                                        <p:cTn id="55" dur="270" fill="hold"/>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6035040" y="-320040"/>
            <a:ext cx="5852160" cy="5486400"/>
          </a:xfrm>
          <a:prstGeom prst="rect">
            <a:avLst/>
          </a:prstGeom>
          <a:noFill/>
        </p:spPr>
        <p:txBody>
          <a:bodyPr wrap="square" lIns="36576" tIns="18288" rIns="36576" bIns="18288" anchor="t">
            <a:spAutoFit/>
          </a:bodyPr>
          <a:lstStyle/>
          <a:p>
            <a:pPr algn="r"/>
            <a:r>
              <a:rPr sz="33000" b="1" i="0">
                <a:solidFill>
                  <a:srgbClr val="242826"/>
                </a:solidFill>
                <a:latin typeface="Segoe UI Semibold"/>
              </a:rPr>
              <a:t>03</a:t>
            </a:r>
          </a:p>
        </p:txBody>
      </p:sp>
      <p:sp>
        <p:nvSpPr>
          <p:cNvPr id="3" name="Rectangle 2"/>
          <p:cNvSpPr/>
          <p:nvPr/>
        </p:nvSpPr>
        <p:spPr>
          <a:xfrm>
            <a:off x="822960" y="2331720"/>
            <a:ext cx="82296" cy="1417320"/>
          </a:xfrm>
          <a:prstGeom prst="rect">
            <a:avLst/>
          </a:prstGeom>
          <a:solidFill>
            <a:srgbClr val="4DB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188720" y="1783080"/>
            <a:ext cx="8229600" cy="365760"/>
          </a:xfrm>
          <a:prstGeom prst="rect">
            <a:avLst/>
          </a:prstGeom>
          <a:noFill/>
        </p:spPr>
        <p:txBody>
          <a:bodyPr wrap="square" lIns="36576" tIns="18288" rIns="36576" bIns="18288" anchor="t">
            <a:spAutoFit/>
          </a:bodyPr>
          <a:lstStyle/>
          <a:p>
            <a:pPr algn="l"/>
            <a:r>
              <a:rPr sz="1200" b="1" i="0" spc="300">
                <a:solidFill>
                  <a:srgbClr val="4DB35A"/>
                </a:solidFill>
                <a:latin typeface="Segoe UI Semibold"/>
              </a:rPr>
              <a:t>PARA LEVAR  ·  MÓDULO 3</a:t>
            </a:r>
          </a:p>
        </p:txBody>
      </p:sp>
      <p:sp>
        <p:nvSpPr>
          <p:cNvPr id="5" name="TextBox 4"/>
          <p:cNvSpPr txBox="1"/>
          <p:nvPr/>
        </p:nvSpPr>
        <p:spPr>
          <a:xfrm>
            <a:off x="1188720" y="2240280"/>
            <a:ext cx="10241280" cy="1645920"/>
          </a:xfrm>
          <a:prstGeom prst="rect">
            <a:avLst/>
          </a:prstGeom>
          <a:noFill/>
        </p:spPr>
        <p:txBody>
          <a:bodyPr wrap="square" lIns="36576" tIns="18288" rIns="36576" bIns="18288" anchor="t">
            <a:spAutoFit/>
          </a:bodyPr>
          <a:lstStyle/>
          <a:p>
            <a:pPr algn="l">
              <a:lnSpc>
                <a:spcPct val="105000"/>
              </a:lnSpc>
            </a:pPr>
            <a:r>
              <a:rPr sz="4800" b="1" i="0">
                <a:solidFill>
                  <a:srgbClr val="F2F2EC"/>
                </a:solidFill>
                <a:latin typeface="Segoe UI Semibold"/>
              </a:rPr>
              <a:t>Apaixone-se pelo </a:t>
            </a:r>
            <a:r>
              <a:rPr sz="4800" b="1" i="0">
                <a:solidFill>
                  <a:srgbClr val="4DB35A"/>
                </a:solidFill>
                <a:latin typeface="Segoe UI Semibold"/>
              </a:rPr>
              <a:t>problema</a:t>
            </a:r>
            <a:r>
              <a:rPr sz="4800" b="1" i="0">
                <a:solidFill>
                  <a:srgbClr val="F2F2EC"/>
                </a:solidFill>
                <a:latin typeface="Segoe UI Semibold"/>
              </a:rPr>
              <a:t>,</a:t>
            </a:r>
          </a:p>
          <a:p>
            <a:pPr algn="l">
              <a:lnSpc>
                <a:spcPct val="105000"/>
              </a:lnSpc>
            </a:pPr>
            <a:r>
              <a:rPr sz="4800" b="1" i="0">
                <a:solidFill>
                  <a:srgbClr val="F2F2EC"/>
                </a:solidFill>
                <a:latin typeface="Segoe UI Semibold"/>
              </a:rPr>
              <a:t>não pela sua solução.</a:t>
            </a:r>
          </a:p>
        </p:txBody>
      </p:sp>
      <p:sp>
        <p:nvSpPr>
          <p:cNvPr id="6" name="Rectangle 5"/>
          <p:cNvSpPr/>
          <p:nvPr/>
        </p:nvSpPr>
        <p:spPr>
          <a:xfrm>
            <a:off x="1188720" y="4160520"/>
            <a:ext cx="2377440" cy="54864"/>
          </a:xfrm>
          <a:prstGeom prst="rect">
            <a:avLst/>
          </a:prstGeom>
          <a:solidFill>
            <a:srgbClr val="4DB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188720" y="4389120"/>
            <a:ext cx="9875520" cy="731520"/>
          </a:xfrm>
          <a:prstGeom prst="rect">
            <a:avLst/>
          </a:prstGeom>
          <a:noFill/>
        </p:spPr>
        <p:txBody>
          <a:bodyPr wrap="square" lIns="36576" tIns="18288" rIns="36576" bIns="18288" anchor="t">
            <a:spAutoFit/>
          </a:bodyPr>
          <a:lstStyle/>
          <a:p>
            <a:pPr algn="l"/>
            <a:r>
              <a:rPr sz="1800" b="0" i="0">
                <a:solidFill>
                  <a:srgbClr val="B4B8B0"/>
                </a:solidFill>
                <a:latin typeface="Segoe UI"/>
              </a:rPr>
              <a:t>Quem se apega à solução para de ouvir o cliente.</a:t>
            </a:r>
          </a:p>
        </p:txBody>
      </p:sp>
      <p:sp>
        <p:nvSpPr>
          <p:cNvPr id="8" name="TextBox 7"/>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400" fill="hold"/>
                                        <p:tgtEl>
                                          <p:spTgt spid="2"/>
                                        </p:tgtEl>
                                      </p:cBhvr>
                                    </p:animEffect>
                                  </p:childTnLst>
                                </p:cTn>
                              </p:par>
                              <p:par>
                                <p:cTn id="8" presetID="22" presetClass="entr" presetSubtype="4" fill="hold" grpId="0" nodeType="withEffect">
                                  <p:stCondLst>
                                    <p:cond delay="300"/>
                                  </p:stCondLst>
                                  <p:childTnLst>
                                    <p:set>
                                      <p:cBhvr>
                                        <p:cTn id="9" dur="1" fill="hold">
                                          <p:stCondLst>
                                            <p:cond delay="0"/>
                                          </p:stCondLst>
                                        </p:cTn>
                                        <p:tgtEl>
                                          <p:spTgt spid="3"/>
                                        </p:tgtEl>
                                        <p:attrNameLst>
                                          <p:attrName>style.visibility</p:attrName>
                                        </p:attrNameLst>
                                      </p:cBhvr>
                                      <p:to>
                                        <p:strVal val="visible"/>
                                      </p:to>
                                    </p:set>
                                    <p:animEffect transition="in" filter="wipe(down)">
                                      <p:cBhvr>
                                        <p:cTn id="10" dur="700" fill="hold"/>
                                        <p:tgtEl>
                                          <p:spTgt spid="3"/>
                                        </p:tgtEl>
                                      </p:cBhvr>
                                    </p:animEffect>
                                  </p:childTnLst>
                                </p:cTn>
                              </p:par>
                              <p:par>
                                <p:cTn id="11" presetID="10" presetClass="entr" presetSubtype="0" fill="hold" grpId="0" nodeType="withEffect">
                                  <p:stCondLst>
                                    <p:cond delay="65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fill="hold"/>
                                        <p:tgtEl>
                                          <p:spTgt spid="4"/>
                                        </p:tgtEl>
                                      </p:cBhvr>
                                    </p:animEffect>
                                  </p:childTnLst>
                                </p:cTn>
                              </p:par>
                              <p:par>
                                <p:cTn id="14" presetID="10" presetClass="entr" presetSubtype="0" fill="hold" grpId="0" nodeType="withEffect">
                                  <p:stCondLst>
                                    <p:cond delay="950"/>
                                  </p:stCondLst>
                                  <p:iterate type="wd">
                                    <p:tmPct val="45000"/>
                                  </p:iterate>
                                  <p:childTnLst>
                                    <p:set>
                                      <p:cBhvr>
                                        <p:cTn id="15" dur="1" fill="hold">
                                          <p:stCondLst>
                                            <p:cond delay="0"/>
                                          </p:stCondLst>
                                        </p:cTn>
                                        <p:tgtEl>
                                          <p:spTgt spid="5"/>
                                        </p:tgtEl>
                                        <p:attrNameLst>
                                          <p:attrName>style.visibility</p:attrName>
                                        </p:attrNameLst>
                                      </p:cBhvr>
                                      <p:to>
                                        <p:strVal val="visible"/>
                                      </p:to>
                                    </p:set>
                                    <p:animEffect transition="in" filter="fade">
                                      <p:cBhvr>
                                        <p:cTn id="16" dur="500" fill="hold"/>
                                        <p:tgtEl>
                                          <p:spTgt spid="5"/>
                                        </p:tgtEl>
                                      </p:cBhvr>
                                    </p:animEffect>
                                  </p:childTnLst>
                                </p:cTn>
                              </p:par>
                              <p:par>
                                <p:cTn id="17" presetID="22" presetClass="entr" presetSubtype="8" fill="hold" grpId="0" nodeType="withEffect">
                                  <p:stCondLst>
                                    <p:cond delay="3200"/>
                                  </p:stCondLst>
                                  <p:childTnLst>
                                    <p:set>
                                      <p:cBhvr>
                                        <p:cTn id="18" dur="1" fill="hold">
                                          <p:stCondLst>
                                            <p:cond delay="0"/>
                                          </p:stCondLst>
                                        </p:cTn>
                                        <p:tgtEl>
                                          <p:spTgt spid="6"/>
                                        </p:tgtEl>
                                        <p:attrNameLst>
                                          <p:attrName>style.visibility</p:attrName>
                                        </p:attrNameLst>
                                      </p:cBhvr>
                                      <p:to>
                                        <p:strVal val="visible"/>
                                      </p:to>
                                    </p:set>
                                    <p:animEffect transition="in" filter="wipe(left)">
                                      <p:cBhvr>
                                        <p:cTn id="19" dur="800" fill="hold"/>
                                        <p:tgtEl>
                                          <p:spTgt spid="6"/>
                                        </p:tgtEl>
                                      </p:cBhvr>
                                    </p:animEffect>
                                  </p:childTnLst>
                                </p:cTn>
                              </p:par>
                              <p:par>
                                <p:cTn id="20" presetID="42" presetClass="entr" presetSubtype="0" decel="100000" fill="hold" grpId="0" nodeType="withEffect">
                                  <p:stCondLst>
                                    <p:cond delay="350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650" fill="hold"/>
                                        <p:tgtEl>
                                          <p:spTgt spid="7"/>
                                        </p:tgtEl>
                                      </p:cBhvr>
                                    </p:animEffect>
                                    <p:anim calcmode="lin" valueType="num">
                                      <p:cBhvr additive="base">
                                        <p:cTn id="23" dur="650" fill="hold"/>
                                        <p:tgtEl>
                                          <p:spTgt spid="7"/>
                                        </p:tgtEl>
                                        <p:attrNameLst>
                                          <p:attrName>ppt_x</p:attrName>
                                        </p:attrNameLst>
                                      </p:cBhvr>
                                      <p:tavLst>
                                        <p:tav tm="0">
                                          <p:val>
                                            <p:strVal val="#ppt_x"/>
                                          </p:val>
                                        </p:tav>
                                        <p:tav tm="100000">
                                          <p:val>
                                            <p:strVal val="#ppt_x"/>
                                          </p:val>
                                        </p:tav>
                                      </p:tavLst>
                                    </p:anim>
                                    <p:anim calcmode="lin" valueType="num">
                                      <p:cBhvr additive="base">
                                        <p:cTn id="24" dur="650" fill="hold"/>
                                        <p:tgtEl>
                                          <p:spTgt spid="7"/>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4DB35A"/>
                </a:solidFill>
                <a:latin typeface="Segoe UI Semibold"/>
              </a:rPr>
              <a:t>MÓDULO 3  ·  DINÂMICA</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Dinâmica 3 — Do achado ao problema</a:t>
            </a:r>
          </a:p>
        </p:txBody>
      </p:sp>
      <p:sp>
        <p:nvSpPr>
          <p:cNvPr id="6" name="Rounded Rectangle 5"/>
          <p:cNvSpPr/>
          <p:nvPr/>
        </p:nvSpPr>
        <p:spPr>
          <a:xfrm>
            <a:off x="548640" y="1554480"/>
            <a:ext cx="3566160" cy="4343400"/>
          </a:xfrm>
          <a:prstGeom prst="roundRect">
            <a:avLst>
              <a:gd name="adj" fmla="val 5000"/>
            </a:avLst>
          </a:prstGeom>
          <a:solidFill>
            <a:srgbClr val="4DB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68680" y="1783080"/>
            <a:ext cx="3017520" cy="365760"/>
          </a:xfrm>
          <a:prstGeom prst="rect">
            <a:avLst/>
          </a:prstGeom>
          <a:noFill/>
        </p:spPr>
        <p:txBody>
          <a:bodyPr wrap="square" lIns="36576" tIns="18288" rIns="36576" bIns="18288" anchor="t">
            <a:spAutoFit/>
          </a:bodyPr>
          <a:lstStyle/>
          <a:p>
            <a:pPr algn="l"/>
            <a:r>
              <a:rPr sz="1100" b="1" i="0" spc="200">
                <a:solidFill>
                  <a:srgbClr val="1A1A1A"/>
                </a:solidFill>
                <a:latin typeface="Segoe UI Semibold"/>
              </a:rPr>
              <a:t>DURAÇÃO</a:t>
            </a:r>
          </a:p>
        </p:txBody>
      </p:sp>
      <p:sp>
        <p:nvSpPr>
          <p:cNvPr id="8" name="TextBox 7"/>
          <p:cNvSpPr txBox="1"/>
          <p:nvPr/>
        </p:nvSpPr>
        <p:spPr>
          <a:xfrm>
            <a:off x="868680" y="2057400"/>
            <a:ext cx="3017520" cy="914400"/>
          </a:xfrm>
          <a:prstGeom prst="rect">
            <a:avLst/>
          </a:prstGeom>
          <a:noFill/>
        </p:spPr>
        <p:txBody>
          <a:bodyPr wrap="square" lIns="36576" tIns="18288" rIns="36576" bIns="18288" anchor="t">
            <a:spAutoFit/>
          </a:bodyPr>
          <a:lstStyle/>
          <a:p>
            <a:pPr algn="l"/>
            <a:r>
              <a:rPr sz="4400" b="1" i="0">
                <a:solidFill>
                  <a:srgbClr val="1A1A1A"/>
                </a:solidFill>
                <a:latin typeface="Segoe UI Semibold"/>
              </a:rPr>
              <a:t>40 min</a:t>
            </a:r>
          </a:p>
        </p:txBody>
      </p:sp>
      <p:sp>
        <p:nvSpPr>
          <p:cNvPr id="9" name="TextBox 8"/>
          <p:cNvSpPr txBox="1"/>
          <p:nvPr/>
        </p:nvSpPr>
        <p:spPr>
          <a:xfrm>
            <a:off x="868680" y="3108960"/>
            <a:ext cx="3017520" cy="365760"/>
          </a:xfrm>
          <a:prstGeom prst="rect">
            <a:avLst/>
          </a:prstGeom>
          <a:noFill/>
        </p:spPr>
        <p:txBody>
          <a:bodyPr wrap="square" lIns="36576" tIns="18288" rIns="36576" bIns="18288" anchor="t">
            <a:spAutoFit/>
          </a:bodyPr>
          <a:lstStyle/>
          <a:p>
            <a:pPr algn="l"/>
            <a:r>
              <a:rPr sz="1100" b="1" i="0" spc="200">
                <a:solidFill>
                  <a:srgbClr val="1A1A1A"/>
                </a:solidFill>
                <a:latin typeface="Segoe UI Semibold"/>
              </a:rPr>
              <a:t>OBJETIVO</a:t>
            </a:r>
          </a:p>
        </p:txBody>
      </p:sp>
      <p:sp>
        <p:nvSpPr>
          <p:cNvPr id="10" name="TextBox 9"/>
          <p:cNvSpPr txBox="1"/>
          <p:nvPr/>
        </p:nvSpPr>
        <p:spPr>
          <a:xfrm>
            <a:off x="868680" y="3429000"/>
            <a:ext cx="3017520" cy="1463040"/>
          </a:xfrm>
          <a:prstGeom prst="rect">
            <a:avLst/>
          </a:prstGeom>
          <a:noFill/>
        </p:spPr>
        <p:txBody>
          <a:bodyPr wrap="square" lIns="36576" tIns="18288" rIns="36576" bIns="18288" anchor="t">
            <a:spAutoFit/>
          </a:bodyPr>
          <a:lstStyle/>
          <a:p>
            <a:pPr algn="l"/>
            <a:r>
              <a:rPr sz="1500" b="0" i="0">
                <a:solidFill>
                  <a:srgbClr val="1A1A1A"/>
                </a:solidFill>
                <a:latin typeface="Segoe UI"/>
              </a:rPr>
              <a:t>Transformar a Matriz CSD do Encontro 1 em um problema bem definido.</a:t>
            </a:r>
          </a:p>
        </p:txBody>
      </p:sp>
      <p:sp>
        <p:nvSpPr>
          <p:cNvPr id="11" name="TextBox 10"/>
          <p:cNvSpPr txBox="1"/>
          <p:nvPr/>
        </p:nvSpPr>
        <p:spPr>
          <a:xfrm>
            <a:off x="868680" y="4892040"/>
            <a:ext cx="3017520" cy="822960"/>
          </a:xfrm>
          <a:prstGeom prst="rect">
            <a:avLst/>
          </a:prstGeom>
          <a:noFill/>
        </p:spPr>
        <p:txBody>
          <a:bodyPr wrap="square" lIns="36576" tIns="18288" rIns="36576" bIns="18288" anchor="t">
            <a:spAutoFit/>
          </a:bodyPr>
          <a:lstStyle/>
          <a:p>
            <a:pPr algn="l"/>
            <a:r>
              <a:rPr sz="1200" b="1" i="0">
                <a:solidFill>
                  <a:srgbClr val="1A1A1A"/>
                </a:solidFill>
                <a:latin typeface="Segoe UI Semibold"/>
              </a:rPr>
              <a:t>Materiais: </a:t>
            </a:r>
            <a:r>
              <a:rPr sz="1200" b="0" i="0">
                <a:solidFill>
                  <a:srgbClr val="1A1A1A"/>
                </a:solidFill>
                <a:latin typeface="Segoe UI"/>
              </a:rPr>
              <a:t>Modelo A3 do Mapa de Empatia, post-its</a:t>
            </a:r>
          </a:p>
        </p:txBody>
      </p:sp>
      <p:sp>
        <p:nvSpPr>
          <p:cNvPr id="12" name="Oval 11"/>
          <p:cNvSpPr/>
          <p:nvPr/>
        </p:nvSpPr>
        <p:spPr>
          <a:xfrm>
            <a:off x="4480560" y="1760219"/>
            <a:ext cx="457200" cy="457200"/>
          </a:xfrm>
          <a:prstGeom prst="ellipse">
            <a:avLst/>
          </a:prstGeom>
          <a:solidFill>
            <a:srgbClr val="2E3431"/>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400" b="1" i="0">
                <a:solidFill>
                  <a:srgbClr val="4DB35A"/>
                </a:solidFill>
                <a:latin typeface="Segoe UI Semibold"/>
              </a:rPr>
              <a:t>1</a:t>
            </a:r>
          </a:p>
        </p:txBody>
      </p:sp>
      <p:sp>
        <p:nvSpPr>
          <p:cNvPr id="13" name="TextBox 12"/>
          <p:cNvSpPr txBox="1"/>
          <p:nvPr/>
        </p:nvSpPr>
        <p:spPr>
          <a:xfrm>
            <a:off x="5120640" y="1554480"/>
            <a:ext cx="6492240" cy="868680"/>
          </a:xfrm>
          <a:prstGeom prst="rect">
            <a:avLst/>
          </a:prstGeom>
          <a:noFill/>
        </p:spPr>
        <p:txBody>
          <a:bodyPr wrap="square" lIns="36576" tIns="18288" rIns="36576" bIns="18288" anchor="ctr">
            <a:spAutoFit/>
          </a:bodyPr>
          <a:lstStyle/>
          <a:p>
            <a:pPr algn="l"/>
            <a:r>
              <a:rPr sz="1600" b="0" i="0">
                <a:solidFill>
                  <a:srgbClr val="F2F2EC"/>
                </a:solidFill>
                <a:latin typeface="Segoe UI"/>
              </a:rPr>
              <a:t>Preencham o Mapa de Empatia com o que descobriram (15 min)</a:t>
            </a:r>
          </a:p>
        </p:txBody>
      </p:sp>
      <p:sp>
        <p:nvSpPr>
          <p:cNvPr id="14" name="Oval 13"/>
          <p:cNvSpPr/>
          <p:nvPr/>
        </p:nvSpPr>
        <p:spPr>
          <a:xfrm>
            <a:off x="4480560" y="2628900"/>
            <a:ext cx="457200" cy="457200"/>
          </a:xfrm>
          <a:prstGeom prst="ellipse">
            <a:avLst/>
          </a:prstGeom>
          <a:solidFill>
            <a:srgbClr val="2E3431"/>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400" b="1" i="0">
                <a:solidFill>
                  <a:srgbClr val="4DB35A"/>
                </a:solidFill>
                <a:latin typeface="Segoe UI Semibold"/>
              </a:rPr>
              <a:t>2</a:t>
            </a:r>
          </a:p>
        </p:txBody>
      </p:sp>
      <p:sp>
        <p:nvSpPr>
          <p:cNvPr id="15" name="TextBox 14"/>
          <p:cNvSpPr txBox="1"/>
          <p:nvPr/>
        </p:nvSpPr>
        <p:spPr>
          <a:xfrm>
            <a:off x="5120640" y="2423160"/>
            <a:ext cx="6492240" cy="868680"/>
          </a:xfrm>
          <a:prstGeom prst="rect">
            <a:avLst/>
          </a:prstGeom>
          <a:noFill/>
        </p:spPr>
        <p:txBody>
          <a:bodyPr wrap="square" lIns="36576" tIns="18288" rIns="36576" bIns="18288" anchor="ctr">
            <a:spAutoFit/>
          </a:bodyPr>
          <a:lstStyle/>
          <a:p>
            <a:pPr algn="l"/>
            <a:r>
              <a:rPr sz="1600" b="0" i="0">
                <a:solidFill>
                  <a:srgbClr val="F2F2EC"/>
                </a:solidFill>
                <a:latin typeface="Segoe UI"/>
              </a:rPr>
              <a:t>Escrevam uma Job Story e um Problem Statement (10 min)</a:t>
            </a:r>
          </a:p>
        </p:txBody>
      </p:sp>
      <p:sp>
        <p:nvSpPr>
          <p:cNvPr id="16" name="Oval 15"/>
          <p:cNvSpPr/>
          <p:nvPr/>
        </p:nvSpPr>
        <p:spPr>
          <a:xfrm>
            <a:off x="4480560" y="3497579"/>
            <a:ext cx="457200" cy="457200"/>
          </a:xfrm>
          <a:prstGeom prst="ellipse">
            <a:avLst/>
          </a:prstGeom>
          <a:solidFill>
            <a:srgbClr val="2E3431"/>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400" b="1" i="0">
                <a:solidFill>
                  <a:srgbClr val="4DB35A"/>
                </a:solidFill>
                <a:latin typeface="Segoe UI Semibold"/>
              </a:rPr>
              <a:t>3</a:t>
            </a:r>
          </a:p>
        </p:txBody>
      </p:sp>
      <p:sp>
        <p:nvSpPr>
          <p:cNvPr id="17" name="TextBox 16"/>
          <p:cNvSpPr txBox="1"/>
          <p:nvPr/>
        </p:nvSpPr>
        <p:spPr>
          <a:xfrm>
            <a:off x="5120640" y="3291839"/>
            <a:ext cx="6492240" cy="868680"/>
          </a:xfrm>
          <a:prstGeom prst="rect">
            <a:avLst/>
          </a:prstGeom>
          <a:noFill/>
        </p:spPr>
        <p:txBody>
          <a:bodyPr wrap="square" lIns="36576" tIns="18288" rIns="36576" bIns="18288" anchor="ctr">
            <a:spAutoFit/>
          </a:bodyPr>
          <a:lstStyle/>
          <a:p>
            <a:pPr algn="l"/>
            <a:r>
              <a:rPr sz="1600" b="0" i="0">
                <a:solidFill>
                  <a:srgbClr val="F2F2EC"/>
                </a:solidFill>
                <a:latin typeface="Segoe UI"/>
              </a:rPr>
              <a:t>Gerem ao menos 5 perguntas 'Como poderíamos…?' e escolham a melhor (10 min)</a:t>
            </a:r>
          </a:p>
        </p:txBody>
      </p:sp>
      <p:sp>
        <p:nvSpPr>
          <p:cNvPr id="18" name="Oval 17"/>
          <p:cNvSpPr/>
          <p:nvPr/>
        </p:nvSpPr>
        <p:spPr>
          <a:xfrm>
            <a:off x="4480560" y="4366259"/>
            <a:ext cx="457200" cy="457200"/>
          </a:xfrm>
          <a:prstGeom prst="ellipse">
            <a:avLst/>
          </a:prstGeom>
          <a:solidFill>
            <a:srgbClr val="2E3431"/>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400" b="1" i="0">
                <a:solidFill>
                  <a:srgbClr val="4DB35A"/>
                </a:solidFill>
                <a:latin typeface="Segoe UI Semibold"/>
              </a:rPr>
              <a:t>4</a:t>
            </a:r>
          </a:p>
        </p:txBody>
      </p:sp>
      <p:sp>
        <p:nvSpPr>
          <p:cNvPr id="19" name="TextBox 18"/>
          <p:cNvSpPr txBox="1"/>
          <p:nvPr/>
        </p:nvSpPr>
        <p:spPr>
          <a:xfrm>
            <a:off x="5120640" y="4160520"/>
            <a:ext cx="6492240" cy="868680"/>
          </a:xfrm>
          <a:prstGeom prst="rect">
            <a:avLst/>
          </a:prstGeom>
          <a:noFill/>
        </p:spPr>
        <p:txBody>
          <a:bodyPr wrap="square" lIns="36576" tIns="18288" rIns="36576" bIns="18288" anchor="ctr">
            <a:spAutoFit/>
          </a:bodyPr>
          <a:lstStyle/>
          <a:p>
            <a:pPr algn="l"/>
            <a:r>
              <a:rPr sz="1600" b="0" i="0">
                <a:solidFill>
                  <a:srgbClr val="F2F2EC"/>
                </a:solidFill>
                <a:latin typeface="Segoe UI"/>
              </a:rPr>
              <a:t>Leiam em voz alta para a turma (5 min)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42" presetClass="entr" presetSubtype="0" decel="100000" fill="hold" grpId="0" nodeType="withEffect">
                                  <p:stCondLst>
                                    <p:cond delay="2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50" fill="hold"/>
                                        <p:tgtEl>
                                          <p:spTgt spid="6"/>
                                        </p:tgtEl>
                                      </p:cBhvr>
                                    </p:animEffect>
                                    <p:anim calcmode="lin" valueType="num">
                                      <p:cBhvr additive="base">
                                        <p:cTn id="11" dur="650" fill="hold"/>
                                        <p:tgtEl>
                                          <p:spTgt spid="6"/>
                                        </p:tgtEl>
                                        <p:attrNameLst>
                                          <p:attrName>ppt_x</p:attrName>
                                        </p:attrNameLst>
                                      </p:cBhvr>
                                      <p:tavLst>
                                        <p:tav tm="0">
                                          <p:val>
                                            <p:strVal val="#ppt_x"/>
                                          </p:val>
                                        </p:tav>
                                        <p:tav tm="100000">
                                          <p:val>
                                            <p:strVal val="#ppt_x"/>
                                          </p:val>
                                        </p:tav>
                                      </p:tavLst>
                                    </p:anim>
                                    <p:anim calcmode="lin" valueType="num">
                                      <p:cBhvr additive="base">
                                        <p:cTn id="12" dur="650" fill="hold"/>
                                        <p:tgtEl>
                                          <p:spTgt spid="6"/>
                                        </p:tgtEl>
                                        <p:attrNameLst>
                                          <p:attrName>ppt_y</p:attrName>
                                        </p:attrNameLst>
                                      </p:cBhvr>
                                      <p:tavLst>
                                        <p:tav tm="0">
                                          <p:val>
                                            <p:strVal val="#ppt_y+.06"/>
                                          </p:val>
                                        </p:tav>
                                        <p:tav tm="100000">
                                          <p:val>
                                            <p:strVal val="#ppt_y"/>
                                          </p:val>
                                        </p:tav>
                                      </p:tavLst>
                                    </p:anim>
                                  </p:childTnLst>
                                </p:cTn>
                              </p:par>
                              <p:par>
                                <p:cTn id="13" presetID="42" presetClass="entr" presetSubtype="0" decel="100000" fill="hold" grpId="0" nodeType="withEffect">
                                  <p:stCondLst>
                                    <p:cond delay="20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fill="hold"/>
                                        <p:tgtEl>
                                          <p:spTgt spid="7"/>
                                        </p:tgtEl>
                                      </p:cBhvr>
                                    </p:animEffect>
                                    <p:anim calcmode="lin" valueType="num">
                                      <p:cBhvr additive="base">
                                        <p:cTn id="16" dur="650" fill="hold"/>
                                        <p:tgtEl>
                                          <p:spTgt spid="7"/>
                                        </p:tgtEl>
                                        <p:attrNameLst>
                                          <p:attrName>ppt_x</p:attrName>
                                        </p:attrNameLst>
                                      </p:cBhvr>
                                      <p:tavLst>
                                        <p:tav tm="0">
                                          <p:val>
                                            <p:strVal val="#ppt_x"/>
                                          </p:val>
                                        </p:tav>
                                        <p:tav tm="100000">
                                          <p:val>
                                            <p:strVal val="#ppt_x"/>
                                          </p:val>
                                        </p:tav>
                                      </p:tavLst>
                                    </p:anim>
                                    <p:anim calcmode="lin" valueType="num">
                                      <p:cBhvr additive="base">
                                        <p:cTn id="17" dur="650" fill="hold"/>
                                        <p:tgtEl>
                                          <p:spTgt spid="7"/>
                                        </p:tgtEl>
                                        <p:attrNameLst>
                                          <p:attrName>ppt_y</p:attrName>
                                        </p:attrNameLst>
                                      </p:cBhvr>
                                      <p:tavLst>
                                        <p:tav tm="0">
                                          <p:val>
                                            <p:strVal val="#ppt_y+.06"/>
                                          </p:val>
                                        </p:tav>
                                        <p:tav tm="100000">
                                          <p:val>
                                            <p:strVal val="#ppt_y"/>
                                          </p:val>
                                        </p:tav>
                                      </p:tavLst>
                                    </p:anim>
                                  </p:childTnLst>
                                </p:cTn>
                              </p:par>
                              <p:par>
                                <p:cTn id="18" presetID="53" presetClass="entr" presetSubtype="16" decel="100000" fill="hold" grpId="0" nodeType="withEffect">
                                  <p:stCondLst>
                                    <p:cond delay="50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50" fill="hold"/>
                                        <p:tgtEl>
                                          <p:spTgt spid="8"/>
                                        </p:tgtEl>
                                        <p:attrNameLst>
                                          <p:attrName>ppt_w</p:attrName>
                                        </p:attrNameLst>
                                      </p:cBhvr>
                                      <p:tavLst>
                                        <p:tav tm="0">
                                          <p:val>
                                            <p:strVal val="0"/>
                                          </p:val>
                                        </p:tav>
                                        <p:tav tm="70000">
                                          <p:val>
                                            <p:strVal val="#ppt_w*1.08"/>
                                          </p:val>
                                        </p:tav>
                                        <p:tav tm="100000">
                                          <p:val>
                                            <p:strVal val="#ppt_w"/>
                                          </p:val>
                                        </p:tav>
                                      </p:tavLst>
                                    </p:anim>
                                    <p:anim calcmode="lin" valueType="num">
                                      <p:cBhvr additive="base">
                                        <p:cTn id="21" dur="550" fill="hold"/>
                                        <p:tgtEl>
                                          <p:spTgt spid="8"/>
                                        </p:tgtEl>
                                        <p:attrNameLst>
                                          <p:attrName>ppt_h</p:attrName>
                                        </p:attrNameLst>
                                      </p:cBhvr>
                                      <p:tavLst>
                                        <p:tav tm="0">
                                          <p:val>
                                            <p:strVal val="0"/>
                                          </p:val>
                                        </p:tav>
                                        <p:tav tm="70000">
                                          <p:val>
                                            <p:strVal val="#ppt_h*1.08"/>
                                          </p:val>
                                        </p:tav>
                                        <p:tav tm="100000">
                                          <p:val>
                                            <p:strVal val="#ppt_h"/>
                                          </p:val>
                                        </p:tav>
                                      </p:tavLst>
                                    </p:anim>
                                    <p:animEffect transition="in" filter="fade">
                                      <p:cBhvr>
                                        <p:cTn id="22" dur="330" fill="hold"/>
                                        <p:tgtEl>
                                          <p:spTgt spid="8"/>
                                        </p:tgtEl>
                                      </p:cBhvr>
                                    </p:animEffect>
                                  </p:childTnLst>
                                </p:cTn>
                              </p:par>
                              <p:par>
                                <p:cTn id="23" presetID="10" presetClass="entr" presetSubtype="0" fill="hold" grpId="0" nodeType="withEffect">
                                  <p:stCondLst>
                                    <p:cond delay="75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fill="hold"/>
                                        <p:tgtEl>
                                          <p:spTgt spid="9"/>
                                        </p:tgtEl>
                                      </p:cBhvr>
                                    </p:animEffect>
                                  </p:childTnLst>
                                </p:cTn>
                              </p:par>
                              <p:par>
                                <p:cTn id="26" presetID="10" presetClass="entr" presetSubtype="0" fill="hold" grpId="0" nodeType="withEffect">
                                  <p:stCondLst>
                                    <p:cond delay="75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fill="hold"/>
                                        <p:tgtEl>
                                          <p:spTgt spid="10"/>
                                        </p:tgtEl>
                                      </p:cBhvr>
                                    </p:animEffect>
                                  </p:childTnLst>
                                </p:cTn>
                              </p:par>
                              <p:par>
                                <p:cTn id="29" presetID="10" presetClass="entr" presetSubtype="0" fill="hold" grpId="0" nodeType="withEffect">
                                  <p:stCondLst>
                                    <p:cond delay="75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fill="hold"/>
                                        <p:tgtEl>
                                          <p:spTgt spid="11"/>
                                        </p:tgtEl>
                                      </p:cBhvr>
                                    </p:animEffect>
                                  </p:childTnLst>
                                </p:cTn>
                              </p:par>
                              <p:par>
                                <p:cTn id="32" presetID="42" presetClass="entr" presetSubtype="0" decel="100000" fill="hold" grpId="0" nodeType="withEffect">
                                  <p:stCondLst>
                                    <p:cond delay="95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650" fill="hold"/>
                                        <p:tgtEl>
                                          <p:spTgt spid="12"/>
                                        </p:tgtEl>
                                      </p:cBhvr>
                                    </p:animEffect>
                                    <p:anim calcmode="lin" valueType="num">
                                      <p:cBhvr additive="base">
                                        <p:cTn id="35" dur="650" fill="hold"/>
                                        <p:tgtEl>
                                          <p:spTgt spid="12"/>
                                        </p:tgtEl>
                                        <p:attrNameLst>
                                          <p:attrName>ppt_x</p:attrName>
                                        </p:attrNameLst>
                                      </p:cBhvr>
                                      <p:tavLst>
                                        <p:tav tm="0">
                                          <p:val>
                                            <p:strVal val="#ppt_x"/>
                                          </p:val>
                                        </p:tav>
                                        <p:tav tm="100000">
                                          <p:val>
                                            <p:strVal val="#ppt_x"/>
                                          </p:val>
                                        </p:tav>
                                      </p:tavLst>
                                    </p:anim>
                                    <p:anim calcmode="lin" valueType="num">
                                      <p:cBhvr additive="base">
                                        <p:cTn id="36" dur="650" fill="hold"/>
                                        <p:tgtEl>
                                          <p:spTgt spid="12"/>
                                        </p:tgtEl>
                                        <p:attrNameLst>
                                          <p:attrName>ppt_y</p:attrName>
                                        </p:attrNameLst>
                                      </p:cBhvr>
                                      <p:tavLst>
                                        <p:tav tm="0">
                                          <p:val>
                                            <p:strVal val="#ppt_y+.06"/>
                                          </p:val>
                                        </p:tav>
                                        <p:tav tm="100000">
                                          <p:val>
                                            <p:strVal val="#ppt_y"/>
                                          </p:val>
                                        </p:tav>
                                      </p:tavLst>
                                    </p:anim>
                                  </p:childTnLst>
                                </p:cTn>
                              </p:par>
                              <p:par>
                                <p:cTn id="37" presetID="42" presetClass="entr" presetSubtype="0" decel="100000" fill="hold" grpId="0" nodeType="withEffect">
                                  <p:stCondLst>
                                    <p:cond delay="95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650" fill="hold"/>
                                        <p:tgtEl>
                                          <p:spTgt spid="13"/>
                                        </p:tgtEl>
                                      </p:cBhvr>
                                    </p:animEffect>
                                    <p:anim calcmode="lin" valueType="num">
                                      <p:cBhvr additive="base">
                                        <p:cTn id="40" dur="650" fill="hold"/>
                                        <p:tgtEl>
                                          <p:spTgt spid="13"/>
                                        </p:tgtEl>
                                        <p:attrNameLst>
                                          <p:attrName>ppt_x</p:attrName>
                                        </p:attrNameLst>
                                      </p:cBhvr>
                                      <p:tavLst>
                                        <p:tav tm="0">
                                          <p:val>
                                            <p:strVal val="#ppt_x"/>
                                          </p:val>
                                        </p:tav>
                                        <p:tav tm="100000">
                                          <p:val>
                                            <p:strVal val="#ppt_x"/>
                                          </p:val>
                                        </p:tav>
                                      </p:tavLst>
                                    </p:anim>
                                    <p:anim calcmode="lin" valueType="num">
                                      <p:cBhvr additive="base">
                                        <p:cTn id="41" dur="650" fill="hold"/>
                                        <p:tgtEl>
                                          <p:spTgt spid="13"/>
                                        </p:tgtEl>
                                        <p:attrNameLst>
                                          <p:attrName>ppt_y</p:attrName>
                                        </p:attrNameLst>
                                      </p:cBhvr>
                                      <p:tavLst>
                                        <p:tav tm="0">
                                          <p:val>
                                            <p:strVal val="#ppt_y+.06"/>
                                          </p:val>
                                        </p:tav>
                                        <p:tav tm="100000">
                                          <p:val>
                                            <p:strVal val="#ppt_y"/>
                                          </p:val>
                                        </p:tav>
                                      </p:tavLst>
                                    </p:anim>
                                  </p:childTnLst>
                                </p:cTn>
                              </p:par>
                              <p:par>
                                <p:cTn id="42" presetID="42" presetClass="entr" presetSubtype="0" decel="100000" fill="hold" grpId="0" nodeType="withEffect">
                                  <p:stCondLst>
                                    <p:cond delay="115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650" fill="hold"/>
                                        <p:tgtEl>
                                          <p:spTgt spid="14"/>
                                        </p:tgtEl>
                                      </p:cBhvr>
                                    </p:animEffect>
                                    <p:anim calcmode="lin" valueType="num">
                                      <p:cBhvr additive="base">
                                        <p:cTn id="45" dur="650" fill="hold"/>
                                        <p:tgtEl>
                                          <p:spTgt spid="14"/>
                                        </p:tgtEl>
                                        <p:attrNameLst>
                                          <p:attrName>ppt_x</p:attrName>
                                        </p:attrNameLst>
                                      </p:cBhvr>
                                      <p:tavLst>
                                        <p:tav tm="0">
                                          <p:val>
                                            <p:strVal val="#ppt_x"/>
                                          </p:val>
                                        </p:tav>
                                        <p:tav tm="100000">
                                          <p:val>
                                            <p:strVal val="#ppt_x"/>
                                          </p:val>
                                        </p:tav>
                                      </p:tavLst>
                                    </p:anim>
                                    <p:anim calcmode="lin" valueType="num">
                                      <p:cBhvr additive="base">
                                        <p:cTn id="46" dur="650" fill="hold"/>
                                        <p:tgtEl>
                                          <p:spTgt spid="14"/>
                                        </p:tgtEl>
                                        <p:attrNameLst>
                                          <p:attrName>ppt_y</p:attrName>
                                        </p:attrNameLst>
                                      </p:cBhvr>
                                      <p:tavLst>
                                        <p:tav tm="0">
                                          <p:val>
                                            <p:strVal val="#ppt_y+.06"/>
                                          </p:val>
                                        </p:tav>
                                        <p:tav tm="100000">
                                          <p:val>
                                            <p:strVal val="#ppt_y"/>
                                          </p:val>
                                        </p:tav>
                                      </p:tavLst>
                                    </p:anim>
                                  </p:childTnLst>
                                </p:cTn>
                              </p:par>
                              <p:par>
                                <p:cTn id="47" presetID="42" presetClass="entr" presetSubtype="0" decel="100000" fill="hold" grpId="0" nodeType="withEffect">
                                  <p:stCondLst>
                                    <p:cond delay="115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650" fill="hold"/>
                                        <p:tgtEl>
                                          <p:spTgt spid="15"/>
                                        </p:tgtEl>
                                      </p:cBhvr>
                                    </p:animEffect>
                                    <p:anim calcmode="lin" valueType="num">
                                      <p:cBhvr additive="base">
                                        <p:cTn id="50" dur="650" fill="hold"/>
                                        <p:tgtEl>
                                          <p:spTgt spid="15"/>
                                        </p:tgtEl>
                                        <p:attrNameLst>
                                          <p:attrName>ppt_x</p:attrName>
                                        </p:attrNameLst>
                                      </p:cBhvr>
                                      <p:tavLst>
                                        <p:tav tm="0">
                                          <p:val>
                                            <p:strVal val="#ppt_x"/>
                                          </p:val>
                                        </p:tav>
                                        <p:tav tm="100000">
                                          <p:val>
                                            <p:strVal val="#ppt_x"/>
                                          </p:val>
                                        </p:tav>
                                      </p:tavLst>
                                    </p:anim>
                                    <p:anim calcmode="lin" valueType="num">
                                      <p:cBhvr additive="base">
                                        <p:cTn id="51" dur="650" fill="hold"/>
                                        <p:tgtEl>
                                          <p:spTgt spid="15"/>
                                        </p:tgtEl>
                                        <p:attrNameLst>
                                          <p:attrName>ppt_y</p:attrName>
                                        </p:attrNameLst>
                                      </p:cBhvr>
                                      <p:tavLst>
                                        <p:tav tm="0">
                                          <p:val>
                                            <p:strVal val="#ppt_y+.06"/>
                                          </p:val>
                                        </p:tav>
                                        <p:tav tm="100000">
                                          <p:val>
                                            <p:strVal val="#ppt_y"/>
                                          </p:val>
                                        </p:tav>
                                      </p:tavLst>
                                    </p:anim>
                                  </p:childTnLst>
                                </p:cTn>
                              </p:par>
                              <p:par>
                                <p:cTn id="52" presetID="42" presetClass="entr" presetSubtype="0" decel="100000" fill="hold" grpId="0" nodeType="withEffect">
                                  <p:stCondLst>
                                    <p:cond delay="1350"/>
                                  </p:stCondLst>
                                  <p:childTnLst>
                                    <p:set>
                                      <p:cBhvr>
                                        <p:cTn id="53" dur="1" fill="hold">
                                          <p:stCondLst>
                                            <p:cond delay="0"/>
                                          </p:stCondLst>
                                        </p:cTn>
                                        <p:tgtEl>
                                          <p:spTgt spid="16"/>
                                        </p:tgtEl>
                                        <p:attrNameLst>
                                          <p:attrName>style.visibility</p:attrName>
                                        </p:attrNameLst>
                                      </p:cBhvr>
                                      <p:to>
                                        <p:strVal val="visible"/>
                                      </p:to>
                                    </p:set>
                                    <p:animEffect transition="in" filter="fade">
                                      <p:cBhvr>
                                        <p:cTn id="54" dur="650" fill="hold"/>
                                        <p:tgtEl>
                                          <p:spTgt spid="16"/>
                                        </p:tgtEl>
                                      </p:cBhvr>
                                    </p:animEffect>
                                    <p:anim calcmode="lin" valueType="num">
                                      <p:cBhvr additive="base">
                                        <p:cTn id="55" dur="650" fill="hold"/>
                                        <p:tgtEl>
                                          <p:spTgt spid="16"/>
                                        </p:tgtEl>
                                        <p:attrNameLst>
                                          <p:attrName>ppt_x</p:attrName>
                                        </p:attrNameLst>
                                      </p:cBhvr>
                                      <p:tavLst>
                                        <p:tav tm="0">
                                          <p:val>
                                            <p:strVal val="#ppt_x"/>
                                          </p:val>
                                        </p:tav>
                                        <p:tav tm="100000">
                                          <p:val>
                                            <p:strVal val="#ppt_x"/>
                                          </p:val>
                                        </p:tav>
                                      </p:tavLst>
                                    </p:anim>
                                    <p:anim calcmode="lin" valueType="num">
                                      <p:cBhvr additive="base">
                                        <p:cTn id="56" dur="650" fill="hold"/>
                                        <p:tgtEl>
                                          <p:spTgt spid="16"/>
                                        </p:tgtEl>
                                        <p:attrNameLst>
                                          <p:attrName>ppt_y</p:attrName>
                                        </p:attrNameLst>
                                      </p:cBhvr>
                                      <p:tavLst>
                                        <p:tav tm="0">
                                          <p:val>
                                            <p:strVal val="#ppt_y+.06"/>
                                          </p:val>
                                        </p:tav>
                                        <p:tav tm="100000">
                                          <p:val>
                                            <p:strVal val="#ppt_y"/>
                                          </p:val>
                                        </p:tav>
                                      </p:tavLst>
                                    </p:anim>
                                  </p:childTnLst>
                                </p:cTn>
                              </p:par>
                              <p:par>
                                <p:cTn id="57" presetID="42" presetClass="entr" presetSubtype="0" decel="100000" fill="hold" grpId="0" nodeType="withEffect">
                                  <p:stCondLst>
                                    <p:cond delay="1350"/>
                                  </p:stCondLst>
                                  <p:childTnLst>
                                    <p:set>
                                      <p:cBhvr>
                                        <p:cTn id="58" dur="1" fill="hold">
                                          <p:stCondLst>
                                            <p:cond delay="0"/>
                                          </p:stCondLst>
                                        </p:cTn>
                                        <p:tgtEl>
                                          <p:spTgt spid="17"/>
                                        </p:tgtEl>
                                        <p:attrNameLst>
                                          <p:attrName>style.visibility</p:attrName>
                                        </p:attrNameLst>
                                      </p:cBhvr>
                                      <p:to>
                                        <p:strVal val="visible"/>
                                      </p:to>
                                    </p:set>
                                    <p:animEffect transition="in" filter="fade">
                                      <p:cBhvr>
                                        <p:cTn id="59" dur="650" fill="hold"/>
                                        <p:tgtEl>
                                          <p:spTgt spid="17"/>
                                        </p:tgtEl>
                                      </p:cBhvr>
                                    </p:animEffect>
                                    <p:anim calcmode="lin" valueType="num">
                                      <p:cBhvr additive="base">
                                        <p:cTn id="60" dur="650" fill="hold"/>
                                        <p:tgtEl>
                                          <p:spTgt spid="17"/>
                                        </p:tgtEl>
                                        <p:attrNameLst>
                                          <p:attrName>ppt_x</p:attrName>
                                        </p:attrNameLst>
                                      </p:cBhvr>
                                      <p:tavLst>
                                        <p:tav tm="0">
                                          <p:val>
                                            <p:strVal val="#ppt_x"/>
                                          </p:val>
                                        </p:tav>
                                        <p:tav tm="100000">
                                          <p:val>
                                            <p:strVal val="#ppt_x"/>
                                          </p:val>
                                        </p:tav>
                                      </p:tavLst>
                                    </p:anim>
                                    <p:anim calcmode="lin" valueType="num">
                                      <p:cBhvr additive="base">
                                        <p:cTn id="61" dur="650" fill="hold"/>
                                        <p:tgtEl>
                                          <p:spTgt spid="17"/>
                                        </p:tgtEl>
                                        <p:attrNameLst>
                                          <p:attrName>ppt_y</p:attrName>
                                        </p:attrNameLst>
                                      </p:cBhvr>
                                      <p:tavLst>
                                        <p:tav tm="0">
                                          <p:val>
                                            <p:strVal val="#ppt_y+.06"/>
                                          </p:val>
                                        </p:tav>
                                        <p:tav tm="100000">
                                          <p:val>
                                            <p:strVal val="#ppt_y"/>
                                          </p:val>
                                        </p:tav>
                                      </p:tavLst>
                                    </p:anim>
                                  </p:childTnLst>
                                </p:cTn>
                              </p:par>
                              <p:par>
                                <p:cTn id="62" presetID="42" presetClass="entr" presetSubtype="0" decel="100000" fill="hold" grpId="0" nodeType="withEffect">
                                  <p:stCondLst>
                                    <p:cond delay="155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650" fill="hold"/>
                                        <p:tgtEl>
                                          <p:spTgt spid="18"/>
                                        </p:tgtEl>
                                      </p:cBhvr>
                                    </p:animEffect>
                                    <p:anim calcmode="lin" valueType="num">
                                      <p:cBhvr additive="base">
                                        <p:cTn id="65" dur="650" fill="hold"/>
                                        <p:tgtEl>
                                          <p:spTgt spid="18"/>
                                        </p:tgtEl>
                                        <p:attrNameLst>
                                          <p:attrName>ppt_x</p:attrName>
                                        </p:attrNameLst>
                                      </p:cBhvr>
                                      <p:tavLst>
                                        <p:tav tm="0">
                                          <p:val>
                                            <p:strVal val="#ppt_x"/>
                                          </p:val>
                                        </p:tav>
                                        <p:tav tm="100000">
                                          <p:val>
                                            <p:strVal val="#ppt_x"/>
                                          </p:val>
                                        </p:tav>
                                      </p:tavLst>
                                    </p:anim>
                                    <p:anim calcmode="lin" valueType="num">
                                      <p:cBhvr additive="base">
                                        <p:cTn id="66" dur="650" fill="hold"/>
                                        <p:tgtEl>
                                          <p:spTgt spid="18"/>
                                        </p:tgtEl>
                                        <p:attrNameLst>
                                          <p:attrName>ppt_y</p:attrName>
                                        </p:attrNameLst>
                                      </p:cBhvr>
                                      <p:tavLst>
                                        <p:tav tm="0">
                                          <p:val>
                                            <p:strVal val="#ppt_y+.06"/>
                                          </p:val>
                                        </p:tav>
                                        <p:tav tm="100000">
                                          <p:val>
                                            <p:strVal val="#ppt_y"/>
                                          </p:val>
                                        </p:tav>
                                      </p:tavLst>
                                    </p:anim>
                                  </p:childTnLst>
                                </p:cTn>
                              </p:par>
                              <p:par>
                                <p:cTn id="67" presetID="42" presetClass="entr" presetSubtype="0" decel="100000" fill="hold" grpId="0" nodeType="withEffect">
                                  <p:stCondLst>
                                    <p:cond delay="1550"/>
                                  </p:stCondLst>
                                  <p:childTnLst>
                                    <p:set>
                                      <p:cBhvr>
                                        <p:cTn id="68" dur="1" fill="hold">
                                          <p:stCondLst>
                                            <p:cond delay="0"/>
                                          </p:stCondLst>
                                        </p:cTn>
                                        <p:tgtEl>
                                          <p:spTgt spid="19"/>
                                        </p:tgtEl>
                                        <p:attrNameLst>
                                          <p:attrName>style.visibility</p:attrName>
                                        </p:attrNameLst>
                                      </p:cBhvr>
                                      <p:to>
                                        <p:strVal val="visible"/>
                                      </p:to>
                                    </p:set>
                                    <p:animEffect transition="in" filter="fade">
                                      <p:cBhvr>
                                        <p:cTn id="69" dur="650" fill="hold"/>
                                        <p:tgtEl>
                                          <p:spTgt spid="19"/>
                                        </p:tgtEl>
                                      </p:cBhvr>
                                    </p:animEffect>
                                    <p:anim calcmode="lin" valueType="num">
                                      <p:cBhvr additive="base">
                                        <p:cTn id="70" dur="650" fill="hold"/>
                                        <p:tgtEl>
                                          <p:spTgt spid="19"/>
                                        </p:tgtEl>
                                        <p:attrNameLst>
                                          <p:attrName>ppt_x</p:attrName>
                                        </p:attrNameLst>
                                      </p:cBhvr>
                                      <p:tavLst>
                                        <p:tav tm="0">
                                          <p:val>
                                            <p:strVal val="#ppt_x"/>
                                          </p:val>
                                        </p:tav>
                                        <p:tav tm="100000">
                                          <p:val>
                                            <p:strVal val="#ppt_x"/>
                                          </p:val>
                                        </p:tav>
                                      </p:tavLst>
                                    </p:anim>
                                    <p:anim calcmode="lin" valueType="num">
                                      <p:cBhvr additive="base">
                                        <p:cTn id="71" dur="650" fill="hold"/>
                                        <p:tgtEl>
                                          <p:spTgt spid="19"/>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411480" y="868680"/>
            <a:ext cx="4572000" cy="1828800"/>
          </a:xfrm>
          <a:prstGeom prst="rect">
            <a:avLst/>
          </a:prstGeom>
          <a:noFill/>
        </p:spPr>
        <p:txBody>
          <a:bodyPr wrap="square" lIns="36576" tIns="18288" rIns="36576" bIns="18288" anchor="t">
            <a:spAutoFit/>
          </a:bodyPr>
          <a:lstStyle/>
          <a:p>
            <a:pPr algn="l"/>
            <a:r>
              <a:rPr sz="12000" b="1" i="0">
                <a:solidFill>
                  <a:srgbClr val="2FA38A"/>
                </a:solidFill>
                <a:latin typeface="Segoe UI Semibold"/>
              </a:rPr>
              <a:t>04</a:t>
            </a:r>
          </a:p>
        </p:txBody>
      </p:sp>
      <p:sp>
        <p:nvSpPr>
          <p:cNvPr id="3" name="TextBox 2"/>
          <p:cNvSpPr txBox="1"/>
          <p:nvPr/>
        </p:nvSpPr>
        <p:spPr>
          <a:xfrm>
            <a:off x="548640" y="502920"/>
            <a:ext cx="4572000" cy="365760"/>
          </a:xfrm>
          <a:prstGeom prst="rect">
            <a:avLst/>
          </a:prstGeom>
          <a:noFill/>
        </p:spPr>
        <p:txBody>
          <a:bodyPr wrap="square" lIns="36576" tIns="18288" rIns="36576" bIns="18288" anchor="t">
            <a:spAutoFit/>
          </a:bodyPr>
          <a:lstStyle/>
          <a:p>
            <a:pPr algn="l"/>
            <a:r>
              <a:rPr sz="1200" b="1" i="0" spc="250">
                <a:solidFill>
                  <a:srgbClr val="2FA38A"/>
                </a:solidFill>
                <a:latin typeface="Segoe UI Semibold"/>
              </a:rPr>
              <a:t>ENCONTRO 2  ·  MÓDULO 4</a:t>
            </a:r>
          </a:p>
        </p:txBody>
      </p:sp>
      <p:sp>
        <p:nvSpPr>
          <p:cNvPr id="4" name="TextBox 3"/>
          <p:cNvSpPr txBox="1"/>
          <p:nvPr/>
        </p:nvSpPr>
        <p:spPr>
          <a:xfrm>
            <a:off x="548640" y="2331720"/>
            <a:ext cx="6766560" cy="1280160"/>
          </a:xfrm>
          <a:prstGeom prst="rect">
            <a:avLst/>
          </a:prstGeom>
          <a:noFill/>
        </p:spPr>
        <p:txBody>
          <a:bodyPr wrap="square" lIns="36576" tIns="18288" rIns="36576" bIns="18288" anchor="b">
            <a:spAutoFit/>
          </a:bodyPr>
          <a:lstStyle/>
          <a:p>
            <a:pPr algn="l">
              <a:lnSpc>
                <a:spcPct val="95000"/>
              </a:lnSpc>
            </a:pPr>
            <a:r>
              <a:rPr sz="3800" b="1" i="0">
                <a:solidFill>
                  <a:srgbClr val="F2F2EC"/>
                </a:solidFill>
                <a:latin typeface="Segoe UI Semibold"/>
              </a:rPr>
              <a:t>Idear</a:t>
            </a:r>
          </a:p>
        </p:txBody>
      </p:sp>
      <p:sp>
        <p:nvSpPr>
          <p:cNvPr id="5" name="TextBox 4"/>
          <p:cNvSpPr txBox="1"/>
          <p:nvPr/>
        </p:nvSpPr>
        <p:spPr>
          <a:xfrm>
            <a:off x="548640" y="3675887"/>
            <a:ext cx="6766560" cy="457200"/>
          </a:xfrm>
          <a:prstGeom prst="rect">
            <a:avLst/>
          </a:prstGeom>
          <a:noFill/>
        </p:spPr>
        <p:txBody>
          <a:bodyPr wrap="square" lIns="36576" tIns="18288" rIns="36576" bIns="18288" anchor="t">
            <a:spAutoFit/>
          </a:bodyPr>
          <a:lstStyle/>
          <a:p>
            <a:pPr algn="l"/>
            <a:r>
              <a:rPr sz="1800" b="0" i="0">
                <a:solidFill>
                  <a:srgbClr val="B4B8B0"/>
                </a:solidFill>
                <a:latin typeface="Segoe UI"/>
              </a:rPr>
              <a:t>Gerar soluções</a:t>
            </a:r>
          </a:p>
        </p:txBody>
      </p:sp>
      <p:sp>
        <p:nvSpPr>
          <p:cNvPr id="6" name="Rounded Rectangle 5"/>
          <p:cNvSpPr/>
          <p:nvPr/>
        </p:nvSpPr>
        <p:spPr>
          <a:xfrm>
            <a:off x="7589520" y="2103120"/>
            <a:ext cx="4069080" cy="342900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863840" y="2286000"/>
            <a:ext cx="3657600" cy="365760"/>
          </a:xfrm>
          <a:prstGeom prst="rect">
            <a:avLst/>
          </a:prstGeom>
          <a:noFill/>
        </p:spPr>
        <p:txBody>
          <a:bodyPr wrap="square" lIns="36576" tIns="18288" rIns="36576" bIns="18288" anchor="t">
            <a:spAutoFit/>
          </a:bodyPr>
          <a:lstStyle/>
          <a:p>
            <a:pPr algn="l"/>
            <a:r>
              <a:rPr sz="1100" b="1" i="0" spc="200">
                <a:solidFill>
                  <a:srgbClr val="2FA38A"/>
                </a:solidFill>
                <a:latin typeface="Segoe UI Semibold"/>
              </a:rPr>
              <a:t>OBJETIVOS</a:t>
            </a:r>
          </a:p>
        </p:txBody>
      </p:sp>
      <p:sp>
        <p:nvSpPr>
          <p:cNvPr id="8" name="TextBox 7"/>
          <p:cNvSpPr txBox="1"/>
          <p:nvPr/>
        </p:nvSpPr>
        <p:spPr>
          <a:xfrm>
            <a:off x="7863840" y="2651760"/>
            <a:ext cx="3611880" cy="2834640"/>
          </a:xfrm>
          <a:prstGeom prst="rect">
            <a:avLst/>
          </a:prstGeom>
          <a:noFill/>
        </p:spPr>
        <p:txBody>
          <a:bodyPr wrap="square">
            <a:spAutoFit/>
          </a:bodyPr>
          <a:lstStyle/>
          <a:p>
            <a:pPr marL="292608" indent="-292608">
              <a:spcAft>
                <a:spcPts val="800"/>
              </a:spcAft>
              <a:buClr>
                <a:srgbClr val="2FA38A"/>
              </a:buClr>
              <a:buFont typeface="Arial"/>
              <a:buChar char="●"/>
            </a:pPr>
            <a:r>
              <a:rPr sz="1350">
                <a:solidFill>
                  <a:srgbClr val="F2F2EC"/>
                </a:solidFill>
                <a:latin typeface="Segoe UI"/>
              </a:rPr>
              <a:t>Entender o papel da ideação: quantidade antes de qualidade</a:t>
            </a:r>
          </a:p>
          <a:p>
            <a:pPr marL="292608" indent="-292608">
              <a:spcAft>
                <a:spcPts val="800"/>
              </a:spcAft>
              <a:buClr>
                <a:srgbClr val="2FA38A"/>
              </a:buClr>
              <a:buFont typeface="Arial"/>
              <a:buChar char="●"/>
            </a:pPr>
            <a:r>
              <a:rPr sz="1350">
                <a:solidFill>
                  <a:srgbClr val="F2F2EC"/>
                </a:solidFill>
                <a:latin typeface="Segoe UI"/>
              </a:rPr>
              <a:t>Preparar e conduzir uma oficina de ideação</a:t>
            </a:r>
          </a:p>
          <a:p>
            <a:pPr marL="292608" indent="-292608">
              <a:spcAft>
                <a:spcPts val="800"/>
              </a:spcAft>
              <a:buClr>
                <a:srgbClr val="2FA38A"/>
              </a:buClr>
              <a:buFont typeface="Arial"/>
              <a:buChar char="●"/>
            </a:pPr>
            <a:r>
              <a:rPr sz="1350">
                <a:solidFill>
                  <a:srgbClr val="F2F2EC"/>
                </a:solidFill>
                <a:latin typeface="Segoe UI"/>
              </a:rPr>
              <a:t>Aplicar técnicas como brainstorming e Crazy 8s</a:t>
            </a:r>
          </a:p>
          <a:p>
            <a:pPr marL="292608" indent="-292608">
              <a:buClr>
                <a:srgbClr val="2FA38A"/>
              </a:buClr>
              <a:buFont typeface="Arial"/>
              <a:buChar char="●"/>
            </a:pPr>
            <a:r>
              <a:rPr sz="1350">
                <a:solidFill>
                  <a:srgbClr val="F2F2EC"/>
                </a:solidFill>
                <a:latin typeface="Segoe UI"/>
              </a:rPr>
              <a:t>Priorizar ideias com votação e matriz impacto x esforço</a:t>
            </a:r>
          </a:p>
        </p:txBody>
      </p:sp>
      <p:sp>
        <p:nvSpPr>
          <p:cNvPr id="9" name="Rounded Rectangle 8"/>
          <p:cNvSpPr/>
          <p:nvPr/>
        </p:nvSpPr>
        <p:spPr>
          <a:xfrm>
            <a:off x="548640" y="4983480"/>
            <a:ext cx="1221638" cy="310896"/>
          </a:xfrm>
          <a:prstGeom prst="roundRect">
            <a:avLst>
              <a:gd name="adj" fmla="val 50000"/>
            </a:avLst>
          </a:prstGeom>
          <a:solidFill>
            <a:srgbClr val="242826"/>
          </a:solidFill>
          <a:ln w="12700">
            <a:solidFill>
              <a:srgbClr val="3A413D"/>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000" b="0" i="0">
                <a:solidFill>
                  <a:srgbClr val="B4B8B0"/>
                </a:solidFill>
                <a:latin typeface="Segoe UI"/>
              </a:rPr>
              <a:t>Empatizar</a:t>
            </a:r>
          </a:p>
        </p:txBody>
      </p:sp>
      <p:sp>
        <p:nvSpPr>
          <p:cNvPr id="10" name="Rounded Rectangle 9"/>
          <p:cNvSpPr/>
          <p:nvPr/>
        </p:nvSpPr>
        <p:spPr>
          <a:xfrm>
            <a:off x="1843430" y="4983480"/>
            <a:ext cx="1221638" cy="310896"/>
          </a:xfrm>
          <a:prstGeom prst="roundRect">
            <a:avLst>
              <a:gd name="adj" fmla="val 50000"/>
            </a:avLst>
          </a:prstGeom>
          <a:solidFill>
            <a:srgbClr val="242826"/>
          </a:solidFill>
          <a:ln w="12700">
            <a:solidFill>
              <a:srgbClr val="3A413D"/>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000" b="0" i="0">
                <a:solidFill>
                  <a:srgbClr val="B4B8B0"/>
                </a:solidFill>
                <a:latin typeface="Segoe UI"/>
              </a:rPr>
              <a:t>Definir</a:t>
            </a:r>
          </a:p>
        </p:txBody>
      </p:sp>
      <p:sp>
        <p:nvSpPr>
          <p:cNvPr id="11" name="Rounded Rectangle 10"/>
          <p:cNvSpPr/>
          <p:nvPr/>
        </p:nvSpPr>
        <p:spPr>
          <a:xfrm>
            <a:off x="3138220" y="4983480"/>
            <a:ext cx="1221638" cy="310896"/>
          </a:xfrm>
          <a:prstGeom prst="roundRect">
            <a:avLst>
              <a:gd name="adj" fmla="val 50000"/>
            </a:avLst>
          </a:prstGeom>
          <a:solidFill>
            <a:srgbClr val="2FA38A"/>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000" b="1" i="0">
                <a:solidFill>
                  <a:srgbClr val="1A1A1A"/>
                </a:solidFill>
                <a:latin typeface="Segoe UI Semibold"/>
              </a:rPr>
              <a:t>Idear</a:t>
            </a:r>
          </a:p>
        </p:txBody>
      </p:sp>
      <p:sp>
        <p:nvSpPr>
          <p:cNvPr id="12" name="Rounded Rectangle 11"/>
          <p:cNvSpPr/>
          <p:nvPr/>
        </p:nvSpPr>
        <p:spPr>
          <a:xfrm>
            <a:off x="4433011" y="4983480"/>
            <a:ext cx="1221638" cy="310896"/>
          </a:xfrm>
          <a:prstGeom prst="roundRect">
            <a:avLst>
              <a:gd name="adj" fmla="val 50000"/>
            </a:avLst>
          </a:prstGeom>
          <a:solidFill>
            <a:srgbClr val="242826"/>
          </a:solidFill>
          <a:ln w="12700">
            <a:solidFill>
              <a:srgbClr val="3A413D"/>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000" b="0" i="0">
                <a:solidFill>
                  <a:srgbClr val="B4B8B0"/>
                </a:solidFill>
                <a:latin typeface="Segoe UI"/>
              </a:rPr>
              <a:t>Prototipar</a:t>
            </a:r>
          </a:p>
        </p:txBody>
      </p:sp>
      <p:sp>
        <p:nvSpPr>
          <p:cNvPr id="13" name="Rounded Rectangle 12"/>
          <p:cNvSpPr/>
          <p:nvPr/>
        </p:nvSpPr>
        <p:spPr>
          <a:xfrm>
            <a:off x="5727801" y="4983480"/>
            <a:ext cx="1221638" cy="310896"/>
          </a:xfrm>
          <a:prstGeom prst="roundRect">
            <a:avLst>
              <a:gd name="adj" fmla="val 50000"/>
            </a:avLst>
          </a:prstGeom>
          <a:solidFill>
            <a:srgbClr val="242826"/>
          </a:solidFill>
          <a:ln w="12700">
            <a:solidFill>
              <a:srgbClr val="3A413D"/>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000" b="0" i="0">
                <a:solidFill>
                  <a:srgbClr val="B4B8B0"/>
                </a:solidFill>
                <a:latin typeface="Segoe UI"/>
              </a:rPr>
              <a:t>Testar</a:t>
            </a:r>
          </a:p>
        </p:txBody>
      </p:sp>
      <p:sp>
        <p:nvSpPr>
          <p:cNvPr id="14" name="Rounded Rectangle 13">
            <a:hlinkClick r:id="rId3" action="ppaction://hlinksldjump"/>
          </p:cNvPr>
          <p:cNvSpPr/>
          <p:nvPr/>
        </p:nvSpPr>
        <p:spPr>
          <a:xfrm>
            <a:off x="548640" y="4297680"/>
            <a:ext cx="3017520" cy="502920"/>
          </a:xfrm>
          <a:prstGeom prst="roundRect">
            <a:avLst>
              <a:gd name="adj" fmla="val 50000"/>
            </a:avLst>
          </a:prstGeom>
          <a:solidFill>
            <a:srgbClr val="2FA38A"/>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400" b="1" i="0">
                <a:solidFill>
                  <a:srgbClr val="1A1A1A"/>
                </a:solidFill>
                <a:latin typeface="Segoe UI Semibold"/>
              </a:rPr>
              <a:t>▶  Assistir vídeo do módulo</a:t>
            </a:r>
          </a:p>
        </p:txBody>
      </p:sp>
      <p:cxnSp>
        <p:nvCxnSpPr>
          <p:cNvPr id="15" name="Connector 14"/>
          <p:cNvCxnSpPr/>
          <p:nvPr/>
        </p:nvCxnSpPr>
        <p:spPr>
          <a:xfrm>
            <a:off x="9418320" y="640080"/>
            <a:ext cx="1609344" cy="0"/>
          </a:xfrm>
          <a:prstGeom prst="line">
            <a:avLst/>
          </a:prstGeom>
          <a:ln w="30734">
            <a:solidFill>
              <a:srgbClr val="2FA38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418320" y="1092708"/>
            <a:ext cx="1106424" cy="0"/>
          </a:xfrm>
          <a:prstGeom prst="line">
            <a:avLst/>
          </a:prstGeom>
          <a:ln w="30734">
            <a:solidFill>
              <a:srgbClr val="2FA38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524744" y="1092708"/>
            <a:ext cx="352044" cy="352044"/>
          </a:xfrm>
          <a:prstGeom prst="line">
            <a:avLst/>
          </a:prstGeom>
          <a:ln w="30734">
            <a:solidFill>
              <a:srgbClr val="2FA38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876788" y="1444752"/>
            <a:ext cx="854964" cy="0"/>
          </a:xfrm>
          <a:prstGeom prst="line">
            <a:avLst/>
          </a:prstGeom>
          <a:ln w="30734">
            <a:solidFill>
              <a:srgbClr val="2FA38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9418320" y="1545336"/>
            <a:ext cx="603504" cy="0"/>
          </a:xfrm>
          <a:prstGeom prst="line">
            <a:avLst/>
          </a:prstGeom>
          <a:ln w="30734">
            <a:solidFill>
              <a:srgbClr val="2FA38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021824" y="1545336"/>
            <a:ext cx="301752" cy="352044"/>
          </a:xfrm>
          <a:prstGeom prst="line">
            <a:avLst/>
          </a:prstGeom>
          <a:ln w="30734">
            <a:solidFill>
              <a:srgbClr val="2FA38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0323576" y="1897380"/>
            <a:ext cx="1005840" cy="0"/>
          </a:xfrm>
          <a:prstGeom prst="line">
            <a:avLst/>
          </a:prstGeom>
          <a:ln w="30734">
            <a:solidFill>
              <a:srgbClr val="2FA38A"/>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11027664" y="529437"/>
            <a:ext cx="221284" cy="221284"/>
          </a:xfrm>
          <a:prstGeom prst="ellipse">
            <a:avLst/>
          </a:prstGeom>
          <a:solidFill>
            <a:srgbClr val="1A1A1A"/>
          </a:solidFill>
          <a:ln w="30734">
            <a:solidFill>
              <a:srgbClr val="2FA3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11731752" y="1334109"/>
            <a:ext cx="221284" cy="221284"/>
          </a:xfrm>
          <a:prstGeom prst="ellipse">
            <a:avLst/>
          </a:prstGeom>
          <a:solidFill>
            <a:srgbClr val="1A1A1A"/>
          </a:solidFill>
          <a:ln w="30734">
            <a:solidFill>
              <a:srgbClr val="2FA3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11329416" y="1786737"/>
            <a:ext cx="221284" cy="221284"/>
          </a:xfrm>
          <a:prstGeom prst="ellipse">
            <a:avLst/>
          </a:prstGeom>
          <a:solidFill>
            <a:srgbClr val="1A1A1A"/>
          </a:solidFill>
          <a:ln w="30734">
            <a:solidFill>
              <a:srgbClr val="2FA3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700" fill="hold"/>
                                        <p:tgtEl>
                                          <p:spTgt spid="2"/>
                                        </p:tgtEl>
                                        <p:attrNameLst>
                                          <p:attrName>ppt_w</p:attrName>
                                        </p:attrNameLst>
                                      </p:cBhvr>
                                      <p:tavLst>
                                        <p:tav tm="0">
                                          <p:val>
                                            <p:strVal val="0"/>
                                          </p:val>
                                        </p:tav>
                                        <p:tav tm="70000">
                                          <p:val>
                                            <p:strVal val="#ppt_w*1.08"/>
                                          </p:val>
                                        </p:tav>
                                        <p:tav tm="100000">
                                          <p:val>
                                            <p:strVal val="#ppt_w"/>
                                          </p:val>
                                        </p:tav>
                                      </p:tavLst>
                                    </p:anim>
                                    <p:anim calcmode="lin" valueType="num">
                                      <p:cBhvr additive="base">
                                        <p:cTn id="8" dur="700" fill="hold"/>
                                        <p:tgtEl>
                                          <p:spTgt spid="2"/>
                                        </p:tgtEl>
                                        <p:attrNameLst>
                                          <p:attrName>ppt_h</p:attrName>
                                        </p:attrNameLst>
                                      </p:cBhvr>
                                      <p:tavLst>
                                        <p:tav tm="0">
                                          <p:val>
                                            <p:strVal val="0"/>
                                          </p:val>
                                        </p:tav>
                                        <p:tav tm="70000">
                                          <p:val>
                                            <p:strVal val="#ppt_h*1.08"/>
                                          </p:val>
                                        </p:tav>
                                        <p:tav tm="100000">
                                          <p:val>
                                            <p:strVal val="#ppt_h"/>
                                          </p:val>
                                        </p:tav>
                                      </p:tavLst>
                                    </p:anim>
                                    <p:animEffect transition="in" filter="fade">
                                      <p:cBhvr>
                                        <p:cTn id="9" dur="420" fill="hold"/>
                                        <p:tgtEl>
                                          <p:spTgt spid="2"/>
                                        </p:tgtEl>
                                      </p:cBhvr>
                                    </p:animEffect>
                                  </p:childTnLst>
                                </p:cTn>
                              </p:par>
                              <p:par>
                                <p:cTn id="10" presetID="10" presetClass="entr" presetSubtype="0" fill="hold" grpId="0" nodeType="withEffect">
                                  <p:stCondLst>
                                    <p:cond delay="30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fill="hold"/>
                                        <p:tgtEl>
                                          <p:spTgt spid="3"/>
                                        </p:tgtEl>
                                      </p:cBhvr>
                                    </p:animEffect>
                                  </p:childTnLst>
                                </p:cTn>
                              </p:par>
                              <p:par>
                                <p:cTn id="13" presetID="42" presetClass="entr" presetSubtype="0" decel="100000" fill="hold" grpId="0" nodeType="withEffect">
                                  <p:stCondLst>
                                    <p:cond delay="45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650" fill="hold"/>
                                        <p:tgtEl>
                                          <p:spTgt spid="4"/>
                                        </p:tgtEl>
                                      </p:cBhvr>
                                    </p:animEffect>
                                    <p:anim calcmode="lin" valueType="num">
                                      <p:cBhvr additive="base">
                                        <p:cTn id="16" dur="650" fill="hold"/>
                                        <p:tgtEl>
                                          <p:spTgt spid="4"/>
                                        </p:tgtEl>
                                        <p:attrNameLst>
                                          <p:attrName>ppt_x</p:attrName>
                                        </p:attrNameLst>
                                      </p:cBhvr>
                                      <p:tavLst>
                                        <p:tav tm="0">
                                          <p:val>
                                            <p:strVal val="#ppt_x"/>
                                          </p:val>
                                        </p:tav>
                                        <p:tav tm="100000">
                                          <p:val>
                                            <p:strVal val="#ppt_x"/>
                                          </p:val>
                                        </p:tav>
                                      </p:tavLst>
                                    </p:anim>
                                    <p:anim calcmode="lin" valueType="num">
                                      <p:cBhvr additive="base">
                                        <p:cTn id="17" dur="650" fill="hold"/>
                                        <p:tgtEl>
                                          <p:spTgt spid="4"/>
                                        </p:tgtEl>
                                        <p:attrNameLst>
                                          <p:attrName>ppt_y</p:attrName>
                                        </p:attrNameLst>
                                      </p:cBhvr>
                                      <p:tavLst>
                                        <p:tav tm="0">
                                          <p:val>
                                            <p:strVal val="#ppt_y+.06"/>
                                          </p:val>
                                        </p:tav>
                                        <p:tav tm="100000">
                                          <p:val>
                                            <p:strVal val="#ppt_y"/>
                                          </p:val>
                                        </p:tav>
                                      </p:tavLst>
                                    </p:anim>
                                  </p:childTnLst>
                                </p:cTn>
                              </p:par>
                              <p:par>
                                <p:cTn id="18" presetID="42" presetClass="entr" presetSubtype="0" decel="100000" fill="hold" grpId="0" nodeType="withEffect">
                                  <p:stCondLst>
                                    <p:cond delay="65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650" fill="hold"/>
                                        <p:tgtEl>
                                          <p:spTgt spid="5"/>
                                        </p:tgtEl>
                                      </p:cBhvr>
                                    </p:animEffect>
                                    <p:anim calcmode="lin" valueType="num">
                                      <p:cBhvr additive="base">
                                        <p:cTn id="21" dur="650" fill="hold"/>
                                        <p:tgtEl>
                                          <p:spTgt spid="5"/>
                                        </p:tgtEl>
                                        <p:attrNameLst>
                                          <p:attrName>ppt_x</p:attrName>
                                        </p:attrNameLst>
                                      </p:cBhvr>
                                      <p:tavLst>
                                        <p:tav tm="0">
                                          <p:val>
                                            <p:strVal val="#ppt_x"/>
                                          </p:val>
                                        </p:tav>
                                        <p:tav tm="100000">
                                          <p:val>
                                            <p:strVal val="#ppt_x"/>
                                          </p:val>
                                        </p:tav>
                                      </p:tavLst>
                                    </p:anim>
                                    <p:anim calcmode="lin" valueType="num">
                                      <p:cBhvr additive="base">
                                        <p:cTn id="22" dur="650" fill="hold"/>
                                        <p:tgtEl>
                                          <p:spTgt spid="5"/>
                                        </p:tgtEl>
                                        <p:attrNameLst>
                                          <p:attrName>ppt_y</p:attrName>
                                        </p:attrNameLst>
                                      </p:cBhvr>
                                      <p:tavLst>
                                        <p:tav tm="0">
                                          <p:val>
                                            <p:strVal val="#ppt_y+.06"/>
                                          </p:val>
                                        </p:tav>
                                        <p:tav tm="100000">
                                          <p:val>
                                            <p:strVal val="#ppt_y"/>
                                          </p:val>
                                        </p:tav>
                                      </p:tavLst>
                                    </p:anim>
                                  </p:childTnLst>
                                </p:cTn>
                              </p:par>
                              <p:par>
                                <p:cTn id="23" presetID="42" presetClass="entr" presetSubtype="0" decel="100000" fill="hold" grpId="0" nodeType="withEffect">
                                  <p:stCondLst>
                                    <p:cond delay="95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650" fill="hold"/>
                                        <p:tgtEl>
                                          <p:spTgt spid="6"/>
                                        </p:tgtEl>
                                      </p:cBhvr>
                                    </p:animEffect>
                                    <p:anim calcmode="lin" valueType="num">
                                      <p:cBhvr additive="base">
                                        <p:cTn id="26" dur="650" fill="hold"/>
                                        <p:tgtEl>
                                          <p:spTgt spid="6"/>
                                        </p:tgtEl>
                                        <p:attrNameLst>
                                          <p:attrName>ppt_x</p:attrName>
                                        </p:attrNameLst>
                                      </p:cBhvr>
                                      <p:tavLst>
                                        <p:tav tm="0">
                                          <p:val>
                                            <p:strVal val="#ppt_x"/>
                                          </p:val>
                                        </p:tav>
                                        <p:tav tm="100000">
                                          <p:val>
                                            <p:strVal val="#ppt_x"/>
                                          </p:val>
                                        </p:tav>
                                      </p:tavLst>
                                    </p:anim>
                                    <p:anim calcmode="lin" valueType="num">
                                      <p:cBhvr additive="base">
                                        <p:cTn id="27" dur="650" fill="hold"/>
                                        <p:tgtEl>
                                          <p:spTgt spid="6"/>
                                        </p:tgtEl>
                                        <p:attrNameLst>
                                          <p:attrName>ppt_y</p:attrName>
                                        </p:attrNameLst>
                                      </p:cBhvr>
                                      <p:tavLst>
                                        <p:tav tm="0">
                                          <p:val>
                                            <p:strVal val="#ppt_y+.06"/>
                                          </p:val>
                                        </p:tav>
                                        <p:tav tm="100000">
                                          <p:val>
                                            <p:strVal val="#ppt_y"/>
                                          </p:val>
                                        </p:tav>
                                      </p:tavLst>
                                    </p:anim>
                                  </p:childTnLst>
                                </p:cTn>
                              </p:par>
                              <p:par>
                                <p:cTn id="28" presetID="42" presetClass="entr" presetSubtype="0" decel="100000" fill="hold" grpId="0" nodeType="withEffect">
                                  <p:stCondLst>
                                    <p:cond delay="95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650" fill="hold"/>
                                        <p:tgtEl>
                                          <p:spTgt spid="7"/>
                                        </p:tgtEl>
                                      </p:cBhvr>
                                    </p:animEffect>
                                    <p:anim calcmode="lin" valueType="num">
                                      <p:cBhvr additive="base">
                                        <p:cTn id="31" dur="650" fill="hold"/>
                                        <p:tgtEl>
                                          <p:spTgt spid="7"/>
                                        </p:tgtEl>
                                        <p:attrNameLst>
                                          <p:attrName>ppt_x</p:attrName>
                                        </p:attrNameLst>
                                      </p:cBhvr>
                                      <p:tavLst>
                                        <p:tav tm="0">
                                          <p:val>
                                            <p:strVal val="#ppt_x"/>
                                          </p:val>
                                        </p:tav>
                                        <p:tav tm="100000">
                                          <p:val>
                                            <p:strVal val="#ppt_x"/>
                                          </p:val>
                                        </p:tav>
                                      </p:tavLst>
                                    </p:anim>
                                    <p:anim calcmode="lin" valueType="num">
                                      <p:cBhvr additive="base">
                                        <p:cTn id="32" dur="650" fill="hold"/>
                                        <p:tgtEl>
                                          <p:spTgt spid="7"/>
                                        </p:tgtEl>
                                        <p:attrNameLst>
                                          <p:attrName>ppt_y</p:attrName>
                                        </p:attrNameLst>
                                      </p:cBhvr>
                                      <p:tavLst>
                                        <p:tav tm="0">
                                          <p:val>
                                            <p:strVal val="#ppt_y+.06"/>
                                          </p:val>
                                        </p:tav>
                                        <p:tav tm="100000">
                                          <p:val>
                                            <p:strVal val="#ppt_y"/>
                                          </p:val>
                                        </p:tav>
                                      </p:tavLst>
                                    </p:anim>
                                  </p:childTnLst>
                                </p:cTn>
                              </p:par>
                              <p:par>
                                <p:cTn id="33" presetID="10" presetClass="entr" presetSubtype="0" fill="hold" grpId="0" nodeType="withEffect">
                                  <p:stCondLst>
                                    <p:cond delay="125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500" fill="hold"/>
                                        <p:tgtEl>
                                          <p:spTgt spid="8"/>
                                        </p:tgtEl>
                                      </p:cBhvr>
                                    </p:animEffect>
                                  </p:childTnLst>
                                </p:cTn>
                              </p:par>
                              <p:par>
                                <p:cTn id="36" presetID="22" presetClass="entr" presetSubtype="8" fill="hold" grpId="0" nodeType="withEffect">
                                  <p:stCondLst>
                                    <p:cond delay="1450"/>
                                  </p:stCondLst>
                                  <p:childTnLst>
                                    <p:set>
                                      <p:cBhvr>
                                        <p:cTn id="37" dur="1" fill="hold">
                                          <p:stCondLst>
                                            <p:cond delay="0"/>
                                          </p:stCondLst>
                                        </p:cTn>
                                        <p:tgtEl>
                                          <p:spTgt spid="9"/>
                                        </p:tgtEl>
                                        <p:attrNameLst>
                                          <p:attrName>style.visibility</p:attrName>
                                        </p:attrNameLst>
                                      </p:cBhvr>
                                      <p:to>
                                        <p:strVal val="visible"/>
                                      </p:to>
                                    </p:set>
                                    <p:animEffect transition="in" filter="wipe(left)">
                                      <p:cBhvr>
                                        <p:cTn id="38" dur="600" fill="hold"/>
                                        <p:tgtEl>
                                          <p:spTgt spid="9"/>
                                        </p:tgtEl>
                                      </p:cBhvr>
                                    </p:animEffect>
                                  </p:childTnLst>
                                </p:cTn>
                              </p:par>
                              <p:par>
                                <p:cTn id="39" presetID="22" presetClass="entr" presetSubtype="8" fill="hold" grpId="0" nodeType="withEffect">
                                  <p:stCondLst>
                                    <p:cond delay="145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1" dur="600" fill="hold"/>
                                        <p:tgtEl>
                                          <p:spTgt spid="10"/>
                                        </p:tgtEl>
                                      </p:cBhvr>
                                    </p:animEffect>
                                  </p:childTnLst>
                                </p:cTn>
                              </p:par>
                              <p:par>
                                <p:cTn id="42" presetID="22" presetClass="entr" presetSubtype="8" fill="hold" grpId="0" nodeType="withEffect">
                                  <p:stCondLst>
                                    <p:cond delay="1450"/>
                                  </p:stCondLst>
                                  <p:childTnLst>
                                    <p:set>
                                      <p:cBhvr>
                                        <p:cTn id="43" dur="1" fill="hold">
                                          <p:stCondLst>
                                            <p:cond delay="0"/>
                                          </p:stCondLst>
                                        </p:cTn>
                                        <p:tgtEl>
                                          <p:spTgt spid="11"/>
                                        </p:tgtEl>
                                        <p:attrNameLst>
                                          <p:attrName>style.visibility</p:attrName>
                                        </p:attrNameLst>
                                      </p:cBhvr>
                                      <p:to>
                                        <p:strVal val="visible"/>
                                      </p:to>
                                    </p:set>
                                    <p:animEffect transition="in" filter="wipe(left)">
                                      <p:cBhvr>
                                        <p:cTn id="44" dur="600" fill="hold"/>
                                        <p:tgtEl>
                                          <p:spTgt spid="11"/>
                                        </p:tgtEl>
                                      </p:cBhvr>
                                    </p:animEffect>
                                  </p:childTnLst>
                                </p:cTn>
                              </p:par>
                              <p:par>
                                <p:cTn id="45" presetID="22" presetClass="entr" presetSubtype="8" fill="hold" grpId="0" nodeType="withEffect">
                                  <p:stCondLst>
                                    <p:cond delay="1450"/>
                                  </p:stCondLst>
                                  <p:childTnLst>
                                    <p:set>
                                      <p:cBhvr>
                                        <p:cTn id="46" dur="1" fill="hold">
                                          <p:stCondLst>
                                            <p:cond delay="0"/>
                                          </p:stCondLst>
                                        </p:cTn>
                                        <p:tgtEl>
                                          <p:spTgt spid="12"/>
                                        </p:tgtEl>
                                        <p:attrNameLst>
                                          <p:attrName>style.visibility</p:attrName>
                                        </p:attrNameLst>
                                      </p:cBhvr>
                                      <p:to>
                                        <p:strVal val="visible"/>
                                      </p:to>
                                    </p:set>
                                    <p:animEffect transition="in" filter="wipe(left)">
                                      <p:cBhvr>
                                        <p:cTn id="47" dur="600" fill="hold"/>
                                        <p:tgtEl>
                                          <p:spTgt spid="12"/>
                                        </p:tgtEl>
                                      </p:cBhvr>
                                    </p:animEffect>
                                  </p:childTnLst>
                                </p:cTn>
                              </p:par>
                              <p:par>
                                <p:cTn id="48" presetID="22" presetClass="entr" presetSubtype="8" fill="hold" grpId="0" nodeType="withEffect">
                                  <p:stCondLst>
                                    <p:cond delay="1450"/>
                                  </p:stCondLst>
                                  <p:childTnLst>
                                    <p:set>
                                      <p:cBhvr>
                                        <p:cTn id="49" dur="1" fill="hold">
                                          <p:stCondLst>
                                            <p:cond delay="0"/>
                                          </p:stCondLst>
                                        </p:cTn>
                                        <p:tgtEl>
                                          <p:spTgt spid="13"/>
                                        </p:tgtEl>
                                        <p:attrNameLst>
                                          <p:attrName>style.visibility</p:attrName>
                                        </p:attrNameLst>
                                      </p:cBhvr>
                                      <p:to>
                                        <p:strVal val="visible"/>
                                      </p:to>
                                    </p:set>
                                    <p:animEffect transition="in" filter="wipe(left)">
                                      <p:cBhvr>
                                        <p:cTn id="50" dur="600" fill="hold"/>
                                        <p:tgtEl>
                                          <p:spTgt spid="13"/>
                                        </p:tgtEl>
                                      </p:cBhvr>
                                    </p:animEffect>
                                  </p:childTnLst>
                                </p:cTn>
                              </p:par>
                              <p:par>
                                <p:cTn id="51" presetID="53" presetClass="entr" presetSubtype="16" decel="100000" fill="hold" grpId="0" nodeType="withEffect">
                                  <p:stCondLst>
                                    <p:cond delay="1700"/>
                                  </p:stCondLst>
                                  <p:childTnLst>
                                    <p:set>
                                      <p:cBhvr>
                                        <p:cTn id="52" dur="1" fill="hold">
                                          <p:stCondLst>
                                            <p:cond delay="0"/>
                                          </p:stCondLst>
                                        </p:cTn>
                                        <p:tgtEl>
                                          <p:spTgt spid="14"/>
                                        </p:tgtEl>
                                        <p:attrNameLst>
                                          <p:attrName>style.visibility</p:attrName>
                                        </p:attrNameLst>
                                      </p:cBhvr>
                                      <p:to>
                                        <p:strVal val="visible"/>
                                      </p:to>
                                    </p:set>
                                    <p:anim calcmode="lin" valueType="num">
                                      <p:cBhvr additive="base">
                                        <p:cTn id="53" dur="450" fill="hold"/>
                                        <p:tgtEl>
                                          <p:spTgt spid="14"/>
                                        </p:tgtEl>
                                        <p:attrNameLst>
                                          <p:attrName>ppt_w</p:attrName>
                                        </p:attrNameLst>
                                      </p:cBhvr>
                                      <p:tavLst>
                                        <p:tav tm="0">
                                          <p:val>
                                            <p:strVal val="0"/>
                                          </p:val>
                                        </p:tav>
                                        <p:tav tm="70000">
                                          <p:val>
                                            <p:strVal val="#ppt_w*1.08"/>
                                          </p:val>
                                        </p:tav>
                                        <p:tav tm="100000">
                                          <p:val>
                                            <p:strVal val="#ppt_w"/>
                                          </p:val>
                                        </p:tav>
                                      </p:tavLst>
                                    </p:anim>
                                    <p:anim calcmode="lin" valueType="num">
                                      <p:cBhvr additive="base">
                                        <p:cTn id="54" dur="450" fill="hold"/>
                                        <p:tgtEl>
                                          <p:spTgt spid="14"/>
                                        </p:tgtEl>
                                        <p:attrNameLst>
                                          <p:attrName>ppt_h</p:attrName>
                                        </p:attrNameLst>
                                      </p:cBhvr>
                                      <p:tavLst>
                                        <p:tav tm="0">
                                          <p:val>
                                            <p:strVal val="0"/>
                                          </p:val>
                                        </p:tav>
                                        <p:tav tm="70000">
                                          <p:val>
                                            <p:strVal val="#ppt_h*1.08"/>
                                          </p:val>
                                        </p:tav>
                                        <p:tav tm="100000">
                                          <p:val>
                                            <p:strVal val="#ppt_h"/>
                                          </p:val>
                                        </p:tav>
                                      </p:tavLst>
                                    </p:anim>
                                    <p:animEffect transition="in" filter="fade">
                                      <p:cBhvr>
                                        <p:cTn id="55" dur="270" fill="hold"/>
                                        <p:tgtEl>
                                          <p:spTgt spid="14"/>
                                        </p:tgtEl>
                                      </p:cBhvr>
                                    </p:animEffect>
                                  </p:childTnLst>
                                </p:cTn>
                              </p:par>
                              <p:par>
                                <p:cTn id="56" presetID="22" presetClass="entr" presetSubtype="8" fill="hold" nodeType="withEffect">
                                  <p:stCondLst>
                                    <p:cond delay="1850"/>
                                  </p:stCondLst>
                                  <p:childTnLst>
                                    <p:set>
                                      <p:cBhvr>
                                        <p:cTn id="57" dur="1" fill="hold">
                                          <p:stCondLst>
                                            <p:cond delay="0"/>
                                          </p:stCondLst>
                                        </p:cTn>
                                        <p:tgtEl>
                                          <p:spTgt spid="15"/>
                                        </p:tgtEl>
                                        <p:attrNameLst>
                                          <p:attrName>style.visibility</p:attrName>
                                        </p:attrNameLst>
                                      </p:cBhvr>
                                      <p:to>
                                        <p:strVal val="visible"/>
                                      </p:to>
                                    </p:set>
                                    <p:animEffect transition="in" filter="wipe(left)">
                                      <p:cBhvr>
                                        <p:cTn id="58" dur="900" fill="hold"/>
                                        <p:tgtEl>
                                          <p:spTgt spid="15"/>
                                        </p:tgtEl>
                                      </p:cBhvr>
                                    </p:animEffect>
                                  </p:childTnLst>
                                </p:cTn>
                              </p:par>
                              <p:par>
                                <p:cTn id="59" presetID="22" presetClass="entr" presetSubtype="8" fill="hold" nodeType="withEffect">
                                  <p:stCondLst>
                                    <p:cond delay="1850"/>
                                  </p:stCondLst>
                                  <p:childTnLst>
                                    <p:set>
                                      <p:cBhvr>
                                        <p:cTn id="60" dur="1" fill="hold">
                                          <p:stCondLst>
                                            <p:cond delay="0"/>
                                          </p:stCondLst>
                                        </p:cTn>
                                        <p:tgtEl>
                                          <p:spTgt spid="16"/>
                                        </p:tgtEl>
                                        <p:attrNameLst>
                                          <p:attrName>style.visibility</p:attrName>
                                        </p:attrNameLst>
                                      </p:cBhvr>
                                      <p:to>
                                        <p:strVal val="visible"/>
                                      </p:to>
                                    </p:set>
                                    <p:animEffect transition="in" filter="wipe(left)">
                                      <p:cBhvr>
                                        <p:cTn id="61" dur="900" fill="hold"/>
                                        <p:tgtEl>
                                          <p:spTgt spid="16"/>
                                        </p:tgtEl>
                                      </p:cBhvr>
                                    </p:animEffect>
                                  </p:childTnLst>
                                </p:cTn>
                              </p:par>
                              <p:par>
                                <p:cTn id="62" presetID="22" presetClass="entr" presetSubtype="8" fill="hold" nodeType="withEffect">
                                  <p:stCondLst>
                                    <p:cond delay="1850"/>
                                  </p:stCondLst>
                                  <p:childTnLst>
                                    <p:set>
                                      <p:cBhvr>
                                        <p:cTn id="63" dur="1" fill="hold">
                                          <p:stCondLst>
                                            <p:cond delay="0"/>
                                          </p:stCondLst>
                                        </p:cTn>
                                        <p:tgtEl>
                                          <p:spTgt spid="17"/>
                                        </p:tgtEl>
                                        <p:attrNameLst>
                                          <p:attrName>style.visibility</p:attrName>
                                        </p:attrNameLst>
                                      </p:cBhvr>
                                      <p:to>
                                        <p:strVal val="visible"/>
                                      </p:to>
                                    </p:set>
                                    <p:animEffect transition="in" filter="wipe(left)">
                                      <p:cBhvr>
                                        <p:cTn id="64" dur="900" fill="hold"/>
                                        <p:tgtEl>
                                          <p:spTgt spid="17"/>
                                        </p:tgtEl>
                                      </p:cBhvr>
                                    </p:animEffect>
                                  </p:childTnLst>
                                </p:cTn>
                              </p:par>
                              <p:par>
                                <p:cTn id="65" presetID="22" presetClass="entr" presetSubtype="8" fill="hold" nodeType="withEffect">
                                  <p:stCondLst>
                                    <p:cond delay="1850"/>
                                  </p:stCondLst>
                                  <p:childTnLst>
                                    <p:set>
                                      <p:cBhvr>
                                        <p:cTn id="66" dur="1" fill="hold">
                                          <p:stCondLst>
                                            <p:cond delay="0"/>
                                          </p:stCondLst>
                                        </p:cTn>
                                        <p:tgtEl>
                                          <p:spTgt spid="18"/>
                                        </p:tgtEl>
                                        <p:attrNameLst>
                                          <p:attrName>style.visibility</p:attrName>
                                        </p:attrNameLst>
                                      </p:cBhvr>
                                      <p:to>
                                        <p:strVal val="visible"/>
                                      </p:to>
                                    </p:set>
                                    <p:animEffect transition="in" filter="wipe(left)">
                                      <p:cBhvr>
                                        <p:cTn id="67" dur="900" fill="hold"/>
                                        <p:tgtEl>
                                          <p:spTgt spid="18"/>
                                        </p:tgtEl>
                                      </p:cBhvr>
                                    </p:animEffect>
                                  </p:childTnLst>
                                </p:cTn>
                              </p:par>
                              <p:par>
                                <p:cTn id="68" presetID="22" presetClass="entr" presetSubtype="8" fill="hold" nodeType="withEffect">
                                  <p:stCondLst>
                                    <p:cond delay="1850"/>
                                  </p:stCondLst>
                                  <p:childTnLst>
                                    <p:set>
                                      <p:cBhvr>
                                        <p:cTn id="69" dur="1" fill="hold">
                                          <p:stCondLst>
                                            <p:cond delay="0"/>
                                          </p:stCondLst>
                                        </p:cTn>
                                        <p:tgtEl>
                                          <p:spTgt spid="19"/>
                                        </p:tgtEl>
                                        <p:attrNameLst>
                                          <p:attrName>style.visibility</p:attrName>
                                        </p:attrNameLst>
                                      </p:cBhvr>
                                      <p:to>
                                        <p:strVal val="visible"/>
                                      </p:to>
                                    </p:set>
                                    <p:animEffect transition="in" filter="wipe(left)">
                                      <p:cBhvr>
                                        <p:cTn id="70" dur="900" fill="hold"/>
                                        <p:tgtEl>
                                          <p:spTgt spid="19"/>
                                        </p:tgtEl>
                                      </p:cBhvr>
                                    </p:animEffect>
                                  </p:childTnLst>
                                </p:cTn>
                              </p:par>
                              <p:par>
                                <p:cTn id="71" presetID="22" presetClass="entr" presetSubtype="8" fill="hold" nodeType="withEffect">
                                  <p:stCondLst>
                                    <p:cond delay="1850"/>
                                  </p:stCondLst>
                                  <p:childTnLst>
                                    <p:set>
                                      <p:cBhvr>
                                        <p:cTn id="72" dur="1" fill="hold">
                                          <p:stCondLst>
                                            <p:cond delay="0"/>
                                          </p:stCondLst>
                                        </p:cTn>
                                        <p:tgtEl>
                                          <p:spTgt spid="20"/>
                                        </p:tgtEl>
                                        <p:attrNameLst>
                                          <p:attrName>style.visibility</p:attrName>
                                        </p:attrNameLst>
                                      </p:cBhvr>
                                      <p:to>
                                        <p:strVal val="visible"/>
                                      </p:to>
                                    </p:set>
                                    <p:animEffect transition="in" filter="wipe(left)">
                                      <p:cBhvr>
                                        <p:cTn id="73" dur="900" fill="hold"/>
                                        <p:tgtEl>
                                          <p:spTgt spid="20"/>
                                        </p:tgtEl>
                                      </p:cBhvr>
                                    </p:animEffect>
                                  </p:childTnLst>
                                </p:cTn>
                              </p:par>
                              <p:par>
                                <p:cTn id="74" presetID="22" presetClass="entr" presetSubtype="8" fill="hold" nodeType="withEffect">
                                  <p:stCondLst>
                                    <p:cond delay="1850"/>
                                  </p:stCondLst>
                                  <p:childTnLst>
                                    <p:set>
                                      <p:cBhvr>
                                        <p:cTn id="75" dur="1" fill="hold">
                                          <p:stCondLst>
                                            <p:cond delay="0"/>
                                          </p:stCondLst>
                                        </p:cTn>
                                        <p:tgtEl>
                                          <p:spTgt spid="21"/>
                                        </p:tgtEl>
                                        <p:attrNameLst>
                                          <p:attrName>style.visibility</p:attrName>
                                        </p:attrNameLst>
                                      </p:cBhvr>
                                      <p:to>
                                        <p:strVal val="visible"/>
                                      </p:to>
                                    </p:set>
                                    <p:animEffect transition="in" filter="wipe(left)">
                                      <p:cBhvr>
                                        <p:cTn id="76" dur="900" fill="hold"/>
                                        <p:tgtEl>
                                          <p:spTgt spid="21"/>
                                        </p:tgtEl>
                                      </p:cBhvr>
                                    </p:animEffect>
                                  </p:childTnLst>
                                </p:cTn>
                              </p:par>
                              <p:par>
                                <p:cTn id="77" presetID="53" presetClass="entr" presetSubtype="16" decel="100000" fill="hold" grpId="0" nodeType="withEffect">
                                  <p:stCondLst>
                                    <p:cond delay="2600"/>
                                  </p:stCondLst>
                                  <p:childTnLst>
                                    <p:set>
                                      <p:cBhvr>
                                        <p:cTn id="78" dur="1" fill="hold">
                                          <p:stCondLst>
                                            <p:cond delay="0"/>
                                          </p:stCondLst>
                                        </p:cTn>
                                        <p:tgtEl>
                                          <p:spTgt spid="22"/>
                                        </p:tgtEl>
                                        <p:attrNameLst>
                                          <p:attrName>style.visibility</p:attrName>
                                        </p:attrNameLst>
                                      </p:cBhvr>
                                      <p:to>
                                        <p:strVal val="visible"/>
                                      </p:to>
                                    </p:set>
                                    <p:anim calcmode="lin" valueType="num">
                                      <p:cBhvr additive="base">
                                        <p:cTn id="79" dur="450" fill="hold"/>
                                        <p:tgtEl>
                                          <p:spTgt spid="22"/>
                                        </p:tgtEl>
                                        <p:attrNameLst>
                                          <p:attrName>ppt_w</p:attrName>
                                        </p:attrNameLst>
                                      </p:cBhvr>
                                      <p:tavLst>
                                        <p:tav tm="0">
                                          <p:val>
                                            <p:strVal val="0"/>
                                          </p:val>
                                        </p:tav>
                                        <p:tav tm="70000">
                                          <p:val>
                                            <p:strVal val="#ppt_w*1.08"/>
                                          </p:val>
                                        </p:tav>
                                        <p:tav tm="100000">
                                          <p:val>
                                            <p:strVal val="#ppt_w"/>
                                          </p:val>
                                        </p:tav>
                                      </p:tavLst>
                                    </p:anim>
                                    <p:anim calcmode="lin" valueType="num">
                                      <p:cBhvr additive="base">
                                        <p:cTn id="80" dur="450" fill="hold"/>
                                        <p:tgtEl>
                                          <p:spTgt spid="22"/>
                                        </p:tgtEl>
                                        <p:attrNameLst>
                                          <p:attrName>ppt_h</p:attrName>
                                        </p:attrNameLst>
                                      </p:cBhvr>
                                      <p:tavLst>
                                        <p:tav tm="0">
                                          <p:val>
                                            <p:strVal val="0"/>
                                          </p:val>
                                        </p:tav>
                                        <p:tav tm="70000">
                                          <p:val>
                                            <p:strVal val="#ppt_h*1.08"/>
                                          </p:val>
                                        </p:tav>
                                        <p:tav tm="100000">
                                          <p:val>
                                            <p:strVal val="#ppt_h"/>
                                          </p:val>
                                        </p:tav>
                                      </p:tavLst>
                                    </p:anim>
                                    <p:animEffect transition="in" filter="fade">
                                      <p:cBhvr>
                                        <p:cTn id="81" dur="270" fill="hold"/>
                                        <p:tgtEl>
                                          <p:spTgt spid="22"/>
                                        </p:tgtEl>
                                      </p:cBhvr>
                                    </p:animEffect>
                                  </p:childTnLst>
                                </p:cTn>
                              </p:par>
                              <p:par>
                                <p:cTn id="82" presetID="53" presetClass="entr" presetSubtype="16" decel="100000" fill="hold" grpId="0" nodeType="withEffect">
                                  <p:stCondLst>
                                    <p:cond delay="2720"/>
                                  </p:stCondLst>
                                  <p:childTnLst>
                                    <p:set>
                                      <p:cBhvr>
                                        <p:cTn id="83" dur="1" fill="hold">
                                          <p:stCondLst>
                                            <p:cond delay="0"/>
                                          </p:stCondLst>
                                        </p:cTn>
                                        <p:tgtEl>
                                          <p:spTgt spid="23"/>
                                        </p:tgtEl>
                                        <p:attrNameLst>
                                          <p:attrName>style.visibility</p:attrName>
                                        </p:attrNameLst>
                                      </p:cBhvr>
                                      <p:to>
                                        <p:strVal val="visible"/>
                                      </p:to>
                                    </p:set>
                                    <p:anim calcmode="lin" valueType="num">
                                      <p:cBhvr additive="base">
                                        <p:cTn id="84" dur="450" fill="hold"/>
                                        <p:tgtEl>
                                          <p:spTgt spid="23"/>
                                        </p:tgtEl>
                                        <p:attrNameLst>
                                          <p:attrName>ppt_w</p:attrName>
                                        </p:attrNameLst>
                                      </p:cBhvr>
                                      <p:tavLst>
                                        <p:tav tm="0">
                                          <p:val>
                                            <p:strVal val="0"/>
                                          </p:val>
                                        </p:tav>
                                        <p:tav tm="70000">
                                          <p:val>
                                            <p:strVal val="#ppt_w*1.08"/>
                                          </p:val>
                                        </p:tav>
                                        <p:tav tm="100000">
                                          <p:val>
                                            <p:strVal val="#ppt_w"/>
                                          </p:val>
                                        </p:tav>
                                      </p:tavLst>
                                    </p:anim>
                                    <p:anim calcmode="lin" valueType="num">
                                      <p:cBhvr additive="base">
                                        <p:cTn id="85" dur="450" fill="hold"/>
                                        <p:tgtEl>
                                          <p:spTgt spid="23"/>
                                        </p:tgtEl>
                                        <p:attrNameLst>
                                          <p:attrName>ppt_h</p:attrName>
                                        </p:attrNameLst>
                                      </p:cBhvr>
                                      <p:tavLst>
                                        <p:tav tm="0">
                                          <p:val>
                                            <p:strVal val="0"/>
                                          </p:val>
                                        </p:tav>
                                        <p:tav tm="70000">
                                          <p:val>
                                            <p:strVal val="#ppt_h*1.08"/>
                                          </p:val>
                                        </p:tav>
                                        <p:tav tm="100000">
                                          <p:val>
                                            <p:strVal val="#ppt_h"/>
                                          </p:val>
                                        </p:tav>
                                      </p:tavLst>
                                    </p:anim>
                                    <p:animEffect transition="in" filter="fade">
                                      <p:cBhvr>
                                        <p:cTn id="86" dur="270" fill="hold"/>
                                        <p:tgtEl>
                                          <p:spTgt spid="23"/>
                                        </p:tgtEl>
                                      </p:cBhvr>
                                    </p:animEffect>
                                  </p:childTnLst>
                                </p:cTn>
                              </p:par>
                              <p:par>
                                <p:cTn id="87" presetID="53" presetClass="entr" presetSubtype="16" decel="100000" fill="hold" grpId="0" nodeType="withEffect">
                                  <p:stCondLst>
                                    <p:cond delay="2840"/>
                                  </p:stCondLst>
                                  <p:childTnLst>
                                    <p:set>
                                      <p:cBhvr>
                                        <p:cTn id="88" dur="1" fill="hold">
                                          <p:stCondLst>
                                            <p:cond delay="0"/>
                                          </p:stCondLst>
                                        </p:cTn>
                                        <p:tgtEl>
                                          <p:spTgt spid="24"/>
                                        </p:tgtEl>
                                        <p:attrNameLst>
                                          <p:attrName>style.visibility</p:attrName>
                                        </p:attrNameLst>
                                      </p:cBhvr>
                                      <p:to>
                                        <p:strVal val="visible"/>
                                      </p:to>
                                    </p:set>
                                    <p:anim calcmode="lin" valueType="num">
                                      <p:cBhvr additive="base">
                                        <p:cTn id="89" dur="450" fill="hold"/>
                                        <p:tgtEl>
                                          <p:spTgt spid="24"/>
                                        </p:tgtEl>
                                        <p:attrNameLst>
                                          <p:attrName>ppt_w</p:attrName>
                                        </p:attrNameLst>
                                      </p:cBhvr>
                                      <p:tavLst>
                                        <p:tav tm="0">
                                          <p:val>
                                            <p:strVal val="0"/>
                                          </p:val>
                                        </p:tav>
                                        <p:tav tm="70000">
                                          <p:val>
                                            <p:strVal val="#ppt_w*1.08"/>
                                          </p:val>
                                        </p:tav>
                                        <p:tav tm="100000">
                                          <p:val>
                                            <p:strVal val="#ppt_w"/>
                                          </p:val>
                                        </p:tav>
                                      </p:tavLst>
                                    </p:anim>
                                    <p:anim calcmode="lin" valueType="num">
                                      <p:cBhvr additive="base">
                                        <p:cTn id="90" dur="450" fill="hold"/>
                                        <p:tgtEl>
                                          <p:spTgt spid="24"/>
                                        </p:tgtEl>
                                        <p:attrNameLst>
                                          <p:attrName>ppt_h</p:attrName>
                                        </p:attrNameLst>
                                      </p:cBhvr>
                                      <p:tavLst>
                                        <p:tav tm="0">
                                          <p:val>
                                            <p:strVal val="0"/>
                                          </p:val>
                                        </p:tav>
                                        <p:tav tm="70000">
                                          <p:val>
                                            <p:strVal val="#ppt_h*1.08"/>
                                          </p:val>
                                        </p:tav>
                                        <p:tav tm="100000">
                                          <p:val>
                                            <p:strVal val="#ppt_h"/>
                                          </p:val>
                                        </p:tav>
                                      </p:tavLst>
                                    </p:anim>
                                    <p:animEffect transition="in" filter="fade">
                                      <p:cBhvr>
                                        <p:cTn id="91" dur="270" fill="hold"/>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22" grpId="0" animBg="1"/>
      <p:bldP spid="23" grpId="0" animBg="1"/>
      <p:bldP spid="24" grpId="0" animBg="1"/>
    </p:bldLst>
  </p:timing>
</p:sld>
</file>

<file path=ppt/slides/slide48.xml><?xml version="1.0" encoding="utf-8"?>
<p:sld xmlns:a="http://schemas.openxmlformats.org/drawingml/2006/main" xmlns:r="http://schemas.openxmlformats.org/officeDocument/2006/relationships" xmlns:p="http://schemas.openxmlformats.org/presentationml/2006/main" show="0">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2FA38A"/>
                </a:solidFill>
                <a:latin typeface="Segoe UI Semibold"/>
              </a:rPr>
              <a:t>VÍDEO  ·  MÓDULO 4</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603504"/>
            <a:ext cx="8778240" cy="548640"/>
          </a:xfrm>
          <a:prstGeom prst="rect">
            <a:avLst/>
          </a:prstGeom>
          <a:noFill/>
        </p:spPr>
        <p:txBody>
          <a:bodyPr wrap="square" lIns="36576" tIns="18288" rIns="36576" bIns="18288" anchor="t">
            <a:spAutoFit/>
          </a:bodyPr>
          <a:lstStyle/>
          <a:p>
            <a:pPr algn="l"/>
            <a:r>
              <a:rPr sz="2100" b="1" i="0">
                <a:solidFill>
                  <a:srgbClr val="F2F2EC"/>
                </a:solidFill>
                <a:latin typeface="Segoe UI Semibold"/>
              </a:rPr>
              <a:t>Casos e Inovações: debate com Design Thinking</a:t>
            </a:r>
          </a:p>
        </p:txBody>
      </p:sp>
      <p:sp>
        <p:nvSpPr>
          <p:cNvPr id="6" name="Rectangle 5"/>
          <p:cNvSpPr/>
          <p:nvPr/>
        </p:nvSpPr>
        <p:spPr>
          <a:xfrm>
            <a:off x="1706727" y="1325880"/>
            <a:ext cx="8778240" cy="4937760"/>
          </a:xfrm>
          <a:prstGeom prst="rect">
            <a:avLst/>
          </a:prstGeom>
          <a:solidFill>
            <a:srgbClr val="242826"/>
          </a:solidFill>
          <a:ln w="25400">
            <a:solidFill>
              <a:srgbClr val="2FA3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5501487" y="2468879"/>
            <a:ext cx="1188720" cy="1188720"/>
          </a:xfrm>
          <a:prstGeom prst="ellipse">
            <a:avLst/>
          </a:prstGeom>
          <a:solidFill>
            <a:srgbClr val="2FA38A"/>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3400" b="1" i="0">
                <a:solidFill>
                  <a:srgbClr val="1A1A1A"/>
                </a:solidFill>
                <a:latin typeface="Segoe UI Semibold"/>
              </a:rPr>
              <a:t>▶</a:t>
            </a:r>
          </a:p>
        </p:txBody>
      </p:sp>
      <p:sp>
        <p:nvSpPr>
          <p:cNvPr id="8" name="TextBox 7"/>
          <p:cNvSpPr txBox="1"/>
          <p:nvPr/>
        </p:nvSpPr>
        <p:spPr>
          <a:xfrm>
            <a:off x="2163927" y="3931920"/>
            <a:ext cx="7863840" cy="457200"/>
          </a:xfrm>
          <a:prstGeom prst="rect">
            <a:avLst/>
          </a:prstGeom>
          <a:noFill/>
        </p:spPr>
        <p:txBody>
          <a:bodyPr wrap="square" lIns="36576" tIns="18288" rIns="36576" bIns="18288" anchor="t">
            <a:spAutoFit/>
          </a:bodyPr>
          <a:lstStyle/>
          <a:p>
            <a:pPr algn="ctr"/>
            <a:r>
              <a:rPr sz="2200" b="1" i="0">
                <a:solidFill>
                  <a:srgbClr val="F2F2EC"/>
                </a:solidFill>
                <a:latin typeface="Segoe UI Semibold"/>
              </a:rPr>
              <a:t>Espaço para o seu vídeo</a:t>
            </a:r>
          </a:p>
        </p:txBody>
      </p:sp>
      <p:sp>
        <p:nvSpPr>
          <p:cNvPr id="9" name="TextBox 8"/>
          <p:cNvSpPr txBox="1"/>
          <p:nvPr/>
        </p:nvSpPr>
        <p:spPr>
          <a:xfrm>
            <a:off x="2163927" y="4480560"/>
            <a:ext cx="7863840" cy="1097280"/>
          </a:xfrm>
          <a:prstGeom prst="rect">
            <a:avLst/>
          </a:prstGeom>
          <a:noFill/>
        </p:spPr>
        <p:txBody>
          <a:bodyPr wrap="square" lIns="36576" tIns="18288" rIns="36576" bIns="18288" anchor="t">
            <a:spAutoFit/>
          </a:bodyPr>
          <a:lstStyle/>
          <a:p>
            <a:pPr algn="ctr">
              <a:spcAft>
                <a:spcPts val="400"/>
              </a:spcAft>
            </a:pPr>
            <a:r>
              <a:rPr sz="1400" b="0" i="0">
                <a:solidFill>
                  <a:srgbClr val="B4B8B0"/>
                </a:solidFill>
                <a:latin typeface="Segoe UI"/>
              </a:rPr>
              <a:t>No PowerPoint: Inserir  &gt;  Vídeo  &gt;  Este Dispositivo…</a:t>
            </a:r>
          </a:p>
          <a:p>
            <a:pPr algn="ctr">
              <a:spcAft>
                <a:spcPts val="400"/>
              </a:spcAft>
            </a:pPr>
            <a:r>
              <a:rPr sz="1400" b="0" i="0">
                <a:solidFill>
                  <a:srgbClr val="B4B8B0"/>
                </a:solidFill>
                <a:latin typeface="Segoe UI"/>
              </a:rPr>
              <a:t>e ajuste o vídeo sobre este quadro (16:9).</a:t>
            </a:r>
          </a:p>
          <a:p>
            <a:pPr algn="ctr"/>
            <a:r>
              <a:rPr sz="1400" b="0" i="0">
                <a:solidFill>
                  <a:srgbClr val="2FA38A"/>
                </a:solidFill>
                <a:latin typeface="Segoe UI"/>
              </a:rPr>
              <a:t>Arquivo sugerido: videos/m4.mp4</a:t>
            </a:r>
          </a:p>
        </p:txBody>
      </p:sp>
      <p:sp>
        <p:nvSpPr>
          <p:cNvPr id="10" name="Rounded Rectangle 9">
            <a:hlinkClick r:id="rId4" action="ppaction://hlinksldjump"/>
          </p:cNvPr>
          <p:cNvSpPr/>
          <p:nvPr/>
        </p:nvSpPr>
        <p:spPr>
          <a:xfrm>
            <a:off x="9448495" y="566928"/>
            <a:ext cx="2194560" cy="502920"/>
          </a:xfrm>
          <a:prstGeom prst="roundRect">
            <a:avLst>
              <a:gd name="adj" fmla="val 50000"/>
            </a:avLst>
          </a:prstGeom>
          <a:solidFill>
            <a:srgbClr val="2E343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400" b="1" i="0">
                <a:solidFill>
                  <a:srgbClr val="F2F2EC"/>
                </a:solidFill>
                <a:latin typeface="Segoe UI Semibold"/>
              </a:rPr>
              <a:t>↩  Voltar</a:t>
            </a:r>
          </a:p>
        </p:txBody>
      </p:sp>
    </p:spTree>
  </p:cSld>
  <p:clrMapOvr>
    <a:masterClrMapping/>
  </p:clrMapOvr>
  <p:transition spd="slow">
    <p:fade thruBlk="1"/>
  </p:transition>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2FA38A"/>
                </a:solidFill>
                <a:latin typeface="Segoe UI Semibold"/>
              </a:rPr>
              <a:t>MÓDULO 4  ·  IDEAR</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914400" y="1188720"/>
            <a:ext cx="1828800" cy="1828800"/>
          </a:xfrm>
          <a:prstGeom prst="rect">
            <a:avLst/>
          </a:prstGeom>
          <a:noFill/>
        </p:spPr>
        <p:txBody>
          <a:bodyPr wrap="square" lIns="36576" tIns="18288" rIns="36576" bIns="18288" anchor="t">
            <a:spAutoFit/>
          </a:bodyPr>
          <a:lstStyle/>
          <a:p>
            <a:pPr algn="l"/>
            <a:r>
              <a:rPr sz="16000" b="1" i="0">
                <a:solidFill>
                  <a:srgbClr val="2FA38A"/>
                </a:solidFill>
                <a:latin typeface="Georgia"/>
              </a:rPr>
              <a:t>“</a:t>
            </a:r>
          </a:p>
        </p:txBody>
      </p:sp>
      <p:sp>
        <p:nvSpPr>
          <p:cNvPr id="6" name="TextBox 5"/>
          <p:cNvSpPr txBox="1"/>
          <p:nvPr/>
        </p:nvSpPr>
        <p:spPr>
          <a:xfrm>
            <a:off x="1463040" y="2377440"/>
            <a:ext cx="9326880" cy="2194560"/>
          </a:xfrm>
          <a:prstGeom prst="rect">
            <a:avLst/>
          </a:prstGeom>
          <a:noFill/>
        </p:spPr>
        <p:txBody>
          <a:bodyPr wrap="square" lIns="36576" tIns="18288" rIns="36576" bIns="18288" anchor="t">
            <a:spAutoFit/>
          </a:bodyPr>
          <a:lstStyle/>
          <a:p>
            <a:pPr algn="l">
              <a:lnSpc>
                <a:spcPct val="105000"/>
              </a:lnSpc>
            </a:pPr>
            <a:r>
              <a:rPr sz="4000" b="1" i="0">
                <a:solidFill>
                  <a:srgbClr val="F2F2EC"/>
                </a:solidFill>
                <a:latin typeface="Segoe UI Semibold"/>
              </a:rPr>
              <a:t>A melhor forma de ter uma boa ideia é ter muitas ideias.</a:t>
            </a:r>
          </a:p>
        </p:txBody>
      </p:sp>
      <p:sp>
        <p:nvSpPr>
          <p:cNvPr id="7" name="TextBox 6"/>
          <p:cNvSpPr txBox="1"/>
          <p:nvPr/>
        </p:nvSpPr>
        <p:spPr>
          <a:xfrm>
            <a:off x="1463040" y="4663440"/>
            <a:ext cx="9144000" cy="457200"/>
          </a:xfrm>
          <a:prstGeom prst="rect">
            <a:avLst/>
          </a:prstGeom>
          <a:noFill/>
        </p:spPr>
        <p:txBody>
          <a:bodyPr wrap="square" lIns="36576" tIns="18288" rIns="36576" bIns="18288" anchor="t">
            <a:spAutoFit/>
          </a:bodyPr>
          <a:lstStyle/>
          <a:p>
            <a:pPr algn="l"/>
            <a:r>
              <a:rPr sz="1600" b="0" i="0">
                <a:solidFill>
                  <a:srgbClr val="B4B8B0"/>
                </a:solidFill>
                <a:latin typeface="Segoe UI"/>
              </a:rPr>
              <a:t>— Linus Pauling, Nobel de Química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decel="10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600" fill="hold"/>
                                        <p:tgtEl>
                                          <p:spTgt spid="5"/>
                                        </p:tgtEl>
                                        <p:attrNameLst>
                                          <p:attrName>ppt_w</p:attrName>
                                        </p:attrNameLst>
                                      </p:cBhvr>
                                      <p:tavLst>
                                        <p:tav tm="0">
                                          <p:val>
                                            <p:strVal val="0"/>
                                          </p:val>
                                        </p:tav>
                                        <p:tav tm="70000">
                                          <p:val>
                                            <p:strVal val="#ppt_w*1.08"/>
                                          </p:val>
                                        </p:tav>
                                        <p:tav tm="100000">
                                          <p:val>
                                            <p:strVal val="#ppt_w"/>
                                          </p:val>
                                        </p:tav>
                                      </p:tavLst>
                                    </p:anim>
                                    <p:anim calcmode="lin" valueType="num">
                                      <p:cBhvr additive="base">
                                        <p:cTn id="8" dur="600" fill="hold"/>
                                        <p:tgtEl>
                                          <p:spTgt spid="5"/>
                                        </p:tgtEl>
                                        <p:attrNameLst>
                                          <p:attrName>ppt_h</p:attrName>
                                        </p:attrNameLst>
                                      </p:cBhvr>
                                      <p:tavLst>
                                        <p:tav tm="0">
                                          <p:val>
                                            <p:strVal val="0"/>
                                          </p:val>
                                        </p:tav>
                                        <p:tav tm="70000">
                                          <p:val>
                                            <p:strVal val="#ppt_h*1.08"/>
                                          </p:val>
                                        </p:tav>
                                        <p:tav tm="100000">
                                          <p:val>
                                            <p:strVal val="#ppt_h"/>
                                          </p:val>
                                        </p:tav>
                                      </p:tavLst>
                                    </p:anim>
                                    <p:animEffect transition="in" filter="fade">
                                      <p:cBhvr>
                                        <p:cTn id="9" dur="360" fill="hold"/>
                                        <p:tgtEl>
                                          <p:spTgt spid="5"/>
                                        </p:tgtEl>
                                      </p:cBhvr>
                                    </p:animEffect>
                                  </p:childTnLst>
                                </p:cTn>
                              </p:par>
                              <p:par>
                                <p:cTn id="10" presetID="10" presetClass="entr" presetSubtype="0" fill="hold" grpId="0" nodeType="withEffect">
                                  <p:stCondLst>
                                    <p:cond delay="350"/>
                                  </p:stCondLst>
                                  <p:iterate type="wd">
                                    <p:tmPct val="35000"/>
                                  </p:iterate>
                                  <p:childTnLst>
                                    <p:set>
                                      <p:cBhvr>
                                        <p:cTn id="11" dur="1" fill="hold">
                                          <p:stCondLst>
                                            <p:cond delay="0"/>
                                          </p:stCondLst>
                                        </p:cTn>
                                        <p:tgtEl>
                                          <p:spTgt spid="6"/>
                                        </p:tgtEl>
                                        <p:attrNameLst>
                                          <p:attrName>style.visibility</p:attrName>
                                        </p:attrNameLst>
                                      </p:cBhvr>
                                      <p:to>
                                        <p:strVal val="visible"/>
                                      </p:to>
                                    </p:set>
                                    <p:animEffect transition="in" filter="fade">
                                      <p:cBhvr>
                                        <p:cTn id="12" dur="420" fill="hold"/>
                                        <p:tgtEl>
                                          <p:spTgt spid="6"/>
                                        </p:tgtEl>
                                      </p:cBhvr>
                                    </p:animEffect>
                                  </p:childTnLst>
                                </p:cTn>
                              </p:par>
                              <p:par>
                                <p:cTn id="13" presetID="42" presetClass="entr" presetSubtype="0" decel="100000" fill="hold" grpId="0" nodeType="withEffect">
                                  <p:stCondLst>
                                    <p:cond delay="2687"/>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fill="hold"/>
                                        <p:tgtEl>
                                          <p:spTgt spid="7"/>
                                        </p:tgtEl>
                                      </p:cBhvr>
                                    </p:animEffect>
                                    <p:anim calcmode="lin" valueType="num">
                                      <p:cBhvr additive="base">
                                        <p:cTn id="16" dur="650" fill="hold"/>
                                        <p:tgtEl>
                                          <p:spTgt spid="7"/>
                                        </p:tgtEl>
                                        <p:attrNameLst>
                                          <p:attrName>ppt_x</p:attrName>
                                        </p:attrNameLst>
                                      </p:cBhvr>
                                      <p:tavLst>
                                        <p:tav tm="0">
                                          <p:val>
                                            <p:strVal val="#ppt_x"/>
                                          </p:val>
                                        </p:tav>
                                        <p:tav tm="100000">
                                          <p:val>
                                            <p:strVal val="#ppt_x"/>
                                          </p:val>
                                        </p:tav>
                                      </p:tavLst>
                                    </p:anim>
                                    <p:anim calcmode="lin" valueType="num">
                                      <p:cBhvr additive="base">
                                        <p:cTn id="17" dur="650" fill="hold"/>
                                        <p:tgtEl>
                                          <p:spTgt spid="7"/>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2FA38A"/>
                </a:solidFill>
                <a:latin typeface="Segoe UI Semibold"/>
              </a:rPr>
              <a:t>MÓDULO 4  ·  IDEAR</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O que é idear</a:t>
            </a:r>
          </a:p>
        </p:txBody>
      </p:sp>
      <p:sp>
        <p:nvSpPr>
          <p:cNvPr id="6" name="TextBox 5"/>
          <p:cNvSpPr txBox="1"/>
          <p:nvPr/>
        </p:nvSpPr>
        <p:spPr>
          <a:xfrm>
            <a:off x="548640" y="1645920"/>
            <a:ext cx="6675120" cy="4206240"/>
          </a:xfrm>
          <a:prstGeom prst="rect">
            <a:avLst/>
          </a:prstGeom>
          <a:noFill/>
        </p:spPr>
        <p:txBody>
          <a:bodyPr wrap="square">
            <a:spAutoFit/>
          </a:bodyPr>
          <a:lstStyle/>
          <a:p>
            <a:pPr marL="292608" indent="-292608">
              <a:spcAft>
                <a:spcPts val="1600"/>
              </a:spcAft>
              <a:buClr>
                <a:srgbClr val="2FA38A"/>
              </a:buClr>
              <a:buFont typeface="Arial"/>
              <a:buChar char="●"/>
            </a:pPr>
            <a:r>
              <a:rPr sz="1800">
                <a:solidFill>
                  <a:srgbClr val="F2F2EC"/>
                </a:solidFill>
                <a:latin typeface="Segoe UI"/>
              </a:rPr>
              <a:t>Gerar o maior número possível de ideias para a pergunta 'Como poderíamos…?'</a:t>
            </a:r>
          </a:p>
          <a:p>
            <a:pPr marL="292608" indent="-292608">
              <a:spcAft>
                <a:spcPts val="1600"/>
              </a:spcAft>
              <a:buClr>
                <a:srgbClr val="2FA38A"/>
              </a:buClr>
              <a:buFont typeface="Arial"/>
              <a:buChar char="●"/>
            </a:pPr>
            <a:r>
              <a:rPr sz="1800">
                <a:solidFill>
                  <a:srgbClr val="F2F2EC"/>
                </a:solidFill>
                <a:latin typeface="Segoe UI"/>
              </a:rPr>
              <a:t>Zona livre de julgamento: avaliar vem depois</a:t>
            </a:r>
          </a:p>
          <a:p>
            <a:pPr marL="292608" indent="-292608">
              <a:spcAft>
                <a:spcPts val="1600"/>
              </a:spcAft>
              <a:buClr>
                <a:srgbClr val="2FA38A"/>
              </a:buClr>
              <a:buFont typeface="Arial"/>
              <a:buChar char="●"/>
            </a:pPr>
            <a:r>
              <a:rPr sz="1800">
                <a:solidFill>
                  <a:srgbClr val="F2F2EC"/>
                </a:solidFill>
                <a:latin typeface="Segoe UI"/>
              </a:rPr>
              <a:t>Primeiro 'castelos no céu', depois as pontes até eles</a:t>
            </a:r>
          </a:p>
          <a:p>
            <a:pPr marL="292608" indent="-292608">
              <a:buClr>
                <a:srgbClr val="2FA38A"/>
              </a:buClr>
              <a:buFont typeface="Arial"/>
              <a:buChar char="●"/>
            </a:pPr>
            <a:r>
              <a:rPr sz="1800">
                <a:solidFill>
                  <a:srgbClr val="F2F2EC"/>
                </a:solidFill>
                <a:latin typeface="Segoe UI"/>
              </a:rPr>
              <a:t>Times diversos geram ideias mais diversas</a:t>
            </a:r>
          </a:p>
        </p:txBody>
      </p:sp>
      <p:sp>
        <p:nvSpPr>
          <p:cNvPr id="7" name="Rounded Rectangle 6"/>
          <p:cNvSpPr/>
          <p:nvPr/>
        </p:nvSpPr>
        <p:spPr>
          <a:xfrm>
            <a:off x="7680960" y="1645920"/>
            <a:ext cx="3959352" cy="402336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955279" y="1691640"/>
            <a:ext cx="1371600" cy="1097280"/>
          </a:xfrm>
          <a:prstGeom prst="rect">
            <a:avLst/>
          </a:prstGeom>
          <a:noFill/>
        </p:spPr>
        <p:txBody>
          <a:bodyPr wrap="square" lIns="36576" tIns="18288" rIns="36576" bIns="18288" anchor="t">
            <a:spAutoFit/>
          </a:bodyPr>
          <a:lstStyle/>
          <a:p>
            <a:pPr algn="l"/>
            <a:r>
              <a:rPr sz="8000" b="1" i="0">
                <a:solidFill>
                  <a:srgbClr val="2FA38A"/>
                </a:solidFill>
                <a:latin typeface="Georgia"/>
              </a:rPr>
              <a:t>“</a:t>
            </a:r>
          </a:p>
        </p:txBody>
      </p:sp>
      <p:sp>
        <p:nvSpPr>
          <p:cNvPr id="9" name="TextBox 8"/>
          <p:cNvSpPr txBox="1"/>
          <p:nvPr/>
        </p:nvSpPr>
        <p:spPr>
          <a:xfrm>
            <a:off x="8001000" y="2743200"/>
            <a:ext cx="3383280" cy="2743200"/>
          </a:xfrm>
          <a:prstGeom prst="rect">
            <a:avLst/>
          </a:prstGeom>
          <a:noFill/>
        </p:spPr>
        <p:txBody>
          <a:bodyPr wrap="square" lIns="36576" tIns="18288" rIns="36576" bIns="18288" anchor="t">
            <a:spAutoFit/>
          </a:bodyPr>
          <a:lstStyle/>
          <a:p>
            <a:pPr algn="l">
              <a:lnSpc>
                <a:spcPct val="110000"/>
              </a:lnSpc>
            </a:pPr>
            <a:r>
              <a:rPr sz="2100" b="1" i="0">
                <a:solidFill>
                  <a:srgbClr val="F2F2EC"/>
                </a:solidFill>
                <a:latin typeface="Segoe UI Semibold"/>
              </a:rPr>
              <a:t>Quantidade gera qualidade.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50" fill="hold"/>
                                        <p:tgtEl>
                                          <p:spTgt spid="6"/>
                                        </p:tgtEl>
                                      </p:cBhvr>
                                    </p:animEffect>
                                    <p:anim calcmode="lin" valueType="num">
                                      <p:cBhvr additive="base">
                                        <p:cTn id="11" dur="650" fill="hold"/>
                                        <p:tgtEl>
                                          <p:spTgt spid="6"/>
                                        </p:tgtEl>
                                        <p:attrNameLst>
                                          <p:attrName>ppt_x</p:attrName>
                                        </p:attrNameLst>
                                      </p:cBhvr>
                                      <p:tavLst>
                                        <p:tav tm="0">
                                          <p:val>
                                            <p:strVal val="#ppt_x"/>
                                          </p:val>
                                        </p:tav>
                                        <p:tav tm="100000">
                                          <p:val>
                                            <p:strVal val="#ppt_x"/>
                                          </p:val>
                                        </p:tav>
                                      </p:tavLst>
                                    </p:anim>
                                    <p:anim calcmode="lin" valueType="num">
                                      <p:cBhvr additive="base">
                                        <p:cTn id="12" dur="650" fill="hold"/>
                                        <p:tgtEl>
                                          <p:spTgt spid="6"/>
                                        </p:tgtEl>
                                        <p:attrNameLst>
                                          <p:attrName>ppt_y</p:attrName>
                                        </p:attrNameLst>
                                      </p:cBhvr>
                                      <p:tavLst>
                                        <p:tav tm="0">
                                          <p:val>
                                            <p:strVal val="#ppt_y+.06"/>
                                          </p:val>
                                        </p:tav>
                                        <p:tav tm="100000">
                                          <p:val>
                                            <p:strVal val="#ppt_y"/>
                                          </p:val>
                                        </p:tav>
                                      </p:tavLst>
                                    </p:anim>
                                  </p:childTnLst>
                                </p:cTn>
                              </p:par>
                              <p:par>
                                <p:cTn id="13" presetID="42" presetClass="entr" presetSubtype="0" decel="100000" fill="hold" grpId="0" nodeType="withEffect">
                                  <p:stCondLst>
                                    <p:cond delay="75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fill="hold"/>
                                        <p:tgtEl>
                                          <p:spTgt spid="7"/>
                                        </p:tgtEl>
                                      </p:cBhvr>
                                    </p:animEffect>
                                    <p:anim calcmode="lin" valueType="num">
                                      <p:cBhvr additive="base">
                                        <p:cTn id="16" dur="650" fill="hold"/>
                                        <p:tgtEl>
                                          <p:spTgt spid="7"/>
                                        </p:tgtEl>
                                        <p:attrNameLst>
                                          <p:attrName>ppt_x</p:attrName>
                                        </p:attrNameLst>
                                      </p:cBhvr>
                                      <p:tavLst>
                                        <p:tav tm="0">
                                          <p:val>
                                            <p:strVal val="#ppt_x"/>
                                          </p:val>
                                        </p:tav>
                                        <p:tav tm="100000">
                                          <p:val>
                                            <p:strVal val="#ppt_x"/>
                                          </p:val>
                                        </p:tav>
                                      </p:tavLst>
                                    </p:anim>
                                    <p:anim calcmode="lin" valueType="num">
                                      <p:cBhvr additive="base">
                                        <p:cTn id="17" dur="650" fill="hold"/>
                                        <p:tgtEl>
                                          <p:spTgt spid="7"/>
                                        </p:tgtEl>
                                        <p:attrNameLst>
                                          <p:attrName>ppt_y</p:attrName>
                                        </p:attrNameLst>
                                      </p:cBhvr>
                                      <p:tavLst>
                                        <p:tav tm="0">
                                          <p:val>
                                            <p:strVal val="#ppt_y+.06"/>
                                          </p:val>
                                        </p:tav>
                                        <p:tav tm="100000">
                                          <p:val>
                                            <p:strVal val="#ppt_y"/>
                                          </p:val>
                                        </p:tav>
                                      </p:tavLst>
                                    </p:anim>
                                  </p:childTnLst>
                                </p:cTn>
                              </p:par>
                              <p:par>
                                <p:cTn id="18" presetID="53" presetClass="entr" presetSubtype="16" decel="100000" fill="hold" grpId="0" nodeType="withEffect">
                                  <p:stCondLst>
                                    <p:cond delay="105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450" fill="hold"/>
                                        <p:tgtEl>
                                          <p:spTgt spid="8"/>
                                        </p:tgtEl>
                                        <p:attrNameLst>
                                          <p:attrName>ppt_w</p:attrName>
                                        </p:attrNameLst>
                                      </p:cBhvr>
                                      <p:tavLst>
                                        <p:tav tm="0">
                                          <p:val>
                                            <p:strVal val="0"/>
                                          </p:val>
                                        </p:tav>
                                        <p:tav tm="70000">
                                          <p:val>
                                            <p:strVal val="#ppt_w*1.08"/>
                                          </p:val>
                                        </p:tav>
                                        <p:tav tm="100000">
                                          <p:val>
                                            <p:strVal val="#ppt_w"/>
                                          </p:val>
                                        </p:tav>
                                      </p:tavLst>
                                    </p:anim>
                                    <p:anim calcmode="lin" valueType="num">
                                      <p:cBhvr additive="base">
                                        <p:cTn id="21" dur="450" fill="hold"/>
                                        <p:tgtEl>
                                          <p:spTgt spid="8"/>
                                        </p:tgtEl>
                                        <p:attrNameLst>
                                          <p:attrName>ppt_h</p:attrName>
                                        </p:attrNameLst>
                                      </p:cBhvr>
                                      <p:tavLst>
                                        <p:tav tm="0">
                                          <p:val>
                                            <p:strVal val="0"/>
                                          </p:val>
                                        </p:tav>
                                        <p:tav tm="70000">
                                          <p:val>
                                            <p:strVal val="#ppt_h*1.08"/>
                                          </p:val>
                                        </p:tav>
                                        <p:tav tm="100000">
                                          <p:val>
                                            <p:strVal val="#ppt_h"/>
                                          </p:val>
                                        </p:tav>
                                      </p:tavLst>
                                    </p:anim>
                                    <p:animEffect transition="in" filter="fade">
                                      <p:cBhvr>
                                        <p:cTn id="22" dur="270" fill="hold"/>
                                        <p:tgtEl>
                                          <p:spTgt spid="8"/>
                                        </p:tgtEl>
                                      </p:cBhvr>
                                    </p:animEffect>
                                  </p:childTnLst>
                                </p:cTn>
                              </p:par>
                              <p:par>
                                <p:cTn id="23" presetID="10" presetClass="entr" presetSubtype="0" fill="hold" grpId="0" nodeType="withEffect">
                                  <p:stCondLst>
                                    <p:cond delay="1250"/>
                                  </p:stCondLst>
                                  <p:iterate type="wd">
                                    <p:tmPct val="35000"/>
                                  </p:iterate>
                                  <p:childTnLst>
                                    <p:set>
                                      <p:cBhvr>
                                        <p:cTn id="24" dur="1" fill="hold">
                                          <p:stCondLst>
                                            <p:cond delay="0"/>
                                          </p:stCondLst>
                                        </p:cTn>
                                        <p:tgtEl>
                                          <p:spTgt spid="9"/>
                                        </p:tgtEl>
                                        <p:attrNameLst>
                                          <p:attrName>style.visibility</p:attrName>
                                        </p:attrNameLst>
                                      </p:cBhvr>
                                      <p:to>
                                        <p:strVal val="visible"/>
                                      </p:to>
                                    </p:set>
                                    <p:animEffect transition="in" filter="fade">
                                      <p:cBhvr>
                                        <p:cTn id="25" dur="420" fill="hold"/>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2FA38A"/>
                </a:solidFill>
                <a:latin typeface="Segoe UI Semibold"/>
              </a:rPr>
              <a:t>MÓDULO 4  ·  IDEAR</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Divergir e convergir</a:t>
            </a:r>
          </a:p>
        </p:txBody>
      </p:sp>
      <p:sp>
        <p:nvSpPr>
          <p:cNvPr id="6" name="Diamond 5"/>
          <p:cNvSpPr/>
          <p:nvPr/>
        </p:nvSpPr>
        <p:spPr>
          <a:xfrm>
            <a:off x="822960" y="1737360"/>
            <a:ext cx="5120640" cy="2834640"/>
          </a:xfrm>
          <a:prstGeom prst="diamond">
            <a:avLst/>
          </a:prstGeom>
          <a:solidFill>
            <a:srgbClr val="9CD848">
              <a:alpha val="30000"/>
            </a:srgbClr>
          </a:solidFill>
          <a:ln w="25400">
            <a:solidFill>
              <a:srgbClr val="9CD84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05840" y="4663440"/>
            <a:ext cx="2377440" cy="365760"/>
          </a:xfrm>
          <a:prstGeom prst="rect">
            <a:avLst/>
          </a:prstGeom>
          <a:noFill/>
        </p:spPr>
        <p:txBody>
          <a:bodyPr wrap="square" lIns="36576" tIns="18288" rIns="36576" bIns="18288" anchor="t">
            <a:spAutoFit/>
          </a:bodyPr>
          <a:lstStyle/>
          <a:p>
            <a:pPr algn="ctr"/>
            <a:r>
              <a:rPr sz="1400" b="1" i="0">
                <a:solidFill>
                  <a:srgbClr val="9CD848"/>
                </a:solidFill>
                <a:latin typeface="Segoe UI Semibold"/>
              </a:rPr>
              <a:t>divergir</a:t>
            </a:r>
          </a:p>
        </p:txBody>
      </p:sp>
      <p:sp>
        <p:nvSpPr>
          <p:cNvPr id="8" name="TextBox 7"/>
          <p:cNvSpPr txBox="1"/>
          <p:nvPr/>
        </p:nvSpPr>
        <p:spPr>
          <a:xfrm>
            <a:off x="3383279" y="4663440"/>
            <a:ext cx="2377440" cy="365760"/>
          </a:xfrm>
          <a:prstGeom prst="rect">
            <a:avLst/>
          </a:prstGeom>
          <a:noFill/>
        </p:spPr>
        <p:txBody>
          <a:bodyPr wrap="square" lIns="36576" tIns="18288" rIns="36576" bIns="18288" anchor="t">
            <a:spAutoFit/>
          </a:bodyPr>
          <a:lstStyle/>
          <a:p>
            <a:pPr algn="ctr"/>
            <a:r>
              <a:rPr sz="1400" b="1" i="0">
                <a:solidFill>
                  <a:srgbClr val="9CD848"/>
                </a:solidFill>
                <a:latin typeface="Segoe UI Semibold"/>
              </a:rPr>
              <a:t>convergir</a:t>
            </a:r>
          </a:p>
        </p:txBody>
      </p:sp>
      <p:sp>
        <p:nvSpPr>
          <p:cNvPr id="9" name="TextBox 8"/>
          <p:cNvSpPr txBox="1"/>
          <p:nvPr/>
        </p:nvSpPr>
        <p:spPr>
          <a:xfrm>
            <a:off x="822960" y="1737360"/>
            <a:ext cx="5120640" cy="2834640"/>
          </a:xfrm>
          <a:prstGeom prst="rect">
            <a:avLst/>
          </a:prstGeom>
          <a:noFill/>
        </p:spPr>
        <p:txBody>
          <a:bodyPr wrap="square" lIns="36576" tIns="18288" rIns="36576" bIns="18288" anchor="ctr">
            <a:spAutoFit/>
          </a:bodyPr>
          <a:lstStyle/>
          <a:p>
            <a:pPr algn="ctr"/>
            <a:r>
              <a:rPr sz="2400" b="1" i="0">
                <a:solidFill>
                  <a:srgbClr val="F2F2EC"/>
                </a:solidFill>
                <a:latin typeface="Segoe UI Semibold"/>
              </a:rPr>
              <a:t>Problema</a:t>
            </a:r>
          </a:p>
          <a:p>
            <a:pPr algn="ctr"/>
            <a:r>
              <a:rPr sz="1300" b="0" i="0">
                <a:solidFill>
                  <a:srgbClr val="B4B8B0"/>
                </a:solidFill>
                <a:latin typeface="Segoe UI"/>
              </a:rPr>
              <a:t>Empatizar  →  Definir</a:t>
            </a:r>
          </a:p>
        </p:txBody>
      </p:sp>
      <p:sp>
        <p:nvSpPr>
          <p:cNvPr id="10" name="Diamond 9"/>
          <p:cNvSpPr/>
          <p:nvPr/>
        </p:nvSpPr>
        <p:spPr>
          <a:xfrm>
            <a:off x="6217920" y="1737360"/>
            <a:ext cx="5120640" cy="2834640"/>
          </a:xfrm>
          <a:prstGeom prst="diamond">
            <a:avLst/>
          </a:prstGeom>
          <a:solidFill>
            <a:srgbClr val="2FA38A">
              <a:alpha val="30000"/>
            </a:srgbClr>
          </a:solidFill>
          <a:ln w="25400">
            <a:solidFill>
              <a:srgbClr val="2FA3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400800" y="4663440"/>
            <a:ext cx="2377440" cy="365760"/>
          </a:xfrm>
          <a:prstGeom prst="rect">
            <a:avLst/>
          </a:prstGeom>
          <a:noFill/>
        </p:spPr>
        <p:txBody>
          <a:bodyPr wrap="square" lIns="36576" tIns="18288" rIns="36576" bIns="18288" anchor="t">
            <a:spAutoFit/>
          </a:bodyPr>
          <a:lstStyle/>
          <a:p>
            <a:pPr algn="ctr"/>
            <a:r>
              <a:rPr sz="1400" b="1" i="0">
                <a:solidFill>
                  <a:srgbClr val="2FA38A"/>
                </a:solidFill>
                <a:latin typeface="Segoe UI Semibold"/>
              </a:rPr>
              <a:t>divergir</a:t>
            </a:r>
          </a:p>
        </p:txBody>
      </p:sp>
      <p:sp>
        <p:nvSpPr>
          <p:cNvPr id="12" name="TextBox 11"/>
          <p:cNvSpPr txBox="1"/>
          <p:nvPr/>
        </p:nvSpPr>
        <p:spPr>
          <a:xfrm>
            <a:off x="8778240" y="4663440"/>
            <a:ext cx="2377440" cy="365760"/>
          </a:xfrm>
          <a:prstGeom prst="rect">
            <a:avLst/>
          </a:prstGeom>
          <a:noFill/>
        </p:spPr>
        <p:txBody>
          <a:bodyPr wrap="square" lIns="36576" tIns="18288" rIns="36576" bIns="18288" anchor="t">
            <a:spAutoFit/>
          </a:bodyPr>
          <a:lstStyle/>
          <a:p>
            <a:pPr algn="ctr"/>
            <a:r>
              <a:rPr sz="1400" b="1" i="0">
                <a:solidFill>
                  <a:srgbClr val="2FA38A"/>
                </a:solidFill>
                <a:latin typeface="Segoe UI Semibold"/>
              </a:rPr>
              <a:t>convergir</a:t>
            </a:r>
          </a:p>
        </p:txBody>
      </p:sp>
      <p:sp>
        <p:nvSpPr>
          <p:cNvPr id="13" name="TextBox 12"/>
          <p:cNvSpPr txBox="1"/>
          <p:nvPr/>
        </p:nvSpPr>
        <p:spPr>
          <a:xfrm>
            <a:off x="6217920" y="1737360"/>
            <a:ext cx="5120640" cy="2834640"/>
          </a:xfrm>
          <a:prstGeom prst="rect">
            <a:avLst/>
          </a:prstGeom>
          <a:noFill/>
        </p:spPr>
        <p:txBody>
          <a:bodyPr wrap="square" lIns="36576" tIns="18288" rIns="36576" bIns="18288" anchor="ctr">
            <a:spAutoFit/>
          </a:bodyPr>
          <a:lstStyle/>
          <a:p>
            <a:pPr algn="ctr"/>
            <a:r>
              <a:rPr sz="2400" b="1" i="0">
                <a:solidFill>
                  <a:srgbClr val="F2F2EC"/>
                </a:solidFill>
                <a:latin typeface="Segoe UI Semibold"/>
              </a:rPr>
              <a:t>Solução</a:t>
            </a:r>
          </a:p>
          <a:p>
            <a:pPr algn="ctr"/>
            <a:r>
              <a:rPr sz="1300" b="0" i="0">
                <a:solidFill>
                  <a:srgbClr val="B4B8B0"/>
                </a:solidFill>
                <a:latin typeface="Segoe UI"/>
              </a:rPr>
              <a:t>Idear  →  Prototipar e Testar</a:t>
            </a:r>
          </a:p>
        </p:txBody>
      </p:sp>
      <p:sp>
        <p:nvSpPr>
          <p:cNvPr id="14" name="TextBox 13"/>
          <p:cNvSpPr txBox="1"/>
          <p:nvPr/>
        </p:nvSpPr>
        <p:spPr>
          <a:xfrm>
            <a:off x="548640" y="5257800"/>
            <a:ext cx="11064240" cy="731520"/>
          </a:xfrm>
          <a:prstGeom prst="rect">
            <a:avLst/>
          </a:prstGeom>
          <a:noFill/>
        </p:spPr>
        <p:txBody>
          <a:bodyPr wrap="square" lIns="36576" tIns="18288" rIns="36576" bIns="18288" anchor="t">
            <a:spAutoFit/>
          </a:bodyPr>
          <a:lstStyle/>
          <a:p>
            <a:pPr algn="ctr"/>
            <a:r>
              <a:rPr sz="1700" b="0" i="0">
                <a:solidFill>
                  <a:srgbClr val="B4B8B0"/>
                </a:solidFill>
                <a:latin typeface="Segoe UI"/>
              </a:rPr>
              <a:t>Primeiro abrimos (muitas ideias, sem filtro). Depois fechamos (escolhemos as melhores). Nunca os dois ao mesmo tempo.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22" presetClass="entr" presetSubtype="8" fill="hold" grpId="0" nodeType="withEffect">
                                  <p:stCondLst>
                                    <p:cond delay="25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1000" fill="hold"/>
                                        <p:tgtEl>
                                          <p:spTgt spid="6"/>
                                        </p:tgtEl>
                                      </p:cBhvr>
                                    </p:animEffect>
                                  </p:childTnLst>
                                </p:cTn>
                              </p:par>
                              <p:par>
                                <p:cTn id="11" presetID="10" presetClass="entr" presetSubtype="0" fill="hold" grpId="0" nodeType="withEffect">
                                  <p:stCondLst>
                                    <p:cond delay="35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fill="hold"/>
                                        <p:tgtEl>
                                          <p:spTgt spid="7"/>
                                        </p:tgtEl>
                                      </p:cBhvr>
                                    </p:animEffect>
                                  </p:childTnLst>
                                </p:cTn>
                              </p:par>
                              <p:par>
                                <p:cTn id="14" presetID="10" presetClass="entr" presetSubtype="0" fill="hold" grpId="0" nodeType="withEffect">
                                  <p:stCondLst>
                                    <p:cond delay="85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fill="hold"/>
                                        <p:tgtEl>
                                          <p:spTgt spid="8"/>
                                        </p:tgtEl>
                                      </p:cBhvr>
                                    </p:animEffect>
                                  </p:childTnLst>
                                </p:cTn>
                              </p:par>
                              <p:par>
                                <p:cTn id="17" presetID="53" presetClass="entr" presetSubtype="16" decel="100000" fill="hold" grpId="0" nodeType="withEffect">
                                  <p:stCondLst>
                                    <p:cond delay="85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450" fill="hold"/>
                                        <p:tgtEl>
                                          <p:spTgt spid="9"/>
                                        </p:tgtEl>
                                        <p:attrNameLst>
                                          <p:attrName>ppt_w</p:attrName>
                                        </p:attrNameLst>
                                      </p:cBhvr>
                                      <p:tavLst>
                                        <p:tav tm="0">
                                          <p:val>
                                            <p:strVal val="0"/>
                                          </p:val>
                                        </p:tav>
                                        <p:tav tm="70000">
                                          <p:val>
                                            <p:strVal val="#ppt_w*1.08"/>
                                          </p:val>
                                        </p:tav>
                                        <p:tav tm="100000">
                                          <p:val>
                                            <p:strVal val="#ppt_w"/>
                                          </p:val>
                                        </p:tav>
                                      </p:tavLst>
                                    </p:anim>
                                    <p:anim calcmode="lin" valueType="num">
                                      <p:cBhvr additive="base">
                                        <p:cTn id="20" dur="450" fill="hold"/>
                                        <p:tgtEl>
                                          <p:spTgt spid="9"/>
                                        </p:tgtEl>
                                        <p:attrNameLst>
                                          <p:attrName>ppt_h</p:attrName>
                                        </p:attrNameLst>
                                      </p:cBhvr>
                                      <p:tavLst>
                                        <p:tav tm="0">
                                          <p:val>
                                            <p:strVal val="0"/>
                                          </p:val>
                                        </p:tav>
                                        <p:tav tm="70000">
                                          <p:val>
                                            <p:strVal val="#ppt_h*1.08"/>
                                          </p:val>
                                        </p:tav>
                                        <p:tav tm="100000">
                                          <p:val>
                                            <p:strVal val="#ppt_h"/>
                                          </p:val>
                                        </p:tav>
                                      </p:tavLst>
                                    </p:anim>
                                    <p:animEffect transition="in" filter="fade">
                                      <p:cBhvr>
                                        <p:cTn id="21" dur="270" fill="hold"/>
                                        <p:tgtEl>
                                          <p:spTgt spid="9"/>
                                        </p:tgtEl>
                                      </p:cBhvr>
                                    </p:animEffect>
                                  </p:childTnLst>
                                </p:cTn>
                              </p:par>
                              <p:par>
                                <p:cTn id="22" presetID="22" presetClass="entr" presetSubtype="8" fill="hold" grpId="0" nodeType="withEffect">
                                  <p:stCondLst>
                                    <p:cond delay="1450"/>
                                  </p:stCondLst>
                                  <p:childTnLst>
                                    <p:set>
                                      <p:cBhvr>
                                        <p:cTn id="23" dur="1" fill="hold">
                                          <p:stCondLst>
                                            <p:cond delay="0"/>
                                          </p:stCondLst>
                                        </p:cTn>
                                        <p:tgtEl>
                                          <p:spTgt spid="10"/>
                                        </p:tgtEl>
                                        <p:attrNameLst>
                                          <p:attrName>style.visibility</p:attrName>
                                        </p:attrNameLst>
                                      </p:cBhvr>
                                      <p:to>
                                        <p:strVal val="visible"/>
                                      </p:to>
                                    </p:set>
                                    <p:animEffect transition="in" filter="wipe(left)">
                                      <p:cBhvr>
                                        <p:cTn id="24" dur="1000" fill="hold"/>
                                        <p:tgtEl>
                                          <p:spTgt spid="10"/>
                                        </p:tgtEl>
                                      </p:cBhvr>
                                    </p:animEffect>
                                  </p:childTnLst>
                                </p:cTn>
                              </p:par>
                              <p:par>
                                <p:cTn id="25" presetID="10" presetClass="entr" presetSubtype="0" fill="hold" grpId="0" nodeType="withEffect">
                                  <p:stCondLst>
                                    <p:cond delay="155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fill="hold"/>
                                        <p:tgtEl>
                                          <p:spTgt spid="11"/>
                                        </p:tgtEl>
                                      </p:cBhvr>
                                    </p:animEffect>
                                  </p:childTnLst>
                                </p:cTn>
                              </p:par>
                              <p:par>
                                <p:cTn id="28" presetID="10" presetClass="entr" presetSubtype="0" fill="hold" grpId="0" nodeType="withEffect">
                                  <p:stCondLst>
                                    <p:cond delay="205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fill="hold"/>
                                        <p:tgtEl>
                                          <p:spTgt spid="12"/>
                                        </p:tgtEl>
                                      </p:cBhvr>
                                    </p:animEffect>
                                  </p:childTnLst>
                                </p:cTn>
                              </p:par>
                              <p:par>
                                <p:cTn id="31" presetID="53" presetClass="entr" presetSubtype="16" decel="100000" fill="hold" grpId="0" nodeType="withEffect">
                                  <p:stCondLst>
                                    <p:cond delay="2050"/>
                                  </p:stCondLst>
                                  <p:childTnLst>
                                    <p:set>
                                      <p:cBhvr>
                                        <p:cTn id="32" dur="1" fill="hold">
                                          <p:stCondLst>
                                            <p:cond delay="0"/>
                                          </p:stCondLst>
                                        </p:cTn>
                                        <p:tgtEl>
                                          <p:spTgt spid="13"/>
                                        </p:tgtEl>
                                        <p:attrNameLst>
                                          <p:attrName>style.visibility</p:attrName>
                                        </p:attrNameLst>
                                      </p:cBhvr>
                                      <p:to>
                                        <p:strVal val="visible"/>
                                      </p:to>
                                    </p:set>
                                    <p:anim calcmode="lin" valueType="num">
                                      <p:cBhvr additive="base">
                                        <p:cTn id="33" dur="450" fill="hold"/>
                                        <p:tgtEl>
                                          <p:spTgt spid="13"/>
                                        </p:tgtEl>
                                        <p:attrNameLst>
                                          <p:attrName>ppt_w</p:attrName>
                                        </p:attrNameLst>
                                      </p:cBhvr>
                                      <p:tavLst>
                                        <p:tav tm="0">
                                          <p:val>
                                            <p:strVal val="0"/>
                                          </p:val>
                                        </p:tav>
                                        <p:tav tm="70000">
                                          <p:val>
                                            <p:strVal val="#ppt_w*1.08"/>
                                          </p:val>
                                        </p:tav>
                                        <p:tav tm="100000">
                                          <p:val>
                                            <p:strVal val="#ppt_w"/>
                                          </p:val>
                                        </p:tav>
                                      </p:tavLst>
                                    </p:anim>
                                    <p:anim calcmode="lin" valueType="num">
                                      <p:cBhvr additive="base">
                                        <p:cTn id="34" dur="450" fill="hold"/>
                                        <p:tgtEl>
                                          <p:spTgt spid="13"/>
                                        </p:tgtEl>
                                        <p:attrNameLst>
                                          <p:attrName>ppt_h</p:attrName>
                                        </p:attrNameLst>
                                      </p:cBhvr>
                                      <p:tavLst>
                                        <p:tav tm="0">
                                          <p:val>
                                            <p:strVal val="0"/>
                                          </p:val>
                                        </p:tav>
                                        <p:tav tm="70000">
                                          <p:val>
                                            <p:strVal val="#ppt_h*1.08"/>
                                          </p:val>
                                        </p:tav>
                                        <p:tav tm="100000">
                                          <p:val>
                                            <p:strVal val="#ppt_h"/>
                                          </p:val>
                                        </p:tav>
                                      </p:tavLst>
                                    </p:anim>
                                    <p:animEffect transition="in" filter="fade">
                                      <p:cBhvr>
                                        <p:cTn id="35" dur="270" fill="hold"/>
                                        <p:tgtEl>
                                          <p:spTgt spid="13"/>
                                        </p:tgtEl>
                                      </p:cBhvr>
                                    </p:animEffect>
                                  </p:childTnLst>
                                </p:cTn>
                              </p:par>
                              <p:par>
                                <p:cTn id="36" presetID="10" presetClass="entr" presetSubtype="0" fill="hold" grpId="0" nodeType="withEffect">
                                  <p:stCondLst>
                                    <p:cond delay="295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fill="hold"/>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2FA38A"/>
                </a:solidFill>
                <a:latin typeface="Segoe UI Semibold"/>
              </a:rPr>
              <a:t>MÓDULO 4  ·  IDEAR</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Regras da oficina de ideias</a:t>
            </a:r>
          </a:p>
        </p:txBody>
      </p:sp>
      <p:sp>
        <p:nvSpPr>
          <p:cNvPr id="6" name="TextBox 5"/>
          <p:cNvSpPr txBox="1"/>
          <p:nvPr/>
        </p:nvSpPr>
        <p:spPr>
          <a:xfrm>
            <a:off x="548640" y="1325880"/>
            <a:ext cx="10972800" cy="457200"/>
          </a:xfrm>
          <a:prstGeom prst="rect">
            <a:avLst/>
          </a:prstGeom>
          <a:noFill/>
        </p:spPr>
        <p:txBody>
          <a:bodyPr wrap="square" lIns="36576" tIns="18288" rIns="36576" bIns="18288" anchor="t">
            <a:spAutoFit/>
          </a:bodyPr>
          <a:lstStyle/>
          <a:p>
            <a:pPr algn="l"/>
            <a:r>
              <a:rPr sz="1700" b="0" i="0">
                <a:solidFill>
                  <a:srgbClr val="B4B8B0"/>
                </a:solidFill>
                <a:latin typeface="Segoe UI"/>
              </a:rPr>
              <a:t>Combine as regras antes de começar e cole-as na parede.</a:t>
            </a:r>
          </a:p>
        </p:txBody>
      </p:sp>
      <p:sp>
        <p:nvSpPr>
          <p:cNvPr id="7" name="Rounded Rectangle 6"/>
          <p:cNvSpPr/>
          <p:nvPr/>
        </p:nvSpPr>
        <p:spPr>
          <a:xfrm>
            <a:off x="548640" y="2148840"/>
            <a:ext cx="3514344" cy="356616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68680" y="3246120"/>
            <a:ext cx="2874264" cy="822960"/>
          </a:xfrm>
          <a:prstGeom prst="rect">
            <a:avLst/>
          </a:prstGeom>
          <a:noFill/>
        </p:spPr>
        <p:txBody>
          <a:bodyPr wrap="square" lIns="36576" tIns="18288" rIns="36576" bIns="18288" anchor="t">
            <a:spAutoFit/>
          </a:bodyPr>
          <a:lstStyle/>
          <a:p>
            <a:pPr algn="l"/>
            <a:r>
              <a:rPr sz="1900" b="1" i="0">
                <a:solidFill>
                  <a:srgbClr val="F2F2EC"/>
                </a:solidFill>
                <a:latin typeface="Segoe UI Semibold"/>
              </a:rPr>
              <a:t>Adie o julgamento</a:t>
            </a:r>
          </a:p>
        </p:txBody>
      </p:sp>
      <p:sp>
        <p:nvSpPr>
          <p:cNvPr id="9" name="TextBox 8"/>
          <p:cNvSpPr txBox="1"/>
          <p:nvPr/>
        </p:nvSpPr>
        <p:spPr>
          <a:xfrm>
            <a:off x="868680" y="4160520"/>
            <a:ext cx="2874264" cy="1508760"/>
          </a:xfrm>
          <a:prstGeom prst="rect">
            <a:avLst/>
          </a:prstGeom>
          <a:noFill/>
        </p:spPr>
        <p:txBody>
          <a:bodyPr wrap="square" lIns="36576" tIns="18288" rIns="36576" bIns="18288" anchor="t">
            <a:spAutoFit/>
          </a:bodyPr>
          <a:lstStyle/>
          <a:p>
            <a:pPr algn="l"/>
            <a:r>
              <a:rPr sz="1450" b="0" i="0">
                <a:solidFill>
                  <a:srgbClr val="B4B8B0"/>
                </a:solidFill>
                <a:latin typeface="Segoe UI"/>
              </a:rPr>
              <a:t>Nada de 'isso não funciona'. Toda ideia é bem-vinda nesta fase.</a:t>
            </a:r>
          </a:p>
        </p:txBody>
      </p:sp>
      <p:sp>
        <p:nvSpPr>
          <p:cNvPr id="10" name="Oval 9"/>
          <p:cNvSpPr/>
          <p:nvPr/>
        </p:nvSpPr>
        <p:spPr>
          <a:xfrm>
            <a:off x="859536" y="2459736"/>
            <a:ext cx="566928" cy="566928"/>
          </a:xfrm>
          <a:prstGeom prst="ellipse">
            <a:avLst/>
          </a:prstGeom>
          <a:solidFill>
            <a:srgbClr val="2FA38A"/>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700" b="1" i="0">
                <a:solidFill>
                  <a:srgbClr val="1A1A1A"/>
                </a:solidFill>
                <a:latin typeface="Segoe UI Semibold"/>
              </a:rPr>
              <a:t>1</a:t>
            </a:r>
          </a:p>
        </p:txBody>
      </p:sp>
      <p:sp>
        <p:nvSpPr>
          <p:cNvPr id="11" name="Rounded Rectangle 10"/>
          <p:cNvSpPr/>
          <p:nvPr/>
        </p:nvSpPr>
        <p:spPr>
          <a:xfrm>
            <a:off x="4337304" y="2148840"/>
            <a:ext cx="3514344" cy="356616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657344" y="3246120"/>
            <a:ext cx="2874264" cy="822960"/>
          </a:xfrm>
          <a:prstGeom prst="rect">
            <a:avLst/>
          </a:prstGeom>
          <a:noFill/>
        </p:spPr>
        <p:txBody>
          <a:bodyPr wrap="square" lIns="36576" tIns="18288" rIns="36576" bIns="18288" anchor="t">
            <a:spAutoFit/>
          </a:bodyPr>
          <a:lstStyle/>
          <a:p>
            <a:pPr algn="l"/>
            <a:r>
              <a:rPr sz="1900" b="1" i="0">
                <a:solidFill>
                  <a:srgbClr val="F2F2EC"/>
                </a:solidFill>
                <a:latin typeface="Segoe UI Semibold"/>
              </a:rPr>
              <a:t>Construa sobre ideias</a:t>
            </a:r>
          </a:p>
        </p:txBody>
      </p:sp>
      <p:sp>
        <p:nvSpPr>
          <p:cNvPr id="13" name="TextBox 12"/>
          <p:cNvSpPr txBox="1"/>
          <p:nvPr/>
        </p:nvSpPr>
        <p:spPr>
          <a:xfrm>
            <a:off x="4657344" y="4160520"/>
            <a:ext cx="2874264" cy="1508760"/>
          </a:xfrm>
          <a:prstGeom prst="rect">
            <a:avLst/>
          </a:prstGeom>
          <a:noFill/>
        </p:spPr>
        <p:txBody>
          <a:bodyPr wrap="square" lIns="36576" tIns="18288" rIns="36576" bIns="18288" anchor="t">
            <a:spAutoFit/>
          </a:bodyPr>
          <a:lstStyle/>
          <a:p>
            <a:pPr algn="l"/>
            <a:r>
              <a:rPr sz="1450" b="0" i="0">
                <a:solidFill>
                  <a:srgbClr val="B4B8B0"/>
                </a:solidFill>
                <a:latin typeface="Segoe UI"/>
              </a:rPr>
              <a:t>Use o 'sim, e…' em vez do 'sim, mas…'. Combine e melhore.</a:t>
            </a:r>
          </a:p>
        </p:txBody>
      </p:sp>
      <p:sp>
        <p:nvSpPr>
          <p:cNvPr id="14" name="Oval 13"/>
          <p:cNvSpPr/>
          <p:nvPr/>
        </p:nvSpPr>
        <p:spPr>
          <a:xfrm>
            <a:off x="4648200" y="2459736"/>
            <a:ext cx="566928" cy="566928"/>
          </a:xfrm>
          <a:prstGeom prst="ellipse">
            <a:avLst/>
          </a:prstGeom>
          <a:solidFill>
            <a:srgbClr val="2FA38A"/>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700" b="1" i="0">
                <a:solidFill>
                  <a:srgbClr val="1A1A1A"/>
                </a:solidFill>
                <a:latin typeface="Segoe UI Semibold"/>
              </a:rPr>
              <a:t>2</a:t>
            </a:r>
          </a:p>
        </p:txBody>
      </p:sp>
      <p:sp>
        <p:nvSpPr>
          <p:cNvPr id="15" name="Rounded Rectangle 14"/>
          <p:cNvSpPr/>
          <p:nvPr/>
        </p:nvSpPr>
        <p:spPr>
          <a:xfrm>
            <a:off x="8125968" y="2148840"/>
            <a:ext cx="3514344" cy="356616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446008" y="3246120"/>
            <a:ext cx="2874264" cy="822960"/>
          </a:xfrm>
          <a:prstGeom prst="rect">
            <a:avLst/>
          </a:prstGeom>
          <a:noFill/>
        </p:spPr>
        <p:txBody>
          <a:bodyPr wrap="square" lIns="36576" tIns="18288" rIns="36576" bIns="18288" anchor="t">
            <a:spAutoFit/>
          </a:bodyPr>
          <a:lstStyle/>
          <a:p>
            <a:pPr algn="l"/>
            <a:r>
              <a:rPr sz="1900" b="1" i="0">
                <a:solidFill>
                  <a:srgbClr val="F2F2EC"/>
                </a:solidFill>
                <a:latin typeface="Segoe UI Semibold"/>
              </a:rPr>
              <a:t>Seja visual e rápido</a:t>
            </a:r>
          </a:p>
        </p:txBody>
      </p:sp>
      <p:sp>
        <p:nvSpPr>
          <p:cNvPr id="17" name="TextBox 16"/>
          <p:cNvSpPr txBox="1"/>
          <p:nvPr/>
        </p:nvSpPr>
        <p:spPr>
          <a:xfrm>
            <a:off x="8446008" y="4160520"/>
            <a:ext cx="2874264" cy="1508760"/>
          </a:xfrm>
          <a:prstGeom prst="rect">
            <a:avLst/>
          </a:prstGeom>
          <a:noFill/>
        </p:spPr>
        <p:txBody>
          <a:bodyPr wrap="square" lIns="36576" tIns="18288" rIns="36576" bIns="18288" anchor="t">
            <a:spAutoFit/>
          </a:bodyPr>
          <a:lstStyle/>
          <a:p>
            <a:pPr algn="l"/>
            <a:r>
              <a:rPr sz="1450" b="0" i="0">
                <a:solidFill>
                  <a:srgbClr val="B4B8B0"/>
                </a:solidFill>
                <a:latin typeface="Segoe UI"/>
              </a:rPr>
              <a:t>Uma ideia por post-it, desenho vale mais que texto. Tempo curto.</a:t>
            </a:r>
          </a:p>
        </p:txBody>
      </p:sp>
      <p:sp>
        <p:nvSpPr>
          <p:cNvPr id="18" name="Oval 17"/>
          <p:cNvSpPr/>
          <p:nvPr/>
        </p:nvSpPr>
        <p:spPr>
          <a:xfrm>
            <a:off x="8436864" y="2459736"/>
            <a:ext cx="566928" cy="566928"/>
          </a:xfrm>
          <a:prstGeom prst="ellipse">
            <a:avLst/>
          </a:prstGeom>
          <a:solidFill>
            <a:srgbClr val="2FA38A"/>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700" b="1" i="0">
                <a:solidFill>
                  <a:srgbClr val="1A1A1A"/>
                </a:solidFill>
                <a:latin typeface="Segoe UI Semibold"/>
              </a:rPr>
              <a:t>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fill="hold"/>
                                        <p:tgtEl>
                                          <p:spTgt spid="6"/>
                                        </p:tgtEl>
                                      </p:cBhvr>
                                    </p:animEffect>
                                  </p:childTnLst>
                                </p:cTn>
                              </p:par>
                              <p:par>
                                <p:cTn id="11" presetID="42" presetClass="entr" presetSubtype="0" decel="100000" fill="hold" grpId="0" nodeType="withEffect">
                                  <p:stCondLst>
                                    <p:cond delay="45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650" fill="hold"/>
                                        <p:tgtEl>
                                          <p:spTgt spid="7"/>
                                        </p:tgtEl>
                                      </p:cBhvr>
                                    </p:animEffect>
                                    <p:anim calcmode="lin" valueType="num">
                                      <p:cBhvr additive="base">
                                        <p:cTn id="14" dur="650" fill="hold"/>
                                        <p:tgtEl>
                                          <p:spTgt spid="7"/>
                                        </p:tgtEl>
                                        <p:attrNameLst>
                                          <p:attrName>ppt_x</p:attrName>
                                        </p:attrNameLst>
                                      </p:cBhvr>
                                      <p:tavLst>
                                        <p:tav tm="0">
                                          <p:val>
                                            <p:strVal val="#ppt_x"/>
                                          </p:val>
                                        </p:tav>
                                        <p:tav tm="100000">
                                          <p:val>
                                            <p:strVal val="#ppt_x"/>
                                          </p:val>
                                        </p:tav>
                                      </p:tavLst>
                                    </p:anim>
                                    <p:anim calcmode="lin" valueType="num">
                                      <p:cBhvr additive="base">
                                        <p:cTn id="15" dur="650" fill="hold"/>
                                        <p:tgtEl>
                                          <p:spTgt spid="7"/>
                                        </p:tgtEl>
                                        <p:attrNameLst>
                                          <p:attrName>ppt_y</p:attrName>
                                        </p:attrNameLst>
                                      </p:cBhvr>
                                      <p:tavLst>
                                        <p:tav tm="0">
                                          <p:val>
                                            <p:strVal val="#ppt_y+.06"/>
                                          </p:val>
                                        </p:tav>
                                        <p:tav tm="100000">
                                          <p:val>
                                            <p:strVal val="#ppt_y"/>
                                          </p:val>
                                        </p:tav>
                                      </p:tavLst>
                                    </p:anim>
                                  </p:childTnLst>
                                </p:cTn>
                              </p:par>
                              <p:par>
                                <p:cTn id="16" presetID="42" presetClass="entr" presetSubtype="0" decel="100000" fill="hold" grpId="0" nodeType="withEffect">
                                  <p:stCondLst>
                                    <p:cond delay="45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650" fill="hold"/>
                                        <p:tgtEl>
                                          <p:spTgt spid="8"/>
                                        </p:tgtEl>
                                      </p:cBhvr>
                                    </p:animEffect>
                                    <p:anim calcmode="lin" valueType="num">
                                      <p:cBhvr additive="base">
                                        <p:cTn id="19" dur="650" fill="hold"/>
                                        <p:tgtEl>
                                          <p:spTgt spid="8"/>
                                        </p:tgtEl>
                                        <p:attrNameLst>
                                          <p:attrName>ppt_x</p:attrName>
                                        </p:attrNameLst>
                                      </p:cBhvr>
                                      <p:tavLst>
                                        <p:tav tm="0">
                                          <p:val>
                                            <p:strVal val="#ppt_x"/>
                                          </p:val>
                                        </p:tav>
                                        <p:tav tm="100000">
                                          <p:val>
                                            <p:strVal val="#ppt_x"/>
                                          </p:val>
                                        </p:tav>
                                      </p:tavLst>
                                    </p:anim>
                                    <p:anim calcmode="lin" valueType="num">
                                      <p:cBhvr additive="base">
                                        <p:cTn id="20" dur="650" fill="hold"/>
                                        <p:tgtEl>
                                          <p:spTgt spid="8"/>
                                        </p:tgtEl>
                                        <p:attrNameLst>
                                          <p:attrName>ppt_y</p:attrName>
                                        </p:attrNameLst>
                                      </p:cBhvr>
                                      <p:tavLst>
                                        <p:tav tm="0">
                                          <p:val>
                                            <p:strVal val="#ppt_y+.06"/>
                                          </p:val>
                                        </p:tav>
                                        <p:tav tm="100000">
                                          <p:val>
                                            <p:strVal val="#ppt_y"/>
                                          </p:val>
                                        </p:tav>
                                      </p:tavLst>
                                    </p:anim>
                                  </p:childTnLst>
                                </p:cTn>
                              </p:par>
                              <p:par>
                                <p:cTn id="21" presetID="42" presetClass="entr" presetSubtype="0" decel="100000" fill="hold" grpId="0" nodeType="withEffect">
                                  <p:stCondLst>
                                    <p:cond delay="45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650" fill="hold"/>
                                        <p:tgtEl>
                                          <p:spTgt spid="9"/>
                                        </p:tgtEl>
                                      </p:cBhvr>
                                    </p:animEffect>
                                    <p:anim calcmode="lin" valueType="num">
                                      <p:cBhvr additive="base">
                                        <p:cTn id="24" dur="650" fill="hold"/>
                                        <p:tgtEl>
                                          <p:spTgt spid="9"/>
                                        </p:tgtEl>
                                        <p:attrNameLst>
                                          <p:attrName>ppt_x</p:attrName>
                                        </p:attrNameLst>
                                      </p:cBhvr>
                                      <p:tavLst>
                                        <p:tav tm="0">
                                          <p:val>
                                            <p:strVal val="#ppt_x"/>
                                          </p:val>
                                        </p:tav>
                                        <p:tav tm="100000">
                                          <p:val>
                                            <p:strVal val="#ppt_x"/>
                                          </p:val>
                                        </p:tav>
                                      </p:tavLst>
                                    </p:anim>
                                    <p:anim calcmode="lin" valueType="num">
                                      <p:cBhvr additive="base">
                                        <p:cTn id="25" dur="650" fill="hold"/>
                                        <p:tgtEl>
                                          <p:spTgt spid="9"/>
                                        </p:tgtEl>
                                        <p:attrNameLst>
                                          <p:attrName>ppt_y</p:attrName>
                                        </p:attrNameLst>
                                      </p:cBhvr>
                                      <p:tavLst>
                                        <p:tav tm="0">
                                          <p:val>
                                            <p:strVal val="#ppt_y+.06"/>
                                          </p:val>
                                        </p:tav>
                                        <p:tav tm="100000">
                                          <p:val>
                                            <p:strVal val="#ppt_y"/>
                                          </p:val>
                                        </p:tav>
                                      </p:tavLst>
                                    </p:anim>
                                  </p:childTnLst>
                                </p:cTn>
                              </p:par>
                              <p:par>
                                <p:cTn id="26" presetID="53" presetClass="entr" presetSubtype="16" decel="100000" fill="hold" grpId="0" nodeType="withEffect">
                                  <p:stCondLst>
                                    <p:cond delay="600"/>
                                  </p:stCondLst>
                                  <p:childTnLst>
                                    <p:set>
                                      <p:cBhvr>
                                        <p:cTn id="27" dur="1" fill="hold">
                                          <p:stCondLst>
                                            <p:cond delay="0"/>
                                          </p:stCondLst>
                                        </p:cTn>
                                        <p:tgtEl>
                                          <p:spTgt spid="10"/>
                                        </p:tgtEl>
                                        <p:attrNameLst>
                                          <p:attrName>style.visibility</p:attrName>
                                        </p:attrNameLst>
                                      </p:cBhvr>
                                      <p:to>
                                        <p:strVal val="visible"/>
                                      </p:to>
                                    </p:set>
                                    <p:anim calcmode="lin" valueType="num">
                                      <p:cBhvr additive="base">
                                        <p:cTn id="28" dur="450" fill="hold"/>
                                        <p:tgtEl>
                                          <p:spTgt spid="10"/>
                                        </p:tgtEl>
                                        <p:attrNameLst>
                                          <p:attrName>ppt_w</p:attrName>
                                        </p:attrNameLst>
                                      </p:cBhvr>
                                      <p:tavLst>
                                        <p:tav tm="0">
                                          <p:val>
                                            <p:strVal val="0"/>
                                          </p:val>
                                        </p:tav>
                                        <p:tav tm="70000">
                                          <p:val>
                                            <p:strVal val="#ppt_w*1.08"/>
                                          </p:val>
                                        </p:tav>
                                        <p:tav tm="100000">
                                          <p:val>
                                            <p:strVal val="#ppt_w"/>
                                          </p:val>
                                        </p:tav>
                                      </p:tavLst>
                                    </p:anim>
                                    <p:anim calcmode="lin" valueType="num">
                                      <p:cBhvr additive="base">
                                        <p:cTn id="29" dur="450" fill="hold"/>
                                        <p:tgtEl>
                                          <p:spTgt spid="10"/>
                                        </p:tgtEl>
                                        <p:attrNameLst>
                                          <p:attrName>ppt_h</p:attrName>
                                        </p:attrNameLst>
                                      </p:cBhvr>
                                      <p:tavLst>
                                        <p:tav tm="0">
                                          <p:val>
                                            <p:strVal val="0"/>
                                          </p:val>
                                        </p:tav>
                                        <p:tav tm="70000">
                                          <p:val>
                                            <p:strVal val="#ppt_h*1.08"/>
                                          </p:val>
                                        </p:tav>
                                        <p:tav tm="100000">
                                          <p:val>
                                            <p:strVal val="#ppt_h"/>
                                          </p:val>
                                        </p:tav>
                                      </p:tavLst>
                                    </p:anim>
                                    <p:animEffect transition="in" filter="fade">
                                      <p:cBhvr>
                                        <p:cTn id="30" dur="270" fill="hold"/>
                                        <p:tgtEl>
                                          <p:spTgt spid="10"/>
                                        </p:tgtEl>
                                      </p:cBhvr>
                                    </p:animEffect>
                                  </p:childTnLst>
                                </p:cTn>
                              </p:par>
                              <p:par>
                                <p:cTn id="31" presetID="42" presetClass="entr" presetSubtype="0" decel="100000" fill="hold" grpId="0" nodeType="withEffect">
                                  <p:stCondLst>
                                    <p:cond delay="78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650" fill="hold"/>
                                        <p:tgtEl>
                                          <p:spTgt spid="11"/>
                                        </p:tgtEl>
                                      </p:cBhvr>
                                    </p:animEffect>
                                    <p:anim calcmode="lin" valueType="num">
                                      <p:cBhvr additive="base">
                                        <p:cTn id="34" dur="650" fill="hold"/>
                                        <p:tgtEl>
                                          <p:spTgt spid="11"/>
                                        </p:tgtEl>
                                        <p:attrNameLst>
                                          <p:attrName>ppt_x</p:attrName>
                                        </p:attrNameLst>
                                      </p:cBhvr>
                                      <p:tavLst>
                                        <p:tav tm="0">
                                          <p:val>
                                            <p:strVal val="#ppt_x"/>
                                          </p:val>
                                        </p:tav>
                                        <p:tav tm="100000">
                                          <p:val>
                                            <p:strVal val="#ppt_x"/>
                                          </p:val>
                                        </p:tav>
                                      </p:tavLst>
                                    </p:anim>
                                    <p:anim calcmode="lin" valueType="num">
                                      <p:cBhvr additive="base">
                                        <p:cTn id="35" dur="650" fill="hold"/>
                                        <p:tgtEl>
                                          <p:spTgt spid="11"/>
                                        </p:tgtEl>
                                        <p:attrNameLst>
                                          <p:attrName>ppt_y</p:attrName>
                                        </p:attrNameLst>
                                      </p:cBhvr>
                                      <p:tavLst>
                                        <p:tav tm="0">
                                          <p:val>
                                            <p:strVal val="#ppt_y+.06"/>
                                          </p:val>
                                        </p:tav>
                                        <p:tav tm="100000">
                                          <p:val>
                                            <p:strVal val="#ppt_y"/>
                                          </p:val>
                                        </p:tav>
                                      </p:tavLst>
                                    </p:anim>
                                  </p:childTnLst>
                                </p:cTn>
                              </p:par>
                              <p:par>
                                <p:cTn id="36" presetID="42" presetClass="entr" presetSubtype="0" decel="100000" fill="hold" grpId="0" nodeType="withEffect">
                                  <p:stCondLst>
                                    <p:cond delay="78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650" fill="hold"/>
                                        <p:tgtEl>
                                          <p:spTgt spid="12"/>
                                        </p:tgtEl>
                                      </p:cBhvr>
                                    </p:animEffect>
                                    <p:anim calcmode="lin" valueType="num">
                                      <p:cBhvr additive="base">
                                        <p:cTn id="39" dur="650" fill="hold"/>
                                        <p:tgtEl>
                                          <p:spTgt spid="12"/>
                                        </p:tgtEl>
                                        <p:attrNameLst>
                                          <p:attrName>ppt_x</p:attrName>
                                        </p:attrNameLst>
                                      </p:cBhvr>
                                      <p:tavLst>
                                        <p:tav tm="0">
                                          <p:val>
                                            <p:strVal val="#ppt_x"/>
                                          </p:val>
                                        </p:tav>
                                        <p:tav tm="100000">
                                          <p:val>
                                            <p:strVal val="#ppt_x"/>
                                          </p:val>
                                        </p:tav>
                                      </p:tavLst>
                                    </p:anim>
                                    <p:anim calcmode="lin" valueType="num">
                                      <p:cBhvr additive="base">
                                        <p:cTn id="40" dur="650" fill="hold"/>
                                        <p:tgtEl>
                                          <p:spTgt spid="12"/>
                                        </p:tgtEl>
                                        <p:attrNameLst>
                                          <p:attrName>ppt_y</p:attrName>
                                        </p:attrNameLst>
                                      </p:cBhvr>
                                      <p:tavLst>
                                        <p:tav tm="0">
                                          <p:val>
                                            <p:strVal val="#ppt_y+.06"/>
                                          </p:val>
                                        </p:tav>
                                        <p:tav tm="100000">
                                          <p:val>
                                            <p:strVal val="#ppt_y"/>
                                          </p:val>
                                        </p:tav>
                                      </p:tavLst>
                                    </p:anim>
                                  </p:childTnLst>
                                </p:cTn>
                              </p:par>
                              <p:par>
                                <p:cTn id="41" presetID="42" presetClass="entr" presetSubtype="0" decel="100000" fill="hold" grpId="0" nodeType="withEffect">
                                  <p:stCondLst>
                                    <p:cond delay="78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650" fill="hold"/>
                                        <p:tgtEl>
                                          <p:spTgt spid="13"/>
                                        </p:tgtEl>
                                      </p:cBhvr>
                                    </p:animEffect>
                                    <p:anim calcmode="lin" valueType="num">
                                      <p:cBhvr additive="base">
                                        <p:cTn id="44" dur="650" fill="hold"/>
                                        <p:tgtEl>
                                          <p:spTgt spid="13"/>
                                        </p:tgtEl>
                                        <p:attrNameLst>
                                          <p:attrName>ppt_x</p:attrName>
                                        </p:attrNameLst>
                                      </p:cBhvr>
                                      <p:tavLst>
                                        <p:tav tm="0">
                                          <p:val>
                                            <p:strVal val="#ppt_x"/>
                                          </p:val>
                                        </p:tav>
                                        <p:tav tm="100000">
                                          <p:val>
                                            <p:strVal val="#ppt_x"/>
                                          </p:val>
                                        </p:tav>
                                      </p:tavLst>
                                    </p:anim>
                                    <p:anim calcmode="lin" valueType="num">
                                      <p:cBhvr additive="base">
                                        <p:cTn id="45" dur="650" fill="hold"/>
                                        <p:tgtEl>
                                          <p:spTgt spid="13"/>
                                        </p:tgtEl>
                                        <p:attrNameLst>
                                          <p:attrName>ppt_y</p:attrName>
                                        </p:attrNameLst>
                                      </p:cBhvr>
                                      <p:tavLst>
                                        <p:tav tm="0">
                                          <p:val>
                                            <p:strVal val="#ppt_y+.06"/>
                                          </p:val>
                                        </p:tav>
                                        <p:tav tm="100000">
                                          <p:val>
                                            <p:strVal val="#ppt_y"/>
                                          </p:val>
                                        </p:tav>
                                      </p:tavLst>
                                    </p:anim>
                                  </p:childTnLst>
                                </p:cTn>
                              </p:par>
                              <p:par>
                                <p:cTn id="46" presetID="53" presetClass="entr" presetSubtype="16" decel="100000" fill="hold" grpId="0" nodeType="withEffect">
                                  <p:stCondLst>
                                    <p:cond delay="930"/>
                                  </p:stCondLst>
                                  <p:childTnLst>
                                    <p:set>
                                      <p:cBhvr>
                                        <p:cTn id="47" dur="1" fill="hold">
                                          <p:stCondLst>
                                            <p:cond delay="0"/>
                                          </p:stCondLst>
                                        </p:cTn>
                                        <p:tgtEl>
                                          <p:spTgt spid="14"/>
                                        </p:tgtEl>
                                        <p:attrNameLst>
                                          <p:attrName>style.visibility</p:attrName>
                                        </p:attrNameLst>
                                      </p:cBhvr>
                                      <p:to>
                                        <p:strVal val="visible"/>
                                      </p:to>
                                    </p:set>
                                    <p:anim calcmode="lin" valueType="num">
                                      <p:cBhvr additive="base">
                                        <p:cTn id="48" dur="450" fill="hold"/>
                                        <p:tgtEl>
                                          <p:spTgt spid="14"/>
                                        </p:tgtEl>
                                        <p:attrNameLst>
                                          <p:attrName>ppt_w</p:attrName>
                                        </p:attrNameLst>
                                      </p:cBhvr>
                                      <p:tavLst>
                                        <p:tav tm="0">
                                          <p:val>
                                            <p:strVal val="0"/>
                                          </p:val>
                                        </p:tav>
                                        <p:tav tm="70000">
                                          <p:val>
                                            <p:strVal val="#ppt_w*1.08"/>
                                          </p:val>
                                        </p:tav>
                                        <p:tav tm="100000">
                                          <p:val>
                                            <p:strVal val="#ppt_w"/>
                                          </p:val>
                                        </p:tav>
                                      </p:tavLst>
                                    </p:anim>
                                    <p:anim calcmode="lin" valueType="num">
                                      <p:cBhvr additive="base">
                                        <p:cTn id="49" dur="450" fill="hold"/>
                                        <p:tgtEl>
                                          <p:spTgt spid="14"/>
                                        </p:tgtEl>
                                        <p:attrNameLst>
                                          <p:attrName>ppt_h</p:attrName>
                                        </p:attrNameLst>
                                      </p:cBhvr>
                                      <p:tavLst>
                                        <p:tav tm="0">
                                          <p:val>
                                            <p:strVal val="0"/>
                                          </p:val>
                                        </p:tav>
                                        <p:tav tm="70000">
                                          <p:val>
                                            <p:strVal val="#ppt_h*1.08"/>
                                          </p:val>
                                        </p:tav>
                                        <p:tav tm="100000">
                                          <p:val>
                                            <p:strVal val="#ppt_h"/>
                                          </p:val>
                                        </p:tav>
                                      </p:tavLst>
                                    </p:anim>
                                    <p:animEffect transition="in" filter="fade">
                                      <p:cBhvr>
                                        <p:cTn id="50" dur="270" fill="hold"/>
                                        <p:tgtEl>
                                          <p:spTgt spid="14"/>
                                        </p:tgtEl>
                                      </p:cBhvr>
                                    </p:animEffect>
                                  </p:childTnLst>
                                </p:cTn>
                              </p:par>
                              <p:par>
                                <p:cTn id="51" presetID="42" presetClass="entr" presetSubtype="0" decel="100000" fill="hold" grpId="0" nodeType="withEffect">
                                  <p:stCondLst>
                                    <p:cond delay="1110"/>
                                  </p:stCondLst>
                                  <p:childTnLst>
                                    <p:set>
                                      <p:cBhvr>
                                        <p:cTn id="52" dur="1" fill="hold">
                                          <p:stCondLst>
                                            <p:cond delay="0"/>
                                          </p:stCondLst>
                                        </p:cTn>
                                        <p:tgtEl>
                                          <p:spTgt spid="15"/>
                                        </p:tgtEl>
                                        <p:attrNameLst>
                                          <p:attrName>style.visibility</p:attrName>
                                        </p:attrNameLst>
                                      </p:cBhvr>
                                      <p:to>
                                        <p:strVal val="visible"/>
                                      </p:to>
                                    </p:set>
                                    <p:animEffect transition="in" filter="fade">
                                      <p:cBhvr>
                                        <p:cTn id="53" dur="650" fill="hold"/>
                                        <p:tgtEl>
                                          <p:spTgt spid="15"/>
                                        </p:tgtEl>
                                      </p:cBhvr>
                                    </p:animEffect>
                                    <p:anim calcmode="lin" valueType="num">
                                      <p:cBhvr additive="base">
                                        <p:cTn id="54" dur="650" fill="hold"/>
                                        <p:tgtEl>
                                          <p:spTgt spid="15"/>
                                        </p:tgtEl>
                                        <p:attrNameLst>
                                          <p:attrName>ppt_x</p:attrName>
                                        </p:attrNameLst>
                                      </p:cBhvr>
                                      <p:tavLst>
                                        <p:tav tm="0">
                                          <p:val>
                                            <p:strVal val="#ppt_x"/>
                                          </p:val>
                                        </p:tav>
                                        <p:tav tm="100000">
                                          <p:val>
                                            <p:strVal val="#ppt_x"/>
                                          </p:val>
                                        </p:tav>
                                      </p:tavLst>
                                    </p:anim>
                                    <p:anim calcmode="lin" valueType="num">
                                      <p:cBhvr additive="base">
                                        <p:cTn id="55" dur="650" fill="hold"/>
                                        <p:tgtEl>
                                          <p:spTgt spid="15"/>
                                        </p:tgtEl>
                                        <p:attrNameLst>
                                          <p:attrName>ppt_y</p:attrName>
                                        </p:attrNameLst>
                                      </p:cBhvr>
                                      <p:tavLst>
                                        <p:tav tm="0">
                                          <p:val>
                                            <p:strVal val="#ppt_y+.06"/>
                                          </p:val>
                                        </p:tav>
                                        <p:tav tm="100000">
                                          <p:val>
                                            <p:strVal val="#ppt_y"/>
                                          </p:val>
                                        </p:tav>
                                      </p:tavLst>
                                    </p:anim>
                                  </p:childTnLst>
                                </p:cTn>
                              </p:par>
                              <p:par>
                                <p:cTn id="56" presetID="42" presetClass="entr" presetSubtype="0" decel="100000" fill="hold" grpId="0" nodeType="withEffect">
                                  <p:stCondLst>
                                    <p:cond delay="111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650" fill="hold"/>
                                        <p:tgtEl>
                                          <p:spTgt spid="16"/>
                                        </p:tgtEl>
                                      </p:cBhvr>
                                    </p:animEffect>
                                    <p:anim calcmode="lin" valueType="num">
                                      <p:cBhvr additive="base">
                                        <p:cTn id="59" dur="650" fill="hold"/>
                                        <p:tgtEl>
                                          <p:spTgt spid="16"/>
                                        </p:tgtEl>
                                        <p:attrNameLst>
                                          <p:attrName>ppt_x</p:attrName>
                                        </p:attrNameLst>
                                      </p:cBhvr>
                                      <p:tavLst>
                                        <p:tav tm="0">
                                          <p:val>
                                            <p:strVal val="#ppt_x"/>
                                          </p:val>
                                        </p:tav>
                                        <p:tav tm="100000">
                                          <p:val>
                                            <p:strVal val="#ppt_x"/>
                                          </p:val>
                                        </p:tav>
                                      </p:tavLst>
                                    </p:anim>
                                    <p:anim calcmode="lin" valueType="num">
                                      <p:cBhvr additive="base">
                                        <p:cTn id="60" dur="650" fill="hold"/>
                                        <p:tgtEl>
                                          <p:spTgt spid="16"/>
                                        </p:tgtEl>
                                        <p:attrNameLst>
                                          <p:attrName>ppt_y</p:attrName>
                                        </p:attrNameLst>
                                      </p:cBhvr>
                                      <p:tavLst>
                                        <p:tav tm="0">
                                          <p:val>
                                            <p:strVal val="#ppt_y+.06"/>
                                          </p:val>
                                        </p:tav>
                                        <p:tav tm="100000">
                                          <p:val>
                                            <p:strVal val="#ppt_y"/>
                                          </p:val>
                                        </p:tav>
                                      </p:tavLst>
                                    </p:anim>
                                  </p:childTnLst>
                                </p:cTn>
                              </p:par>
                              <p:par>
                                <p:cTn id="61" presetID="42" presetClass="entr" presetSubtype="0" decel="100000" fill="hold" grpId="0" nodeType="withEffect">
                                  <p:stCondLst>
                                    <p:cond delay="1110"/>
                                  </p:stCondLst>
                                  <p:childTnLst>
                                    <p:set>
                                      <p:cBhvr>
                                        <p:cTn id="62" dur="1" fill="hold">
                                          <p:stCondLst>
                                            <p:cond delay="0"/>
                                          </p:stCondLst>
                                        </p:cTn>
                                        <p:tgtEl>
                                          <p:spTgt spid="17"/>
                                        </p:tgtEl>
                                        <p:attrNameLst>
                                          <p:attrName>style.visibility</p:attrName>
                                        </p:attrNameLst>
                                      </p:cBhvr>
                                      <p:to>
                                        <p:strVal val="visible"/>
                                      </p:to>
                                    </p:set>
                                    <p:animEffect transition="in" filter="fade">
                                      <p:cBhvr>
                                        <p:cTn id="63" dur="650" fill="hold"/>
                                        <p:tgtEl>
                                          <p:spTgt spid="17"/>
                                        </p:tgtEl>
                                      </p:cBhvr>
                                    </p:animEffect>
                                    <p:anim calcmode="lin" valueType="num">
                                      <p:cBhvr additive="base">
                                        <p:cTn id="64" dur="650" fill="hold"/>
                                        <p:tgtEl>
                                          <p:spTgt spid="17"/>
                                        </p:tgtEl>
                                        <p:attrNameLst>
                                          <p:attrName>ppt_x</p:attrName>
                                        </p:attrNameLst>
                                      </p:cBhvr>
                                      <p:tavLst>
                                        <p:tav tm="0">
                                          <p:val>
                                            <p:strVal val="#ppt_x"/>
                                          </p:val>
                                        </p:tav>
                                        <p:tav tm="100000">
                                          <p:val>
                                            <p:strVal val="#ppt_x"/>
                                          </p:val>
                                        </p:tav>
                                      </p:tavLst>
                                    </p:anim>
                                    <p:anim calcmode="lin" valueType="num">
                                      <p:cBhvr additive="base">
                                        <p:cTn id="65" dur="650" fill="hold"/>
                                        <p:tgtEl>
                                          <p:spTgt spid="17"/>
                                        </p:tgtEl>
                                        <p:attrNameLst>
                                          <p:attrName>ppt_y</p:attrName>
                                        </p:attrNameLst>
                                      </p:cBhvr>
                                      <p:tavLst>
                                        <p:tav tm="0">
                                          <p:val>
                                            <p:strVal val="#ppt_y+.06"/>
                                          </p:val>
                                        </p:tav>
                                        <p:tav tm="100000">
                                          <p:val>
                                            <p:strVal val="#ppt_y"/>
                                          </p:val>
                                        </p:tav>
                                      </p:tavLst>
                                    </p:anim>
                                  </p:childTnLst>
                                </p:cTn>
                              </p:par>
                              <p:par>
                                <p:cTn id="66" presetID="53" presetClass="entr" presetSubtype="16" decel="100000" fill="hold" grpId="0" nodeType="withEffect">
                                  <p:stCondLst>
                                    <p:cond delay="1260"/>
                                  </p:stCondLst>
                                  <p:childTnLst>
                                    <p:set>
                                      <p:cBhvr>
                                        <p:cTn id="67" dur="1" fill="hold">
                                          <p:stCondLst>
                                            <p:cond delay="0"/>
                                          </p:stCondLst>
                                        </p:cTn>
                                        <p:tgtEl>
                                          <p:spTgt spid="18"/>
                                        </p:tgtEl>
                                        <p:attrNameLst>
                                          <p:attrName>style.visibility</p:attrName>
                                        </p:attrNameLst>
                                      </p:cBhvr>
                                      <p:to>
                                        <p:strVal val="visible"/>
                                      </p:to>
                                    </p:set>
                                    <p:anim calcmode="lin" valueType="num">
                                      <p:cBhvr additive="base">
                                        <p:cTn id="68" dur="450" fill="hold"/>
                                        <p:tgtEl>
                                          <p:spTgt spid="18"/>
                                        </p:tgtEl>
                                        <p:attrNameLst>
                                          <p:attrName>ppt_w</p:attrName>
                                        </p:attrNameLst>
                                      </p:cBhvr>
                                      <p:tavLst>
                                        <p:tav tm="0">
                                          <p:val>
                                            <p:strVal val="0"/>
                                          </p:val>
                                        </p:tav>
                                        <p:tav tm="70000">
                                          <p:val>
                                            <p:strVal val="#ppt_w*1.08"/>
                                          </p:val>
                                        </p:tav>
                                        <p:tav tm="100000">
                                          <p:val>
                                            <p:strVal val="#ppt_w"/>
                                          </p:val>
                                        </p:tav>
                                      </p:tavLst>
                                    </p:anim>
                                    <p:anim calcmode="lin" valueType="num">
                                      <p:cBhvr additive="base">
                                        <p:cTn id="69" dur="450" fill="hold"/>
                                        <p:tgtEl>
                                          <p:spTgt spid="18"/>
                                        </p:tgtEl>
                                        <p:attrNameLst>
                                          <p:attrName>ppt_h</p:attrName>
                                        </p:attrNameLst>
                                      </p:cBhvr>
                                      <p:tavLst>
                                        <p:tav tm="0">
                                          <p:val>
                                            <p:strVal val="0"/>
                                          </p:val>
                                        </p:tav>
                                        <p:tav tm="70000">
                                          <p:val>
                                            <p:strVal val="#ppt_h*1.08"/>
                                          </p:val>
                                        </p:tav>
                                        <p:tav tm="100000">
                                          <p:val>
                                            <p:strVal val="#ppt_h"/>
                                          </p:val>
                                        </p:tav>
                                      </p:tavLst>
                                    </p:anim>
                                    <p:animEffect transition="in" filter="fade">
                                      <p:cBhvr>
                                        <p:cTn id="70" dur="270" fill="hold"/>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2FA38A"/>
                </a:solidFill>
                <a:latin typeface="Segoe UI Semibold"/>
              </a:rPr>
              <a:t>MÓDULO 4  ·  IDEAR</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Preparando a oficina</a:t>
            </a:r>
          </a:p>
        </p:txBody>
      </p:sp>
      <p:cxnSp>
        <p:nvCxnSpPr>
          <p:cNvPr id="6" name="Connector 5"/>
          <p:cNvCxnSpPr/>
          <p:nvPr/>
        </p:nvCxnSpPr>
        <p:spPr>
          <a:xfrm>
            <a:off x="1657807" y="2606040"/>
            <a:ext cx="8873337" cy="0"/>
          </a:xfrm>
          <a:prstGeom prst="line">
            <a:avLst/>
          </a:prstGeom>
          <a:ln w="38100">
            <a:solidFill>
              <a:srgbClr val="3A413D"/>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1200607" y="2148840"/>
            <a:ext cx="914400" cy="914400"/>
          </a:xfrm>
          <a:prstGeom prst="ellipse">
            <a:avLst/>
          </a:prstGeom>
          <a:solidFill>
            <a:srgbClr val="2FA38A"/>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2000" b="1" i="0">
                <a:solidFill>
                  <a:srgbClr val="1A1A1A"/>
                </a:solidFill>
                <a:latin typeface="Segoe UI Semibold"/>
              </a:rPr>
              <a:t>01</a:t>
            </a:r>
          </a:p>
        </p:txBody>
      </p:sp>
      <p:sp>
        <p:nvSpPr>
          <p:cNvPr id="8" name="Rounded Rectangle 7"/>
          <p:cNvSpPr/>
          <p:nvPr/>
        </p:nvSpPr>
        <p:spPr>
          <a:xfrm>
            <a:off x="658368" y="3429000"/>
            <a:ext cx="1998878" cy="237744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822960" y="3611880"/>
            <a:ext cx="1669694" cy="457200"/>
          </a:xfrm>
          <a:prstGeom prst="rect">
            <a:avLst/>
          </a:prstGeom>
          <a:noFill/>
        </p:spPr>
        <p:txBody>
          <a:bodyPr wrap="square" lIns="36576" tIns="18288" rIns="36576" bIns="18288" anchor="t">
            <a:spAutoFit/>
          </a:bodyPr>
          <a:lstStyle/>
          <a:p>
            <a:pPr algn="ctr"/>
            <a:r>
              <a:rPr sz="1900" b="1" i="0">
                <a:solidFill>
                  <a:srgbClr val="F2F2EC"/>
                </a:solidFill>
                <a:latin typeface="Segoe UI Semibold"/>
              </a:rPr>
              <a:t>Convide</a:t>
            </a:r>
          </a:p>
        </p:txBody>
      </p:sp>
      <p:sp>
        <p:nvSpPr>
          <p:cNvPr id="10" name="TextBox 9"/>
          <p:cNvSpPr txBox="1"/>
          <p:nvPr/>
        </p:nvSpPr>
        <p:spPr>
          <a:xfrm>
            <a:off x="822960" y="4114800"/>
            <a:ext cx="1669694" cy="1554480"/>
          </a:xfrm>
          <a:prstGeom prst="rect">
            <a:avLst/>
          </a:prstGeom>
          <a:noFill/>
        </p:spPr>
        <p:txBody>
          <a:bodyPr wrap="square" lIns="36576" tIns="18288" rIns="36576" bIns="18288" anchor="t">
            <a:spAutoFit/>
          </a:bodyPr>
          <a:lstStyle/>
          <a:p>
            <a:pPr algn="ctr"/>
            <a:r>
              <a:rPr sz="1400" b="0" i="0">
                <a:solidFill>
                  <a:srgbClr val="B4B8B0"/>
                </a:solidFill>
                <a:latin typeface="Segoe UI"/>
              </a:rPr>
              <a:t>Grupo diverso de 4 a 8 pessoas</a:t>
            </a:r>
          </a:p>
        </p:txBody>
      </p:sp>
      <p:sp>
        <p:nvSpPr>
          <p:cNvPr id="11" name="Oval 10"/>
          <p:cNvSpPr/>
          <p:nvPr/>
        </p:nvSpPr>
        <p:spPr>
          <a:xfrm>
            <a:off x="3418941" y="2148840"/>
            <a:ext cx="914400" cy="914400"/>
          </a:xfrm>
          <a:prstGeom prst="ellipse">
            <a:avLst/>
          </a:prstGeom>
          <a:solidFill>
            <a:srgbClr val="2FA38A"/>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2000" b="1" i="0">
                <a:solidFill>
                  <a:srgbClr val="1A1A1A"/>
                </a:solidFill>
                <a:latin typeface="Segoe UI Semibold"/>
              </a:rPr>
              <a:t>02</a:t>
            </a:r>
          </a:p>
        </p:txBody>
      </p:sp>
      <p:sp>
        <p:nvSpPr>
          <p:cNvPr id="12" name="Rounded Rectangle 11"/>
          <p:cNvSpPr/>
          <p:nvPr/>
        </p:nvSpPr>
        <p:spPr>
          <a:xfrm>
            <a:off x="2876702" y="3429000"/>
            <a:ext cx="1998878" cy="237744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041294" y="3611880"/>
            <a:ext cx="1669694" cy="457200"/>
          </a:xfrm>
          <a:prstGeom prst="rect">
            <a:avLst/>
          </a:prstGeom>
          <a:noFill/>
        </p:spPr>
        <p:txBody>
          <a:bodyPr wrap="square" lIns="36576" tIns="18288" rIns="36576" bIns="18288" anchor="t">
            <a:spAutoFit/>
          </a:bodyPr>
          <a:lstStyle/>
          <a:p>
            <a:pPr algn="ctr"/>
            <a:r>
              <a:rPr sz="1900" b="1" i="0">
                <a:solidFill>
                  <a:srgbClr val="F2F2EC"/>
                </a:solidFill>
                <a:latin typeface="Segoe UI Semibold"/>
              </a:rPr>
              <a:t>Resgate</a:t>
            </a:r>
          </a:p>
        </p:txBody>
      </p:sp>
      <p:sp>
        <p:nvSpPr>
          <p:cNvPr id="14" name="TextBox 13"/>
          <p:cNvSpPr txBox="1"/>
          <p:nvPr/>
        </p:nvSpPr>
        <p:spPr>
          <a:xfrm>
            <a:off x="3041294" y="4114800"/>
            <a:ext cx="1669694" cy="1554480"/>
          </a:xfrm>
          <a:prstGeom prst="rect">
            <a:avLst/>
          </a:prstGeom>
          <a:noFill/>
        </p:spPr>
        <p:txBody>
          <a:bodyPr wrap="square" lIns="36576" tIns="18288" rIns="36576" bIns="18288" anchor="t">
            <a:spAutoFit/>
          </a:bodyPr>
          <a:lstStyle/>
          <a:p>
            <a:pPr algn="ctr"/>
            <a:r>
              <a:rPr sz="1400" b="0" i="0">
                <a:solidFill>
                  <a:srgbClr val="B4B8B0"/>
                </a:solidFill>
                <a:latin typeface="Segoe UI"/>
              </a:rPr>
              <a:t>Persona, insights e a pergunta 'Como poderíamos…?' na parede</a:t>
            </a:r>
          </a:p>
        </p:txBody>
      </p:sp>
      <p:sp>
        <p:nvSpPr>
          <p:cNvPr id="15" name="Oval 14"/>
          <p:cNvSpPr/>
          <p:nvPr/>
        </p:nvSpPr>
        <p:spPr>
          <a:xfrm>
            <a:off x="5637276" y="2148840"/>
            <a:ext cx="914400" cy="914400"/>
          </a:xfrm>
          <a:prstGeom prst="ellipse">
            <a:avLst/>
          </a:prstGeom>
          <a:solidFill>
            <a:srgbClr val="2FA38A"/>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2000" b="1" i="0">
                <a:solidFill>
                  <a:srgbClr val="1A1A1A"/>
                </a:solidFill>
                <a:latin typeface="Segoe UI Semibold"/>
              </a:rPr>
              <a:t>03</a:t>
            </a:r>
          </a:p>
        </p:txBody>
      </p:sp>
      <p:sp>
        <p:nvSpPr>
          <p:cNvPr id="16" name="Rounded Rectangle 15"/>
          <p:cNvSpPr/>
          <p:nvPr/>
        </p:nvSpPr>
        <p:spPr>
          <a:xfrm>
            <a:off x="5095036" y="3429000"/>
            <a:ext cx="1998878" cy="237744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5259628" y="3611880"/>
            <a:ext cx="1669694" cy="457200"/>
          </a:xfrm>
          <a:prstGeom prst="rect">
            <a:avLst/>
          </a:prstGeom>
          <a:noFill/>
        </p:spPr>
        <p:txBody>
          <a:bodyPr wrap="square" lIns="36576" tIns="18288" rIns="36576" bIns="18288" anchor="t">
            <a:spAutoFit/>
          </a:bodyPr>
          <a:lstStyle/>
          <a:p>
            <a:pPr algn="ctr"/>
            <a:r>
              <a:rPr sz="1900" b="1" i="0">
                <a:solidFill>
                  <a:srgbClr val="F2F2EC"/>
                </a:solidFill>
                <a:latin typeface="Segoe UI Semibold"/>
              </a:rPr>
              <a:t>Aqueça</a:t>
            </a:r>
          </a:p>
        </p:txBody>
      </p:sp>
      <p:sp>
        <p:nvSpPr>
          <p:cNvPr id="18" name="TextBox 17"/>
          <p:cNvSpPr txBox="1"/>
          <p:nvPr/>
        </p:nvSpPr>
        <p:spPr>
          <a:xfrm>
            <a:off x="5259628" y="4114800"/>
            <a:ext cx="1669694" cy="1554480"/>
          </a:xfrm>
          <a:prstGeom prst="rect">
            <a:avLst/>
          </a:prstGeom>
          <a:noFill/>
        </p:spPr>
        <p:txBody>
          <a:bodyPr wrap="square" lIns="36576" tIns="18288" rIns="36576" bIns="18288" anchor="t">
            <a:spAutoFit/>
          </a:bodyPr>
          <a:lstStyle/>
          <a:p>
            <a:pPr algn="ctr"/>
            <a:r>
              <a:rPr sz="1400" b="0" i="0">
                <a:solidFill>
                  <a:srgbClr val="B4B8B0"/>
                </a:solidFill>
                <a:latin typeface="Segoe UI"/>
              </a:rPr>
              <a:t>Quebra-gelo de 5 a 10 minutos</a:t>
            </a:r>
          </a:p>
        </p:txBody>
      </p:sp>
      <p:sp>
        <p:nvSpPr>
          <p:cNvPr id="19" name="Oval 18"/>
          <p:cNvSpPr/>
          <p:nvPr/>
        </p:nvSpPr>
        <p:spPr>
          <a:xfrm>
            <a:off x="7855610" y="2148840"/>
            <a:ext cx="914400" cy="914400"/>
          </a:xfrm>
          <a:prstGeom prst="ellipse">
            <a:avLst/>
          </a:prstGeom>
          <a:solidFill>
            <a:srgbClr val="2FA38A"/>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2000" b="1" i="0">
                <a:solidFill>
                  <a:srgbClr val="1A1A1A"/>
                </a:solidFill>
                <a:latin typeface="Segoe UI Semibold"/>
              </a:rPr>
              <a:t>04</a:t>
            </a:r>
          </a:p>
        </p:txBody>
      </p:sp>
      <p:sp>
        <p:nvSpPr>
          <p:cNvPr id="20" name="Rounded Rectangle 19"/>
          <p:cNvSpPr/>
          <p:nvPr/>
        </p:nvSpPr>
        <p:spPr>
          <a:xfrm>
            <a:off x="7313371" y="3429000"/>
            <a:ext cx="1998878" cy="237744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477963" y="3611880"/>
            <a:ext cx="1669694" cy="457200"/>
          </a:xfrm>
          <a:prstGeom prst="rect">
            <a:avLst/>
          </a:prstGeom>
          <a:noFill/>
        </p:spPr>
        <p:txBody>
          <a:bodyPr wrap="square" lIns="36576" tIns="18288" rIns="36576" bIns="18288" anchor="t">
            <a:spAutoFit/>
          </a:bodyPr>
          <a:lstStyle/>
          <a:p>
            <a:pPr algn="ctr"/>
            <a:r>
              <a:rPr sz="1900" b="1" i="0">
                <a:solidFill>
                  <a:srgbClr val="F2F2EC"/>
                </a:solidFill>
                <a:latin typeface="Segoe UI Semibold"/>
              </a:rPr>
              <a:t>Gere</a:t>
            </a:r>
          </a:p>
        </p:txBody>
      </p:sp>
      <p:sp>
        <p:nvSpPr>
          <p:cNvPr id="22" name="TextBox 21"/>
          <p:cNvSpPr txBox="1"/>
          <p:nvPr/>
        </p:nvSpPr>
        <p:spPr>
          <a:xfrm>
            <a:off x="7477963" y="4114800"/>
            <a:ext cx="1669694" cy="1554480"/>
          </a:xfrm>
          <a:prstGeom prst="rect">
            <a:avLst/>
          </a:prstGeom>
          <a:noFill/>
        </p:spPr>
        <p:txBody>
          <a:bodyPr wrap="square" lIns="36576" tIns="18288" rIns="36576" bIns="18288" anchor="t">
            <a:spAutoFit/>
          </a:bodyPr>
          <a:lstStyle/>
          <a:p>
            <a:pPr algn="ctr"/>
            <a:r>
              <a:rPr sz="1400" b="0" i="0">
                <a:solidFill>
                  <a:srgbClr val="B4B8B0"/>
                </a:solidFill>
                <a:latin typeface="Segoe UI"/>
              </a:rPr>
              <a:t>Técnicas com tempo marcado</a:t>
            </a:r>
          </a:p>
        </p:txBody>
      </p:sp>
      <p:sp>
        <p:nvSpPr>
          <p:cNvPr id="23" name="Oval 22"/>
          <p:cNvSpPr/>
          <p:nvPr/>
        </p:nvSpPr>
        <p:spPr>
          <a:xfrm>
            <a:off x="10073944" y="2148840"/>
            <a:ext cx="914400" cy="914400"/>
          </a:xfrm>
          <a:prstGeom prst="ellipse">
            <a:avLst/>
          </a:prstGeom>
          <a:solidFill>
            <a:srgbClr val="2FA38A"/>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2000" b="1" i="0">
                <a:solidFill>
                  <a:srgbClr val="1A1A1A"/>
                </a:solidFill>
                <a:latin typeface="Segoe UI Semibold"/>
              </a:rPr>
              <a:t>05</a:t>
            </a:r>
          </a:p>
        </p:txBody>
      </p:sp>
      <p:sp>
        <p:nvSpPr>
          <p:cNvPr id="24" name="Rounded Rectangle 23"/>
          <p:cNvSpPr/>
          <p:nvPr/>
        </p:nvSpPr>
        <p:spPr>
          <a:xfrm>
            <a:off x="9531705" y="3429000"/>
            <a:ext cx="1998878" cy="237744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9696297" y="3611880"/>
            <a:ext cx="1669694" cy="457200"/>
          </a:xfrm>
          <a:prstGeom prst="rect">
            <a:avLst/>
          </a:prstGeom>
          <a:noFill/>
        </p:spPr>
        <p:txBody>
          <a:bodyPr wrap="square" lIns="36576" tIns="18288" rIns="36576" bIns="18288" anchor="t">
            <a:spAutoFit/>
          </a:bodyPr>
          <a:lstStyle/>
          <a:p>
            <a:pPr algn="ctr"/>
            <a:r>
              <a:rPr sz="1900" b="1" i="0">
                <a:solidFill>
                  <a:srgbClr val="F2F2EC"/>
                </a:solidFill>
                <a:latin typeface="Segoe UI Semibold"/>
              </a:rPr>
              <a:t>Priorize</a:t>
            </a:r>
          </a:p>
        </p:txBody>
      </p:sp>
      <p:sp>
        <p:nvSpPr>
          <p:cNvPr id="26" name="TextBox 25"/>
          <p:cNvSpPr txBox="1"/>
          <p:nvPr/>
        </p:nvSpPr>
        <p:spPr>
          <a:xfrm>
            <a:off x="9696297" y="4114800"/>
            <a:ext cx="1669694" cy="1554480"/>
          </a:xfrm>
          <a:prstGeom prst="rect">
            <a:avLst/>
          </a:prstGeom>
          <a:noFill/>
        </p:spPr>
        <p:txBody>
          <a:bodyPr wrap="square" lIns="36576" tIns="18288" rIns="36576" bIns="18288" anchor="t">
            <a:spAutoFit/>
          </a:bodyPr>
          <a:lstStyle/>
          <a:p>
            <a:pPr algn="ctr"/>
            <a:r>
              <a:rPr sz="1400" b="0" i="0">
                <a:solidFill>
                  <a:srgbClr val="B4B8B0"/>
                </a:solidFill>
                <a:latin typeface="Segoe UI"/>
              </a:rPr>
              <a:t>Votação e matriz</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22" presetClass="entr" presetSubtype="8" fill="hold" nodeType="withEffect">
                                  <p:stCondLst>
                                    <p:cond delay="20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1500" fill="hold"/>
                                        <p:tgtEl>
                                          <p:spTgt spid="6"/>
                                        </p:tgtEl>
                                      </p:cBhvr>
                                    </p:animEffect>
                                  </p:childTnLst>
                                </p:cTn>
                              </p:par>
                              <p:par>
                                <p:cTn id="11" presetID="53" presetClass="entr" presetSubtype="16" decel="100000" fill="hold" grpId="0" nodeType="withEffect">
                                  <p:stCondLst>
                                    <p:cond delay="20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450" fill="hold"/>
                                        <p:tgtEl>
                                          <p:spTgt spid="7"/>
                                        </p:tgtEl>
                                        <p:attrNameLst>
                                          <p:attrName>ppt_w</p:attrName>
                                        </p:attrNameLst>
                                      </p:cBhvr>
                                      <p:tavLst>
                                        <p:tav tm="0">
                                          <p:val>
                                            <p:strVal val="0"/>
                                          </p:val>
                                        </p:tav>
                                        <p:tav tm="70000">
                                          <p:val>
                                            <p:strVal val="#ppt_w*1.08"/>
                                          </p:val>
                                        </p:tav>
                                        <p:tav tm="100000">
                                          <p:val>
                                            <p:strVal val="#ppt_w"/>
                                          </p:val>
                                        </p:tav>
                                      </p:tavLst>
                                    </p:anim>
                                    <p:anim calcmode="lin" valueType="num">
                                      <p:cBhvr additive="base">
                                        <p:cTn id="14" dur="450" fill="hold"/>
                                        <p:tgtEl>
                                          <p:spTgt spid="7"/>
                                        </p:tgtEl>
                                        <p:attrNameLst>
                                          <p:attrName>ppt_h</p:attrName>
                                        </p:attrNameLst>
                                      </p:cBhvr>
                                      <p:tavLst>
                                        <p:tav tm="0">
                                          <p:val>
                                            <p:strVal val="0"/>
                                          </p:val>
                                        </p:tav>
                                        <p:tav tm="70000">
                                          <p:val>
                                            <p:strVal val="#ppt_h*1.08"/>
                                          </p:val>
                                        </p:tav>
                                        <p:tav tm="100000">
                                          <p:val>
                                            <p:strVal val="#ppt_h"/>
                                          </p:val>
                                        </p:tav>
                                      </p:tavLst>
                                    </p:anim>
                                    <p:animEffect transition="in" filter="fade">
                                      <p:cBhvr>
                                        <p:cTn id="15" dur="270" fill="hold"/>
                                        <p:tgtEl>
                                          <p:spTgt spid="7"/>
                                        </p:tgtEl>
                                      </p:cBhvr>
                                    </p:animEffect>
                                  </p:childTnLst>
                                </p:cTn>
                              </p:par>
                              <p:par>
                                <p:cTn id="16" presetID="42" presetClass="entr" presetSubtype="0" decel="100000" fill="hold" grpId="0" nodeType="withEffect">
                                  <p:stCondLst>
                                    <p:cond delay="32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650" fill="hold"/>
                                        <p:tgtEl>
                                          <p:spTgt spid="8"/>
                                        </p:tgtEl>
                                      </p:cBhvr>
                                    </p:animEffect>
                                    <p:anim calcmode="lin" valueType="num">
                                      <p:cBhvr additive="base">
                                        <p:cTn id="19" dur="650" fill="hold"/>
                                        <p:tgtEl>
                                          <p:spTgt spid="8"/>
                                        </p:tgtEl>
                                        <p:attrNameLst>
                                          <p:attrName>ppt_x</p:attrName>
                                        </p:attrNameLst>
                                      </p:cBhvr>
                                      <p:tavLst>
                                        <p:tav tm="0">
                                          <p:val>
                                            <p:strVal val="#ppt_x"/>
                                          </p:val>
                                        </p:tav>
                                        <p:tav tm="100000">
                                          <p:val>
                                            <p:strVal val="#ppt_x"/>
                                          </p:val>
                                        </p:tav>
                                      </p:tavLst>
                                    </p:anim>
                                    <p:anim calcmode="lin" valueType="num">
                                      <p:cBhvr additive="base">
                                        <p:cTn id="20" dur="650" fill="hold"/>
                                        <p:tgtEl>
                                          <p:spTgt spid="8"/>
                                        </p:tgtEl>
                                        <p:attrNameLst>
                                          <p:attrName>ppt_y</p:attrName>
                                        </p:attrNameLst>
                                      </p:cBhvr>
                                      <p:tavLst>
                                        <p:tav tm="0">
                                          <p:val>
                                            <p:strVal val="#ppt_y+.06"/>
                                          </p:val>
                                        </p:tav>
                                        <p:tav tm="100000">
                                          <p:val>
                                            <p:strVal val="#ppt_y"/>
                                          </p:val>
                                        </p:tav>
                                      </p:tavLst>
                                    </p:anim>
                                  </p:childTnLst>
                                </p:cTn>
                              </p:par>
                              <p:par>
                                <p:cTn id="21" presetID="42" presetClass="entr" presetSubtype="0" decel="100000" fill="hold" grpId="0" nodeType="withEffect">
                                  <p:stCondLst>
                                    <p:cond delay="32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650" fill="hold"/>
                                        <p:tgtEl>
                                          <p:spTgt spid="9"/>
                                        </p:tgtEl>
                                      </p:cBhvr>
                                    </p:animEffect>
                                    <p:anim calcmode="lin" valueType="num">
                                      <p:cBhvr additive="base">
                                        <p:cTn id="24" dur="650" fill="hold"/>
                                        <p:tgtEl>
                                          <p:spTgt spid="9"/>
                                        </p:tgtEl>
                                        <p:attrNameLst>
                                          <p:attrName>ppt_x</p:attrName>
                                        </p:attrNameLst>
                                      </p:cBhvr>
                                      <p:tavLst>
                                        <p:tav tm="0">
                                          <p:val>
                                            <p:strVal val="#ppt_x"/>
                                          </p:val>
                                        </p:tav>
                                        <p:tav tm="100000">
                                          <p:val>
                                            <p:strVal val="#ppt_x"/>
                                          </p:val>
                                        </p:tav>
                                      </p:tavLst>
                                    </p:anim>
                                    <p:anim calcmode="lin" valueType="num">
                                      <p:cBhvr additive="base">
                                        <p:cTn id="25" dur="650" fill="hold"/>
                                        <p:tgtEl>
                                          <p:spTgt spid="9"/>
                                        </p:tgtEl>
                                        <p:attrNameLst>
                                          <p:attrName>ppt_y</p:attrName>
                                        </p:attrNameLst>
                                      </p:cBhvr>
                                      <p:tavLst>
                                        <p:tav tm="0">
                                          <p:val>
                                            <p:strVal val="#ppt_y+.06"/>
                                          </p:val>
                                        </p:tav>
                                        <p:tav tm="100000">
                                          <p:val>
                                            <p:strVal val="#ppt_y"/>
                                          </p:val>
                                        </p:tav>
                                      </p:tavLst>
                                    </p:anim>
                                  </p:childTnLst>
                                </p:cTn>
                              </p:par>
                              <p:par>
                                <p:cTn id="26" presetID="42" presetClass="entr" presetSubtype="0" decel="100000" fill="hold" grpId="0" nodeType="withEffect">
                                  <p:stCondLst>
                                    <p:cond delay="32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650" fill="hold"/>
                                        <p:tgtEl>
                                          <p:spTgt spid="10"/>
                                        </p:tgtEl>
                                      </p:cBhvr>
                                    </p:animEffect>
                                    <p:anim calcmode="lin" valueType="num">
                                      <p:cBhvr additive="base">
                                        <p:cTn id="29" dur="650" fill="hold"/>
                                        <p:tgtEl>
                                          <p:spTgt spid="10"/>
                                        </p:tgtEl>
                                        <p:attrNameLst>
                                          <p:attrName>ppt_x</p:attrName>
                                        </p:attrNameLst>
                                      </p:cBhvr>
                                      <p:tavLst>
                                        <p:tav tm="0">
                                          <p:val>
                                            <p:strVal val="#ppt_x"/>
                                          </p:val>
                                        </p:tav>
                                        <p:tav tm="100000">
                                          <p:val>
                                            <p:strVal val="#ppt_x"/>
                                          </p:val>
                                        </p:tav>
                                      </p:tavLst>
                                    </p:anim>
                                    <p:anim calcmode="lin" valueType="num">
                                      <p:cBhvr additive="base">
                                        <p:cTn id="30" dur="650" fill="hold"/>
                                        <p:tgtEl>
                                          <p:spTgt spid="10"/>
                                        </p:tgtEl>
                                        <p:attrNameLst>
                                          <p:attrName>ppt_y</p:attrName>
                                        </p:attrNameLst>
                                      </p:cBhvr>
                                      <p:tavLst>
                                        <p:tav tm="0">
                                          <p:val>
                                            <p:strVal val="#ppt_y+.06"/>
                                          </p:val>
                                        </p:tav>
                                        <p:tav tm="100000">
                                          <p:val>
                                            <p:strVal val="#ppt_y"/>
                                          </p:val>
                                        </p:tav>
                                      </p:tavLst>
                                    </p:anim>
                                  </p:childTnLst>
                                </p:cTn>
                              </p:par>
                              <p:par>
                                <p:cTn id="31" presetID="53" presetClass="entr" presetSubtype="16" decel="100000" fill="hold" grpId="0" nodeType="withEffect">
                                  <p:stCondLst>
                                    <p:cond delay="620"/>
                                  </p:stCondLst>
                                  <p:childTnLst>
                                    <p:set>
                                      <p:cBhvr>
                                        <p:cTn id="32" dur="1" fill="hold">
                                          <p:stCondLst>
                                            <p:cond delay="0"/>
                                          </p:stCondLst>
                                        </p:cTn>
                                        <p:tgtEl>
                                          <p:spTgt spid="11"/>
                                        </p:tgtEl>
                                        <p:attrNameLst>
                                          <p:attrName>style.visibility</p:attrName>
                                        </p:attrNameLst>
                                      </p:cBhvr>
                                      <p:to>
                                        <p:strVal val="visible"/>
                                      </p:to>
                                    </p:set>
                                    <p:anim calcmode="lin" valueType="num">
                                      <p:cBhvr additive="base">
                                        <p:cTn id="33" dur="450" fill="hold"/>
                                        <p:tgtEl>
                                          <p:spTgt spid="11"/>
                                        </p:tgtEl>
                                        <p:attrNameLst>
                                          <p:attrName>ppt_w</p:attrName>
                                        </p:attrNameLst>
                                      </p:cBhvr>
                                      <p:tavLst>
                                        <p:tav tm="0">
                                          <p:val>
                                            <p:strVal val="0"/>
                                          </p:val>
                                        </p:tav>
                                        <p:tav tm="70000">
                                          <p:val>
                                            <p:strVal val="#ppt_w*1.08"/>
                                          </p:val>
                                        </p:tav>
                                        <p:tav tm="100000">
                                          <p:val>
                                            <p:strVal val="#ppt_w"/>
                                          </p:val>
                                        </p:tav>
                                      </p:tavLst>
                                    </p:anim>
                                    <p:anim calcmode="lin" valueType="num">
                                      <p:cBhvr additive="base">
                                        <p:cTn id="34" dur="450" fill="hold"/>
                                        <p:tgtEl>
                                          <p:spTgt spid="11"/>
                                        </p:tgtEl>
                                        <p:attrNameLst>
                                          <p:attrName>ppt_h</p:attrName>
                                        </p:attrNameLst>
                                      </p:cBhvr>
                                      <p:tavLst>
                                        <p:tav tm="0">
                                          <p:val>
                                            <p:strVal val="0"/>
                                          </p:val>
                                        </p:tav>
                                        <p:tav tm="70000">
                                          <p:val>
                                            <p:strVal val="#ppt_h*1.08"/>
                                          </p:val>
                                        </p:tav>
                                        <p:tav tm="100000">
                                          <p:val>
                                            <p:strVal val="#ppt_h"/>
                                          </p:val>
                                        </p:tav>
                                      </p:tavLst>
                                    </p:anim>
                                    <p:animEffect transition="in" filter="fade">
                                      <p:cBhvr>
                                        <p:cTn id="35" dur="270" fill="hold"/>
                                        <p:tgtEl>
                                          <p:spTgt spid="11"/>
                                        </p:tgtEl>
                                      </p:cBhvr>
                                    </p:animEffect>
                                  </p:childTnLst>
                                </p:cTn>
                              </p:par>
                              <p:par>
                                <p:cTn id="36" presetID="42" presetClass="entr" presetSubtype="0" decel="100000" fill="hold" grpId="0" nodeType="withEffect">
                                  <p:stCondLst>
                                    <p:cond delay="74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650" fill="hold"/>
                                        <p:tgtEl>
                                          <p:spTgt spid="12"/>
                                        </p:tgtEl>
                                      </p:cBhvr>
                                    </p:animEffect>
                                    <p:anim calcmode="lin" valueType="num">
                                      <p:cBhvr additive="base">
                                        <p:cTn id="39" dur="650" fill="hold"/>
                                        <p:tgtEl>
                                          <p:spTgt spid="12"/>
                                        </p:tgtEl>
                                        <p:attrNameLst>
                                          <p:attrName>ppt_x</p:attrName>
                                        </p:attrNameLst>
                                      </p:cBhvr>
                                      <p:tavLst>
                                        <p:tav tm="0">
                                          <p:val>
                                            <p:strVal val="#ppt_x"/>
                                          </p:val>
                                        </p:tav>
                                        <p:tav tm="100000">
                                          <p:val>
                                            <p:strVal val="#ppt_x"/>
                                          </p:val>
                                        </p:tav>
                                      </p:tavLst>
                                    </p:anim>
                                    <p:anim calcmode="lin" valueType="num">
                                      <p:cBhvr additive="base">
                                        <p:cTn id="40" dur="650" fill="hold"/>
                                        <p:tgtEl>
                                          <p:spTgt spid="12"/>
                                        </p:tgtEl>
                                        <p:attrNameLst>
                                          <p:attrName>ppt_y</p:attrName>
                                        </p:attrNameLst>
                                      </p:cBhvr>
                                      <p:tavLst>
                                        <p:tav tm="0">
                                          <p:val>
                                            <p:strVal val="#ppt_y+.06"/>
                                          </p:val>
                                        </p:tav>
                                        <p:tav tm="100000">
                                          <p:val>
                                            <p:strVal val="#ppt_y"/>
                                          </p:val>
                                        </p:tav>
                                      </p:tavLst>
                                    </p:anim>
                                  </p:childTnLst>
                                </p:cTn>
                              </p:par>
                              <p:par>
                                <p:cTn id="41" presetID="42" presetClass="entr" presetSubtype="0" decel="100000" fill="hold" grpId="0" nodeType="withEffect">
                                  <p:stCondLst>
                                    <p:cond delay="74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650" fill="hold"/>
                                        <p:tgtEl>
                                          <p:spTgt spid="13"/>
                                        </p:tgtEl>
                                      </p:cBhvr>
                                    </p:animEffect>
                                    <p:anim calcmode="lin" valueType="num">
                                      <p:cBhvr additive="base">
                                        <p:cTn id="44" dur="650" fill="hold"/>
                                        <p:tgtEl>
                                          <p:spTgt spid="13"/>
                                        </p:tgtEl>
                                        <p:attrNameLst>
                                          <p:attrName>ppt_x</p:attrName>
                                        </p:attrNameLst>
                                      </p:cBhvr>
                                      <p:tavLst>
                                        <p:tav tm="0">
                                          <p:val>
                                            <p:strVal val="#ppt_x"/>
                                          </p:val>
                                        </p:tav>
                                        <p:tav tm="100000">
                                          <p:val>
                                            <p:strVal val="#ppt_x"/>
                                          </p:val>
                                        </p:tav>
                                      </p:tavLst>
                                    </p:anim>
                                    <p:anim calcmode="lin" valueType="num">
                                      <p:cBhvr additive="base">
                                        <p:cTn id="45" dur="650" fill="hold"/>
                                        <p:tgtEl>
                                          <p:spTgt spid="13"/>
                                        </p:tgtEl>
                                        <p:attrNameLst>
                                          <p:attrName>ppt_y</p:attrName>
                                        </p:attrNameLst>
                                      </p:cBhvr>
                                      <p:tavLst>
                                        <p:tav tm="0">
                                          <p:val>
                                            <p:strVal val="#ppt_y+.06"/>
                                          </p:val>
                                        </p:tav>
                                        <p:tav tm="100000">
                                          <p:val>
                                            <p:strVal val="#ppt_y"/>
                                          </p:val>
                                        </p:tav>
                                      </p:tavLst>
                                    </p:anim>
                                  </p:childTnLst>
                                </p:cTn>
                              </p:par>
                              <p:par>
                                <p:cTn id="46" presetID="42" presetClass="entr" presetSubtype="0" decel="100000" fill="hold" grpId="0" nodeType="withEffect">
                                  <p:stCondLst>
                                    <p:cond delay="740"/>
                                  </p:stCondLst>
                                  <p:childTnLst>
                                    <p:set>
                                      <p:cBhvr>
                                        <p:cTn id="47" dur="1" fill="hold">
                                          <p:stCondLst>
                                            <p:cond delay="0"/>
                                          </p:stCondLst>
                                        </p:cTn>
                                        <p:tgtEl>
                                          <p:spTgt spid="14"/>
                                        </p:tgtEl>
                                        <p:attrNameLst>
                                          <p:attrName>style.visibility</p:attrName>
                                        </p:attrNameLst>
                                      </p:cBhvr>
                                      <p:to>
                                        <p:strVal val="visible"/>
                                      </p:to>
                                    </p:set>
                                    <p:animEffect transition="in" filter="fade">
                                      <p:cBhvr>
                                        <p:cTn id="48" dur="650" fill="hold"/>
                                        <p:tgtEl>
                                          <p:spTgt spid="14"/>
                                        </p:tgtEl>
                                      </p:cBhvr>
                                    </p:animEffect>
                                    <p:anim calcmode="lin" valueType="num">
                                      <p:cBhvr additive="base">
                                        <p:cTn id="49" dur="650" fill="hold"/>
                                        <p:tgtEl>
                                          <p:spTgt spid="14"/>
                                        </p:tgtEl>
                                        <p:attrNameLst>
                                          <p:attrName>ppt_x</p:attrName>
                                        </p:attrNameLst>
                                      </p:cBhvr>
                                      <p:tavLst>
                                        <p:tav tm="0">
                                          <p:val>
                                            <p:strVal val="#ppt_x"/>
                                          </p:val>
                                        </p:tav>
                                        <p:tav tm="100000">
                                          <p:val>
                                            <p:strVal val="#ppt_x"/>
                                          </p:val>
                                        </p:tav>
                                      </p:tavLst>
                                    </p:anim>
                                    <p:anim calcmode="lin" valueType="num">
                                      <p:cBhvr additive="base">
                                        <p:cTn id="50" dur="650" fill="hold"/>
                                        <p:tgtEl>
                                          <p:spTgt spid="14"/>
                                        </p:tgtEl>
                                        <p:attrNameLst>
                                          <p:attrName>ppt_y</p:attrName>
                                        </p:attrNameLst>
                                      </p:cBhvr>
                                      <p:tavLst>
                                        <p:tav tm="0">
                                          <p:val>
                                            <p:strVal val="#ppt_y+.06"/>
                                          </p:val>
                                        </p:tav>
                                        <p:tav tm="100000">
                                          <p:val>
                                            <p:strVal val="#ppt_y"/>
                                          </p:val>
                                        </p:tav>
                                      </p:tavLst>
                                    </p:anim>
                                  </p:childTnLst>
                                </p:cTn>
                              </p:par>
                              <p:par>
                                <p:cTn id="51" presetID="53" presetClass="entr" presetSubtype="16" decel="100000" fill="hold" grpId="0" nodeType="withEffect">
                                  <p:stCondLst>
                                    <p:cond delay="1040"/>
                                  </p:stCondLst>
                                  <p:childTnLst>
                                    <p:set>
                                      <p:cBhvr>
                                        <p:cTn id="52" dur="1" fill="hold">
                                          <p:stCondLst>
                                            <p:cond delay="0"/>
                                          </p:stCondLst>
                                        </p:cTn>
                                        <p:tgtEl>
                                          <p:spTgt spid="15"/>
                                        </p:tgtEl>
                                        <p:attrNameLst>
                                          <p:attrName>style.visibility</p:attrName>
                                        </p:attrNameLst>
                                      </p:cBhvr>
                                      <p:to>
                                        <p:strVal val="visible"/>
                                      </p:to>
                                    </p:set>
                                    <p:anim calcmode="lin" valueType="num">
                                      <p:cBhvr additive="base">
                                        <p:cTn id="53" dur="450" fill="hold"/>
                                        <p:tgtEl>
                                          <p:spTgt spid="15"/>
                                        </p:tgtEl>
                                        <p:attrNameLst>
                                          <p:attrName>ppt_w</p:attrName>
                                        </p:attrNameLst>
                                      </p:cBhvr>
                                      <p:tavLst>
                                        <p:tav tm="0">
                                          <p:val>
                                            <p:strVal val="0"/>
                                          </p:val>
                                        </p:tav>
                                        <p:tav tm="70000">
                                          <p:val>
                                            <p:strVal val="#ppt_w*1.08"/>
                                          </p:val>
                                        </p:tav>
                                        <p:tav tm="100000">
                                          <p:val>
                                            <p:strVal val="#ppt_w"/>
                                          </p:val>
                                        </p:tav>
                                      </p:tavLst>
                                    </p:anim>
                                    <p:anim calcmode="lin" valueType="num">
                                      <p:cBhvr additive="base">
                                        <p:cTn id="54" dur="450" fill="hold"/>
                                        <p:tgtEl>
                                          <p:spTgt spid="15"/>
                                        </p:tgtEl>
                                        <p:attrNameLst>
                                          <p:attrName>ppt_h</p:attrName>
                                        </p:attrNameLst>
                                      </p:cBhvr>
                                      <p:tavLst>
                                        <p:tav tm="0">
                                          <p:val>
                                            <p:strVal val="0"/>
                                          </p:val>
                                        </p:tav>
                                        <p:tav tm="70000">
                                          <p:val>
                                            <p:strVal val="#ppt_h*1.08"/>
                                          </p:val>
                                        </p:tav>
                                        <p:tav tm="100000">
                                          <p:val>
                                            <p:strVal val="#ppt_h"/>
                                          </p:val>
                                        </p:tav>
                                      </p:tavLst>
                                    </p:anim>
                                    <p:animEffect transition="in" filter="fade">
                                      <p:cBhvr>
                                        <p:cTn id="55" dur="270" fill="hold"/>
                                        <p:tgtEl>
                                          <p:spTgt spid="15"/>
                                        </p:tgtEl>
                                      </p:cBhvr>
                                    </p:animEffect>
                                  </p:childTnLst>
                                </p:cTn>
                              </p:par>
                              <p:par>
                                <p:cTn id="56" presetID="42" presetClass="entr" presetSubtype="0" decel="100000" fill="hold" grpId="0" nodeType="withEffect">
                                  <p:stCondLst>
                                    <p:cond delay="116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650" fill="hold"/>
                                        <p:tgtEl>
                                          <p:spTgt spid="16"/>
                                        </p:tgtEl>
                                      </p:cBhvr>
                                    </p:animEffect>
                                    <p:anim calcmode="lin" valueType="num">
                                      <p:cBhvr additive="base">
                                        <p:cTn id="59" dur="650" fill="hold"/>
                                        <p:tgtEl>
                                          <p:spTgt spid="16"/>
                                        </p:tgtEl>
                                        <p:attrNameLst>
                                          <p:attrName>ppt_x</p:attrName>
                                        </p:attrNameLst>
                                      </p:cBhvr>
                                      <p:tavLst>
                                        <p:tav tm="0">
                                          <p:val>
                                            <p:strVal val="#ppt_x"/>
                                          </p:val>
                                        </p:tav>
                                        <p:tav tm="100000">
                                          <p:val>
                                            <p:strVal val="#ppt_x"/>
                                          </p:val>
                                        </p:tav>
                                      </p:tavLst>
                                    </p:anim>
                                    <p:anim calcmode="lin" valueType="num">
                                      <p:cBhvr additive="base">
                                        <p:cTn id="60" dur="650" fill="hold"/>
                                        <p:tgtEl>
                                          <p:spTgt spid="16"/>
                                        </p:tgtEl>
                                        <p:attrNameLst>
                                          <p:attrName>ppt_y</p:attrName>
                                        </p:attrNameLst>
                                      </p:cBhvr>
                                      <p:tavLst>
                                        <p:tav tm="0">
                                          <p:val>
                                            <p:strVal val="#ppt_y+.06"/>
                                          </p:val>
                                        </p:tav>
                                        <p:tav tm="100000">
                                          <p:val>
                                            <p:strVal val="#ppt_y"/>
                                          </p:val>
                                        </p:tav>
                                      </p:tavLst>
                                    </p:anim>
                                  </p:childTnLst>
                                </p:cTn>
                              </p:par>
                              <p:par>
                                <p:cTn id="61" presetID="42" presetClass="entr" presetSubtype="0" decel="100000" fill="hold" grpId="0" nodeType="withEffect">
                                  <p:stCondLst>
                                    <p:cond delay="1160"/>
                                  </p:stCondLst>
                                  <p:childTnLst>
                                    <p:set>
                                      <p:cBhvr>
                                        <p:cTn id="62" dur="1" fill="hold">
                                          <p:stCondLst>
                                            <p:cond delay="0"/>
                                          </p:stCondLst>
                                        </p:cTn>
                                        <p:tgtEl>
                                          <p:spTgt spid="17"/>
                                        </p:tgtEl>
                                        <p:attrNameLst>
                                          <p:attrName>style.visibility</p:attrName>
                                        </p:attrNameLst>
                                      </p:cBhvr>
                                      <p:to>
                                        <p:strVal val="visible"/>
                                      </p:to>
                                    </p:set>
                                    <p:animEffect transition="in" filter="fade">
                                      <p:cBhvr>
                                        <p:cTn id="63" dur="650" fill="hold"/>
                                        <p:tgtEl>
                                          <p:spTgt spid="17"/>
                                        </p:tgtEl>
                                      </p:cBhvr>
                                    </p:animEffect>
                                    <p:anim calcmode="lin" valueType="num">
                                      <p:cBhvr additive="base">
                                        <p:cTn id="64" dur="650" fill="hold"/>
                                        <p:tgtEl>
                                          <p:spTgt spid="17"/>
                                        </p:tgtEl>
                                        <p:attrNameLst>
                                          <p:attrName>ppt_x</p:attrName>
                                        </p:attrNameLst>
                                      </p:cBhvr>
                                      <p:tavLst>
                                        <p:tav tm="0">
                                          <p:val>
                                            <p:strVal val="#ppt_x"/>
                                          </p:val>
                                        </p:tav>
                                        <p:tav tm="100000">
                                          <p:val>
                                            <p:strVal val="#ppt_x"/>
                                          </p:val>
                                        </p:tav>
                                      </p:tavLst>
                                    </p:anim>
                                    <p:anim calcmode="lin" valueType="num">
                                      <p:cBhvr additive="base">
                                        <p:cTn id="65" dur="650" fill="hold"/>
                                        <p:tgtEl>
                                          <p:spTgt spid="17"/>
                                        </p:tgtEl>
                                        <p:attrNameLst>
                                          <p:attrName>ppt_y</p:attrName>
                                        </p:attrNameLst>
                                      </p:cBhvr>
                                      <p:tavLst>
                                        <p:tav tm="0">
                                          <p:val>
                                            <p:strVal val="#ppt_y+.06"/>
                                          </p:val>
                                        </p:tav>
                                        <p:tav tm="100000">
                                          <p:val>
                                            <p:strVal val="#ppt_y"/>
                                          </p:val>
                                        </p:tav>
                                      </p:tavLst>
                                    </p:anim>
                                  </p:childTnLst>
                                </p:cTn>
                              </p:par>
                              <p:par>
                                <p:cTn id="66" presetID="42" presetClass="entr" presetSubtype="0" decel="100000" fill="hold" grpId="0" nodeType="withEffect">
                                  <p:stCondLst>
                                    <p:cond delay="1160"/>
                                  </p:stCondLst>
                                  <p:childTnLst>
                                    <p:set>
                                      <p:cBhvr>
                                        <p:cTn id="67" dur="1" fill="hold">
                                          <p:stCondLst>
                                            <p:cond delay="0"/>
                                          </p:stCondLst>
                                        </p:cTn>
                                        <p:tgtEl>
                                          <p:spTgt spid="18"/>
                                        </p:tgtEl>
                                        <p:attrNameLst>
                                          <p:attrName>style.visibility</p:attrName>
                                        </p:attrNameLst>
                                      </p:cBhvr>
                                      <p:to>
                                        <p:strVal val="visible"/>
                                      </p:to>
                                    </p:set>
                                    <p:animEffect transition="in" filter="fade">
                                      <p:cBhvr>
                                        <p:cTn id="68" dur="650" fill="hold"/>
                                        <p:tgtEl>
                                          <p:spTgt spid="18"/>
                                        </p:tgtEl>
                                      </p:cBhvr>
                                    </p:animEffect>
                                    <p:anim calcmode="lin" valueType="num">
                                      <p:cBhvr additive="base">
                                        <p:cTn id="69" dur="650" fill="hold"/>
                                        <p:tgtEl>
                                          <p:spTgt spid="18"/>
                                        </p:tgtEl>
                                        <p:attrNameLst>
                                          <p:attrName>ppt_x</p:attrName>
                                        </p:attrNameLst>
                                      </p:cBhvr>
                                      <p:tavLst>
                                        <p:tav tm="0">
                                          <p:val>
                                            <p:strVal val="#ppt_x"/>
                                          </p:val>
                                        </p:tav>
                                        <p:tav tm="100000">
                                          <p:val>
                                            <p:strVal val="#ppt_x"/>
                                          </p:val>
                                        </p:tav>
                                      </p:tavLst>
                                    </p:anim>
                                    <p:anim calcmode="lin" valueType="num">
                                      <p:cBhvr additive="base">
                                        <p:cTn id="70" dur="650" fill="hold"/>
                                        <p:tgtEl>
                                          <p:spTgt spid="18"/>
                                        </p:tgtEl>
                                        <p:attrNameLst>
                                          <p:attrName>ppt_y</p:attrName>
                                        </p:attrNameLst>
                                      </p:cBhvr>
                                      <p:tavLst>
                                        <p:tav tm="0">
                                          <p:val>
                                            <p:strVal val="#ppt_y+.06"/>
                                          </p:val>
                                        </p:tav>
                                        <p:tav tm="100000">
                                          <p:val>
                                            <p:strVal val="#ppt_y"/>
                                          </p:val>
                                        </p:tav>
                                      </p:tavLst>
                                    </p:anim>
                                  </p:childTnLst>
                                </p:cTn>
                              </p:par>
                              <p:par>
                                <p:cTn id="71" presetID="53" presetClass="entr" presetSubtype="16" decel="100000" fill="hold" grpId="0" nodeType="withEffect">
                                  <p:stCondLst>
                                    <p:cond delay="1460"/>
                                  </p:stCondLst>
                                  <p:childTnLst>
                                    <p:set>
                                      <p:cBhvr>
                                        <p:cTn id="72" dur="1" fill="hold">
                                          <p:stCondLst>
                                            <p:cond delay="0"/>
                                          </p:stCondLst>
                                        </p:cTn>
                                        <p:tgtEl>
                                          <p:spTgt spid="19"/>
                                        </p:tgtEl>
                                        <p:attrNameLst>
                                          <p:attrName>style.visibility</p:attrName>
                                        </p:attrNameLst>
                                      </p:cBhvr>
                                      <p:to>
                                        <p:strVal val="visible"/>
                                      </p:to>
                                    </p:set>
                                    <p:anim calcmode="lin" valueType="num">
                                      <p:cBhvr additive="base">
                                        <p:cTn id="73" dur="450" fill="hold"/>
                                        <p:tgtEl>
                                          <p:spTgt spid="19"/>
                                        </p:tgtEl>
                                        <p:attrNameLst>
                                          <p:attrName>ppt_w</p:attrName>
                                        </p:attrNameLst>
                                      </p:cBhvr>
                                      <p:tavLst>
                                        <p:tav tm="0">
                                          <p:val>
                                            <p:strVal val="0"/>
                                          </p:val>
                                        </p:tav>
                                        <p:tav tm="70000">
                                          <p:val>
                                            <p:strVal val="#ppt_w*1.08"/>
                                          </p:val>
                                        </p:tav>
                                        <p:tav tm="100000">
                                          <p:val>
                                            <p:strVal val="#ppt_w"/>
                                          </p:val>
                                        </p:tav>
                                      </p:tavLst>
                                    </p:anim>
                                    <p:anim calcmode="lin" valueType="num">
                                      <p:cBhvr additive="base">
                                        <p:cTn id="74" dur="450" fill="hold"/>
                                        <p:tgtEl>
                                          <p:spTgt spid="19"/>
                                        </p:tgtEl>
                                        <p:attrNameLst>
                                          <p:attrName>ppt_h</p:attrName>
                                        </p:attrNameLst>
                                      </p:cBhvr>
                                      <p:tavLst>
                                        <p:tav tm="0">
                                          <p:val>
                                            <p:strVal val="0"/>
                                          </p:val>
                                        </p:tav>
                                        <p:tav tm="70000">
                                          <p:val>
                                            <p:strVal val="#ppt_h*1.08"/>
                                          </p:val>
                                        </p:tav>
                                        <p:tav tm="100000">
                                          <p:val>
                                            <p:strVal val="#ppt_h"/>
                                          </p:val>
                                        </p:tav>
                                      </p:tavLst>
                                    </p:anim>
                                    <p:animEffect transition="in" filter="fade">
                                      <p:cBhvr>
                                        <p:cTn id="75" dur="270" fill="hold"/>
                                        <p:tgtEl>
                                          <p:spTgt spid="19"/>
                                        </p:tgtEl>
                                      </p:cBhvr>
                                    </p:animEffect>
                                  </p:childTnLst>
                                </p:cTn>
                              </p:par>
                              <p:par>
                                <p:cTn id="76" presetID="42" presetClass="entr" presetSubtype="0" decel="100000" fill="hold" grpId="0" nodeType="withEffect">
                                  <p:stCondLst>
                                    <p:cond delay="158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650" fill="hold"/>
                                        <p:tgtEl>
                                          <p:spTgt spid="20"/>
                                        </p:tgtEl>
                                      </p:cBhvr>
                                    </p:animEffect>
                                    <p:anim calcmode="lin" valueType="num">
                                      <p:cBhvr additive="base">
                                        <p:cTn id="79" dur="650" fill="hold"/>
                                        <p:tgtEl>
                                          <p:spTgt spid="20"/>
                                        </p:tgtEl>
                                        <p:attrNameLst>
                                          <p:attrName>ppt_x</p:attrName>
                                        </p:attrNameLst>
                                      </p:cBhvr>
                                      <p:tavLst>
                                        <p:tav tm="0">
                                          <p:val>
                                            <p:strVal val="#ppt_x"/>
                                          </p:val>
                                        </p:tav>
                                        <p:tav tm="100000">
                                          <p:val>
                                            <p:strVal val="#ppt_x"/>
                                          </p:val>
                                        </p:tav>
                                      </p:tavLst>
                                    </p:anim>
                                    <p:anim calcmode="lin" valueType="num">
                                      <p:cBhvr additive="base">
                                        <p:cTn id="80" dur="650" fill="hold"/>
                                        <p:tgtEl>
                                          <p:spTgt spid="20"/>
                                        </p:tgtEl>
                                        <p:attrNameLst>
                                          <p:attrName>ppt_y</p:attrName>
                                        </p:attrNameLst>
                                      </p:cBhvr>
                                      <p:tavLst>
                                        <p:tav tm="0">
                                          <p:val>
                                            <p:strVal val="#ppt_y+.06"/>
                                          </p:val>
                                        </p:tav>
                                        <p:tav tm="100000">
                                          <p:val>
                                            <p:strVal val="#ppt_y"/>
                                          </p:val>
                                        </p:tav>
                                      </p:tavLst>
                                    </p:anim>
                                  </p:childTnLst>
                                </p:cTn>
                              </p:par>
                              <p:par>
                                <p:cTn id="81" presetID="42" presetClass="entr" presetSubtype="0" decel="100000" fill="hold" grpId="0" nodeType="withEffect">
                                  <p:stCondLst>
                                    <p:cond delay="1580"/>
                                  </p:stCondLst>
                                  <p:childTnLst>
                                    <p:set>
                                      <p:cBhvr>
                                        <p:cTn id="82" dur="1" fill="hold">
                                          <p:stCondLst>
                                            <p:cond delay="0"/>
                                          </p:stCondLst>
                                        </p:cTn>
                                        <p:tgtEl>
                                          <p:spTgt spid="21"/>
                                        </p:tgtEl>
                                        <p:attrNameLst>
                                          <p:attrName>style.visibility</p:attrName>
                                        </p:attrNameLst>
                                      </p:cBhvr>
                                      <p:to>
                                        <p:strVal val="visible"/>
                                      </p:to>
                                    </p:set>
                                    <p:animEffect transition="in" filter="fade">
                                      <p:cBhvr>
                                        <p:cTn id="83" dur="650" fill="hold"/>
                                        <p:tgtEl>
                                          <p:spTgt spid="21"/>
                                        </p:tgtEl>
                                      </p:cBhvr>
                                    </p:animEffect>
                                    <p:anim calcmode="lin" valueType="num">
                                      <p:cBhvr additive="base">
                                        <p:cTn id="84" dur="650" fill="hold"/>
                                        <p:tgtEl>
                                          <p:spTgt spid="21"/>
                                        </p:tgtEl>
                                        <p:attrNameLst>
                                          <p:attrName>ppt_x</p:attrName>
                                        </p:attrNameLst>
                                      </p:cBhvr>
                                      <p:tavLst>
                                        <p:tav tm="0">
                                          <p:val>
                                            <p:strVal val="#ppt_x"/>
                                          </p:val>
                                        </p:tav>
                                        <p:tav tm="100000">
                                          <p:val>
                                            <p:strVal val="#ppt_x"/>
                                          </p:val>
                                        </p:tav>
                                      </p:tavLst>
                                    </p:anim>
                                    <p:anim calcmode="lin" valueType="num">
                                      <p:cBhvr additive="base">
                                        <p:cTn id="85" dur="650" fill="hold"/>
                                        <p:tgtEl>
                                          <p:spTgt spid="21"/>
                                        </p:tgtEl>
                                        <p:attrNameLst>
                                          <p:attrName>ppt_y</p:attrName>
                                        </p:attrNameLst>
                                      </p:cBhvr>
                                      <p:tavLst>
                                        <p:tav tm="0">
                                          <p:val>
                                            <p:strVal val="#ppt_y+.06"/>
                                          </p:val>
                                        </p:tav>
                                        <p:tav tm="100000">
                                          <p:val>
                                            <p:strVal val="#ppt_y"/>
                                          </p:val>
                                        </p:tav>
                                      </p:tavLst>
                                    </p:anim>
                                  </p:childTnLst>
                                </p:cTn>
                              </p:par>
                              <p:par>
                                <p:cTn id="86" presetID="42" presetClass="entr" presetSubtype="0" decel="100000" fill="hold" grpId="0" nodeType="withEffect">
                                  <p:stCondLst>
                                    <p:cond delay="158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650" fill="hold"/>
                                        <p:tgtEl>
                                          <p:spTgt spid="22"/>
                                        </p:tgtEl>
                                      </p:cBhvr>
                                    </p:animEffect>
                                    <p:anim calcmode="lin" valueType="num">
                                      <p:cBhvr additive="base">
                                        <p:cTn id="89" dur="650" fill="hold"/>
                                        <p:tgtEl>
                                          <p:spTgt spid="22"/>
                                        </p:tgtEl>
                                        <p:attrNameLst>
                                          <p:attrName>ppt_x</p:attrName>
                                        </p:attrNameLst>
                                      </p:cBhvr>
                                      <p:tavLst>
                                        <p:tav tm="0">
                                          <p:val>
                                            <p:strVal val="#ppt_x"/>
                                          </p:val>
                                        </p:tav>
                                        <p:tav tm="100000">
                                          <p:val>
                                            <p:strVal val="#ppt_x"/>
                                          </p:val>
                                        </p:tav>
                                      </p:tavLst>
                                    </p:anim>
                                    <p:anim calcmode="lin" valueType="num">
                                      <p:cBhvr additive="base">
                                        <p:cTn id="90" dur="650" fill="hold"/>
                                        <p:tgtEl>
                                          <p:spTgt spid="22"/>
                                        </p:tgtEl>
                                        <p:attrNameLst>
                                          <p:attrName>ppt_y</p:attrName>
                                        </p:attrNameLst>
                                      </p:cBhvr>
                                      <p:tavLst>
                                        <p:tav tm="0">
                                          <p:val>
                                            <p:strVal val="#ppt_y+.06"/>
                                          </p:val>
                                        </p:tav>
                                        <p:tav tm="100000">
                                          <p:val>
                                            <p:strVal val="#ppt_y"/>
                                          </p:val>
                                        </p:tav>
                                      </p:tavLst>
                                    </p:anim>
                                  </p:childTnLst>
                                </p:cTn>
                              </p:par>
                              <p:par>
                                <p:cTn id="91" presetID="53" presetClass="entr" presetSubtype="16" decel="100000" fill="hold" grpId="0" nodeType="withEffect">
                                  <p:stCondLst>
                                    <p:cond delay="1880"/>
                                  </p:stCondLst>
                                  <p:childTnLst>
                                    <p:set>
                                      <p:cBhvr>
                                        <p:cTn id="92" dur="1" fill="hold">
                                          <p:stCondLst>
                                            <p:cond delay="0"/>
                                          </p:stCondLst>
                                        </p:cTn>
                                        <p:tgtEl>
                                          <p:spTgt spid="23"/>
                                        </p:tgtEl>
                                        <p:attrNameLst>
                                          <p:attrName>style.visibility</p:attrName>
                                        </p:attrNameLst>
                                      </p:cBhvr>
                                      <p:to>
                                        <p:strVal val="visible"/>
                                      </p:to>
                                    </p:set>
                                    <p:anim calcmode="lin" valueType="num">
                                      <p:cBhvr additive="base">
                                        <p:cTn id="93" dur="450" fill="hold"/>
                                        <p:tgtEl>
                                          <p:spTgt spid="23"/>
                                        </p:tgtEl>
                                        <p:attrNameLst>
                                          <p:attrName>ppt_w</p:attrName>
                                        </p:attrNameLst>
                                      </p:cBhvr>
                                      <p:tavLst>
                                        <p:tav tm="0">
                                          <p:val>
                                            <p:strVal val="0"/>
                                          </p:val>
                                        </p:tav>
                                        <p:tav tm="70000">
                                          <p:val>
                                            <p:strVal val="#ppt_w*1.08"/>
                                          </p:val>
                                        </p:tav>
                                        <p:tav tm="100000">
                                          <p:val>
                                            <p:strVal val="#ppt_w"/>
                                          </p:val>
                                        </p:tav>
                                      </p:tavLst>
                                    </p:anim>
                                    <p:anim calcmode="lin" valueType="num">
                                      <p:cBhvr additive="base">
                                        <p:cTn id="94" dur="450" fill="hold"/>
                                        <p:tgtEl>
                                          <p:spTgt spid="23"/>
                                        </p:tgtEl>
                                        <p:attrNameLst>
                                          <p:attrName>ppt_h</p:attrName>
                                        </p:attrNameLst>
                                      </p:cBhvr>
                                      <p:tavLst>
                                        <p:tav tm="0">
                                          <p:val>
                                            <p:strVal val="0"/>
                                          </p:val>
                                        </p:tav>
                                        <p:tav tm="70000">
                                          <p:val>
                                            <p:strVal val="#ppt_h*1.08"/>
                                          </p:val>
                                        </p:tav>
                                        <p:tav tm="100000">
                                          <p:val>
                                            <p:strVal val="#ppt_h"/>
                                          </p:val>
                                        </p:tav>
                                      </p:tavLst>
                                    </p:anim>
                                    <p:animEffect transition="in" filter="fade">
                                      <p:cBhvr>
                                        <p:cTn id="95" dur="270" fill="hold"/>
                                        <p:tgtEl>
                                          <p:spTgt spid="23"/>
                                        </p:tgtEl>
                                      </p:cBhvr>
                                    </p:animEffect>
                                  </p:childTnLst>
                                </p:cTn>
                              </p:par>
                              <p:par>
                                <p:cTn id="96" presetID="42" presetClass="entr" presetSubtype="0" decel="100000" fill="hold" grpId="0" nodeType="withEffect">
                                  <p:stCondLst>
                                    <p:cond delay="2000"/>
                                  </p:stCondLst>
                                  <p:childTnLst>
                                    <p:set>
                                      <p:cBhvr>
                                        <p:cTn id="97" dur="1" fill="hold">
                                          <p:stCondLst>
                                            <p:cond delay="0"/>
                                          </p:stCondLst>
                                        </p:cTn>
                                        <p:tgtEl>
                                          <p:spTgt spid="24"/>
                                        </p:tgtEl>
                                        <p:attrNameLst>
                                          <p:attrName>style.visibility</p:attrName>
                                        </p:attrNameLst>
                                      </p:cBhvr>
                                      <p:to>
                                        <p:strVal val="visible"/>
                                      </p:to>
                                    </p:set>
                                    <p:animEffect transition="in" filter="fade">
                                      <p:cBhvr>
                                        <p:cTn id="98" dur="650" fill="hold"/>
                                        <p:tgtEl>
                                          <p:spTgt spid="24"/>
                                        </p:tgtEl>
                                      </p:cBhvr>
                                    </p:animEffect>
                                    <p:anim calcmode="lin" valueType="num">
                                      <p:cBhvr additive="base">
                                        <p:cTn id="99" dur="650" fill="hold"/>
                                        <p:tgtEl>
                                          <p:spTgt spid="24"/>
                                        </p:tgtEl>
                                        <p:attrNameLst>
                                          <p:attrName>ppt_x</p:attrName>
                                        </p:attrNameLst>
                                      </p:cBhvr>
                                      <p:tavLst>
                                        <p:tav tm="0">
                                          <p:val>
                                            <p:strVal val="#ppt_x"/>
                                          </p:val>
                                        </p:tav>
                                        <p:tav tm="100000">
                                          <p:val>
                                            <p:strVal val="#ppt_x"/>
                                          </p:val>
                                        </p:tav>
                                      </p:tavLst>
                                    </p:anim>
                                    <p:anim calcmode="lin" valueType="num">
                                      <p:cBhvr additive="base">
                                        <p:cTn id="100" dur="650" fill="hold"/>
                                        <p:tgtEl>
                                          <p:spTgt spid="24"/>
                                        </p:tgtEl>
                                        <p:attrNameLst>
                                          <p:attrName>ppt_y</p:attrName>
                                        </p:attrNameLst>
                                      </p:cBhvr>
                                      <p:tavLst>
                                        <p:tav tm="0">
                                          <p:val>
                                            <p:strVal val="#ppt_y+.06"/>
                                          </p:val>
                                        </p:tav>
                                        <p:tav tm="100000">
                                          <p:val>
                                            <p:strVal val="#ppt_y"/>
                                          </p:val>
                                        </p:tav>
                                      </p:tavLst>
                                    </p:anim>
                                  </p:childTnLst>
                                </p:cTn>
                              </p:par>
                              <p:par>
                                <p:cTn id="101" presetID="42" presetClass="entr" presetSubtype="0" decel="100000" fill="hold" grpId="0" nodeType="withEffect">
                                  <p:stCondLst>
                                    <p:cond delay="2000"/>
                                  </p:stCondLst>
                                  <p:childTnLst>
                                    <p:set>
                                      <p:cBhvr>
                                        <p:cTn id="102" dur="1" fill="hold">
                                          <p:stCondLst>
                                            <p:cond delay="0"/>
                                          </p:stCondLst>
                                        </p:cTn>
                                        <p:tgtEl>
                                          <p:spTgt spid="25"/>
                                        </p:tgtEl>
                                        <p:attrNameLst>
                                          <p:attrName>style.visibility</p:attrName>
                                        </p:attrNameLst>
                                      </p:cBhvr>
                                      <p:to>
                                        <p:strVal val="visible"/>
                                      </p:to>
                                    </p:set>
                                    <p:animEffect transition="in" filter="fade">
                                      <p:cBhvr>
                                        <p:cTn id="103" dur="650" fill="hold"/>
                                        <p:tgtEl>
                                          <p:spTgt spid="25"/>
                                        </p:tgtEl>
                                      </p:cBhvr>
                                    </p:animEffect>
                                    <p:anim calcmode="lin" valueType="num">
                                      <p:cBhvr additive="base">
                                        <p:cTn id="104" dur="650" fill="hold"/>
                                        <p:tgtEl>
                                          <p:spTgt spid="25"/>
                                        </p:tgtEl>
                                        <p:attrNameLst>
                                          <p:attrName>ppt_x</p:attrName>
                                        </p:attrNameLst>
                                      </p:cBhvr>
                                      <p:tavLst>
                                        <p:tav tm="0">
                                          <p:val>
                                            <p:strVal val="#ppt_x"/>
                                          </p:val>
                                        </p:tav>
                                        <p:tav tm="100000">
                                          <p:val>
                                            <p:strVal val="#ppt_x"/>
                                          </p:val>
                                        </p:tav>
                                      </p:tavLst>
                                    </p:anim>
                                    <p:anim calcmode="lin" valueType="num">
                                      <p:cBhvr additive="base">
                                        <p:cTn id="105" dur="650" fill="hold"/>
                                        <p:tgtEl>
                                          <p:spTgt spid="25"/>
                                        </p:tgtEl>
                                        <p:attrNameLst>
                                          <p:attrName>ppt_y</p:attrName>
                                        </p:attrNameLst>
                                      </p:cBhvr>
                                      <p:tavLst>
                                        <p:tav tm="0">
                                          <p:val>
                                            <p:strVal val="#ppt_y+.06"/>
                                          </p:val>
                                        </p:tav>
                                        <p:tav tm="100000">
                                          <p:val>
                                            <p:strVal val="#ppt_y"/>
                                          </p:val>
                                        </p:tav>
                                      </p:tavLst>
                                    </p:anim>
                                  </p:childTnLst>
                                </p:cTn>
                              </p:par>
                              <p:par>
                                <p:cTn id="106" presetID="42" presetClass="entr" presetSubtype="0" decel="100000" fill="hold" grpId="0" nodeType="withEffect">
                                  <p:stCondLst>
                                    <p:cond delay="2000"/>
                                  </p:stCondLst>
                                  <p:childTnLst>
                                    <p:set>
                                      <p:cBhvr>
                                        <p:cTn id="107" dur="1" fill="hold">
                                          <p:stCondLst>
                                            <p:cond delay="0"/>
                                          </p:stCondLst>
                                        </p:cTn>
                                        <p:tgtEl>
                                          <p:spTgt spid="26"/>
                                        </p:tgtEl>
                                        <p:attrNameLst>
                                          <p:attrName>style.visibility</p:attrName>
                                        </p:attrNameLst>
                                      </p:cBhvr>
                                      <p:to>
                                        <p:strVal val="visible"/>
                                      </p:to>
                                    </p:set>
                                    <p:animEffect transition="in" filter="fade">
                                      <p:cBhvr>
                                        <p:cTn id="108" dur="650" fill="hold"/>
                                        <p:tgtEl>
                                          <p:spTgt spid="26"/>
                                        </p:tgtEl>
                                      </p:cBhvr>
                                    </p:animEffect>
                                    <p:anim calcmode="lin" valueType="num">
                                      <p:cBhvr additive="base">
                                        <p:cTn id="109" dur="650" fill="hold"/>
                                        <p:tgtEl>
                                          <p:spTgt spid="26"/>
                                        </p:tgtEl>
                                        <p:attrNameLst>
                                          <p:attrName>ppt_x</p:attrName>
                                        </p:attrNameLst>
                                      </p:cBhvr>
                                      <p:tavLst>
                                        <p:tav tm="0">
                                          <p:val>
                                            <p:strVal val="#ppt_x"/>
                                          </p:val>
                                        </p:tav>
                                        <p:tav tm="100000">
                                          <p:val>
                                            <p:strVal val="#ppt_x"/>
                                          </p:val>
                                        </p:tav>
                                      </p:tavLst>
                                    </p:anim>
                                    <p:anim calcmode="lin" valueType="num">
                                      <p:cBhvr additive="base">
                                        <p:cTn id="110" dur="650" fill="hold"/>
                                        <p:tgtEl>
                                          <p:spTgt spid="26"/>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2FA38A"/>
                </a:solidFill>
                <a:latin typeface="Segoe UI Semibold"/>
              </a:rPr>
              <a:t>MÓDULO 4  ·  IDEAR</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Quebra-gelos que funcionam</a:t>
            </a:r>
          </a:p>
        </p:txBody>
      </p:sp>
      <p:sp>
        <p:nvSpPr>
          <p:cNvPr id="6" name="TextBox 5"/>
          <p:cNvSpPr txBox="1"/>
          <p:nvPr/>
        </p:nvSpPr>
        <p:spPr>
          <a:xfrm>
            <a:off x="548640" y="1325880"/>
            <a:ext cx="10972800" cy="457200"/>
          </a:xfrm>
          <a:prstGeom prst="rect">
            <a:avLst/>
          </a:prstGeom>
          <a:noFill/>
        </p:spPr>
        <p:txBody>
          <a:bodyPr wrap="square" lIns="36576" tIns="18288" rIns="36576" bIns="18288" anchor="t">
            <a:spAutoFit/>
          </a:bodyPr>
          <a:lstStyle/>
          <a:p>
            <a:pPr algn="l"/>
            <a:r>
              <a:rPr sz="1700" b="0" i="0">
                <a:solidFill>
                  <a:srgbClr val="B4B8B0"/>
                </a:solidFill>
                <a:latin typeface="Segoe UI"/>
              </a:rPr>
              <a:t>Aqueça a criatividade antes de pedir ideias sérias.</a:t>
            </a:r>
          </a:p>
        </p:txBody>
      </p:sp>
      <p:sp>
        <p:nvSpPr>
          <p:cNvPr id="7" name="Rounded Rectangle 6"/>
          <p:cNvSpPr/>
          <p:nvPr/>
        </p:nvSpPr>
        <p:spPr>
          <a:xfrm>
            <a:off x="548640" y="2148840"/>
            <a:ext cx="3514344" cy="356616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68680" y="3246120"/>
            <a:ext cx="2874264" cy="822960"/>
          </a:xfrm>
          <a:prstGeom prst="rect">
            <a:avLst/>
          </a:prstGeom>
          <a:noFill/>
        </p:spPr>
        <p:txBody>
          <a:bodyPr wrap="square" lIns="36576" tIns="18288" rIns="36576" bIns="18288" anchor="t">
            <a:spAutoFit/>
          </a:bodyPr>
          <a:lstStyle/>
          <a:p>
            <a:pPr algn="l"/>
            <a:r>
              <a:rPr sz="1900" b="1" i="0">
                <a:solidFill>
                  <a:srgbClr val="F2F2EC"/>
                </a:solidFill>
                <a:latin typeface="Segoe UI Semibold"/>
              </a:rPr>
              <a:t>Duas verdades e uma mentira</a:t>
            </a:r>
          </a:p>
        </p:txBody>
      </p:sp>
      <p:sp>
        <p:nvSpPr>
          <p:cNvPr id="9" name="TextBox 8"/>
          <p:cNvSpPr txBox="1"/>
          <p:nvPr/>
        </p:nvSpPr>
        <p:spPr>
          <a:xfrm>
            <a:off x="868680" y="4160520"/>
            <a:ext cx="2874264" cy="1508760"/>
          </a:xfrm>
          <a:prstGeom prst="rect">
            <a:avLst/>
          </a:prstGeom>
          <a:noFill/>
        </p:spPr>
        <p:txBody>
          <a:bodyPr wrap="square" lIns="36576" tIns="18288" rIns="36576" bIns="18288" anchor="t">
            <a:spAutoFit/>
          </a:bodyPr>
          <a:lstStyle/>
          <a:p>
            <a:pPr algn="l"/>
            <a:r>
              <a:rPr sz="1450" b="0" i="0">
                <a:solidFill>
                  <a:srgbClr val="B4B8B0"/>
                </a:solidFill>
                <a:latin typeface="Segoe UI"/>
              </a:rPr>
              <a:t>Cada pessoa conta 3 fatos sobre si; o grupo adivinha a mentira.</a:t>
            </a:r>
          </a:p>
        </p:txBody>
      </p:sp>
      <p:sp>
        <p:nvSpPr>
          <p:cNvPr id="10" name="Oval 9"/>
          <p:cNvSpPr/>
          <p:nvPr/>
        </p:nvSpPr>
        <p:spPr>
          <a:xfrm>
            <a:off x="859536" y="2459736"/>
            <a:ext cx="566928" cy="566928"/>
          </a:xfrm>
          <a:prstGeom prst="ellipse">
            <a:avLst/>
          </a:prstGeom>
          <a:solidFill>
            <a:srgbClr val="2FA38A"/>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700" b="1" i="0">
                <a:solidFill>
                  <a:srgbClr val="1A1A1A"/>
                </a:solidFill>
                <a:latin typeface="Segoe UI Semibold"/>
              </a:rPr>
              <a:t>1</a:t>
            </a:r>
          </a:p>
        </p:txBody>
      </p:sp>
      <p:sp>
        <p:nvSpPr>
          <p:cNvPr id="11" name="Rounded Rectangle 10"/>
          <p:cNvSpPr/>
          <p:nvPr/>
        </p:nvSpPr>
        <p:spPr>
          <a:xfrm>
            <a:off x="4337304" y="2148840"/>
            <a:ext cx="3514344" cy="356616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657344" y="3246120"/>
            <a:ext cx="2874264" cy="822960"/>
          </a:xfrm>
          <a:prstGeom prst="rect">
            <a:avLst/>
          </a:prstGeom>
          <a:noFill/>
        </p:spPr>
        <p:txBody>
          <a:bodyPr wrap="square" lIns="36576" tIns="18288" rIns="36576" bIns="18288" anchor="t">
            <a:spAutoFit/>
          </a:bodyPr>
          <a:lstStyle/>
          <a:p>
            <a:pPr algn="l"/>
            <a:r>
              <a:rPr sz="1900" b="1" i="0">
                <a:solidFill>
                  <a:srgbClr val="F2F2EC"/>
                </a:solidFill>
                <a:latin typeface="Segoe UI Semibold"/>
              </a:rPr>
              <a:t>Usos inusitados</a:t>
            </a:r>
          </a:p>
        </p:txBody>
      </p:sp>
      <p:sp>
        <p:nvSpPr>
          <p:cNvPr id="13" name="TextBox 12"/>
          <p:cNvSpPr txBox="1"/>
          <p:nvPr/>
        </p:nvSpPr>
        <p:spPr>
          <a:xfrm>
            <a:off x="4657344" y="4160520"/>
            <a:ext cx="2874264" cy="1508760"/>
          </a:xfrm>
          <a:prstGeom prst="rect">
            <a:avLst/>
          </a:prstGeom>
          <a:noFill/>
        </p:spPr>
        <p:txBody>
          <a:bodyPr wrap="square" lIns="36576" tIns="18288" rIns="36576" bIns="18288" anchor="t">
            <a:spAutoFit/>
          </a:bodyPr>
          <a:lstStyle/>
          <a:p>
            <a:pPr algn="l"/>
            <a:r>
              <a:rPr sz="1450" b="0" i="0">
                <a:solidFill>
                  <a:srgbClr val="B4B8B0"/>
                </a:solidFill>
                <a:latin typeface="Segoe UI"/>
              </a:rPr>
              <a:t>2 minutos para listar todos os usos possíveis de um clipe de papel.</a:t>
            </a:r>
          </a:p>
        </p:txBody>
      </p:sp>
      <p:sp>
        <p:nvSpPr>
          <p:cNvPr id="14" name="Oval 13"/>
          <p:cNvSpPr/>
          <p:nvPr/>
        </p:nvSpPr>
        <p:spPr>
          <a:xfrm>
            <a:off x="4648200" y="2459736"/>
            <a:ext cx="566928" cy="566928"/>
          </a:xfrm>
          <a:prstGeom prst="ellipse">
            <a:avLst/>
          </a:prstGeom>
          <a:solidFill>
            <a:srgbClr val="2FA38A"/>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700" b="1" i="0">
                <a:solidFill>
                  <a:srgbClr val="1A1A1A"/>
                </a:solidFill>
                <a:latin typeface="Segoe UI Semibold"/>
              </a:rPr>
              <a:t>2</a:t>
            </a:r>
          </a:p>
        </p:txBody>
      </p:sp>
      <p:sp>
        <p:nvSpPr>
          <p:cNvPr id="15" name="Rounded Rectangle 14"/>
          <p:cNvSpPr/>
          <p:nvPr/>
        </p:nvSpPr>
        <p:spPr>
          <a:xfrm>
            <a:off x="8125968" y="2148840"/>
            <a:ext cx="3514344" cy="356616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446008" y="3246120"/>
            <a:ext cx="2874264" cy="822960"/>
          </a:xfrm>
          <a:prstGeom prst="rect">
            <a:avLst/>
          </a:prstGeom>
          <a:noFill/>
        </p:spPr>
        <p:txBody>
          <a:bodyPr wrap="square" lIns="36576" tIns="18288" rIns="36576" bIns="18288" anchor="t">
            <a:spAutoFit/>
          </a:bodyPr>
          <a:lstStyle/>
          <a:p>
            <a:pPr algn="l"/>
            <a:r>
              <a:rPr sz="1900" b="1" i="0">
                <a:solidFill>
                  <a:srgbClr val="F2F2EC"/>
                </a:solidFill>
                <a:latin typeface="Segoe UI Semibold"/>
              </a:rPr>
              <a:t>1 + 1 = 1</a:t>
            </a:r>
          </a:p>
        </p:txBody>
      </p:sp>
      <p:sp>
        <p:nvSpPr>
          <p:cNvPr id="17" name="TextBox 16"/>
          <p:cNvSpPr txBox="1"/>
          <p:nvPr/>
        </p:nvSpPr>
        <p:spPr>
          <a:xfrm>
            <a:off x="8446008" y="4160520"/>
            <a:ext cx="2874264" cy="1508760"/>
          </a:xfrm>
          <a:prstGeom prst="rect">
            <a:avLst/>
          </a:prstGeom>
          <a:noFill/>
        </p:spPr>
        <p:txBody>
          <a:bodyPr wrap="square" lIns="36576" tIns="18288" rIns="36576" bIns="18288" anchor="t">
            <a:spAutoFit/>
          </a:bodyPr>
          <a:lstStyle/>
          <a:p>
            <a:pPr algn="l"/>
            <a:r>
              <a:rPr sz="1450" b="0" i="0">
                <a:solidFill>
                  <a:srgbClr val="B4B8B0"/>
                </a:solidFill>
                <a:latin typeface="Segoe UI"/>
              </a:rPr>
              <a:t>Combine dois objetos aleatórios em um produto novo e dê um nome a ele.</a:t>
            </a:r>
          </a:p>
        </p:txBody>
      </p:sp>
      <p:sp>
        <p:nvSpPr>
          <p:cNvPr id="18" name="Oval 17"/>
          <p:cNvSpPr/>
          <p:nvPr/>
        </p:nvSpPr>
        <p:spPr>
          <a:xfrm>
            <a:off x="8436864" y="2459736"/>
            <a:ext cx="566928" cy="566928"/>
          </a:xfrm>
          <a:prstGeom prst="ellipse">
            <a:avLst/>
          </a:prstGeom>
          <a:solidFill>
            <a:srgbClr val="2FA38A"/>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700" b="1" i="0">
                <a:solidFill>
                  <a:srgbClr val="1A1A1A"/>
                </a:solidFill>
                <a:latin typeface="Segoe UI Semibold"/>
              </a:rPr>
              <a:t>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fill="hold"/>
                                        <p:tgtEl>
                                          <p:spTgt spid="6"/>
                                        </p:tgtEl>
                                      </p:cBhvr>
                                    </p:animEffect>
                                  </p:childTnLst>
                                </p:cTn>
                              </p:par>
                              <p:par>
                                <p:cTn id="11" presetID="42" presetClass="entr" presetSubtype="0" decel="100000" fill="hold" grpId="0" nodeType="withEffect">
                                  <p:stCondLst>
                                    <p:cond delay="45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650" fill="hold"/>
                                        <p:tgtEl>
                                          <p:spTgt spid="7"/>
                                        </p:tgtEl>
                                      </p:cBhvr>
                                    </p:animEffect>
                                    <p:anim calcmode="lin" valueType="num">
                                      <p:cBhvr additive="base">
                                        <p:cTn id="14" dur="650" fill="hold"/>
                                        <p:tgtEl>
                                          <p:spTgt spid="7"/>
                                        </p:tgtEl>
                                        <p:attrNameLst>
                                          <p:attrName>ppt_x</p:attrName>
                                        </p:attrNameLst>
                                      </p:cBhvr>
                                      <p:tavLst>
                                        <p:tav tm="0">
                                          <p:val>
                                            <p:strVal val="#ppt_x"/>
                                          </p:val>
                                        </p:tav>
                                        <p:tav tm="100000">
                                          <p:val>
                                            <p:strVal val="#ppt_x"/>
                                          </p:val>
                                        </p:tav>
                                      </p:tavLst>
                                    </p:anim>
                                    <p:anim calcmode="lin" valueType="num">
                                      <p:cBhvr additive="base">
                                        <p:cTn id="15" dur="650" fill="hold"/>
                                        <p:tgtEl>
                                          <p:spTgt spid="7"/>
                                        </p:tgtEl>
                                        <p:attrNameLst>
                                          <p:attrName>ppt_y</p:attrName>
                                        </p:attrNameLst>
                                      </p:cBhvr>
                                      <p:tavLst>
                                        <p:tav tm="0">
                                          <p:val>
                                            <p:strVal val="#ppt_y+.06"/>
                                          </p:val>
                                        </p:tav>
                                        <p:tav tm="100000">
                                          <p:val>
                                            <p:strVal val="#ppt_y"/>
                                          </p:val>
                                        </p:tav>
                                      </p:tavLst>
                                    </p:anim>
                                  </p:childTnLst>
                                </p:cTn>
                              </p:par>
                              <p:par>
                                <p:cTn id="16" presetID="42" presetClass="entr" presetSubtype="0" decel="100000" fill="hold" grpId="0" nodeType="withEffect">
                                  <p:stCondLst>
                                    <p:cond delay="45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650" fill="hold"/>
                                        <p:tgtEl>
                                          <p:spTgt spid="8"/>
                                        </p:tgtEl>
                                      </p:cBhvr>
                                    </p:animEffect>
                                    <p:anim calcmode="lin" valueType="num">
                                      <p:cBhvr additive="base">
                                        <p:cTn id="19" dur="650" fill="hold"/>
                                        <p:tgtEl>
                                          <p:spTgt spid="8"/>
                                        </p:tgtEl>
                                        <p:attrNameLst>
                                          <p:attrName>ppt_x</p:attrName>
                                        </p:attrNameLst>
                                      </p:cBhvr>
                                      <p:tavLst>
                                        <p:tav tm="0">
                                          <p:val>
                                            <p:strVal val="#ppt_x"/>
                                          </p:val>
                                        </p:tav>
                                        <p:tav tm="100000">
                                          <p:val>
                                            <p:strVal val="#ppt_x"/>
                                          </p:val>
                                        </p:tav>
                                      </p:tavLst>
                                    </p:anim>
                                    <p:anim calcmode="lin" valueType="num">
                                      <p:cBhvr additive="base">
                                        <p:cTn id="20" dur="650" fill="hold"/>
                                        <p:tgtEl>
                                          <p:spTgt spid="8"/>
                                        </p:tgtEl>
                                        <p:attrNameLst>
                                          <p:attrName>ppt_y</p:attrName>
                                        </p:attrNameLst>
                                      </p:cBhvr>
                                      <p:tavLst>
                                        <p:tav tm="0">
                                          <p:val>
                                            <p:strVal val="#ppt_y+.06"/>
                                          </p:val>
                                        </p:tav>
                                        <p:tav tm="100000">
                                          <p:val>
                                            <p:strVal val="#ppt_y"/>
                                          </p:val>
                                        </p:tav>
                                      </p:tavLst>
                                    </p:anim>
                                  </p:childTnLst>
                                </p:cTn>
                              </p:par>
                              <p:par>
                                <p:cTn id="21" presetID="42" presetClass="entr" presetSubtype="0" decel="100000" fill="hold" grpId="0" nodeType="withEffect">
                                  <p:stCondLst>
                                    <p:cond delay="45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650" fill="hold"/>
                                        <p:tgtEl>
                                          <p:spTgt spid="9"/>
                                        </p:tgtEl>
                                      </p:cBhvr>
                                    </p:animEffect>
                                    <p:anim calcmode="lin" valueType="num">
                                      <p:cBhvr additive="base">
                                        <p:cTn id="24" dur="650" fill="hold"/>
                                        <p:tgtEl>
                                          <p:spTgt spid="9"/>
                                        </p:tgtEl>
                                        <p:attrNameLst>
                                          <p:attrName>ppt_x</p:attrName>
                                        </p:attrNameLst>
                                      </p:cBhvr>
                                      <p:tavLst>
                                        <p:tav tm="0">
                                          <p:val>
                                            <p:strVal val="#ppt_x"/>
                                          </p:val>
                                        </p:tav>
                                        <p:tav tm="100000">
                                          <p:val>
                                            <p:strVal val="#ppt_x"/>
                                          </p:val>
                                        </p:tav>
                                      </p:tavLst>
                                    </p:anim>
                                    <p:anim calcmode="lin" valueType="num">
                                      <p:cBhvr additive="base">
                                        <p:cTn id="25" dur="650" fill="hold"/>
                                        <p:tgtEl>
                                          <p:spTgt spid="9"/>
                                        </p:tgtEl>
                                        <p:attrNameLst>
                                          <p:attrName>ppt_y</p:attrName>
                                        </p:attrNameLst>
                                      </p:cBhvr>
                                      <p:tavLst>
                                        <p:tav tm="0">
                                          <p:val>
                                            <p:strVal val="#ppt_y+.06"/>
                                          </p:val>
                                        </p:tav>
                                        <p:tav tm="100000">
                                          <p:val>
                                            <p:strVal val="#ppt_y"/>
                                          </p:val>
                                        </p:tav>
                                      </p:tavLst>
                                    </p:anim>
                                  </p:childTnLst>
                                </p:cTn>
                              </p:par>
                              <p:par>
                                <p:cTn id="26" presetID="53" presetClass="entr" presetSubtype="16" decel="100000" fill="hold" grpId="0" nodeType="withEffect">
                                  <p:stCondLst>
                                    <p:cond delay="600"/>
                                  </p:stCondLst>
                                  <p:childTnLst>
                                    <p:set>
                                      <p:cBhvr>
                                        <p:cTn id="27" dur="1" fill="hold">
                                          <p:stCondLst>
                                            <p:cond delay="0"/>
                                          </p:stCondLst>
                                        </p:cTn>
                                        <p:tgtEl>
                                          <p:spTgt spid="10"/>
                                        </p:tgtEl>
                                        <p:attrNameLst>
                                          <p:attrName>style.visibility</p:attrName>
                                        </p:attrNameLst>
                                      </p:cBhvr>
                                      <p:to>
                                        <p:strVal val="visible"/>
                                      </p:to>
                                    </p:set>
                                    <p:anim calcmode="lin" valueType="num">
                                      <p:cBhvr additive="base">
                                        <p:cTn id="28" dur="450" fill="hold"/>
                                        <p:tgtEl>
                                          <p:spTgt spid="10"/>
                                        </p:tgtEl>
                                        <p:attrNameLst>
                                          <p:attrName>ppt_w</p:attrName>
                                        </p:attrNameLst>
                                      </p:cBhvr>
                                      <p:tavLst>
                                        <p:tav tm="0">
                                          <p:val>
                                            <p:strVal val="0"/>
                                          </p:val>
                                        </p:tav>
                                        <p:tav tm="70000">
                                          <p:val>
                                            <p:strVal val="#ppt_w*1.08"/>
                                          </p:val>
                                        </p:tav>
                                        <p:tav tm="100000">
                                          <p:val>
                                            <p:strVal val="#ppt_w"/>
                                          </p:val>
                                        </p:tav>
                                      </p:tavLst>
                                    </p:anim>
                                    <p:anim calcmode="lin" valueType="num">
                                      <p:cBhvr additive="base">
                                        <p:cTn id="29" dur="450" fill="hold"/>
                                        <p:tgtEl>
                                          <p:spTgt spid="10"/>
                                        </p:tgtEl>
                                        <p:attrNameLst>
                                          <p:attrName>ppt_h</p:attrName>
                                        </p:attrNameLst>
                                      </p:cBhvr>
                                      <p:tavLst>
                                        <p:tav tm="0">
                                          <p:val>
                                            <p:strVal val="0"/>
                                          </p:val>
                                        </p:tav>
                                        <p:tav tm="70000">
                                          <p:val>
                                            <p:strVal val="#ppt_h*1.08"/>
                                          </p:val>
                                        </p:tav>
                                        <p:tav tm="100000">
                                          <p:val>
                                            <p:strVal val="#ppt_h"/>
                                          </p:val>
                                        </p:tav>
                                      </p:tavLst>
                                    </p:anim>
                                    <p:animEffect transition="in" filter="fade">
                                      <p:cBhvr>
                                        <p:cTn id="30" dur="270" fill="hold"/>
                                        <p:tgtEl>
                                          <p:spTgt spid="10"/>
                                        </p:tgtEl>
                                      </p:cBhvr>
                                    </p:animEffect>
                                  </p:childTnLst>
                                </p:cTn>
                              </p:par>
                              <p:par>
                                <p:cTn id="31" presetID="42" presetClass="entr" presetSubtype="0" decel="100000" fill="hold" grpId="0" nodeType="withEffect">
                                  <p:stCondLst>
                                    <p:cond delay="78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650" fill="hold"/>
                                        <p:tgtEl>
                                          <p:spTgt spid="11"/>
                                        </p:tgtEl>
                                      </p:cBhvr>
                                    </p:animEffect>
                                    <p:anim calcmode="lin" valueType="num">
                                      <p:cBhvr additive="base">
                                        <p:cTn id="34" dur="650" fill="hold"/>
                                        <p:tgtEl>
                                          <p:spTgt spid="11"/>
                                        </p:tgtEl>
                                        <p:attrNameLst>
                                          <p:attrName>ppt_x</p:attrName>
                                        </p:attrNameLst>
                                      </p:cBhvr>
                                      <p:tavLst>
                                        <p:tav tm="0">
                                          <p:val>
                                            <p:strVal val="#ppt_x"/>
                                          </p:val>
                                        </p:tav>
                                        <p:tav tm="100000">
                                          <p:val>
                                            <p:strVal val="#ppt_x"/>
                                          </p:val>
                                        </p:tav>
                                      </p:tavLst>
                                    </p:anim>
                                    <p:anim calcmode="lin" valueType="num">
                                      <p:cBhvr additive="base">
                                        <p:cTn id="35" dur="650" fill="hold"/>
                                        <p:tgtEl>
                                          <p:spTgt spid="11"/>
                                        </p:tgtEl>
                                        <p:attrNameLst>
                                          <p:attrName>ppt_y</p:attrName>
                                        </p:attrNameLst>
                                      </p:cBhvr>
                                      <p:tavLst>
                                        <p:tav tm="0">
                                          <p:val>
                                            <p:strVal val="#ppt_y+.06"/>
                                          </p:val>
                                        </p:tav>
                                        <p:tav tm="100000">
                                          <p:val>
                                            <p:strVal val="#ppt_y"/>
                                          </p:val>
                                        </p:tav>
                                      </p:tavLst>
                                    </p:anim>
                                  </p:childTnLst>
                                </p:cTn>
                              </p:par>
                              <p:par>
                                <p:cTn id="36" presetID="42" presetClass="entr" presetSubtype="0" decel="100000" fill="hold" grpId="0" nodeType="withEffect">
                                  <p:stCondLst>
                                    <p:cond delay="78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650" fill="hold"/>
                                        <p:tgtEl>
                                          <p:spTgt spid="12"/>
                                        </p:tgtEl>
                                      </p:cBhvr>
                                    </p:animEffect>
                                    <p:anim calcmode="lin" valueType="num">
                                      <p:cBhvr additive="base">
                                        <p:cTn id="39" dur="650" fill="hold"/>
                                        <p:tgtEl>
                                          <p:spTgt spid="12"/>
                                        </p:tgtEl>
                                        <p:attrNameLst>
                                          <p:attrName>ppt_x</p:attrName>
                                        </p:attrNameLst>
                                      </p:cBhvr>
                                      <p:tavLst>
                                        <p:tav tm="0">
                                          <p:val>
                                            <p:strVal val="#ppt_x"/>
                                          </p:val>
                                        </p:tav>
                                        <p:tav tm="100000">
                                          <p:val>
                                            <p:strVal val="#ppt_x"/>
                                          </p:val>
                                        </p:tav>
                                      </p:tavLst>
                                    </p:anim>
                                    <p:anim calcmode="lin" valueType="num">
                                      <p:cBhvr additive="base">
                                        <p:cTn id="40" dur="650" fill="hold"/>
                                        <p:tgtEl>
                                          <p:spTgt spid="12"/>
                                        </p:tgtEl>
                                        <p:attrNameLst>
                                          <p:attrName>ppt_y</p:attrName>
                                        </p:attrNameLst>
                                      </p:cBhvr>
                                      <p:tavLst>
                                        <p:tav tm="0">
                                          <p:val>
                                            <p:strVal val="#ppt_y+.06"/>
                                          </p:val>
                                        </p:tav>
                                        <p:tav tm="100000">
                                          <p:val>
                                            <p:strVal val="#ppt_y"/>
                                          </p:val>
                                        </p:tav>
                                      </p:tavLst>
                                    </p:anim>
                                  </p:childTnLst>
                                </p:cTn>
                              </p:par>
                              <p:par>
                                <p:cTn id="41" presetID="42" presetClass="entr" presetSubtype="0" decel="100000" fill="hold" grpId="0" nodeType="withEffect">
                                  <p:stCondLst>
                                    <p:cond delay="78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650" fill="hold"/>
                                        <p:tgtEl>
                                          <p:spTgt spid="13"/>
                                        </p:tgtEl>
                                      </p:cBhvr>
                                    </p:animEffect>
                                    <p:anim calcmode="lin" valueType="num">
                                      <p:cBhvr additive="base">
                                        <p:cTn id="44" dur="650" fill="hold"/>
                                        <p:tgtEl>
                                          <p:spTgt spid="13"/>
                                        </p:tgtEl>
                                        <p:attrNameLst>
                                          <p:attrName>ppt_x</p:attrName>
                                        </p:attrNameLst>
                                      </p:cBhvr>
                                      <p:tavLst>
                                        <p:tav tm="0">
                                          <p:val>
                                            <p:strVal val="#ppt_x"/>
                                          </p:val>
                                        </p:tav>
                                        <p:tav tm="100000">
                                          <p:val>
                                            <p:strVal val="#ppt_x"/>
                                          </p:val>
                                        </p:tav>
                                      </p:tavLst>
                                    </p:anim>
                                    <p:anim calcmode="lin" valueType="num">
                                      <p:cBhvr additive="base">
                                        <p:cTn id="45" dur="650" fill="hold"/>
                                        <p:tgtEl>
                                          <p:spTgt spid="13"/>
                                        </p:tgtEl>
                                        <p:attrNameLst>
                                          <p:attrName>ppt_y</p:attrName>
                                        </p:attrNameLst>
                                      </p:cBhvr>
                                      <p:tavLst>
                                        <p:tav tm="0">
                                          <p:val>
                                            <p:strVal val="#ppt_y+.06"/>
                                          </p:val>
                                        </p:tav>
                                        <p:tav tm="100000">
                                          <p:val>
                                            <p:strVal val="#ppt_y"/>
                                          </p:val>
                                        </p:tav>
                                      </p:tavLst>
                                    </p:anim>
                                  </p:childTnLst>
                                </p:cTn>
                              </p:par>
                              <p:par>
                                <p:cTn id="46" presetID="53" presetClass="entr" presetSubtype="16" decel="100000" fill="hold" grpId="0" nodeType="withEffect">
                                  <p:stCondLst>
                                    <p:cond delay="930"/>
                                  </p:stCondLst>
                                  <p:childTnLst>
                                    <p:set>
                                      <p:cBhvr>
                                        <p:cTn id="47" dur="1" fill="hold">
                                          <p:stCondLst>
                                            <p:cond delay="0"/>
                                          </p:stCondLst>
                                        </p:cTn>
                                        <p:tgtEl>
                                          <p:spTgt spid="14"/>
                                        </p:tgtEl>
                                        <p:attrNameLst>
                                          <p:attrName>style.visibility</p:attrName>
                                        </p:attrNameLst>
                                      </p:cBhvr>
                                      <p:to>
                                        <p:strVal val="visible"/>
                                      </p:to>
                                    </p:set>
                                    <p:anim calcmode="lin" valueType="num">
                                      <p:cBhvr additive="base">
                                        <p:cTn id="48" dur="450" fill="hold"/>
                                        <p:tgtEl>
                                          <p:spTgt spid="14"/>
                                        </p:tgtEl>
                                        <p:attrNameLst>
                                          <p:attrName>ppt_w</p:attrName>
                                        </p:attrNameLst>
                                      </p:cBhvr>
                                      <p:tavLst>
                                        <p:tav tm="0">
                                          <p:val>
                                            <p:strVal val="0"/>
                                          </p:val>
                                        </p:tav>
                                        <p:tav tm="70000">
                                          <p:val>
                                            <p:strVal val="#ppt_w*1.08"/>
                                          </p:val>
                                        </p:tav>
                                        <p:tav tm="100000">
                                          <p:val>
                                            <p:strVal val="#ppt_w"/>
                                          </p:val>
                                        </p:tav>
                                      </p:tavLst>
                                    </p:anim>
                                    <p:anim calcmode="lin" valueType="num">
                                      <p:cBhvr additive="base">
                                        <p:cTn id="49" dur="450" fill="hold"/>
                                        <p:tgtEl>
                                          <p:spTgt spid="14"/>
                                        </p:tgtEl>
                                        <p:attrNameLst>
                                          <p:attrName>ppt_h</p:attrName>
                                        </p:attrNameLst>
                                      </p:cBhvr>
                                      <p:tavLst>
                                        <p:tav tm="0">
                                          <p:val>
                                            <p:strVal val="0"/>
                                          </p:val>
                                        </p:tav>
                                        <p:tav tm="70000">
                                          <p:val>
                                            <p:strVal val="#ppt_h*1.08"/>
                                          </p:val>
                                        </p:tav>
                                        <p:tav tm="100000">
                                          <p:val>
                                            <p:strVal val="#ppt_h"/>
                                          </p:val>
                                        </p:tav>
                                      </p:tavLst>
                                    </p:anim>
                                    <p:animEffect transition="in" filter="fade">
                                      <p:cBhvr>
                                        <p:cTn id="50" dur="270" fill="hold"/>
                                        <p:tgtEl>
                                          <p:spTgt spid="14"/>
                                        </p:tgtEl>
                                      </p:cBhvr>
                                    </p:animEffect>
                                  </p:childTnLst>
                                </p:cTn>
                              </p:par>
                              <p:par>
                                <p:cTn id="51" presetID="42" presetClass="entr" presetSubtype="0" decel="100000" fill="hold" grpId="0" nodeType="withEffect">
                                  <p:stCondLst>
                                    <p:cond delay="1110"/>
                                  </p:stCondLst>
                                  <p:childTnLst>
                                    <p:set>
                                      <p:cBhvr>
                                        <p:cTn id="52" dur="1" fill="hold">
                                          <p:stCondLst>
                                            <p:cond delay="0"/>
                                          </p:stCondLst>
                                        </p:cTn>
                                        <p:tgtEl>
                                          <p:spTgt spid="15"/>
                                        </p:tgtEl>
                                        <p:attrNameLst>
                                          <p:attrName>style.visibility</p:attrName>
                                        </p:attrNameLst>
                                      </p:cBhvr>
                                      <p:to>
                                        <p:strVal val="visible"/>
                                      </p:to>
                                    </p:set>
                                    <p:animEffect transition="in" filter="fade">
                                      <p:cBhvr>
                                        <p:cTn id="53" dur="650" fill="hold"/>
                                        <p:tgtEl>
                                          <p:spTgt spid="15"/>
                                        </p:tgtEl>
                                      </p:cBhvr>
                                    </p:animEffect>
                                    <p:anim calcmode="lin" valueType="num">
                                      <p:cBhvr additive="base">
                                        <p:cTn id="54" dur="650" fill="hold"/>
                                        <p:tgtEl>
                                          <p:spTgt spid="15"/>
                                        </p:tgtEl>
                                        <p:attrNameLst>
                                          <p:attrName>ppt_x</p:attrName>
                                        </p:attrNameLst>
                                      </p:cBhvr>
                                      <p:tavLst>
                                        <p:tav tm="0">
                                          <p:val>
                                            <p:strVal val="#ppt_x"/>
                                          </p:val>
                                        </p:tav>
                                        <p:tav tm="100000">
                                          <p:val>
                                            <p:strVal val="#ppt_x"/>
                                          </p:val>
                                        </p:tav>
                                      </p:tavLst>
                                    </p:anim>
                                    <p:anim calcmode="lin" valueType="num">
                                      <p:cBhvr additive="base">
                                        <p:cTn id="55" dur="650" fill="hold"/>
                                        <p:tgtEl>
                                          <p:spTgt spid="15"/>
                                        </p:tgtEl>
                                        <p:attrNameLst>
                                          <p:attrName>ppt_y</p:attrName>
                                        </p:attrNameLst>
                                      </p:cBhvr>
                                      <p:tavLst>
                                        <p:tav tm="0">
                                          <p:val>
                                            <p:strVal val="#ppt_y+.06"/>
                                          </p:val>
                                        </p:tav>
                                        <p:tav tm="100000">
                                          <p:val>
                                            <p:strVal val="#ppt_y"/>
                                          </p:val>
                                        </p:tav>
                                      </p:tavLst>
                                    </p:anim>
                                  </p:childTnLst>
                                </p:cTn>
                              </p:par>
                              <p:par>
                                <p:cTn id="56" presetID="42" presetClass="entr" presetSubtype="0" decel="100000" fill="hold" grpId="0" nodeType="withEffect">
                                  <p:stCondLst>
                                    <p:cond delay="111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650" fill="hold"/>
                                        <p:tgtEl>
                                          <p:spTgt spid="16"/>
                                        </p:tgtEl>
                                      </p:cBhvr>
                                    </p:animEffect>
                                    <p:anim calcmode="lin" valueType="num">
                                      <p:cBhvr additive="base">
                                        <p:cTn id="59" dur="650" fill="hold"/>
                                        <p:tgtEl>
                                          <p:spTgt spid="16"/>
                                        </p:tgtEl>
                                        <p:attrNameLst>
                                          <p:attrName>ppt_x</p:attrName>
                                        </p:attrNameLst>
                                      </p:cBhvr>
                                      <p:tavLst>
                                        <p:tav tm="0">
                                          <p:val>
                                            <p:strVal val="#ppt_x"/>
                                          </p:val>
                                        </p:tav>
                                        <p:tav tm="100000">
                                          <p:val>
                                            <p:strVal val="#ppt_x"/>
                                          </p:val>
                                        </p:tav>
                                      </p:tavLst>
                                    </p:anim>
                                    <p:anim calcmode="lin" valueType="num">
                                      <p:cBhvr additive="base">
                                        <p:cTn id="60" dur="650" fill="hold"/>
                                        <p:tgtEl>
                                          <p:spTgt spid="16"/>
                                        </p:tgtEl>
                                        <p:attrNameLst>
                                          <p:attrName>ppt_y</p:attrName>
                                        </p:attrNameLst>
                                      </p:cBhvr>
                                      <p:tavLst>
                                        <p:tav tm="0">
                                          <p:val>
                                            <p:strVal val="#ppt_y+.06"/>
                                          </p:val>
                                        </p:tav>
                                        <p:tav tm="100000">
                                          <p:val>
                                            <p:strVal val="#ppt_y"/>
                                          </p:val>
                                        </p:tav>
                                      </p:tavLst>
                                    </p:anim>
                                  </p:childTnLst>
                                </p:cTn>
                              </p:par>
                              <p:par>
                                <p:cTn id="61" presetID="42" presetClass="entr" presetSubtype="0" decel="100000" fill="hold" grpId="0" nodeType="withEffect">
                                  <p:stCondLst>
                                    <p:cond delay="1110"/>
                                  </p:stCondLst>
                                  <p:childTnLst>
                                    <p:set>
                                      <p:cBhvr>
                                        <p:cTn id="62" dur="1" fill="hold">
                                          <p:stCondLst>
                                            <p:cond delay="0"/>
                                          </p:stCondLst>
                                        </p:cTn>
                                        <p:tgtEl>
                                          <p:spTgt spid="17"/>
                                        </p:tgtEl>
                                        <p:attrNameLst>
                                          <p:attrName>style.visibility</p:attrName>
                                        </p:attrNameLst>
                                      </p:cBhvr>
                                      <p:to>
                                        <p:strVal val="visible"/>
                                      </p:to>
                                    </p:set>
                                    <p:animEffect transition="in" filter="fade">
                                      <p:cBhvr>
                                        <p:cTn id="63" dur="650" fill="hold"/>
                                        <p:tgtEl>
                                          <p:spTgt spid="17"/>
                                        </p:tgtEl>
                                      </p:cBhvr>
                                    </p:animEffect>
                                    <p:anim calcmode="lin" valueType="num">
                                      <p:cBhvr additive="base">
                                        <p:cTn id="64" dur="650" fill="hold"/>
                                        <p:tgtEl>
                                          <p:spTgt spid="17"/>
                                        </p:tgtEl>
                                        <p:attrNameLst>
                                          <p:attrName>ppt_x</p:attrName>
                                        </p:attrNameLst>
                                      </p:cBhvr>
                                      <p:tavLst>
                                        <p:tav tm="0">
                                          <p:val>
                                            <p:strVal val="#ppt_x"/>
                                          </p:val>
                                        </p:tav>
                                        <p:tav tm="100000">
                                          <p:val>
                                            <p:strVal val="#ppt_x"/>
                                          </p:val>
                                        </p:tav>
                                      </p:tavLst>
                                    </p:anim>
                                    <p:anim calcmode="lin" valueType="num">
                                      <p:cBhvr additive="base">
                                        <p:cTn id="65" dur="650" fill="hold"/>
                                        <p:tgtEl>
                                          <p:spTgt spid="17"/>
                                        </p:tgtEl>
                                        <p:attrNameLst>
                                          <p:attrName>ppt_y</p:attrName>
                                        </p:attrNameLst>
                                      </p:cBhvr>
                                      <p:tavLst>
                                        <p:tav tm="0">
                                          <p:val>
                                            <p:strVal val="#ppt_y+.06"/>
                                          </p:val>
                                        </p:tav>
                                        <p:tav tm="100000">
                                          <p:val>
                                            <p:strVal val="#ppt_y"/>
                                          </p:val>
                                        </p:tav>
                                      </p:tavLst>
                                    </p:anim>
                                  </p:childTnLst>
                                </p:cTn>
                              </p:par>
                              <p:par>
                                <p:cTn id="66" presetID="53" presetClass="entr" presetSubtype="16" decel="100000" fill="hold" grpId="0" nodeType="withEffect">
                                  <p:stCondLst>
                                    <p:cond delay="1260"/>
                                  </p:stCondLst>
                                  <p:childTnLst>
                                    <p:set>
                                      <p:cBhvr>
                                        <p:cTn id="67" dur="1" fill="hold">
                                          <p:stCondLst>
                                            <p:cond delay="0"/>
                                          </p:stCondLst>
                                        </p:cTn>
                                        <p:tgtEl>
                                          <p:spTgt spid="18"/>
                                        </p:tgtEl>
                                        <p:attrNameLst>
                                          <p:attrName>style.visibility</p:attrName>
                                        </p:attrNameLst>
                                      </p:cBhvr>
                                      <p:to>
                                        <p:strVal val="visible"/>
                                      </p:to>
                                    </p:set>
                                    <p:anim calcmode="lin" valueType="num">
                                      <p:cBhvr additive="base">
                                        <p:cTn id="68" dur="450" fill="hold"/>
                                        <p:tgtEl>
                                          <p:spTgt spid="18"/>
                                        </p:tgtEl>
                                        <p:attrNameLst>
                                          <p:attrName>ppt_w</p:attrName>
                                        </p:attrNameLst>
                                      </p:cBhvr>
                                      <p:tavLst>
                                        <p:tav tm="0">
                                          <p:val>
                                            <p:strVal val="0"/>
                                          </p:val>
                                        </p:tav>
                                        <p:tav tm="70000">
                                          <p:val>
                                            <p:strVal val="#ppt_w*1.08"/>
                                          </p:val>
                                        </p:tav>
                                        <p:tav tm="100000">
                                          <p:val>
                                            <p:strVal val="#ppt_w"/>
                                          </p:val>
                                        </p:tav>
                                      </p:tavLst>
                                    </p:anim>
                                    <p:anim calcmode="lin" valueType="num">
                                      <p:cBhvr additive="base">
                                        <p:cTn id="69" dur="450" fill="hold"/>
                                        <p:tgtEl>
                                          <p:spTgt spid="18"/>
                                        </p:tgtEl>
                                        <p:attrNameLst>
                                          <p:attrName>ppt_h</p:attrName>
                                        </p:attrNameLst>
                                      </p:cBhvr>
                                      <p:tavLst>
                                        <p:tav tm="0">
                                          <p:val>
                                            <p:strVal val="0"/>
                                          </p:val>
                                        </p:tav>
                                        <p:tav tm="70000">
                                          <p:val>
                                            <p:strVal val="#ppt_h*1.08"/>
                                          </p:val>
                                        </p:tav>
                                        <p:tav tm="100000">
                                          <p:val>
                                            <p:strVal val="#ppt_h"/>
                                          </p:val>
                                        </p:tav>
                                      </p:tavLst>
                                    </p:anim>
                                    <p:animEffect transition="in" filter="fade">
                                      <p:cBhvr>
                                        <p:cTn id="70" dur="270" fill="hold"/>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2FA38A"/>
                </a:solidFill>
                <a:latin typeface="Segoe UI Semibold"/>
              </a:rPr>
              <a:t>MÓDULO 4  ·  IDEAR</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Técnica: Crazy 8s</a:t>
            </a:r>
          </a:p>
        </p:txBody>
      </p:sp>
      <p:sp>
        <p:nvSpPr>
          <p:cNvPr id="6" name="TextBox 5"/>
          <p:cNvSpPr txBox="1"/>
          <p:nvPr/>
        </p:nvSpPr>
        <p:spPr>
          <a:xfrm>
            <a:off x="548640" y="1645920"/>
            <a:ext cx="3931920" cy="2743200"/>
          </a:xfrm>
          <a:prstGeom prst="rect">
            <a:avLst/>
          </a:prstGeom>
          <a:noFill/>
        </p:spPr>
        <p:txBody>
          <a:bodyPr wrap="square" lIns="36576" tIns="18288" rIns="36576" bIns="18288" anchor="t">
            <a:spAutoFit/>
          </a:bodyPr>
          <a:lstStyle/>
          <a:p>
            <a:pPr algn="l">
              <a:lnSpc>
                <a:spcPct val="115000"/>
              </a:lnSpc>
            </a:pPr>
            <a:r>
              <a:rPr sz="1800" b="0" i="0">
                <a:solidFill>
                  <a:srgbClr val="B4B8B0"/>
                </a:solidFill>
                <a:latin typeface="Segoe UI"/>
              </a:rPr>
              <a:t>Dobre uma folha A4 em 8 partes. Desenhe 8 ideias diferentes em 8 minutos: 1 minuto por ideia. Sem capricho: rabisco vale.</a:t>
            </a:r>
          </a:p>
        </p:txBody>
      </p:sp>
      <p:sp>
        <p:nvSpPr>
          <p:cNvPr id="7" name="Rectangle 6"/>
          <p:cNvSpPr/>
          <p:nvPr/>
        </p:nvSpPr>
        <p:spPr>
          <a:xfrm>
            <a:off x="4846320" y="1508760"/>
            <a:ext cx="6583680" cy="4297680"/>
          </a:xfrm>
          <a:prstGeom prst="rect">
            <a:avLst/>
          </a:prstGeom>
          <a:solidFill>
            <a:srgbClr val="F2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4937760" y="1600200"/>
            <a:ext cx="1600200" cy="2057400"/>
          </a:xfrm>
          <a:prstGeom prst="rect">
            <a:avLst/>
          </a:prstGeom>
          <a:solidFill>
            <a:srgbClr val="FFFFFF"/>
          </a:solidFill>
          <a:ln w="12700">
            <a:solidFill>
              <a:srgbClr val="C9CCC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029200" y="1673352"/>
            <a:ext cx="548640" cy="365760"/>
          </a:xfrm>
          <a:prstGeom prst="rect">
            <a:avLst/>
          </a:prstGeom>
          <a:noFill/>
        </p:spPr>
        <p:txBody>
          <a:bodyPr wrap="square" lIns="36576" tIns="18288" rIns="36576" bIns="18288" anchor="t">
            <a:spAutoFit/>
          </a:bodyPr>
          <a:lstStyle/>
          <a:p>
            <a:pPr algn="l"/>
            <a:r>
              <a:rPr sz="1400" b="1" i="0">
                <a:solidFill>
                  <a:srgbClr val="2FA38A"/>
                </a:solidFill>
                <a:latin typeface="Segoe UI Semibold"/>
              </a:rPr>
              <a:t>1</a:t>
            </a:r>
          </a:p>
        </p:txBody>
      </p:sp>
      <p:sp>
        <p:nvSpPr>
          <p:cNvPr id="10" name="TextBox 9"/>
          <p:cNvSpPr txBox="1"/>
          <p:nvPr/>
        </p:nvSpPr>
        <p:spPr>
          <a:xfrm>
            <a:off x="4937760" y="3246120"/>
            <a:ext cx="1508760" cy="320040"/>
          </a:xfrm>
          <a:prstGeom prst="rect">
            <a:avLst/>
          </a:prstGeom>
          <a:noFill/>
        </p:spPr>
        <p:txBody>
          <a:bodyPr wrap="square" lIns="36576" tIns="18288" rIns="36576" bIns="18288" anchor="t">
            <a:spAutoFit/>
          </a:bodyPr>
          <a:lstStyle/>
          <a:p>
            <a:pPr algn="r"/>
            <a:r>
              <a:rPr sz="1000" b="0" i="0">
                <a:solidFill>
                  <a:srgbClr val="8A8F87"/>
                </a:solidFill>
                <a:latin typeface="Segoe UI"/>
              </a:rPr>
              <a:t>1 min</a:t>
            </a:r>
          </a:p>
        </p:txBody>
      </p:sp>
      <p:sp>
        <p:nvSpPr>
          <p:cNvPr id="11" name="Rectangle 10"/>
          <p:cNvSpPr/>
          <p:nvPr/>
        </p:nvSpPr>
        <p:spPr>
          <a:xfrm>
            <a:off x="6537960" y="1600200"/>
            <a:ext cx="1600200" cy="2057400"/>
          </a:xfrm>
          <a:prstGeom prst="rect">
            <a:avLst/>
          </a:prstGeom>
          <a:solidFill>
            <a:srgbClr val="FFFFFF"/>
          </a:solidFill>
          <a:ln w="12700">
            <a:solidFill>
              <a:srgbClr val="C9CCC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629400" y="1673352"/>
            <a:ext cx="548640" cy="365760"/>
          </a:xfrm>
          <a:prstGeom prst="rect">
            <a:avLst/>
          </a:prstGeom>
          <a:noFill/>
        </p:spPr>
        <p:txBody>
          <a:bodyPr wrap="square" lIns="36576" tIns="18288" rIns="36576" bIns="18288" anchor="t">
            <a:spAutoFit/>
          </a:bodyPr>
          <a:lstStyle/>
          <a:p>
            <a:pPr algn="l"/>
            <a:r>
              <a:rPr sz="1400" b="1" i="0">
                <a:solidFill>
                  <a:srgbClr val="2FA38A"/>
                </a:solidFill>
                <a:latin typeface="Segoe UI Semibold"/>
              </a:rPr>
              <a:t>2</a:t>
            </a:r>
          </a:p>
        </p:txBody>
      </p:sp>
      <p:sp>
        <p:nvSpPr>
          <p:cNvPr id="13" name="TextBox 12"/>
          <p:cNvSpPr txBox="1"/>
          <p:nvPr/>
        </p:nvSpPr>
        <p:spPr>
          <a:xfrm>
            <a:off x="6537960" y="3246120"/>
            <a:ext cx="1508760" cy="320040"/>
          </a:xfrm>
          <a:prstGeom prst="rect">
            <a:avLst/>
          </a:prstGeom>
          <a:noFill/>
        </p:spPr>
        <p:txBody>
          <a:bodyPr wrap="square" lIns="36576" tIns="18288" rIns="36576" bIns="18288" anchor="t">
            <a:spAutoFit/>
          </a:bodyPr>
          <a:lstStyle/>
          <a:p>
            <a:pPr algn="r"/>
            <a:r>
              <a:rPr sz="1000" b="0" i="0">
                <a:solidFill>
                  <a:srgbClr val="8A8F87"/>
                </a:solidFill>
                <a:latin typeface="Segoe UI"/>
              </a:rPr>
              <a:t>1 min</a:t>
            </a:r>
          </a:p>
        </p:txBody>
      </p:sp>
      <p:sp>
        <p:nvSpPr>
          <p:cNvPr id="14" name="Rectangle 13"/>
          <p:cNvSpPr/>
          <p:nvPr/>
        </p:nvSpPr>
        <p:spPr>
          <a:xfrm>
            <a:off x="8138160" y="1600200"/>
            <a:ext cx="1600200" cy="2057400"/>
          </a:xfrm>
          <a:prstGeom prst="rect">
            <a:avLst/>
          </a:prstGeom>
          <a:solidFill>
            <a:srgbClr val="FFFFFF"/>
          </a:solidFill>
          <a:ln w="12700">
            <a:solidFill>
              <a:srgbClr val="C9CCC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229600" y="1673352"/>
            <a:ext cx="548640" cy="365760"/>
          </a:xfrm>
          <a:prstGeom prst="rect">
            <a:avLst/>
          </a:prstGeom>
          <a:noFill/>
        </p:spPr>
        <p:txBody>
          <a:bodyPr wrap="square" lIns="36576" tIns="18288" rIns="36576" bIns="18288" anchor="t">
            <a:spAutoFit/>
          </a:bodyPr>
          <a:lstStyle/>
          <a:p>
            <a:pPr algn="l"/>
            <a:r>
              <a:rPr sz="1400" b="1" i="0">
                <a:solidFill>
                  <a:srgbClr val="2FA38A"/>
                </a:solidFill>
                <a:latin typeface="Segoe UI Semibold"/>
              </a:rPr>
              <a:t>3</a:t>
            </a:r>
          </a:p>
        </p:txBody>
      </p:sp>
      <p:sp>
        <p:nvSpPr>
          <p:cNvPr id="16" name="TextBox 15"/>
          <p:cNvSpPr txBox="1"/>
          <p:nvPr/>
        </p:nvSpPr>
        <p:spPr>
          <a:xfrm>
            <a:off x="8138160" y="3246120"/>
            <a:ext cx="1508760" cy="320040"/>
          </a:xfrm>
          <a:prstGeom prst="rect">
            <a:avLst/>
          </a:prstGeom>
          <a:noFill/>
        </p:spPr>
        <p:txBody>
          <a:bodyPr wrap="square" lIns="36576" tIns="18288" rIns="36576" bIns="18288" anchor="t">
            <a:spAutoFit/>
          </a:bodyPr>
          <a:lstStyle/>
          <a:p>
            <a:pPr algn="r"/>
            <a:r>
              <a:rPr sz="1000" b="0" i="0">
                <a:solidFill>
                  <a:srgbClr val="8A8F87"/>
                </a:solidFill>
                <a:latin typeface="Segoe UI"/>
              </a:rPr>
              <a:t>1 min</a:t>
            </a:r>
          </a:p>
        </p:txBody>
      </p:sp>
      <p:sp>
        <p:nvSpPr>
          <p:cNvPr id="17" name="Rectangle 16"/>
          <p:cNvSpPr/>
          <p:nvPr/>
        </p:nvSpPr>
        <p:spPr>
          <a:xfrm>
            <a:off x="9738360" y="1600200"/>
            <a:ext cx="1600200" cy="2057400"/>
          </a:xfrm>
          <a:prstGeom prst="rect">
            <a:avLst/>
          </a:prstGeom>
          <a:solidFill>
            <a:srgbClr val="FFFFFF"/>
          </a:solidFill>
          <a:ln w="12700">
            <a:solidFill>
              <a:srgbClr val="C9CCC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9829800" y="1673352"/>
            <a:ext cx="548640" cy="365760"/>
          </a:xfrm>
          <a:prstGeom prst="rect">
            <a:avLst/>
          </a:prstGeom>
          <a:noFill/>
        </p:spPr>
        <p:txBody>
          <a:bodyPr wrap="square" lIns="36576" tIns="18288" rIns="36576" bIns="18288" anchor="t">
            <a:spAutoFit/>
          </a:bodyPr>
          <a:lstStyle/>
          <a:p>
            <a:pPr algn="l"/>
            <a:r>
              <a:rPr sz="1400" b="1" i="0">
                <a:solidFill>
                  <a:srgbClr val="2FA38A"/>
                </a:solidFill>
                <a:latin typeface="Segoe UI Semibold"/>
              </a:rPr>
              <a:t>4</a:t>
            </a:r>
          </a:p>
        </p:txBody>
      </p:sp>
      <p:sp>
        <p:nvSpPr>
          <p:cNvPr id="19" name="TextBox 18"/>
          <p:cNvSpPr txBox="1"/>
          <p:nvPr/>
        </p:nvSpPr>
        <p:spPr>
          <a:xfrm>
            <a:off x="9738360" y="3246120"/>
            <a:ext cx="1508760" cy="320040"/>
          </a:xfrm>
          <a:prstGeom prst="rect">
            <a:avLst/>
          </a:prstGeom>
          <a:noFill/>
        </p:spPr>
        <p:txBody>
          <a:bodyPr wrap="square" lIns="36576" tIns="18288" rIns="36576" bIns="18288" anchor="t">
            <a:spAutoFit/>
          </a:bodyPr>
          <a:lstStyle/>
          <a:p>
            <a:pPr algn="r"/>
            <a:r>
              <a:rPr sz="1000" b="0" i="0">
                <a:solidFill>
                  <a:srgbClr val="8A8F87"/>
                </a:solidFill>
                <a:latin typeface="Segoe UI"/>
              </a:rPr>
              <a:t>1 min</a:t>
            </a:r>
          </a:p>
        </p:txBody>
      </p:sp>
      <p:sp>
        <p:nvSpPr>
          <p:cNvPr id="20" name="Rectangle 19"/>
          <p:cNvSpPr/>
          <p:nvPr/>
        </p:nvSpPr>
        <p:spPr>
          <a:xfrm>
            <a:off x="4937760" y="3657600"/>
            <a:ext cx="1600200" cy="2057400"/>
          </a:xfrm>
          <a:prstGeom prst="rect">
            <a:avLst/>
          </a:prstGeom>
          <a:solidFill>
            <a:srgbClr val="FFFFFF"/>
          </a:solidFill>
          <a:ln w="12700">
            <a:solidFill>
              <a:srgbClr val="C9CCC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5029200" y="3730752"/>
            <a:ext cx="548640" cy="365760"/>
          </a:xfrm>
          <a:prstGeom prst="rect">
            <a:avLst/>
          </a:prstGeom>
          <a:noFill/>
        </p:spPr>
        <p:txBody>
          <a:bodyPr wrap="square" lIns="36576" tIns="18288" rIns="36576" bIns="18288" anchor="t">
            <a:spAutoFit/>
          </a:bodyPr>
          <a:lstStyle/>
          <a:p>
            <a:pPr algn="l"/>
            <a:r>
              <a:rPr sz="1400" b="1" i="0">
                <a:solidFill>
                  <a:srgbClr val="2FA38A"/>
                </a:solidFill>
                <a:latin typeface="Segoe UI Semibold"/>
              </a:rPr>
              <a:t>5</a:t>
            </a:r>
          </a:p>
        </p:txBody>
      </p:sp>
      <p:sp>
        <p:nvSpPr>
          <p:cNvPr id="22" name="TextBox 21"/>
          <p:cNvSpPr txBox="1"/>
          <p:nvPr/>
        </p:nvSpPr>
        <p:spPr>
          <a:xfrm>
            <a:off x="4937760" y="5303520"/>
            <a:ext cx="1508760" cy="320040"/>
          </a:xfrm>
          <a:prstGeom prst="rect">
            <a:avLst/>
          </a:prstGeom>
          <a:noFill/>
        </p:spPr>
        <p:txBody>
          <a:bodyPr wrap="square" lIns="36576" tIns="18288" rIns="36576" bIns="18288" anchor="t">
            <a:spAutoFit/>
          </a:bodyPr>
          <a:lstStyle/>
          <a:p>
            <a:pPr algn="r"/>
            <a:r>
              <a:rPr sz="1000" b="0" i="0">
                <a:solidFill>
                  <a:srgbClr val="8A8F87"/>
                </a:solidFill>
                <a:latin typeface="Segoe UI"/>
              </a:rPr>
              <a:t>1 min</a:t>
            </a:r>
          </a:p>
        </p:txBody>
      </p:sp>
      <p:sp>
        <p:nvSpPr>
          <p:cNvPr id="23" name="Rectangle 22"/>
          <p:cNvSpPr/>
          <p:nvPr/>
        </p:nvSpPr>
        <p:spPr>
          <a:xfrm>
            <a:off x="6537960" y="3657600"/>
            <a:ext cx="1600200" cy="2057400"/>
          </a:xfrm>
          <a:prstGeom prst="rect">
            <a:avLst/>
          </a:prstGeom>
          <a:solidFill>
            <a:srgbClr val="FFFFFF"/>
          </a:solidFill>
          <a:ln w="12700">
            <a:solidFill>
              <a:srgbClr val="C9CCC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629400" y="3730752"/>
            <a:ext cx="548640" cy="365760"/>
          </a:xfrm>
          <a:prstGeom prst="rect">
            <a:avLst/>
          </a:prstGeom>
          <a:noFill/>
        </p:spPr>
        <p:txBody>
          <a:bodyPr wrap="square" lIns="36576" tIns="18288" rIns="36576" bIns="18288" anchor="t">
            <a:spAutoFit/>
          </a:bodyPr>
          <a:lstStyle/>
          <a:p>
            <a:pPr algn="l"/>
            <a:r>
              <a:rPr sz="1400" b="1" i="0">
                <a:solidFill>
                  <a:srgbClr val="2FA38A"/>
                </a:solidFill>
                <a:latin typeface="Segoe UI Semibold"/>
              </a:rPr>
              <a:t>6</a:t>
            </a:r>
          </a:p>
        </p:txBody>
      </p:sp>
      <p:sp>
        <p:nvSpPr>
          <p:cNvPr id="25" name="TextBox 24"/>
          <p:cNvSpPr txBox="1"/>
          <p:nvPr/>
        </p:nvSpPr>
        <p:spPr>
          <a:xfrm>
            <a:off x="6537960" y="5303520"/>
            <a:ext cx="1508760" cy="320040"/>
          </a:xfrm>
          <a:prstGeom prst="rect">
            <a:avLst/>
          </a:prstGeom>
          <a:noFill/>
        </p:spPr>
        <p:txBody>
          <a:bodyPr wrap="square" lIns="36576" tIns="18288" rIns="36576" bIns="18288" anchor="t">
            <a:spAutoFit/>
          </a:bodyPr>
          <a:lstStyle/>
          <a:p>
            <a:pPr algn="r"/>
            <a:r>
              <a:rPr sz="1000" b="0" i="0">
                <a:solidFill>
                  <a:srgbClr val="8A8F87"/>
                </a:solidFill>
                <a:latin typeface="Segoe UI"/>
              </a:rPr>
              <a:t>1 min</a:t>
            </a:r>
          </a:p>
        </p:txBody>
      </p:sp>
      <p:sp>
        <p:nvSpPr>
          <p:cNvPr id="26" name="Rectangle 25"/>
          <p:cNvSpPr/>
          <p:nvPr/>
        </p:nvSpPr>
        <p:spPr>
          <a:xfrm>
            <a:off x="8138160" y="3657600"/>
            <a:ext cx="1600200" cy="2057400"/>
          </a:xfrm>
          <a:prstGeom prst="rect">
            <a:avLst/>
          </a:prstGeom>
          <a:solidFill>
            <a:srgbClr val="FFFFFF"/>
          </a:solidFill>
          <a:ln w="12700">
            <a:solidFill>
              <a:srgbClr val="C9CCC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8229600" y="3730752"/>
            <a:ext cx="548640" cy="365760"/>
          </a:xfrm>
          <a:prstGeom prst="rect">
            <a:avLst/>
          </a:prstGeom>
          <a:noFill/>
        </p:spPr>
        <p:txBody>
          <a:bodyPr wrap="square" lIns="36576" tIns="18288" rIns="36576" bIns="18288" anchor="t">
            <a:spAutoFit/>
          </a:bodyPr>
          <a:lstStyle/>
          <a:p>
            <a:pPr algn="l"/>
            <a:r>
              <a:rPr sz="1400" b="1" i="0">
                <a:solidFill>
                  <a:srgbClr val="2FA38A"/>
                </a:solidFill>
                <a:latin typeface="Segoe UI Semibold"/>
              </a:rPr>
              <a:t>7</a:t>
            </a:r>
          </a:p>
        </p:txBody>
      </p:sp>
      <p:sp>
        <p:nvSpPr>
          <p:cNvPr id="28" name="TextBox 27"/>
          <p:cNvSpPr txBox="1"/>
          <p:nvPr/>
        </p:nvSpPr>
        <p:spPr>
          <a:xfrm>
            <a:off x="8138160" y="5303520"/>
            <a:ext cx="1508760" cy="320040"/>
          </a:xfrm>
          <a:prstGeom prst="rect">
            <a:avLst/>
          </a:prstGeom>
          <a:noFill/>
        </p:spPr>
        <p:txBody>
          <a:bodyPr wrap="square" lIns="36576" tIns="18288" rIns="36576" bIns="18288" anchor="t">
            <a:spAutoFit/>
          </a:bodyPr>
          <a:lstStyle/>
          <a:p>
            <a:pPr algn="r"/>
            <a:r>
              <a:rPr sz="1000" b="0" i="0">
                <a:solidFill>
                  <a:srgbClr val="8A8F87"/>
                </a:solidFill>
                <a:latin typeface="Segoe UI"/>
              </a:rPr>
              <a:t>1 min</a:t>
            </a:r>
          </a:p>
        </p:txBody>
      </p:sp>
      <p:sp>
        <p:nvSpPr>
          <p:cNvPr id="29" name="Rectangle 28"/>
          <p:cNvSpPr/>
          <p:nvPr/>
        </p:nvSpPr>
        <p:spPr>
          <a:xfrm>
            <a:off x="9738360" y="3657600"/>
            <a:ext cx="1600200" cy="2057400"/>
          </a:xfrm>
          <a:prstGeom prst="rect">
            <a:avLst/>
          </a:prstGeom>
          <a:solidFill>
            <a:srgbClr val="FFFFFF"/>
          </a:solidFill>
          <a:ln w="12700">
            <a:solidFill>
              <a:srgbClr val="C9CCC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9829800" y="3730752"/>
            <a:ext cx="548640" cy="365760"/>
          </a:xfrm>
          <a:prstGeom prst="rect">
            <a:avLst/>
          </a:prstGeom>
          <a:noFill/>
        </p:spPr>
        <p:txBody>
          <a:bodyPr wrap="square" lIns="36576" tIns="18288" rIns="36576" bIns="18288" anchor="t">
            <a:spAutoFit/>
          </a:bodyPr>
          <a:lstStyle/>
          <a:p>
            <a:pPr algn="l"/>
            <a:r>
              <a:rPr sz="1400" b="1" i="0">
                <a:solidFill>
                  <a:srgbClr val="2FA38A"/>
                </a:solidFill>
                <a:latin typeface="Segoe UI Semibold"/>
              </a:rPr>
              <a:t>8</a:t>
            </a:r>
          </a:p>
        </p:txBody>
      </p:sp>
      <p:sp>
        <p:nvSpPr>
          <p:cNvPr id="31" name="TextBox 30"/>
          <p:cNvSpPr txBox="1"/>
          <p:nvPr/>
        </p:nvSpPr>
        <p:spPr>
          <a:xfrm>
            <a:off x="9738360" y="5303520"/>
            <a:ext cx="1508760" cy="320040"/>
          </a:xfrm>
          <a:prstGeom prst="rect">
            <a:avLst/>
          </a:prstGeom>
          <a:noFill/>
        </p:spPr>
        <p:txBody>
          <a:bodyPr wrap="square" lIns="36576" tIns="18288" rIns="36576" bIns="18288" anchor="t">
            <a:spAutoFit/>
          </a:bodyPr>
          <a:lstStyle/>
          <a:p>
            <a:pPr algn="r"/>
            <a:r>
              <a:rPr sz="1000" b="0" i="0">
                <a:solidFill>
                  <a:srgbClr val="8A8F87"/>
                </a:solidFill>
                <a:latin typeface="Segoe UI"/>
              </a:rPr>
              <a:t>1 min</a:t>
            </a:r>
          </a:p>
        </p:txBody>
      </p:sp>
      <p:sp>
        <p:nvSpPr>
          <p:cNvPr id="32" name="TextBox 31"/>
          <p:cNvSpPr txBox="1"/>
          <p:nvPr/>
        </p:nvSpPr>
        <p:spPr>
          <a:xfrm>
            <a:off x="548640" y="4206240"/>
            <a:ext cx="3931920" cy="1280160"/>
          </a:xfrm>
          <a:prstGeom prst="rect">
            <a:avLst/>
          </a:prstGeom>
          <a:noFill/>
        </p:spPr>
        <p:txBody>
          <a:bodyPr wrap="square" lIns="36576" tIns="18288" rIns="36576" bIns="18288" anchor="t">
            <a:spAutoFit/>
          </a:bodyPr>
          <a:lstStyle/>
          <a:p>
            <a:pPr algn="l">
              <a:lnSpc>
                <a:spcPct val="90000"/>
              </a:lnSpc>
            </a:pPr>
            <a:r>
              <a:rPr sz="6400" b="1" i="0">
                <a:solidFill>
                  <a:srgbClr val="2FA38A"/>
                </a:solidFill>
                <a:latin typeface="Segoe UI Semibold"/>
              </a:rPr>
              <a:t>8</a:t>
            </a:r>
          </a:p>
          <a:p>
            <a:pPr algn="l">
              <a:lnSpc>
                <a:spcPct val="90000"/>
              </a:lnSpc>
            </a:pPr>
            <a:r>
              <a:rPr sz="1600" b="1" i="0">
                <a:solidFill>
                  <a:srgbClr val="F2F2EC"/>
                </a:solidFill>
                <a:latin typeface="Segoe UI Semibold"/>
              </a:rPr>
              <a:t>ideias em 8 minutos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fill="hold"/>
                                        <p:tgtEl>
                                          <p:spTgt spid="6"/>
                                        </p:tgtEl>
                                      </p:cBhvr>
                                    </p:animEffect>
                                  </p:childTnLst>
                                </p:cTn>
                              </p:par>
                              <p:par>
                                <p:cTn id="11" presetID="42" presetClass="entr" presetSubtype="0" decel="100000" fill="hold" grpId="0" nodeType="withEffect">
                                  <p:stCondLst>
                                    <p:cond delay="50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650" fill="hold"/>
                                        <p:tgtEl>
                                          <p:spTgt spid="7"/>
                                        </p:tgtEl>
                                      </p:cBhvr>
                                    </p:animEffect>
                                    <p:anim calcmode="lin" valueType="num">
                                      <p:cBhvr additive="base">
                                        <p:cTn id="14" dur="650" fill="hold"/>
                                        <p:tgtEl>
                                          <p:spTgt spid="7"/>
                                        </p:tgtEl>
                                        <p:attrNameLst>
                                          <p:attrName>ppt_x</p:attrName>
                                        </p:attrNameLst>
                                      </p:cBhvr>
                                      <p:tavLst>
                                        <p:tav tm="0">
                                          <p:val>
                                            <p:strVal val="#ppt_x"/>
                                          </p:val>
                                        </p:tav>
                                        <p:tav tm="100000">
                                          <p:val>
                                            <p:strVal val="#ppt_x"/>
                                          </p:val>
                                        </p:tav>
                                      </p:tavLst>
                                    </p:anim>
                                    <p:anim calcmode="lin" valueType="num">
                                      <p:cBhvr additive="base">
                                        <p:cTn id="15" dur="650" fill="hold"/>
                                        <p:tgtEl>
                                          <p:spTgt spid="7"/>
                                        </p:tgtEl>
                                        <p:attrNameLst>
                                          <p:attrName>ppt_y</p:attrName>
                                        </p:attrNameLst>
                                      </p:cBhvr>
                                      <p:tavLst>
                                        <p:tav tm="0">
                                          <p:val>
                                            <p:strVal val="#ppt_y+.06"/>
                                          </p:val>
                                        </p:tav>
                                        <p:tav tm="100000">
                                          <p:val>
                                            <p:strVal val="#ppt_y"/>
                                          </p:val>
                                        </p:tav>
                                      </p:tavLst>
                                    </p:anim>
                                  </p:childTnLst>
                                </p:cTn>
                              </p:par>
                              <p:par>
                                <p:cTn id="16" presetID="53" presetClass="entr" presetSubtype="16" decel="100000" fill="hold" grpId="0" nodeType="withEffect">
                                  <p:stCondLst>
                                    <p:cond delay="85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350" fill="hold"/>
                                        <p:tgtEl>
                                          <p:spTgt spid="8"/>
                                        </p:tgtEl>
                                        <p:attrNameLst>
                                          <p:attrName>ppt_w</p:attrName>
                                        </p:attrNameLst>
                                      </p:cBhvr>
                                      <p:tavLst>
                                        <p:tav tm="0">
                                          <p:val>
                                            <p:strVal val="0"/>
                                          </p:val>
                                        </p:tav>
                                        <p:tav tm="70000">
                                          <p:val>
                                            <p:strVal val="#ppt_w*1.08"/>
                                          </p:val>
                                        </p:tav>
                                        <p:tav tm="100000">
                                          <p:val>
                                            <p:strVal val="#ppt_w"/>
                                          </p:val>
                                        </p:tav>
                                      </p:tavLst>
                                    </p:anim>
                                    <p:anim calcmode="lin" valueType="num">
                                      <p:cBhvr additive="base">
                                        <p:cTn id="19" dur="350" fill="hold"/>
                                        <p:tgtEl>
                                          <p:spTgt spid="8"/>
                                        </p:tgtEl>
                                        <p:attrNameLst>
                                          <p:attrName>ppt_h</p:attrName>
                                        </p:attrNameLst>
                                      </p:cBhvr>
                                      <p:tavLst>
                                        <p:tav tm="0">
                                          <p:val>
                                            <p:strVal val="0"/>
                                          </p:val>
                                        </p:tav>
                                        <p:tav tm="70000">
                                          <p:val>
                                            <p:strVal val="#ppt_h*1.08"/>
                                          </p:val>
                                        </p:tav>
                                        <p:tav tm="100000">
                                          <p:val>
                                            <p:strVal val="#ppt_h"/>
                                          </p:val>
                                        </p:tav>
                                      </p:tavLst>
                                    </p:anim>
                                    <p:animEffect transition="in" filter="fade">
                                      <p:cBhvr>
                                        <p:cTn id="20" dur="210" fill="hold"/>
                                        <p:tgtEl>
                                          <p:spTgt spid="8"/>
                                        </p:tgtEl>
                                      </p:cBhvr>
                                    </p:animEffect>
                                  </p:childTnLst>
                                </p:cTn>
                              </p:par>
                              <p:par>
                                <p:cTn id="21" presetID="53" presetClass="entr" presetSubtype="16" decel="100000" fill="hold" grpId="0" nodeType="withEffect">
                                  <p:stCondLst>
                                    <p:cond delay="85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350" fill="hold"/>
                                        <p:tgtEl>
                                          <p:spTgt spid="9"/>
                                        </p:tgtEl>
                                        <p:attrNameLst>
                                          <p:attrName>ppt_w</p:attrName>
                                        </p:attrNameLst>
                                      </p:cBhvr>
                                      <p:tavLst>
                                        <p:tav tm="0">
                                          <p:val>
                                            <p:strVal val="0"/>
                                          </p:val>
                                        </p:tav>
                                        <p:tav tm="70000">
                                          <p:val>
                                            <p:strVal val="#ppt_w*1.08"/>
                                          </p:val>
                                        </p:tav>
                                        <p:tav tm="100000">
                                          <p:val>
                                            <p:strVal val="#ppt_w"/>
                                          </p:val>
                                        </p:tav>
                                      </p:tavLst>
                                    </p:anim>
                                    <p:anim calcmode="lin" valueType="num">
                                      <p:cBhvr additive="base">
                                        <p:cTn id="24" dur="350" fill="hold"/>
                                        <p:tgtEl>
                                          <p:spTgt spid="9"/>
                                        </p:tgtEl>
                                        <p:attrNameLst>
                                          <p:attrName>ppt_h</p:attrName>
                                        </p:attrNameLst>
                                      </p:cBhvr>
                                      <p:tavLst>
                                        <p:tav tm="0">
                                          <p:val>
                                            <p:strVal val="0"/>
                                          </p:val>
                                        </p:tav>
                                        <p:tav tm="70000">
                                          <p:val>
                                            <p:strVal val="#ppt_h*1.08"/>
                                          </p:val>
                                        </p:tav>
                                        <p:tav tm="100000">
                                          <p:val>
                                            <p:strVal val="#ppt_h"/>
                                          </p:val>
                                        </p:tav>
                                      </p:tavLst>
                                    </p:anim>
                                    <p:animEffect transition="in" filter="fade">
                                      <p:cBhvr>
                                        <p:cTn id="25" dur="210" fill="hold"/>
                                        <p:tgtEl>
                                          <p:spTgt spid="9"/>
                                        </p:tgtEl>
                                      </p:cBhvr>
                                    </p:animEffect>
                                  </p:childTnLst>
                                </p:cTn>
                              </p:par>
                              <p:par>
                                <p:cTn id="26" presetID="53" presetClass="entr" presetSubtype="16" decel="100000" fill="hold" grpId="0" nodeType="withEffect">
                                  <p:stCondLst>
                                    <p:cond delay="850"/>
                                  </p:stCondLst>
                                  <p:childTnLst>
                                    <p:set>
                                      <p:cBhvr>
                                        <p:cTn id="27" dur="1" fill="hold">
                                          <p:stCondLst>
                                            <p:cond delay="0"/>
                                          </p:stCondLst>
                                        </p:cTn>
                                        <p:tgtEl>
                                          <p:spTgt spid="10"/>
                                        </p:tgtEl>
                                        <p:attrNameLst>
                                          <p:attrName>style.visibility</p:attrName>
                                        </p:attrNameLst>
                                      </p:cBhvr>
                                      <p:to>
                                        <p:strVal val="visible"/>
                                      </p:to>
                                    </p:set>
                                    <p:anim calcmode="lin" valueType="num">
                                      <p:cBhvr additive="base">
                                        <p:cTn id="28" dur="350" fill="hold"/>
                                        <p:tgtEl>
                                          <p:spTgt spid="10"/>
                                        </p:tgtEl>
                                        <p:attrNameLst>
                                          <p:attrName>ppt_w</p:attrName>
                                        </p:attrNameLst>
                                      </p:cBhvr>
                                      <p:tavLst>
                                        <p:tav tm="0">
                                          <p:val>
                                            <p:strVal val="0"/>
                                          </p:val>
                                        </p:tav>
                                        <p:tav tm="70000">
                                          <p:val>
                                            <p:strVal val="#ppt_w*1.08"/>
                                          </p:val>
                                        </p:tav>
                                        <p:tav tm="100000">
                                          <p:val>
                                            <p:strVal val="#ppt_w"/>
                                          </p:val>
                                        </p:tav>
                                      </p:tavLst>
                                    </p:anim>
                                    <p:anim calcmode="lin" valueType="num">
                                      <p:cBhvr additive="base">
                                        <p:cTn id="29" dur="350" fill="hold"/>
                                        <p:tgtEl>
                                          <p:spTgt spid="10"/>
                                        </p:tgtEl>
                                        <p:attrNameLst>
                                          <p:attrName>ppt_h</p:attrName>
                                        </p:attrNameLst>
                                      </p:cBhvr>
                                      <p:tavLst>
                                        <p:tav tm="0">
                                          <p:val>
                                            <p:strVal val="0"/>
                                          </p:val>
                                        </p:tav>
                                        <p:tav tm="70000">
                                          <p:val>
                                            <p:strVal val="#ppt_h*1.08"/>
                                          </p:val>
                                        </p:tav>
                                        <p:tav tm="100000">
                                          <p:val>
                                            <p:strVal val="#ppt_h"/>
                                          </p:val>
                                        </p:tav>
                                      </p:tavLst>
                                    </p:anim>
                                    <p:animEffect transition="in" filter="fade">
                                      <p:cBhvr>
                                        <p:cTn id="30" dur="210" fill="hold"/>
                                        <p:tgtEl>
                                          <p:spTgt spid="10"/>
                                        </p:tgtEl>
                                      </p:cBhvr>
                                    </p:animEffect>
                                  </p:childTnLst>
                                </p:cTn>
                              </p:par>
                              <p:par>
                                <p:cTn id="31" presetID="53" presetClass="entr" presetSubtype="16" decel="100000" fill="hold" grpId="0" nodeType="withEffect">
                                  <p:stCondLst>
                                    <p:cond delay="1050"/>
                                  </p:stCondLst>
                                  <p:childTnLst>
                                    <p:set>
                                      <p:cBhvr>
                                        <p:cTn id="32" dur="1" fill="hold">
                                          <p:stCondLst>
                                            <p:cond delay="0"/>
                                          </p:stCondLst>
                                        </p:cTn>
                                        <p:tgtEl>
                                          <p:spTgt spid="11"/>
                                        </p:tgtEl>
                                        <p:attrNameLst>
                                          <p:attrName>style.visibility</p:attrName>
                                        </p:attrNameLst>
                                      </p:cBhvr>
                                      <p:to>
                                        <p:strVal val="visible"/>
                                      </p:to>
                                    </p:set>
                                    <p:anim calcmode="lin" valueType="num">
                                      <p:cBhvr additive="base">
                                        <p:cTn id="33" dur="350" fill="hold"/>
                                        <p:tgtEl>
                                          <p:spTgt spid="11"/>
                                        </p:tgtEl>
                                        <p:attrNameLst>
                                          <p:attrName>ppt_w</p:attrName>
                                        </p:attrNameLst>
                                      </p:cBhvr>
                                      <p:tavLst>
                                        <p:tav tm="0">
                                          <p:val>
                                            <p:strVal val="0"/>
                                          </p:val>
                                        </p:tav>
                                        <p:tav tm="70000">
                                          <p:val>
                                            <p:strVal val="#ppt_w*1.08"/>
                                          </p:val>
                                        </p:tav>
                                        <p:tav tm="100000">
                                          <p:val>
                                            <p:strVal val="#ppt_w"/>
                                          </p:val>
                                        </p:tav>
                                      </p:tavLst>
                                    </p:anim>
                                    <p:anim calcmode="lin" valueType="num">
                                      <p:cBhvr additive="base">
                                        <p:cTn id="34" dur="350" fill="hold"/>
                                        <p:tgtEl>
                                          <p:spTgt spid="11"/>
                                        </p:tgtEl>
                                        <p:attrNameLst>
                                          <p:attrName>ppt_h</p:attrName>
                                        </p:attrNameLst>
                                      </p:cBhvr>
                                      <p:tavLst>
                                        <p:tav tm="0">
                                          <p:val>
                                            <p:strVal val="0"/>
                                          </p:val>
                                        </p:tav>
                                        <p:tav tm="70000">
                                          <p:val>
                                            <p:strVal val="#ppt_h*1.08"/>
                                          </p:val>
                                        </p:tav>
                                        <p:tav tm="100000">
                                          <p:val>
                                            <p:strVal val="#ppt_h"/>
                                          </p:val>
                                        </p:tav>
                                      </p:tavLst>
                                    </p:anim>
                                    <p:animEffect transition="in" filter="fade">
                                      <p:cBhvr>
                                        <p:cTn id="35" dur="210" fill="hold"/>
                                        <p:tgtEl>
                                          <p:spTgt spid="11"/>
                                        </p:tgtEl>
                                      </p:cBhvr>
                                    </p:animEffect>
                                  </p:childTnLst>
                                </p:cTn>
                              </p:par>
                              <p:par>
                                <p:cTn id="36" presetID="53" presetClass="entr" presetSubtype="16" decel="100000" fill="hold" grpId="0" nodeType="withEffect">
                                  <p:stCondLst>
                                    <p:cond delay="1050"/>
                                  </p:stCondLst>
                                  <p:childTnLst>
                                    <p:set>
                                      <p:cBhvr>
                                        <p:cTn id="37" dur="1" fill="hold">
                                          <p:stCondLst>
                                            <p:cond delay="0"/>
                                          </p:stCondLst>
                                        </p:cTn>
                                        <p:tgtEl>
                                          <p:spTgt spid="12"/>
                                        </p:tgtEl>
                                        <p:attrNameLst>
                                          <p:attrName>style.visibility</p:attrName>
                                        </p:attrNameLst>
                                      </p:cBhvr>
                                      <p:to>
                                        <p:strVal val="visible"/>
                                      </p:to>
                                    </p:set>
                                    <p:anim calcmode="lin" valueType="num">
                                      <p:cBhvr additive="base">
                                        <p:cTn id="38" dur="350" fill="hold"/>
                                        <p:tgtEl>
                                          <p:spTgt spid="12"/>
                                        </p:tgtEl>
                                        <p:attrNameLst>
                                          <p:attrName>ppt_w</p:attrName>
                                        </p:attrNameLst>
                                      </p:cBhvr>
                                      <p:tavLst>
                                        <p:tav tm="0">
                                          <p:val>
                                            <p:strVal val="0"/>
                                          </p:val>
                                        </p:tav>
                                        <p:tav tm="70000">
                                          <p:val>
                                            <p:strVal val="#ppt_w*1.08"/>
                                          </p:val>
                                        </p:tav>
                                        <p:tav tm="100000">
                                          <p:val>
                                            <p:strVal val="#ppt_w"/>
                                          </p:val>
                                        </p:tav>
                                      </p:tavLst>
                                    </p:anim>
                                    <p:anim calcmode="lin" valueType="num">
                                      <p:cBhvr additive="base">
                                        <p:cTn id="39" dur="350" fill="hold"/>
                                        <p:tgtEl>
                                          <p:spTgt spid="12"/>
                                        </p:tgtEl>
                                        <p:attrNameLst>
                                          <p:attrName>ppt_h</p:attrName>
                                        </p:attrNameLst>
                                      </p:cBhvr>
                                      <p:tavLst>
                                        <p:tav tm="0">
                                          <p:val>
                                            <p:strVal val="0"/>
                                          </p:val>
                                        </p:tav>
                                        <p:tav tm="70000">
                                          <p:val>
                                            <p:strVal val="#ppt_h*1.08"/>
                                          </p:val>
                                        </p:tav>
                                        <p:tav tm="100000">
                                          <p:val>
                                            <p:strVal val="#ppt_h"/>
                                          </p:val>
                                        </p:tav>
                                      </p:tavLst>
                                    </p:anim>
                                    <p:animEffect transition="in" filter="fade">
                                      <p:cBhvr>
                                        <p:cTn id="40" dur="210" fill="hold"/>
                                        <p:tgtEl>
                                          <p:spTgt spid="12"/>
                                        </p:tgtEl>
                                      </p:cBhvr>
                                    </p:animEffect>
                                  </p:childTnLst>
                                </p:cTn>
                              </p:par>
                              <p:par>
                                <p:cTn id="41" presetID="53" presetClass="entr" presetSubtype="16" decel="100000" fill="hold" grpId="0" nodeType="withEffect">
                                  <p:stCondLst>
                                    <p:cond delay="105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350" fill="hold"/>
                                        <p:tgtEl>
                                          <p:spTgt spid="13"/>
                                        </p:tgtEl>
                                        <p:attrNameLst>
                                          <p:attrName>ppt_w</p:attrName>
                                        </p:attrNameLst>
                                      </p:cBhvr>
                                      <p:tavLst>
                                        <p:tav tm="0">
                                          <p:val>
                                            <p:strVal val="0"/>
                                          </p:val>
                                        </p:tav>
                                        <p:tav tm="70000">
                                          <p:val>
                                            <p:strVal val="#ppt_w*1.08"/>
                                          </p:val>
                                        </p:tav>
                                        <p:tav tm="100000">
                                          <p:val>
                                            <p:strVal val="#ppt_w"/>
                                          </p:val>
                                        </p:tav>
                                      </p:tavLst>
                                    </p:anim>
                                    <p:anim calcmode="lin" valueType="num">
                                      <p:cBhvr additive="base">
                                        <p:cTn id="44" dur="350" fill="hold"/>
                                        <p:tgtEl>
                                          <p:spTgt spid="13"/>
                                        </p:tgtEl>
                                        <p:attrNameLst>
                                          <p:attrName>ppt_h</p:attrName>
                                        </p:attrNameLst>
                                      </p:cBhvr>
                                      <p:tavLst>
                                        <p:tav tm="0">
                                          <p:val>
                                            <p:strVal val="0"/>
                                          </p:val>
                                        </p:tav>
                                        <p:tav tm="70000">
                                          <p:val>
                                            <p:strVal val="#ppt_h*1.08"/>
                                          </p:val>
                                        </p:tav>
                                        <p:tav tm="100000">
                                          <p:val>
                                            <p:strVal val="#ppt_h"/>
                                          </p:val>
                                        </p:tav>
                                      </p:tavLst>
                                    </p:anim>
                                    <p:animEffect transition="in" filter="fade">
                                      <p:cBhvr>
                                        <p:cTn id="45" dur="210" fill="hold"/>
                                        <p:tgtEl>
                                          <p:spTgt spid="13"/>
                                        </p:tgtEl>
                                      </p:cBhvr>
                                    </p:animEffect>
                                  </p:childTnLst>
                                </p:cTn>
                              </p:par>
                              <p:par>
                                <p:cTn id="46" presetID="53" presetClass="entr" presetSubtype="16" decel="100000" fill="hold" grpId="0" nodeType="withEffect">
                                  <p:stCondLst>
                                    <p:cond delay="1250"/>
                                  </p:stCondLst>
                                  <p:childTnLst>
                                    <p:set>
                                      <p:cBhvr>
                                        <p:cTn id="47" dur="1" fill="hold">
                                          <p:stCondLst>
                                            <p:cond delay="0"/>
                                          </p:stCondLst>
                                        </p:cTn>
                                        <p:tgtEl>
                                          <p:spTgt spid="14"/>
                                        </p:tgtEl>
                                        <p:attrNameLst>
                                          <p:attrName>style.visibility</p:attrName>
                                        </p:attrNameLst>
                                      </p:cBhvr>
                                      <p:to>
                                        <p:strVal val="visible"/>
                                      </p:to>
                                    </p:set>
                                    <p:anim calcmode="lin" valueType="num">
                                      <p:cBhvr additive="base">
                                        <p:cTn id="48" dur="350" fill="hold"/>
                                        <p:tgtEl>
                                          <p:spTgt spid="14"/>
                                        </p:tgtEl>
                                        <p:attrNameLst>
                                          <p:attrName>ppt_w</p:attrName>
                                        </p:attrNameLst>
                                      </p:cBhvr>
                                      <p:tavLst>
                                        <p:tav tm="0">
                                          <p:val>
                                            <p:strVal val="0"/>
                                          </p:val>
                                        </p:tav>
                                        <p:tav tm="70000">
                                          <p:val>
                                            <p:strVal val="#ppt_w*1.08"/>
                                          </p:val>
                                        </p:tav>
                                        <p:tav tm="100000">
                                          <p:val>
                                            <p:strVal val="#ppt_w"/>
                                          </p:val>
                                        </p:tav>
                                      </p:tavLst>
                                    </p:anim>
                                    <p:anim calcmode="lin" valueType="num">
                                      <p:cBhvr additive="base">
                                        <p:cTn id="49" dur="350" fill="hold"/>
                                        <p:tgtEl>
                                          <p:spTgt spid="14"/>
                                        </p:tgtEl>
                                        <p:attrNameLst>
                                          <p:attrName>ppt_h</p:attrName>
                                        </p:attrNameLst>
                                      </p:cBhvr>
                                      <p:tavLst>
                                        <p:tav tm="0">
                                          <p:val>
                                            <p:strVal val="0"/>
                                          </p:val>
                                        </p:tav>
                                        <p:tav tm="70000">
                                          <p:val>
                                            <p:strVal val="#ppt_h*1.08"/>
                                          </p:val>
                                        </p:tav>
                                        <p:tav tm="100000">
                                          <p:val>
                                            <p:strVal val="#ppt_h"/>
                                          </p:val>
                                        </p:tav>
                                      </p:tavLst>
                                    </p:anim>
                                    <p:animEffect transition="in" filter="fade">
                                      <p:cBhvr>
                                        <p:cTn id="50" dur="210" fill="hold"/>
                                        <p:tgtEl>
                                          <p:spTgt spid="14"/>
                                        </p:tgtEl>
                                      </p:cBhvr>
                                    </p:animEffect>
                                  </p:childTnLst>
                                </p:cTn>
                              </p:par>
                              <p:par>
                                <p:cTn id="51" presetID="53" presetClass="entr" presetSubtype="16" decel="100000" fill="hold" grpId="0" nodeType="withEffect">
                                  <p:stCondLst>
                                    <p:cond delay="1250"/>
                                  </p:stCondLst>
                                  <p:childTnLst>
                                    <p:set>
                                      <p:cBhvr>
                                        <p:cTn id="52" dur="1" fill="hold">
                                          <p:stCondLst>
                                            <p:cond delay="0"/>
                                          </p:stCondLst>
                                        </p:cTn>
                                        <p:tgtEl>
                                          <p:spTgt spid="15"/>
                                        </p:tgtEl>
                                        <p:attrNameLst>
                                          <p:attrName>style.visibility</p:attrName>
                                        </p:attrNameLst>
                                      </p:cBhvr>
                                      <p:to>
                                        <p:strVal val="visible"/>
                                      </p:to>
                                    </p:set>
                                    <p:anim calcmode="lin" valueType="num">
                                      <p:cBhvr additive="base">
                                        <p:cTn id="53" dur="350" fill="hold"/>
                                        <p:tgtEl>
                                          <p:spTgt spid="15"/>
                                        </p:tgtEl>
                                        <p:attrNameLst>
                                          <p:attrName>ppt_w</p:attrName>
                                        </p:attrNameLst>
                                      </p:cBhvr>
                                      <p:tavLst>
                                        <p:tav tm="0">
                                          <p:val>
                                            <p:strVal val="0"/>
                                          </p:val>
                                        </p:tav>
                                        <p:tav tm="70000">
                                          <p:val>
                                            <p:strVal val="#ppt_w*1.08"/>
                                          </p:val>
                                        </p:tav>
                                        <p:tav tm="100000">
                                          <p:val>
                                            <p:strVal val="#ppt_w"/>
                                          </p:val>
                                        </p:tav>
                                      </p:tavLst>
                                    </p:anim>
                                    <p:anim calcmode="lin" valueType="num">
                                      <p:cBhvr additive="base">
                                        <p:cTn id="54" dur="350" fill="hold"/>
                                        <p:tgtEl>
                                          <p:spTgt spid="15"/>
                                        </p:tgtEl>
                                        <p:attrNameLst>
                                          <p:attrName>ppt_h</p:attrName>
                                        </p:attrNameLst>
                                      </p:cBhvr>
                                      <p:tavLst>
                                        <p:tav tm="0">
                                          <p:val>
                                            <p:strVal val="0"/>
                                          </p:val>
                                        </p:tav>
                                        <p:tav tm="70000">
                                          <p:val>
                                            <p:strVal val="#ppt_h*1.08"/>
                                          </p:val>
                                        </p:tav>
                                        <p:tav tm="100000">
                                          <p:val>
                                            <p:strVal val="#ppt_h"/>
                                          </p:val>
                                        </p:tav>
                                      </p:tavLst>
                                    </p:anim>
                                    <p:animEffect transition="in" filter="fade">
                                      <p:cBhvr>
                                        <p:cTn id="55" dur="210" fill="hold"/>
                                        <p:tgtEl>
                                          <p:spTgt spid="15"/>
                                        </p:tgtEl>
                                      </p:cBhvr>
                                    </p:animEffect>
                                  </p:childTnLst>
                                </p:cTn>
                              </p:par>
                              <p:par>
                                <p:cTn id="56" presetID="53" presetClass="entr" presetSubtype="16" decel="100000" fill="hold" grpId="0" nodeType="withEffect">
                                  <p:stCondLst>
                                    <p:cond delay="1250"/>
                                  </p:stCondLst>
                                  <p:childTnLst>
                                    <p:set>
                                      <p:cBhvr>
                                        <p:cTn id="57" dur="1" fill="hold">
                                          <p:stCondLst>
                                            <p:cond delay="0"/>
                                          </p:stCondLst>
                                        </p:cTn>
                                        <p:tgtEl>
                                          <p:spTgt spid="16"/>
                                        </p:tgtEl>
                                        <p:attrNameLst>
                                          <p:attrName>style.visibility</p:attrName>
                                        </p:attrNameLst>
                                      </p:cBhvr>
                                      <p:to>
                                        <p:strVal val="visible"/>
                                      </p:to>
                                    </p:set>
                                    <p:anim calcmode="lin" valueType="num">
                                      <p:cBhvr additive="base">
                                        <p:cTn id="58" dur="350" fill="hold"/>
                                        <p:tgtEl>
                                          <p:spTgt spid="16"/>
                                        </p:tgtEl>
                                        <p:attrNameLst>
                                          <p:attrName>ppt_w</p:attrName>
                                        </p:attrNameLst>
                                      </p:cBhvr>
                                      <p:tavLst>
                                        <p:tav tm="0">
                                          <p:val>
                                            <p:strVal val="0"/>
                                          </p:val>
                                        </p:tav>
                                        <p:tav tm="70000">
                                          <p:val>
                                            <p:strVal val="#ppt_w*1.08"/>
                                          </p:val>
                                        </p:tav>
                                        <p:tav tm="100000">
                                          <p:val>
                                            <p:strVal val="#ppt_w"/>
                                          </p:val>
                                        </p:tav>
                                      </p:tavLst>
                                    </p:anim>
                                    <p:anim calcmode="lin" valueType="num">
                                      <p:cBhvr additive="base">
                                        <p:cTn id="59" dur="350" fill="hold"/>
                                        <p:tgtEl>
                                          <p:spTgt spid="16"/>
                                        </p:tgtEl>
                                        <p:attrNameLst>
                                          <p:attrName>ppt_h</p:attrName>
                                        </p:attrNameLst>
                                      </p:cBhvr>
                                      <p:tavLst>
                                        <p:tav tm="0">
                                          <p:val>
                                            <p:strVal val="0"/>
                                          </p:val>
                                        </p:tav>
                                        <p:tav tm="70000">
                                          <p:val>
                                            <p:strVal val="#ppt_h*1.08"/>
                                          </p:val>
                                        </p:tav>
                                        <p:tav tm="100000">
                                          <p:val>
                                            <p:strVal val="#ppt_h"/>
                                          </p:val>
                                        </p:tav>
                                      </p:tavLst>
                                    </p:anim>
                                    <p:animEffect transition="in" filter="fade">
                                      <p:cBhvr>
                                        <p:cTn id="60" dur="210" fill="hold"/>
                                        <p:tgtEl>
                                          <p:spTgt spid="16"/>
                                        </p:tgtEl>
                                      </p:cBhvr>
                                    </p:animEffect>
                                  </p:childTnLst>
                                </p:cTn>
                              </p:par>
                              <p:par>
                                <p:cTn id="61" presetID="53" presetClass="entr" presetSubtype="16" decel="100000" fill="hold" grpId="0" nodeType="withEffect">
                                  <p:stCondLst>
                                    <p:cond delay="1450"/>
                                  </p:stCondLst>
                                  <p:childTnLst>
                                    <p:set>
                                      <p:cBhvr>
                                        <p:cTn id="62" dur="1" fill="hold">
                                          <p:stCondLst>
                                            <p:cond delay="0"/>
                                          </p:stCondLst>
                                        </p:cTn>
                                        <p:tgtEl>
                                          <p:spTgt spid="17"/>
                                        </p:tgtEl>
                                        <p:attrNameLst>
                                          <p:attrName>style.visibility</p:attrName>
                                        </p:attrNameLst>
                                      </p:cBhvr>
                                      <p:to>
                                        <p:strVal val="visible"/>
                                      </p:to>
                                    </p:set>
                                    <p:anim calcmode="lin" valueType="num">
                                      <p:cBhvr additive="base">
                                        <p:cTn id="63" dur="350" fill="hold"/>
                                        <p:tgtEl>
                                          <p:spTgt spid="17"/>
                                        </p:tgtEl>
                                        <p:attrNameLst>
                                          <p:attrName>ppt_w</p:attrName>
                                        </p:attrNameLst>
                                      </p:cBhvr>
                                      <p:tavLst>
                                        <p:tav tm="0">
                                          <p:val>
                                            <p:strVal val="0"/>
                                          </p:val>
                                        </p:tav>
                                        <p:tav tm="70000">
                                          <p:val>
                                            <p:strVal val="#ppt_w*1.08"/>
                                          </p:val>
                                        </p:tav>
                                        <p:tav tm="100000">
                                          <p:val>
                                            <p:strVal val="#ppt_w"/>
                                          </p:val>
                                        </p:tav>
                                      </p:tavLst>
                                    </p:anim>
                                    <p:anim calcmode="lin" valueType="num">
                                      <p:cBhvr additive="base">
                                        <p:cTn id="64" dur="350" fill="hold"/>
                                        <p:tgtEl>
                                          <p:spTgt spid="17"/>
                                        </p:tgtEl>
                                        <p:attrNameLst>
                                          <p:attrName>ppt_h</p:attrName>
                                        </p:attrNameLst>
                                      </p:cBhvr>
                                      <p:tavLst>
                                        <p:tav tm="0">
                                          <p:val>
                                            <p:strVal val="0"/>
                                          </p:val>
                                        </p:tav>
                                        <p:tav tm="70000">
                                          <p:val>
                                            <p:strVal val="#ppt_h*1.08"/>
                                          </p:val>
                                        </p:tav>
                                        <p:tav tm="100000">
                                          <p:val>
                                            <p:strVal val="#ppt_h"/>
                                          </p:val>
                                        </p:tav>
                                      </p:tavLst>
                                    </p:anim>
                                    <p:animEffect transition="in" filter="fade">
                                      <p:cBhvr>
                                        <p:cTn id="65" dur="210" fill="hold"/>
                                        <p:tgtEl>
                                          <p:spTgt spid="17"/>
                                        </p:tgtEl>
                                      </p:cBhvr>
                                    </p:animEffect>
                                  </p:childTnLst>
                                </p:cTn>
                              </p:par>
                              <p:par>
                                <p:cTn id="66" presetID="53" presetClass="entr" presetSubtype="16" decel="100000" fill="hold" grpId="0" nodeType="withEffect">
                                  <p:stCondLst>
                                    <p:cond delay="1450"/>
                                  </p:stCondLst>
                                  <p:childTnLst>
                                    <p:set>
                                      <p:cBhvr>
                                        <p:cTn id="67" dur="1" fill="hold">
                                          <p:stCondLst>
                                            <p:cond delay="0"/>
                                          </p:stCondLst>
                                        </p:cTn>
                                        <p:tgtEl>
                                          <p:spTgt spid="18"/>
                                        </p:tgtEl>
                                        <p:attrNameLst>
                                          <p:attrName>style.visibility</p:attrName>
                                        </p:attrNameLst>
                                      </p:cBhvr>
                                      <p:to>
                                        <p:strVal val="visible"/>
                                      </p:to>
                                    </p:set>
                                    <p:anim calcmode="lin" valueType="num">
                                      <p:cBhvr additive="base">
                                        <p:cTn id="68" dur="350" fill="hold"/>
                                        <p:tgtEl>
                                          <p:spTgt spid="18"/>
                                        </p:tgtEl>
                                        <p:attrNameLst>
                                          <p:attrName>ppt_w</p:attrName>
                                        </p:attrNameLst>
                                      </p:cBhvr>
                                      <p:tavLst>
                                        <p:tav tm="0">
                                          <p:val>
                                            <p:strVal val="0"/>
                                          </p:val>
                                        </p:tav>
                                        <p:tav tm="70000">
                                          <p:val>
                                            <p:strVal val="#ppt_w*1.08"/>
                                          </p:val>
                                        </p:tav>
                                        <p:tav tm="100000">
                                          <p:val>
                                            <p:strVal val="#ppt_w"/>
                                          </p:val>
                                        </p:tav>
                                      </p:tavLst>
                                    </p:anim>
                                    <p:anim calcmode="lin" valueType="num">
                                      <p:cBhvr additive="base">
                                        <p:cTn id="69" dur="350" fill="hold"/>
                                        <p:tgtEl>
                                          <p:spTgt spid="18"/>
                                        </p:tgtEl>
                                        <p:attrNameLst>
                                          <p:attrName>ppt_h</p:attrName>
                                        </p:attrNameLst>
                                      </p:cBhvr>
                                      <p:tavLst>
                                        <p:tav tm="0">
                                          <p:val>
                                            <p:strVal val="0"/>
                                          </p:val>
                                        </p:tav>
                                        <p:tav tm="70000">
                                          <p:val>
                                            <p:strVal val="#ppt_h*1.08"/>
                                          </p:val>
                                        </p:tav>
                                        <p:tav tm="100000">
                                          <p:val>
                                            <p:strVal val="#ppt_h"/>
                                          </p:val>
                                        </p:tav>
                                      </p:tavLst>
                                    </p:anim>
                                    <p:animEffect transition="in" filter="fade">
                                      <p:cBhvr>
                                        <p:cTn id="70" dur="210" fill="hold"/>
                                        <p:tgtEl>
                                          <p:spTgt spid="18"/>
                                        </p:tgtEl>
                                      </p:cBhvr>
                                    </p:animEffect>
                                  </p:childTnLst>
                                </p:cTn>
                              </p:par>
                              <p:par>
                                <p:cTn id="71" presetID="53" presetClass="entr" presetSubtype="16" decel="100000" fill="hold" grpId="0" nodeType="withEffect">
                                  <p:stCondLst>
                                    <p:cond delay="1450"/>
                                  </p:stCondLst>
                                  <p:childTnLst>
                                    <p:set>
                                      <p:cBhvr>
                                        <p:cTn id="72" dur="1" fill="hold">
                                          <p:stCondLst>
                                            <p:cond delay="0"/>
                                          </p:stCondLst>
                                        </p:cTn>
                                        <p:tgtEl>
                                          <p:spTgt spid="19"/>
                                        </p:tgtEl>
                                        <p:attrNameLst>
                                          <p:attrName>style.visibility</p:attrName>
                                        </p:attrNameLst>
                                      </p:cBhvr>
                                      <p:to>
                                        <p:strVal val="visible"/>
                                      </p:to>
                                    </p:set>
                                    <p:anim calcmode="lin" valueType="num">
                                      <p:cBhvr additive="base">
                                        <p:cTn id="73" dur="350" fill="hold"/>
                                        <p:tgtEl>
                                          <p:spTgt spid="19"/>
                                        </p:tgtEl>
                                        <p:attrNameLst>
                                          <p:attrName>ppt_w</p:attrName>
                                        </p:attrNameLst>
                                      </p:cBhvr>
                                      <p:tavLst>
                                        <p:tav tm="0">
                                          <p:val>
                                            <p:strVal val="0"/>
                                          </p:val>
                                        </p:tav>
                                        <p:tav tm="70000">
                                          <p:val>
                                            <p:strVal val="#ppt_w*1.08"/>
                                          </p:val>
                                        </p:tav>
                                        <p:tav tm="100000">
                                          <p:val>
                                            <p:strVal val="#ppt_w"/>
                                          </p:val>
                                        </p:tav>
                                      </p:tavLst>
                                    </p:anim>
                                    <p:anim calcmode="lin" valueType="num">
                                      <p:cBhvr additive="base">
                                        <p:cTn id="74" dur="350" fill="hold"/>
                                        <p:tgtEl>
                                          <p:spTgt spid="19"/>
                                        </p:tgtEl>
                                        <p:attrNameLst>
                                          <p:attrName>ppt_h</p:attrName>
                                        </p:attrNameLst>
                                      </p:cBhvr>
                                      <p:tavLst>
                                        <p:tav tm="0">
                                          <p:val>
                                            <p:strVal val="0"/>
                                          </p:val>
                                        </p:tav>
                                        <p:tav tm="70000">
                                          <p:val>
                                            <p:strVal val="#ppt_h*1.08"/>
                                          </p:val>
                                        </p:tav>
                                        <p:tav tm="100000">
                                          <p:val>
                                            <p:strVal val="#ppt_h"/>
                                          </p:val>
                                        </p:tav>
                                      </p:tavLst>
                                    </p:anim>
                                    <p:animEffect transition="in" filter="fade">
                                      <p:cBhvr>
                                        <p:cTn id="75" dur="210" fill="hold"/>
                                        <p:tgtEl>
                                          <p:spTgt spid="19"/>
                                        </p:tgtEl>
                                      </p:cBhvr>
                                    </p:animEffect>
                                  </p:childTnLst>
                                </p:cTn>
                              </p:par>
                              <p:par>
                                <p:cTn id="76" presetID="53" presetClass="entr" presetSubtype="16" decel="100000" fill="hold" grpId="0" nodeType="withEffect">
                                  <p:stCondLst>
                                    <p:cond delay="1650"/>
                                  </p:stCondLst>
                                  <p:childTnLst>
                                    <p:set>
                                      <p:cBhvr>
                                        <p:cTn id="77" dur="1" fill="hold">
                                          <p:stCondLst>
                                            <p:cond delay="0"/>
                                          </p:stCondLst>
                                        </p:cTn>
                                        <p:tgtEl>
                                          <p:spTgt spid="20"/>
                                        </p:tgtEl>
                                        <p:attrNameLst>
                                          <p:attrName>style.visibility</p:attrName>
                                        </p:attrNameLst>
                                      </p:cBhvr>
                                      <p:to>
                                        <p:strVal val="visible"/>
                                      </p:to>
                                    </p:set>
                                    <p:anim calcmode="lin" valueType="num">
                                      <p:cBhvr additive="base">
                                        <p:cTn id="78" dur="350" fill="hold"/>
                                        <p:tgtEl>
                                          <p:spTgt spid="20"/>
                                        </p:tgtEl>
                                        <p:attrNameLst>
                                          <p:attrName>ppt_w</p:attrName>
                                        </p:attrNameLst>
                                      </p:cBhvr>
                                      <p:tavLst>
                                        <p:tav tm="0">
                                          <p:val>
                                            <p:strVal val="0"/>
                                          </p:val>
                                        </p:tav>
                                        <p:tav tm="70000">
                                          <p:val>
                                            <p:strVal val="#ppt_w*1.08"/>
                                          </p:val>
                                        </p:tav>
                                        <p:tav tm="100000">
                                          <p:val>
                                            <p:strVal val="#ppt_w"/>
                                          </p:val>
                                        </p:tav>
                                      </p:tavLst>
                                    </p:anim>
                                    <p:anim calcmode="lin" valueType="num">
                                      <p:cBhvr additive="base">
                                        <p:cTn id="79" dur="350" fill="hold"/>
                                        <p:tgtEl>
                                          <p:spTgt spid="20"/>
                                        </p:tgtEl>
                                        <p:attrNameLst>
                                          <p:attrName>ppt_h</p:attrName>
                                        </p:attrNameLst>
                                      </p:cBhvr>
                                      <p:tavLst>
                                        <p:tav tm="0">
                                          <p:val>
                                            <p:strVal val="0"/>
                                          </p:val>
                                        </p:tav>
                                        <p:tav tm="70000">
                                          <p:val>
                                            <p:strVal val="#ppt_h*1.08"/>
                                          </p:val>
                                        </p:tav>
                                        <p:tav tm="100000">
                                          <p:val>
                                            <p:strVal val="#ppt_h"/>
                                          </p:val>
                                        </p:tav>
                                      </p:tavLst>
                                    </p:anim>
                                    <p:animEffect transition="in" filter="fade">
                                      <p:cBhvr>
                                        <p:cTn id="80" dur="210" fill="hold"/>
                                        <p:tgtEl>
                                          <p:spTgt spid="20"/>
                                        </p:tgtEl>
                                      </p:cBhvr>
                                    </p:animEffect>
                                  </p:childTnLst>
                                </p:cTn>
                              </p:par>
                              <p:par>
                                <p:cTn id="81" presetID="53" presetClass="entr" presetSubtype="16" decel="100000" fill="hold" grpId="0" nodeType="withEffect">
                                  <p:stCondLst>
                                    <p:cond delay="1650"/>
                                  </p:stCondLst>
                                  <p:childTnLst>
                                    <p:set>
                                      <p:cBhvr>
                                        <p:cTn id="82" dur="1" fill="hold">
                                          <p:stCondLst>
                                            <p:cond delay="0"/>
                                          </p:stCondLst>
                                        </p:cTn>
                                        <p:tgtEl>
                                          <p:spTgt spid="21"/>
                                        </p:tgtEl>
                                        <p:attrNameLst>
                                          <p:attrName>style.visibility</p:attrName>
                                        </p:attrNameLst>
                                      </p:cBhvr>
                                      <p:to>
                                        <p:strVal val="visible"/>
                                      </p:to>
                                    </p:set>
                                    <p:anim calcmode="lin" valueType="num">
                                      <p:cBhvr additive="base">
                                        <p:cTn id="83" dur="350" fill="hold"/>
                                        <p:tgtEl>
                                          <p:spTgt spid="21"/>
                                        </p:tgtEl>
                                        <p:attrNameLst>
                                          <p:attrName>ppt_w</p:attrName>
                                        </p:attrNameLst>
                                      </p:cBhvr>
                                      <p:tavLst>
                                        <p:tav tm="0">
                                          <p:val>
                                            <p:strVal val="0"/>
                                          </p:val>
                                        </p:tav>
                                        <p:tav tm="70000">
                                          <p:val>
                                            <p:strVal val="#ppt_w*1.08"/>
                                          </p:val>
                                        </p:tav>
                                        <p:tav tm="100000">
                                          <p:val>
                                            <p:strVal val="#ppt_w"/>
                                          </p:val>
                                        </p:tav>
                                      </p:tavLst>
                                    </p:anim>
                                    <p:anim calcmode="lin" valueType="num">
                                      <p:cBhvr additive="base">
                                        <p:cTn id="84" dur="350" fill="hold"/>
                                        <p:tgtEl>
                                          <p:spTgt spid="21"/>
                                        </p:tgtEl>
                                        <p:attrNameLst>
                                          <p:attrName>ppt_h</p:attrName>
                                        </p:attrNameLst>
                                      </p:cBhvr>
                                      <p:tavLst>
                                        <p:tav tm="0">
                                          <p:val>
                                            <p:strVal val="0"/>
                                          </p:val>
                                        </p:tav>
                                        <p:tav tm="70000">
                                          <p:val>
                                            <p:strVal val="#ppt_h*1.08"/>
                                          </p:val>
                                        </p:tav>
                                        <p:tav tm="100000">
                                          <p:val>
                                            <p:strVal val="#ppt_h"/>
                                          </p:val>
                                        </p:tav>
                                      </p:tavLst>
                                    </p:anim>
                                    <p:animEffect transition="in" filter="fade">
                                      <p:cBhvr>
                                        <p:cTn id="85" dur="210" fill="hold"/>
                                        <p:tgtEl>
                                          <p:spTgt spid="21"/>
                                        </p:tgtEl>
                                      </p:cBhvr>
                                    </p:animEffect>
                                  </p:childTnLst>
                                </p:cTn>
                              </p:par>
                              <p:par>
                                <p:cTn id="86" presetID="53" presetClass="entr" presetSubtype="16" decel="100000" fill="hold" grpId="0" nodeType="withEffect">
                                  <p:stCondLst>
                                    <p:cond delay="1650"/>
                                  </p:stCondLst>
                                  <p:childTnLst>
                                    <p:set>
                                      <p:cBhvr>
                                        <p:cTn id="87" dur="1" fill="hold">
                                          <p:stCondLst>
                                            <p:cond delay="0"/>
                                          </p:stCondLst>
                                        </p:cTn>
                                        <p:tgtEl>
                                          <p:spTgt spid="22"/>
                                        </p:tgtEl>
                                        <p:attrNameLst>
                                          <p:attrName>style.visibility</p:attrName>
                                        </p:attrNameLst>
                                      </p:cBhvr>
                                      <p:to>
                                        <p:strVal val="visible"/>
                                      </p:to>
                                    </p:set>
                                    <p:anim calcmode="lin" valueType="num">
                                      <p:cBhvr additive="base">
                                        <p:cTn id="88" dur="350" fill="hold"/>
                                        <p:tgtEl>
                                          <p:spTgt spid="22"/>
                                        </p:tgtEl>
                                        <p:attrNameLst>
                                          <p:attrName>ppt_w</p:attrName>
                                        </p:attrNameLst>
                                      </p:cBhvr>
                                      <p:tavLst>
                                        <p:tav tm="0">
                                          <p:val>
                                            <p:strVal val="0"/>
                                          </p:val>
                                        </p:tav>
                                        <p:tav tm="70000">
                                          <p:val>
                                            <p:strVal val="#ppt_w*1.08"/>
                                          </p:val>
                                        </p:tav>
                                        <p:tav tm="100000">
                                          <p:val>
                                            <p:strVal val="#ppt_w"/>
                                          </p:val>
                                        </p:tav>
                                      </p:tavLst>
                                    </p:anim>
                                    <p:anim calcmode="lin" valueType="num">
                                      <p:cBhvr additive="base">
                                        <p:cTn id="89" dur="350" fill="hold"/>
                                        <p:tgtEl>
                                          <p:spTgt spid="22"/>
                                        </p:tgtEl>
                                        <p:attrNameLst>
                                          <p:attrName>ppt_h</p:attrName>
                                        </p:attrNameLst>
                                      </p:cBhvr>
                                      <p:tavLst>
                                        <p:tav tm="0">
                                          <p:val>
                                            <p:strVal val="0"/>
                                          </p:val>
                                        </p:tav>
                                        <p:tav tm="70000">
                                          <p:val>
                                            <p:strVal val="#ppt_h*1.08"/>
                                          </p:val>
                                        </p:tav>
                                        <p:tav tm="100000">
                                          <p:val>
                                            <p:strVal val="#ppt_h"/>
                                          </p:val>
                                        </p:tav>
                                      </p:tavLst>
                                    </p:anim>
                                    <p:animEffect transition="in" filter="fade">
                                      <p:cBhvr>
                                        <p:cTn id="90" dur="210" fill="hold"/>
                                        <p:tgtEl>
                                          <p:spTgt spid="22"/>
                                        </p:tgtEl>
                                      </p:cBhvr>
                                    </p:animEffect>
                                  </p:childTnLst>
                                </p:cTn>
                              </p:par>
                              <p:par>
                                <p:cTn id="91" presetID="53" presetClass="entr" presetSubtype="16" decel="100000" fill="hold" grpId="0" nodeType="withEffect">
                                  <p:stCondLst>
                                    <p:cond delay="1850"/>
                                  </p:stCondLst>
                                  <p:childTnLst>
                                    <p:set>
                                      <p:cBhvr>
                                        <p:cTn id="92" dur="1" fill="hold">
                                          <p:stCondLst>
                                            <p:cond delay="0"/>
                                          </p:stCondLst>
                                        </p:cTn>
                                        <p:tgtEl>
                                          <p:spTgt spid="23"/>
                                        </p:tgtEl>
                                        <p:attrNameLst>
                                          <p:attrName>style.visibility</p:attrName>
                                        </p:attrNameLst>
                                      </p:cBhvr>
                                      <p:to>
                                        <p:strVal val="visible"/>
                                      </p:to>
                                    </p:set>
                                    <p:anim calcmode="lin" valueType="num">
                                      <p:cBhvr additive="base">
                                        <p:cTn id="93" dur="350" fill="hold"/>
                                        <p:tgtEl>
                                          <p:spTgt spid="23"/>
                                        </p:tgtEl>
                                        <p:attrNameLst>
                                          <p:attrName>ppt_w</p:attrName>
                                        </p:attrNameLst>
                                      </p:cBhvr>
                                      <p:tavLst>
                                        <p:tav tm="0">
                                          <p:val>
                                            <p:strVal val="0"/>
                                          </p:val>
                                        </p:tav>
                                        <p:tav tm="70000">
                                          <p:val>
                                            <p:strVal val="#ppt_w*1.08"/>
                                          </p:val>
                                        </p:tav>
                                        <p:tav tm="100000">
                                          <p:val>
                                            <p:strVal val="#ppt_w"/>
                                          </p:val>
                                        </p:tav>
                                      </p:tavLst>
                                    </p:anim>
                                    <p:anim calcmode="lin" valueType="num">
                                      <p:cBhvr additive="base">
                                        <p:cTn id="94" dur="350" fill="hold"/>
                                        <p:tgtEl>
                                          <p:spTgt spid="23"/>
                                        </p:tgtEl>
                                        <p:attrNameLst>
                                          <p:attrName>ppt_h</p:attrName>
                                        </p:attrNameLst>
                                      </p:cBhvr>
                                      <p:tavLst>
                                        <p:tav tm="0">
                                          <p:val>
                                            <p:strVal val="0"/>
                                          </p:val>
                                        </p:tav>
                                        <p:tav tm="70000">
                                          <p:val>
                                            <p:strVal val="#ppt_h*1.08"/>
                                          </p:val>
                                        </p:tav>
                                        <p:tav tm="100000">
                                          <p:val>
                                            <p:strVal val="#ppt_h"/>
                                          </p:val>
                                        </p:tav>
                                      </p:tavLst>
                                    </p:anim>
                                    <p:animEffect transition="in" filter="fade">
                                      <p:cBhvr>
                                        <p:cTn id="95" dur="210" fill="hold"/>
                                        <p:tgtEl>
                                          <p:spTgt spid="23"/>
                                        </p:tgtEl>
                                      </p:cBhvr>
                                    </p:animEffect>
                                  </p:childTnLst>
                                </p:cTn>
                              </p:par>
                              <p:par>
                                <p:cTn id="96" presetID="53" presetClass="entr" presetSubtype="16" decel="100000" fill="hold" grpId="0" nodeType="withEffect">
                                  <p:stCondLst>
                                    <p:cond delay="1850"/>
                                  </p:stCondLst>
                                  <p:childTnLst>
                                    <p:set>
                                      <p:cBhvr>
                                        <p:cTn id="97" dur="1" fill="hold">
                                          <p:stCondLst>
                                            <p:cond delay="0"/>
                                          </p:stCondLst>
                                        </p:cTn>
                                        <p:tgtEl>
                                          <p:spTgt spid="24"/>
                                        </p:tgtEl>
                                        <p:attrNameLst>
                                          <p:attrName>style.visibility</p:attrName>
                                        </p:attrNameLst>
                                      </p:cBhvr>
                                      <p:to>
                                        <p:strVal val="visible"/>
                                      </p:to>
                                    </p:set>
                                    <p:anim calcmode="lin" valueType="num">
                                      <p:cBhvr additive="base">
                                        <p:cTn id="98" dur="350" fill="hold"/>
                                        <p:tgtEl>
                                          <p:spTgt spid="24"/>
                                        </p:tgtEl>
                                        <p:attrNameLst>
                                          <p:attrName>ppt_w</p:attrName>
                                        </p:attrNameLst>
                                      </p:cBhvr>
                                      <p:tavLst>
                                        <p:tav tm="0">
                                          <p:val>
                                            <p:strVal val="0"/>
                                          </p:val>
                                        </p:tav>
                                        <p:tav tm="70000">
                                          <p:val>
                                            <p:strVal val="#ppt_w*1.08"/>
                                          </p:val>
                                        </p:tav>
                                        <p:tav tm="100000">
                                          <p:val>
                                            <p:strVal val="#ppt_w"/>
                                          </p:val>
                                        </p:tav>
                                      </p:tavLst>
                                    </p:anim>
                                    <p:anim calcmode="lin" valueType="num">
                                      <p:cBhvr additive="base">
                                        <p:cTn id="99" dur="350" fill="hold"/>
                                        <p:tgtEl>
                                          <p:spTgt spid="24"/>
                                        </p:tgtEl>
                                        <p:attrNameLst>
                                          <p:attrName>ppt_h</p:attrName>
                                        </p:attrNameLst>
                                      </p:cBhvr>
                                      <p:tavLst>
                                        <p:tav tm="0">
                                          <p:val>
                                            <p:strVal val="0"/>
                                          </p:val>
                                        </p:tav>
                                        <p:tav tm="70000">
                                          <p:val>
                                            <p:strVal val="#ppt_h*1.08"/>
                                          </p:val>
                                        </p:tav>
                                        <p:tav tm="100000">
                                          <p:val>
                                            <p:strVal val="#ppt_h"/>
                                          </p:val>
                                        </p:tav>
                                      </p:tavLst>
                                    </p:anim>
                                    <p:animEffect transition="in" filter="fade">
                                      <p:cBhvr>
                                        <p:cTn id="100" dur="210" fill="hold"/>
                                        <p:tgtEl>
                                          <p:spTgt spid="24"/>
                                        </p:tgtEl>
                                      </p:cBhvr>
                                    </p:animEffect>
                                  </p:childTnLst>
                                </p:cTn>
                              </p:par>
                              <p:par>
                                <p:cTn id="101" presetID="53" presetClass="entr" presetSubtype="16" decel="100000" fill="hold" grpId="0" nodeType="withEffect">
                                  <p:stCondLst>
                                    <p:cond delay="1850"/>
                                  </p:stCondLst>
                                  <p:childTnLst>
                                    <p:set>
                                      <p:cBhvr>
                                        <p:cTn id="102" dur="1" fill="hold">
                                          <p:stCondLst>
                                            <p:cond delay="0"/>
                                          </p:stCondLst>
                                        </p:cTn>
                                        <p:tgtEl>
                                          <p:spTgt spid="25"/>
                                        </p:tgtEl>
                                        <p:attrNameLst>
                                          <p:attrName>style.visibility</p:attrName>
                                        </p:attrNameLst>
                                      </p:cBhvr>
                                      <p:to>
                                        <p:strVal val="visible"/>
                                      </p:to>
                                    </p:set>
                                    <p:anim calcmode="lin" valueType="num">
                                      <p:cBhvr additive="base">
                                        <p:cTn id="103" dur="350" fill="hold"/>
                                        <p:tgtEl>
                                          <p:spTgt spid="25"/>
                                        </p:tgtEl>
                                        <p:attrNameLst>
                                          <p:attrName>ppt_w</p:attrName>
                                        </p:attrNameLst>
                                      </p:cBhvr>
                                      <p:tavLst>
                                        <p:tav tm="0">
                                          <p:val>
                                            <p:strVal val="0"/>
                                          </p:val>
                                        </p:tav>
                                        <p:tav tm="70000">
                                          <p:val>
                                            <p:strVal val="#ppt_w*1.08"/>
                                          </p:val>
                                        </p:tav>
                                        <p:tav tm="100000">
                                          <p:val>
                                            <p:strVal val="#ppt_w"/>
                                          </p:val>
                                        </p:tav>
                                      </p:tavLst>
                                    </p:anim>
                                    <p:anim calcmode="lin" valueType="num">
                                      <p:cBhvr additive="base">
                                        <p:cTn id="104" dur="350" fill="hold"/>
                                        <p:tgtEl>
                                          <p:spTgt spid="25"/>
                                        </p:tgtEl>
                                        <p:attrNameLst>
                                          <p:attrName>ppt_h</p:attrName>
                                        </p:attrNameLst>
                                      </p:cBhvr>
                                      <p:tavLst>
                                        <p:tav tm="0">
                                          <p:val>
                                            <p:strVal val="0"/>
                                          </p:val>
                                        </p:tav>
                                        <p:tav tm="70000">
                                          <p:val>
                                            <p:strVal val="#ppt_h*1.08"/>
                                          </p:val>
                                        </p:tav>
                                        <p:tav tm="100000">
                                          <p:val>
                                            <p:strVal val="#ppt_h"/>
                                          </p:val>
                                        </p:tav>
                                      </p:tavLst>
                                    </p:anim>
                                    <p:animEffect transition="in" filter="fade">
                                      <p:cBhvr>
                                        <p:cTn id="105" dur="210" fill="hold"/>
                                        <p:tgtEl>
                                          <p:spTgt spid="25"/>
                                        </p:tgtEl>
                                      </p:cBhvr>
                                    </p:animEffect>
                                  </p:childTnLst>
                                </p:cTn>
                              </p:par>
                              <p:par>
                                <p:cTn id="106" presetID="53" presetClass="entr" presetSubtype="16" decel="100000" fill="hold" grpId="0" nodeType="withEffect">
                                  <p:stCondLst>
                                    <p:cond delay="2050"/>
                                  </p:stCondLst>
                                  <p:childTnLst>
                                    <p:set>
                                      <p:cBhvr>
                                        <p:cTn id="107" dur="1" fill="hold">
                                          <p:stCondLst>
                                            <p:cond delay="0"/>
                                          </p:stCondLst>
                                        </p:cTn>
                                        <p:tgtEl>
                                          <p:spTgt spid="26"/>
                                        </p:tgtEl>
                                        <p:attrNameLst>
                                          <p:attrName>style.visibility</p:attrName>
                                        </p:attrNameLst>
                                      </p:cBhvr>
                                      <p:to>
                                        <p:strVal val="visible"/>
                                      </p:to>
                                    </p:set>
                                    <p:anim calcmode="lin" valueType="num">
                                      <p:cBhvr additive="base">
                                        <p:cTn id="108" dur="350" fill="hold"/>
                                        <p:tgtEl>
                                          <p:spTgt spid="26"/>
                                        </p:tgtEl>
                                        <p:attrNameLst>
                                          <p:attrName>ppt_w</p:attrName>
                                        </p:attrNameLst>
                                      </p:cBhvr>
                                      <p:tavLst>
                                        <p:tav tm="0">
                                          <p:val>
                                            <p:strVal val="0"/>
                                          </p:val>
                                        </p:tav>
                                        <p:tav tm="70000">
                                          <p:val>
                                            <p:strVal val="#ppt_w*1.08"/>
                                          </p:val>
                                        </p:tav>
                                        <p:tav tm="100000">
                                          <p:val>
                                            <p:strVal val="#ppt_w"/>
                                          </p:val>
                                        </p:tav>
                                      </p:tavLst>
                                    </p:anim>
                                    <p:anim calcmode="lin" valueType="num">
                                      <p:cBhvr additive="base">
                                        <p:cTn id="109" dur="350" fill="hold"/>
                                        <p:tgtEl>
                                          <p:spTgt spid="26"/>
                                        </p:tgtEl>
                                        <p:attrNameLst>
                                          <p:attrName>ppt_h</p:attrName>
                                        </p:attrNameLst>
                                      </p:cBhvr>
                                      <p:tavLst>
                                        <p:tav tm="0">
                                          <p:val>
                                            <p:strVal val="0"/>
                                          </p:val>
                                        </p:tav>
                                        <p:tav tm="70000">
                                          <p:val>
                                            <p:strVal val="#ppt_h*1.08"/>
                                          </p:val>
                                        </p:tav>
                                        <p:tav tm="100000">
                                          <p:val>
                                            <p:strVal val="#ppt_h"/>
                                          </p:val>
                                        </p:tav>
                                      </p:tavLst>
                                    </p:anim>
                                    <p:animEffect transition="in" filter="fade">
                                      <p:cBhvr>
                                        <p:cTn id="110" dur="210" fill="hold"/>
                                        <p:tgtEl>
                                          <p:spTgt spid="26"/>
                                        </p:tgtEl>
                                      </p:cBhvr>
                                    </p:animEffect>
                                  </p:childTnLst>
                                </p:cTn>
                              </p:par>
                              <p:par>
                                <p:cTn id="111" presetID="53" presetClass="entr" presetSubtype="16" decel="100000" fill="hold" grpId="0" nodeType="withEffect">
                                  <p:stCondLst>
                                    <p:cond delay="2050"/>
                                  </p:stCondLst>
                                  <p:childTnLst>
                                    <p:set>
                                      <p:cBhvr>
                                        <p:cTn id="112" dur="1" fill="hold">
                                          <p:stCondLst>
                                            <p:cond delay="0"/>
                                          </p:stCondLst>
                                        </p:cTn>
                                        <p:tgtEl>
                                          <p:spTgt spid="27"/>
                                        </p:tgtEl>
                                        <p:attrNameLst>
                                          <p:attrName>style.visibility</p:attrName>
                                        </p:attrNameLst>
                                      </p:cBhvr>
                                      <p:to>
                                        <p:strVal val="visible"/>
                                      </p:to>
                                    </p:set>
                                    <p:anim calcmode="lin" valueType="num">
                                      <p:cBhvr additive="base">
                                        <p:cTn id="113" dur="350" fill="hold"/>
                                        <p:tgtEl>
                                          <p:spTgt spid="27"/>
                                        </p:tgtEl>
                                        <p:attrNameLst>
                                          <p:attrName>ppt_w</p:attrName>
                                        </p:attrNameLst>
                                      </p:cBhvr>
                                      <p:tavLst>
                                        <p:tav tm="0">
                                          <p:val>
                                            <p:strVal val="0"/>
                                          </p:val>
                                        </p:tav>
                                        <p:tav tm="70000">
                                          <p:val>
                                            <p:strVal val="#ppt_w*1.08"/>
                                          </p:val>
                                        </p:tav>
                                        <p:tav tm="100000">
                                          <p:val>
                                            <p:strVal val="#ppt_w"/>
                                          </p:val>
                                        </p:tav>
                                      </p:tavLst>
                                    </p:anim>
                                    <p:anim calcmode="lin" valueType="num">
                                      <p:cBhvr additive="base">
                                        <p:cTn id="114" dur="350" fill="hold"/>
                                        <p:tgtEl>
                                          <p:spTgt spid="27"/>
                                        </p:tgtEl>
                                        <p:attrNameLst>
                                          <p:attrName>ppt_h</p:attrName>
                                        </p:attrNameLst>
                                      </p:cBhvr>
                                      <p:tavLst>
                                        <p:tav tm="0">
                                          <p:val>
                                            <p:strVal val="0"/>
                                          </p:val>
                                        </p:tav>
                                        <p:tav tm="70000">
                                          <p:val>
                                            <p:strVal val="#ppt_h*1.08"/>
                                          </p:val>
                                        </p:tav>
                                        <p:tav tm="100000">
                                          <p:val>
                                            <p:strVal val="#ppt_h"/>
                                          </p:val>
                                        </p:tav>
                                      </p:tavLst>
                                    </p:anim>
                                    <p:animEffect transition="in" filter="fade">
                                      <p:cBhvr>
                                        <p:cTn id="115" dur="210" fill="hold"/>
                                        <p:tgtEl>
                                          <p:spTgt spid="27"/>
                                        </p:tgtEl>
                                      </p:cBhvr>
                                    </p:animEffect>
                                  </p:childTnLst>
                                </p:cTn>
                              </p:par>
                              <p:par>
                                <p:cTn id="116" presetID="53" presetClass="entr" presetSubtype="16" decel="100000" fill="hold" grpId="0" nodeType="withEffect">
                                  <p:stCondLst>
                                    <p:cond delay="2050"/>
                                  </p:stCondLst>
                                  <p:childTnLst>
                                    <p:set>
                                      <p:cBhvr>
                                        <p:cTn id="117" dur="1" fill="hold">
                                          <p:stCondLst>
                                            <p:cond delay="0"/>
                                          </p:stCondLst>
                                        </p:cTn>
                                        <p:tgtEl>
                                          <p:spTgt spid="28"/>
                                        </p:tgtEl>
                                        <p:attrNameLst>
                                          <p:attrName>style.visibility</p:attrName>
                                        </p:attrNameLst>
                                      </p:cBhvr>
                                      <p:to>
                                        <p:strVal val="visible"/>
                                      </p:to>
                                    </p:set>
                                    <p:anim calcmode="lin" valueType="num">
                                      <p:cBhvr additive="base">
                                        <p:cTn id="118" dur="350" fill="hold"/>
                                        <p:tgtEl>
                                          <p:spTgt spid="28"/>
                                        </p:tgtEl>
                                        <p:attrNameLst>
                                          <p:attrName>ppt_w</p:attrName>
                                        </p:attrNameLst>
                                      </p:cBhvr>
                                      <p:tavLst>
                                        <p:tav tm="0">
                                          <p:val>
                                            <p:strVal val="0"/>
                                          </p:val>
                                        </p:tav>
                                        <p:tav tm="70000">
                                          <p:val>
                                            <p:strVal val="#ppt_w*1.08"/>
                                          </p:val>
                                        </p:tav>
                                        <p:tav tm="100000">
                                          <p:val>
                                            <p:strVal val="#ppt_w"/>
                                          </p:val>
                                        </p:tav>
                                      </p:tavLst>
                                    </p:anim>
                                    <p:anim calcmode="lin" valueType="num">
                                      <p:cBhvr additive="base">
                                        <p:cTn id="119" dur="350" fill="hold"/>
                                        <p:tgtEl>
                                          <p:spTgt spid="28"/>
                                        </p:tgtEl>
                                        <p:attrNameLst>
                                          <p:attrName>ppt_h</p:attrName>
                                        </p:attrNameLst>
                                      </p:cBhvr>
                                      <p:tavLst>
                                        <p:tav tm="0">
                                          <p:val>
                                            <p:strVal val="0"/>
                                          </p:val>
                                        </p:tav>
                                        <p:tav tm="70000">
                                          <p:val>
                                            <p:strVal val="#ppt_h*1.08"/>
                                          </p:val>
                                        </p:tav>
                                        <p:tav tm="100000">
                                          <p:val>
                                            <p:strVal val="#ppt_h"/>
                                          </p:val>
                                        </p:tav>
                                      </p:tavLst>
                                    </p:anim>
                                    <p:animEffect transition="in" filter="fade">
                                      <p:cBhvr>
                                        <p:cTn id="120" dur="210" fill="hold"/>
                                        <p:tgtEl>
                                          <p:spTgt spid="28"/>
                                        </p:tgtEl>
                                      </p:cBhvr>
                                    </p:animEffect>
                                  </p:childTnLst>
                                </p:cTn>
                              </p:par>
                              <p:par>
                                <p:cTn id="121" presetID="53" presetClass="entr" presetSubtype="16" decel="100000" fill="hold" grpId="0" nodeType="withEffect">
                                  <p:stCondLst>
                                    <p:cond delay="2250"/>
                                  </p:stCondLst>
                                  <p:childTnLst>
                                    <p:set>
                                      <p:cBhvr>
                                        <p:cTn id="122" dur="1" fill="hold">
                                          <p:stCondLst>
                                            <p:cond delay="0"/>
                                          </p:stCondLst>
                                        </p:cTn>
                                        <p:tgtEl>
                                          <p:spTgt spid="29"/>
                                        </p:tgtEl>
                                        <p:attrNameLst>
                                          <p:attrName>style.visibility</p:attrName>
                                        </p:attrNameLst>
                                      </p:cBhvr>
                                      <p:to>
                                        <p:strVal val="visible"/>
                                      </p:to>
                                    </p:set>
                                    <p:anim calcmode="lin" valueType="num">
                                      <p:cBhvr additive="base">
                                        <p:cTn id="123" dur="350" fill="hold"/>
                                        <p:tgtEl>
                                          <p:spTgt spid="29"/>
                                        </p:tgtEl>
                                        <p:attrNameLst>
                                          <p:attrName>ppt_w</p:attrName>
                                        </p:attrNameLst>
                                      </p:cBhvr>
                                      <p:tavLst>
                                        <p:tav tm="0">
                                          <p:val>
                                            <p:strVal val="0"/>
                                          </p:val>
                                        </p:tav>
                                        <p:tav tm="70000">
                                          <p:val>
                                            <p:strVal val="#ppt_w*1.08"/>
                                          </p:val>
                                        </p:tav>
                                        <p:tav tm="100000">
                                          <p:val>
                                            <p:strVal val="#ppt_w"/>
                                          </p:val>
                                        </p:tav>
                                      </p:tavLst>
                                    </p:anim>
                                    <p:anim calcmode="lin" valueType="num">
                                      <p:cBhvr additive="base">
                                        <p:cTn id="124" dur="350" fill="hold"/>
                                        <p:tgtEl>
                                          <p:spTgt spid="29"/>
                                        </p:tgtEl>
                                        <p:attrNameLst>
                                          <p:attrName>ppt_h</p:attrName>
                                        </p:attrNameLst>
                                      </p:cBhvr>
                                      <p:tavLst>
                                        <p:tav tm="0">
                                          <p:val>
                                            <p:strVal val="0"/>
                                          </p:val>
                                        </p:tav>
                                        <p:tav tm="70000">
                                          <p:val>
                                            <p:strVal val="#ppt_h*1.08"/>
                                          </p:val>
                                        </p:tav>
                                        <p:tav tm="100000">
                                          <p:val>
                                            <p:strVal val="#ppt_h"/>
                                          </p:val>
                                        </p:tav>
                                      </p:tavLst>
                                    </p:anim>
                                    <p:animEffect transition="in" filter="fade">
                                      <p:cBhvr>
                                        <p:cTn id="125" dur="210" fill="hold"/>
                                        <p:tgtEl>
                                          <p:spTgt spid="29"/>
                                        </p:tgtEl>
                                      </p:cBhvr>
                                    </p:animEffect>
                                  </p:childTnLst>
                                </p:cTn>
                              </p:par>
                              <p:par>
                                <p:cTn id="126" presetID="53" presetClass="entr" presetSubtype="16" decel="100000" fill="hold" grpId="0" nodeType="withEffect">
                                  <p:stCondLst>
                                    <p:cond delay="2250"/>
                                  </p:stCondLst>
                                  <p:childTnLst>
                                    <p:set>
                                      <p:cBhvr>
                                        <p:cTn id="127" dur="1" fill="hold">
                                          <p:stCondLst>
                                            <p:cond delay="0"/>
                                          </p:stCondLst>
                                        </p:cTn>
                                        <p:tgtEl>
                                          <p:spTgt spid="30"/>
                                        </p:tgtEl>
                                        <p:attrNameLst>
                                          <p:attrName>style.visibility</p:attrName>
                                        </p:attrNameLst>
                                      </p:cBhvr>
                                      <p:to>
                                        <p:strVal val="visible"/>
                                      </p:to>
                                    </p:set>
                                    <p:anim calcmode="lin" valueType="num">
                                      <p:cBhvr additive="base">
                                        <p:cTn id="128" dur="350" fill="hold"/>
                                        <p:tgtEl>
                                          <p:spTgt spid="30"/>
                                        </p:tgtEl>
                                        <p:attrNameLst>
                                          <p:attrName>ppt_w</p:attrName>
                                        </p:attrNameLst>
                                      </p:cBhvr>
                                      <p:tavLst>
                                        <p:tav tm="0">
                                          <p:val>
                                            <p:strVal val="0"/>
                                          </p:val>
                                        </p:tav>
                                        <p:tav tm="70000">
                                          <p:val>
                                            <p:strVal val="#ppt_w*1.08"/>
                                          </p:val>
                                        </p:tav>
                                        <p:tav tm="100000">
                                          <p:val>
                                            <p:strVal val="#ppt_w"/>
                                          </p:val>
                                        </p:tav>
                                      </p:tavLst>
                                    </p:anim>
                                    <p:anim calcmode="lin" valueType="num">
                                      <p:cBhvr additive="base">
                                        <p:cTn id="129" dur="350" fill="hold"/>
                                        <p:tgtEl>
                                          <p:spTgt spid="30"/>
                                        </p:tgtEl>
                                        <p:attrNameLst>
                                          <p:attrName>ppt_h</p:attrName>
                                        </p:attrNameLst>
                                      </p:cBhvr>
                                      <p:tavLst>
                                        <p:tav tm="0">
                                          <p:val>
                                            <p:strVal val="0"/>
                                          </p:val>
                                        </p:tav>
                                        <p:tav tm="70000">
                                          <p:val>
                                            <p:strVal val="#ppt_h*1.08"/>
                                          </p:val>
                                        </p:tav>
                                        <p:tav tm="100000">
                                          <p:val>
                                            <p:strVal val="#ppt_h"/>
                                          </p:val>
                                        </p:tav>
                                      </p:tavLst>
                                    </p:anim>
                                    <p:animEffect transition="in" filter="fade">
                                      <p:cBhvr>
                                        <p:cTn id="130" dur="210" fill="hold"/>
                                        <p:tgtEl>
                                          <p:spTgt spid="30"/>
                                        </p:tgtEl>
                                      </p:cBhvr>
                                    </p:animEffect>
                                  </p:childTnLst>
                                </p:cTn>
                              </p:par>
                              <p:par>
                                <p:cTn id="131" presetID="53" presetClass="entr" presetSubtype="16" decel="100000" fill="hold" grpId="0" nodeType="withEffect">
                                  <p:stCondLst>
                                    <p:cond delay="2250"/>
                                  </p:stCondLst>
                                  <p:childTnLst>
                                    <p:set>
                                      <p:cBhvr>
                                        <p:cTn id="132" dur="1" fill="hold">
                                          <p:stCondLst>
                                            <p:cond delay="0"/>
                                          </p:stCondLst>
                                        </p:cTn>
                                        <p:tgtEl>
                                          <p:spTgt spid="31"/>
                                        </p:tgtEl>
                                        <p:attrNameLst>
                                          <p:attrName>style.visibility</p:attrName>
                                        </p:attrNameLst>
                                      </p:cBhvr>
                                      <p:to>
                                        <p:strVal val="visible"/>
                                      </p:to>
                                    </p:set>
                                    <p:anim calcmode="lin" valueType="num">
                                      <p:cBhvr additive="base">
                                        <p:cTn id="133" dur="350" fill="hold"/>
                                        <p:tgtEl>
                                          <p:spTgt spid="31"/>
                                        </p:tgtEl>
                                        <p:attrNameLst>
                                          <p:attrName>ppt_w</p:attrName>
                                        </p:attrNameLst>
                                      </p:cBhvr>
                                      <p:tavLst>
                                        <p:tav tm="0">
                                          <p:val>
                                            <p:strVal val="0"/>
                                          </p:val>
                                        </p:tav>
                                        <p:tav tm="70000">
                                          <p:val>
                                            <p:strVal val="#ppt_w*1.08"/>
                                          </p:val>
                                        </p:tav>
                                        <p:tav tm="100000">
                                          <p:val>
                                            <p:strVal val="#ppt_w"/>
                                          </p:val>
                                        </p:tav>
                                      </p:tavLst>
                                    </p:anim>
                                    <p:anim calcmode="lin" valueType="num">
                                      <p:cBhvr additive="base">
                                        <p:cTn id="134" dur="350" fill="hold"/>
                                        <p:tgtEl>
                                          <p:spTgt spid="31"/>
                                        </p:tgtEl>
                                        <p:attrNameLst>
                                          <p:attrName>ppt_h</p:attrName>
                                        </p:attrNameLst>
                                      </p:cBhvr>
                                      <p:tavLst>
                                        <p:tav tm="0">
                                          <p:val>
                                            <p:strVal val="0"/>
                                          </p:val>
                                        </p:tav>
                                        <p:tav tm="70000">
                                          <p:val>
                                            <p:strVal val="#ppt_h*1.08"/>
                                          </p:val>
                                        </p:tav>
                                        <p:tav tm="100000">
                                          <p:val>
                                            <p:strVal val="#ppt_h"/>
                                          </p:val>
                                        </p:tav>
                                      </p:tavLst>
                                    </p:anim>
                                    <p:animEffect transition="in" filter="fade">
                                      <p:cBhvr>
                                        <p:cTn id="135" dur="210" fill="hold"/>
                                        <p:tgtEl>
                                          <p:spTgt spid="31"/>
                                        </p:tgtEl>
                                      </p:cBhvr>
                                    </p:animEffect>
                                  </p:childTnLst>
                                </p:cTn>
                              </p:par>
                              <p:par>
                                <p:cTn id="136" presetID="53" presetClass="entr" presetSubtype="16" decel="100000" fill="hold" grpId="0" nodeType="withEffect">
                                  <p:stCondLst>
                                    <p:cond delay="2900"/>
                                  </p:stCondLst>
                                  <p:childTnLst>
                                    <p:set>
                                      <p:cBhvr>
                                        <p:cTn id="137" dur="1" fill="hold">
                                          <p:stCondLst>
                                            <p:cond delay="0"/>
                                          </p:stCondLst>
                                        </p:cTn>
                                        <p:tgtEl>
                                          <p:spTgt spid="32"/>
                                        </p:tgtEl>
                                        <p:attrNameLst>
                                          <p:attrName>style.visibility</p:attrName>
                                        </p:attrNameLst>
                                      </p:cBhvr>
                                      <p:to>
                                        <p:strVal val="visible"/>
                                      </p:to>
                                    </p:set>
                                    <p:anim calcmode="lin" valueType="num">
                                      <p:cBhvr additive="base">
                                        <p:cTn id="138" dur="600" fill="hold"/>
                                        <p:tgtEl>
                                          <p:spTgt spid="32"/>
                                        </p:tgtEl>
                                        <p:attrNameLst>
                                          <p:attrName>ppt_w</p:attrName>
                                        </p:attrNameLst>
                                      </p:cBhvr>
                                      <p:tavLst>
                                        <p:tav tm="0">
                                          <p:val>
                                            <p:strVal val="0"/>
                                          </p:val>
                                        </p:tav>
                                        <p:tav tm="70000">
                                          <p:val>
                                            <p:strVal val="#ppt_w*1.08"/>
                                          </p:val>
                                        </p:tav>
                                        <p:tav tm="100000">
                                          <p:val>
                                            <p:strVal val="#ppt_w"/>
                                          </p:val>
                                        </p:tav>
                                      </p:tavLst>
                                    </p:anim>
                                    <p:anim calcmode="lin" valueType="num">
                                      <p:cBhvr additive="base">
                                        <p:cTn id="139" dur="600" fill="hold"/>
                                        <p:tgtEl>
                                          <p:spTgt spid="32"/>
                                        </p:tgtEl>
                                        <p:attrNameLst>
                                          <p:attrName>ppt_h</p:attrName>
                                        </p:attrNameLst>
                                      </p:cBhvr>
                                      <p:tavLst>
                                        <p:tav tm="0">
                                          <p:val>
                                            <p:strVal val="0"/>
                                          </p:val>
                                        </p:tav>
                                        <p:tav tm="70000">
                                          <p:val>
                                            <p:strVal val="#ppt_h*1.08"/>
                                          </p:val>
                                        </p:tav>
                                        <p:tav tm="100000">
                                          <p:val>
                                            <p:strVal val="#ppt_h"/>
                                          </p:val>
                                        </p:tav>
                                      </p:tavLst>
                                    </p:anim>
                                    <p:animEffect transition="in" filter="fade">
                                      <p:cBhvr>
                                        <p:cTn id="140" dur="360" fill="hold"/>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2FA38A"/>
                </a:solidFill>
                <a:latin typeface="Segoe UI Semibold"/>
              </a:rPr>
              <a:t>MÓDULO 4  ·  IDEAR</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Outras técnicas de ideação</a:t>
            </a:r>
          </a:p>
        </p:txBody>
      </p:sp>
      <p:sp>
        <p:nvSpPr>
          <p:cNvPr id="6" name="TextBox 5"/>
          <p:cNvSpPr txBox="1"/>
          <p:nvPr/>
        </p:nvSpPr>
        <p:spPr>
          <a:xfrm>
            <a:off x="548640" y="1645920"/>
            <a:ext cx="6675120" cy="4206240"/>
          </a:xfrm>
          <a:prstGeom prst="rect">
            <a:avLst/>
          </a:prstGeom>
          <a:noFill/>
        </p:spPr>
        <p:txBody>
          <a:bodyPr wrap="square">
            <a:spAutoFit/>
          </a:bodyPr>
          <a:lstStyle/>
          <a:p>
            <a:pPr marL="292608" indent="-292608">
              <a:spcAft>
                <a:spcPts val="1600"/>
              </a:spcAft>
              <a:buClr>
                <a:srgbClr val="2FA38A"/>
              </a:buClr>
              <a:buFont typeface="Arial"/>
              <a:buChar char="●"/>
            </a:pPr>
            <a:r>
              <a:rPr sz="1800">
                <a:solidFill>
                  <a:srgbClr val="F2F2EC"/>
                </a:solidFill>
                <a:latin typeface="Segoe UI"/>
              </a:rPr>
              <a:t>Brainstorming silencioso: cada um escreve sozinho, depois compartilha (evita que a voz mais alta domine)</a:t>
            </a:r>
          </a:p>
          <a:p>
            <a:pPr marL="292608" indent="-292608">
              <a:spcAft>
                <a:spcPts val="1600"/>
              </a:spcAft>
              <a:buClr>
                <a:srgbClr val="2FA38A"/>
              </a:buClr>
              <a:buFont typeface="Arial"/>
              <a:buChar char="●"/>
            </a:pPr>
            <a:r>
              <a:rPr sz="1800">
                <a:solidFill>
                  <a:srgbClr val="F2F2EC"/>
                </a:solidFill>
                <a:latin typeface="Segoe UI"/>
              </a:rPr>
              <a:t>Pior ideia possível: gerar ideias ruins de propósito e depois invertê-las</a:t>
            </a:r>
          </a:p>
          <a:p>
            <a:pPr marL="292608" indent="-292608">
              <a:spcAft>
                <a:spcPts val="1600"/>
              </a:spcAft>
              <a:buClr>
                <a:srgbClr val="2FA38A"/>
              </a:buClr>
              <a:buFont typeface="Arial"/>
              <a:buChar char="●"/>
            </a:pPr>
            <a:r>
              <a:rPr sz="1800">
                <a:solidFill>
                  <a:srgbClr val="F2F2EC"/>
                </a:solidFill>
                <a:latin typeface="Segoe UI"/>
              </a:rPr>
              <a:t>Analogias: 'Como a Netflix / um hospital / um restaurante resolveria isso?'</a:t>
            </a:r>
          </a:p>
          <a:p>
            <a:pPr marL="292608" indent="-292608">
              <a:buClr>
                <a:srgbClr val="2FA38A"/>
              </a:buClr>
              <a:buFont typeface="Arial"/>
              <a:buChar char="●"/>
            </a:pPr>
            <a:r>
              <a:rPr sz="1800">
                <a:solidFill>
                  <a:srgbClr val="F2F2EC"/>
                </a:solidFill>
                <a:latin typeface="Segoe UI"/>
              </a:rPr>
              <a:t>SCAMPER: Substituir, Combinar, Adaptar, Modificar, Propor outro uso, Eliminar, Reorganizar</a:t>
            </a:r>
          </a:p>
        </p:txBody>
      </p:sp>
      <p:sp>
        <p:nvSpPr>
          <p:cNvPr id="7" name="Rounded Rectangle 6"/>
          <p:cNvSpPr/>
          <p:nvPr/>
        </p:nvSpPr>
        <p:spPr>
          <a:xfrm>
            <a:off x="7680960" y="1645920"/>
            <a:ext cx="3959352" cy="402336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955279" y="1691640"/>
            <a:ext cx="1371600" cy="1097280"/>
          </a:xfrm>
          <a:prstGeom prst="rect">
            <a:avLst/>
          </a:prstGeom>
          <a:noFill/>
        </p:spPr>
        <p:txBody>
          <a:bodyPr wrap="square" lIns="36576" tIns="18288" rIns="36576" bIns="18288" anchor="t">
            <a:spAutoFit/>
          </a:bodyPr>
          <a:lstStyle/>
          <a:p>
            <a:pPr algn="l"/>
            <a:r>
              <a:rPr sz="8000" b="1" i="0">
                <a:solidFill>
                  <a:srgbClr val="2FA38A"/>
                </a:solidFill>
                <a:latin typeface="Georgia"/>
              </a:rPr>
              <a:t>“</a:t>
            </a:r>
          </a:p>
        </p:txBody>
      </p:sp>
      <p:sp>
        <p:nvSpPr>
          <p:cNvPr id="9" name="TextBox 8"/>
          <p:cNvSpPr txBox="1"/>
          <p:nvPr/>
        </p:nvSpPr>
        <p:spPr>
          <a:xfrm>
            <a:off x="8001000" y="2743200"/>
            <a:ext cx="3383280" cy="2743200"/>
          </a:xfrm>
          <a:prstGeom prst="rect">
            <a:avLst/>
          </a:prstGeom>
          <a:noFill/>
        </p:spPr>
        <p:txBody>
          <a:bodyPr wrap="square" lIns="36576" tIns="18288" rIns="36576" bIns="18288" anchor="t">
            <a:spAutoFit/>
          </a:bodyPr>
          <a:lstStyle/>
          <a:p>
            <a:pPr algn="l">
              <a:lnSpc>
                <a:spcPct val="110000"/>
              </a:lnSpc>
            </a:pPr>
            <a:r>
              <a:rPr sz="2100" b="1" i="0">
                <a:solidFill>
                  <a:srgbClr val="F2F2EC"/>
                </a:solidFill>
                <a:latin typeface="Segoe UI Semibold"/>
              </a:rPr>
              <a:t>Varie a técnica quando a energia do grupo cair.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50" fill="hold"/>
                                        <p:tgtEl>
                                          <p:spTgt spid="6"/>
                                        </p:tgtEl>
                                      </p:cBhvr>
                                    </p:animEffect>
                                    <p:anim calcmode="lin" valueType="num">
                                      <p:cBhvr additive="base">
                                        <p:cTn id="11" dur="650" fill="hold"/>
                                        <p:tgtEl>
                                          <p:spTgt spid="6"/>
                                        </p:tgtEl>
                                        <p:attrNameLst>
                                          <p:attrName>ppt_x</p:attrName>
                                        </p:attrNameLst>
                                      </p:cBhvr>
                                      <p:tavLst>
                                        <p:tav tm="0">
                                          <p:val>
                                            <p:strVal val="#ppt_x"/>
                                          </p:val>
                                        </p:tav>
                                        <p:tav tm="100000">
                                          <p:val>
                                            <p:strVal val="#ppt_x"/>
                                          </p:val>
                                        </p:tav>
                                      </p:tavLst>
                                    </p:anim>
                                    <p:anim calcmode="lin" valueType="num">
                                      <p:cBhvr additive="base">
                                        <p:cTn id="12" dur="650" fill="hold"/>
                                        <p:tgtEl>
                                          <p:spTgt spid="6"/>
                                        </p:tgtEl>
                                        <p:attrNameLst>
                                          <p:attrName>ppt_y</p:attrName>
                                        </p:attrNameLst>
                                      </p:cBhvr>
                                      <p:tavLst>
                                        <p:tav tm="0">
                                          <p:val>
                                            <p:strVal val="#ppt_y+.06"/>
                                          </p:val>
                                        </p:tav>
                                        <p:tav tm="100000">
                                          <p:val>
                                            <p:strVal val="#ppt_y"/>
                                          </p:val>
                                        </p:tav>
                                      </p:tavLst>
                                    </p:anim>
                                  </p:childTnLst>
                                </p:cTn>
                              </p:par>
                              <p:par>
                                <p:cTn id="13" presetID="42" presetClass="entr" presetSubtype="0" decel="100000" fill="hold" grpId="0" nodeType="withEffect">
                                  <p:stCondLst>
                                    <p:cond delay="75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fill="hold"/>
                                        <p:tgtEl>
                                          <p:spTgt spid="7"/>
                                        </p:tgtEl>
                                      </p:cBhvr>
                                    </p:animEffect>
                                    <p:anim calcmode="lin" valueType="num">
                                      <p:cBhvr additive="base">
                                        <p:cTn id="16" dur="650" fill="hold"/>
                                        <p:tgtEl>
                                          <p:spTgt spid="7"/>
                                        </p:tgtEl>
                                        <p:attrNameLst>
                                          <p:attrName>ppt_x</p:attrName>
                                        </p:attrNameLst>
                                      </p:cBhvr>
                                      <p:tavLst>
                                        <p:tav tm="0">
                                          <p:val>
                                            <p:strVal val="#ppt_x"/>
                                          </p:val>
                                        </p:tav>
                                        <p:tav tm="100000">
                                          <p:val>
                                            <p:strVal val="#ppt_x"/>
                                          </p:val>
                                        </p:tav>
                                      </p:tavLst>
                                    </p:anim>
                                    <p:anim calcmode="lin" valueType="num">
                                      <p:cBhvr additive="base">
                                        <p:cTn id="17" dur="650" fill="hold"/>
                                        <p:tgtEl>
                                          <p:spTgt spid="7"/>
                                        </p:tgtEl>
                                        <p:attrNameLst>
                                          <p:attrName>ppt_y</p:attrName>
                                        </p:attrNameLst>
                                      </p:cBhvr>
                                      <p:tavLst>
                                        <p:tav tm="0">
                                          <p:val>
                                            <p:strVal val="#ppt_y+.06"/>
                                          </p:val>
                                        </p:tav>
                                        <p:tav tm="100000">
                                          <p:val>
                                            <p:strVal val="#ppt_y"/>
                                          </p:val>
                                        </p:tav>
                                      </p:tavLst>
                                    </p:anim>
                                  </p:childTnLst>
                                </p:cTn>
                              </p:par>
                              <p:par>
                                <p:cTn id="18" presetID="53" presetClass="entr" presetSubtype="16" decel="100000" fill="hold" grpId="0" nodeType="withEffect">
                                  <p:stCondLst>
                                    <p:cond delay="105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450" fill="hold"/>
                                        <p:tgtEl>
                                          <p:spTgt spid="8"/>
                                        </p:tgtEl>
                                        <p:attrNameLst>
                                          <p:attrName>ppt_w</p:attrName>
                                        </p:attrNameLst>
                                      </p:cBhvr>
                                      <p:tavLst>
                                        <p:tav tm="0">
                                          <p:val>
                                            <p:strVal val="0"/>
                                          </p:val>
                                        </p:tav>
                                        <p:tav tm="70000">
                                          <p:val>
                                            <p:strVal val="#ppt_w*1.08"/>
                                          </p:val>
                                        </p:tav>
                                        <p:tav tm="100000">
                                          <p:val>
                                            <p:strVal val="#ppt_w"/>
                                          </p:val>
                                        </p:tav>
                                      </p:tavLst>
                                    </p:anim>
                                    <p:anim calcmode="lin" valueType="num">
                                      <p:cBhvr additive="base">
                                        <p:cTn id="21" dur="450" fill="hold"/>
                                        <p:tgtEl>
                                          <p:spTgt spid="8"/>
                                        </p:tgtEl>
                                        <p:attrNameLst>
                                          <p:attrName>ppt_h</p:attrName>
                                        </p:attrNameLst>
                                      </p:cBhvr>
                                      <p:tavLst>
                                        <p:tav tm="0">
                                          <p:val>
                                            <p:strVal val="0"/>
                                          </p:val>
                                        </p:tav>
                                        <p:tav tm="70000">
                                          <p:val>
                                            <p:strVal val="#ppt_h*1.08"/>
                                          </p:val>
                                        </p:tav>
                                        <p:tav tm="100000">
                                          <p:val>
                                            <p:strVal val="#ppt_h"/>
                                          </p:val>
                                        </p:tav>
                                      </p:tavLst>
                                    </p:anim>
                                    <p:animEffect transition="in" filter="fade">
                                      <p:cBhvr>
                                        <p:cTn id="22" dur="270" fill="hold"/>
                                        <p:tgtEl>
                                          <p:spTgt spid="8"/>
                                        </p:tgtEl>
                                      </p:cBhvr>
                                    </p:animEffect>
                                  </p:childTnLst>
                                </p:cTn>
                              </p:par>
                              <p:par>
                                <p:cTn id="23" presetID="10" presetClass="entr" presetSubtype="0" fill="hold" grpId="0" nodeType="withEffect">
                                  <p:stCondLst>
                                    <p:cond delay="1250"/>
                                  </p:stCondLst>
                                  <p:iterate type="wd">
                                    <p:tmPct val="35000"/>
                                  </p:iterate>
                                  <p:childTnLst>
                                    <p:set>
                                      <p:cBhvr>
                                        <p:cTn id="24" dur="1" fill="hold">
                                          <p:stCondLst>
                                            <p:cond delay="0"/>
                                          </p:stCondLst>
                                        </p:cTn>
                                        <p:tgtEl>
                                          <p:spTgt spid="9"/>
                                        </p:tgtEl>
                                        <p:attrNameLst>
                                          <p:attrName>style.visibility</p:attrName>
                                        </p:attrNameLst>
                                      </p:cBhvr>
                                      <p:to>
                                        <p:strVal val="visible"/>
                                      </p:to>
                                    </p:set>
                                    <p:animEffect transition="in" filter="fade">
                                      <p:cBhvr>
                                        <p:cTn id="25" dur="420" fill="hold"/>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2FA38A"/>
                </a:solidFill>
                <a:latin typeface="Segoe UI Semibold"/>
              </a:rPr>
              <a:t>MÓDULO 4  ·  IDEAR</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Priorizando: impacto x esforço</a:t>
            </a:r>
          </a:p>
        </p:txBody>
      </p:sp>
      <p:cxnSp>
        <p:nvCxnSpPr>
          <p:cNvPr id="6" name="Connector 5"/>
          <p:cNvCxnSpPr/>
          <p:nvPr/>
        </p:nvCxnSpPr>
        <p:spPr>
          <a:xfrm flipV="1">
            <a:off x="1143000" y="1554480"/>
            <a:ext cx="0" cy="4224528"/>
          </a:xfrm>
          <a:prstGeom prst="line">
            <a:avLst/>
          </a:prstGeom>
          <a:ln w="25400">
            <a:solidFill>
              <a:srgbClr val="B4B8B0"/>
            </a:solidFill>
            <a:tailEnd type="triangle"/>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rot="16200000">
            <a:off x="320040" y="3017520"/>
            <a:ext cx="731520" cy="1463040"/>
          </a:xfrm>
          <a:prstGeom prst="rect">
            <a:avLst/>
          </a:prstGeom>
          <a:noFill/>
        </p:spPr>
        <p:txBody>
          <a:bodyPr wrap="square" lIns="36576" tIns="18288" rIns="36576" bIns="18288" anchor="ctr">
            <a:spAutoFit/>
          </a:bodyPr>
          <a:lstStyle/>
          <a:p>
            <a:pPr algn="ctr"/>
            <a:r>
              <a:rPr sz="1100" b="1" i="0">
                <a:solidFill>
                  <a:srgbClr val="B4B8B0"/>
                </a:solidFill>
                <a:latin typeface="Segoe UI Semibold"/>
              </a:rPr>
              <a:t>IMPACTO</a:t>
            </a:r>
          </a:p>
        </p:txBody>
      </p:sp>
      <p:cxnSp>
        <p:nvCxnSpPr>
          <p:cNvPr id="8" name="Connector 7"/>
          <p:cNvCxnSpPr/>
          <p:nvPr/>
        </p:nvCxnSpPr>
        <p:spPr>
          <a:xfrm>
            <a:off x="1463040" y="5989320"/>
            <a:ext cx="9985248" cy="0"/>
          </a:xfrm>
          <a:prstGeom prst="line">
            <a:avLst/>
          </a:prstGeom>
          <a:ln w="25400">
            <a:solidFill>
              <a:srgbClr val="B4B8B0"/>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463040" y="6035040"/>
            <a:ext cx="9875520" cy="274320"/>
          </a:xfrm>
          <a:prstGeom prst="rect">
            <a:avLst/>
          </a:prstGeom>
          <a:noFill/>
        </p:spPr>
        <p:txBody>
          <a:bodyPr wrap="square" lIns="36576" tIns="18288" rIns="36576" bIns="18288" anchor="t">
            <a:spAutoFit/>
          </a:bodyPr>
          <a:lstStyle/>
          <a:p>
            <a:pPr algn="ctr"/>
            <a:r>
              <a:rPr sz="1100" b="1" i="0">
                <a:solidFill>
                  <a:srgbClr val="B4B8B0"/>
                </a:solidFill>
                <a:latin typeface="Segoe UI Semibold"/>
              </a:rPr>
              <a:t>ESFORÇO  →</a:t>
            </a:r>
          </a:p>
        </p:txBody>
      </p:sp>
      <p:sp>
        <p:nvSpPr>
          <p:cNvPr id="10" name="Rounded Rectangle 9"/>
          <p:cNvSpPr/>
          <p:nvPr/>
        </p:nvSpPr>
        <p:spPr>
          <a:xfrm>
            <a:off x="6510528" y="3721608"/>
            <a:ext cx="4937760" cy="205740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7333488" y="3995928"/>
            <a:ext cx="3931920" cy="457200"/>
          </a:xfrm>
          <a:prstGeom prst="rect">
            <a:avLst/>
          </a:prstGeom>
          <a:noFill/>
        </p:spPr>
        <p:txBody>
          <a:bodyPr wrap="square" lIns="36576" tIns="18288" rIns="36576" bIns="18288" anchor="t">
            <a:spAutoFit/>
          </a:bodyPr>
          <a:lstStyle/>
          <a:p>
            <a:pPr algn="l"/>
            <a:r>
              <a:rPr sz="2000" b="1" i="0">
                <a:solidFill>
                  <a:srgbClr val="C0584F"/>
                </a:solidFill>
                <a:latin typeface="Segoe UI Semibold"/>
              </a:rPr>
              <a:t>Evite</a:t>
            </a:r>
          </a:p>
        </p:txBody>
      </p:sp>
      <p:sp>
        <p:nvSpPr>
          <p:cNvPr id="12" name="TextBox 11"/>
          <p:cNvSpPr txBox="1"/>
          <p:nvPr/>
        </p:nvSpPr>
        <p:spPr>
          <a:xfrm>
            <a:off x="7333488" y="4498848"/>
            <a:ext cx="3931920" cy="1097280"/>
          </a:xfrm>
          <a:prstGeom prst="rect">
            <a:avLst/>
          </a:prstGeom>
          <a:noFill/>
        </p:spPr>
        <p:txBody>
          <a:bodyPr wrap="square" lIns="36576" tIns="18288" rIns="36576" bIns="18288" anchor="t">
            <a:spAutoFit/>
          </a:bodyPr>
          <a:lstStyle/>
          <a:p>
            <a:pPr algn="l"/>
            <a:r>
              <a:rPr sz="1500" b="0" i="0">
                <a:solidFill>
                  <a:srgbClr val="B4B8B0"/>
                </a:solidFill>
                <a:latin typeface="Segoe UI"/>
              </a:rPr>
              <a:t>Baixo impacto, alto esforço: descarte</a:t>
            </a:r>
          </a:p>
        </p:txBody>
      </p:sp>
      <p:sp>
        <p:nvSpPr>
          <p:cNvPr id="13" name="Oval 12"/>
          <p:cNvSpPr/>
          <p:nvPr/>
        </p:nvSpPr>
        <p:spPr>
          <a:xfrm>
            <a:off x="6775704" y="4032504"/>
            <a:ext cx="384048" cy="384048"/>
          </a:xfrm>
          <a:prstGeom prst="ellipse">
            <a:avLst/>
          </a:prstGeom>
          <a:solidFill>
            <a:srgbClr val="C05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ounded Rectangle 13"/>
          <p:cNvSpPr/>
          <p:nvPr/>
        </p:nvSpPr>
        <p:spPr>
          <a:xfrm>
            <a:off x="1463040" y="3721608"/>
            <a:ext cx="4937760" cy="205740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2286000" y="3995928"/>
            <a:ext cx="3931920" cy="457200"/>
          </a:xfrm>
          <a:prstGeom prst="rect">
            <a:avLst/>
          </a:prstGeom>
          <a:noFill/>
        </p:spPr>
        <p:txBody>
          <a:bodyPr wrap="square" lIns="36576" tIns="18288" rIns="36576" bIns="18288" anchor="t">
            <a:spAutoFit/>
          </a:bodyPr>
          <a:lstStyle/>
          <a:p>
            <a:pPr algn="l"/>
            <a:r>
              <a:rPr sz="2000" b="1" i="0">
                <a:solidFill>
                  <a:srgbClr val="B4B8B0"/>
                </a:solidFill>
                <a:latin typeface="Segoe UI Semibold"/>
              </a:rPr>
              <a:t>Tarefas extras</a:t>
            </a:r>
          </a:p>
        </p:txBody>
      </p:sp>
      <p:sp>
        <p:nvSpPr>
          <p:cNvPr id="16" name="TextBox 15"/>
          <p:cNvSpPr txBox="1"/>
          <p:nvPr/>
        </p:nvSpPr>
        <p:spPr>
          <a:xfrm>
            <a:off x="2286000" y="4498848"/>
            <a:ext cx="3931920" cy="1097280"/>
          </a:xfrm>
          <a:prstGeom prst="rect">
            <a:avLst/>
          </a:prstGeom>
          <a:noFill/>
        </p:spPr>
        <p:txBody>
          <a:bodyPr wrap="square" lIns="36576" tIns="18288" rIns="36576" bIns="18288" anchor="t">
            <a:spAutoFit/>
          </a:bodyPr>
          <a:lstStyle/>
          <a:p>
            <a:pPr algn="l"/>
            <a:r>
              <a:rPr sz="1500" b="0" i="0">
                <a:solidFill>
                  <a:srgbClr val="B4B8B0"/>
                </a:solidFill>
                <a:latin typeface="Segoe UI"/>
              </a:rPr>
              <a:t>Baixo impacto, baixo esforço: se sobrar tempo</a:t>
            </a:r>
          </a:p>
        </p:txBody>
      </p:sp>
      <p:sp>
        <p:nvSpPr>
          <p:cNvPr id="17" name="Oval 16"/>
          <p:cNvSpPr/>
          <p:nvPr/>
        </p:nvSpPr>
        <p:spPr>
          <a:xfrm>
            <a:off x="1728216" y="4032504"/>
            <a:ext cx="384048" cy="384048"/>
          </a:xfrm>
          <a:prstGeom prst="ellipse">
            <a:avLst/>
          </a:prstGeom>
          <a:solidFill>
            <a:srgbClr val="7D82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ounded Rectangle 17"/>
          <p:cNvSpPr/>
          <p:nvPr/>
        </p:nvSpPr>
        <p:spPr>
          <a:xfrm>
            <a:off x="6510528" y="1554480"/>
            <a:ext cx="4937760" cy="205740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333488" y="1828800"/>
            <a:ext cx="3931920" cy="457200"/>
          </a:xfrm>
          <a:prstGeom prst="rect">
            <a:avLst/>
          </a:prstGeom>
          <a:noFill/>
        </p:spPr>
        <p:txBody>
          <a:bodyPr wrap="square" lIns="36576" tIns="18288" rIns="36576" bIns="18288" anchor="t">
            <a:spAutoFit/>
          </a:bodyPr>
          <a:lstStyle/>
          <a:p>
            <a:pPr algn="l"/>
            <a:r>
              <a:rPr sz="2000" b="1" i="0">
                <a:solidFill>
                  <a:srgbClr val="2A9FC0"/>
                </a:solidFill>
                <a:latin typeface="Segoe UI Semibold"/>
              </a:rPr>
              <a:t>Grandes apostas</a:t>
            </a:r>
          </a:p>
        </p:txBody>
      </p:sp>
      <p:sp>
        <p:nvSpPr>
          <p:cNvPr id="20" name="TextBox 19"/>
          <p:cNvSpPr txBox="1"/>
          <p:nvPr/>
        </p:nvSpPr>
        <p:spPr>
          <a:xfrm>
            <a:off x="7333488" y="2331720"/>
            <a:ext cx="3931920" cy="1097280"/>
          </a:xfrm>
          <a:prstGeom prst="rect">
            <a:avLst/>
          </a:prstGeom>
          <a:noFill/>
        </p:spPr>
        <p:txBody>
          <a:bodyPr wrap="square" lIns="36576" tIns="18288" rIns="36576" bIns="18288" anchor="t">
            <a:spAutoFit/>
          </a:bodyPr>
          <a:lstStyle/>
          <a:p>
            <a:pPr algn="l"/>
            <a:r>
              <a:rPr sz="1500" b="0" i="0">
                <a:solidFill>
                  <a:srgbClr val="B4B8B0"/>
                </a:solidFill>
                <a:latin typeface="Segoe UI"/>
              </a:rPr>
              <a:t>Alto impacto, alto esforço: planeje</a:t>
            </a:r>
          </a:p>
        </p:txBody>
      </p:sp>
      <p:sp>
        <p:nvSpPr>
          <p:cNvPr id="21" name="Oval 20"/>
          <p:cNvSpPr/>
          <p:nvPr/>
        </p:nvSpPr>
        <p:spPr>
          <a:xfrm>
            <a:off x="6775704" y="1865376"/>
            <a:ext cx="384048" cy="384048"/>
          </a:xfrm>
          <a:prstGeom prst="ellipse">
            <a:avLst/>
          </a:prstGeom>
          <a:solidFill>
            <a:srgbClr val="2A9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ounded Rectangle 21"/>
          <p:cNvSpPr/>
          <p:nvPr/>
        </p:nvSpPr>
        <p:spPr>
          <a:xfrm>
            <a:off x="1463040" y="1554480"/>
            <a:ext cx="4937760" cy="205740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2286000" y="1828800"/>
            <a:ext cx="3931920" cy="457200"/>
          </a:xfrm>
          <a:prstGeom prst="rect">
            <a:avLst/>
          </a:prstGeom>
          <a:noFill/>
        </p:spPr>
        <p:txBody>
          <a:bodyPr wrap="square" lIns="36576" tIns="18288" rIns="36576" bIns="18288" anchor="t">
            <a:spAutoFit/>
          </a:bodyPr>
          <a:lstStyle/>
          <a:p>
            <a:pPr algn="l"/>
            <a:r>
              <a:rPr sz="2000" b="1" i="0">
                <a:solidFill>
                  <a:srgbClr val="9CD848"/>
                </a:solidFill>
                <a:latin typeface="Segoe UI Semibold"/>
              </a:rPr>
              <a:t>Vitórias rápidas</a:t>
            </a:r>
          </a:p>
        </p:txBody>
      </p:sp>
      <p:sp>
        <p:nvSpPr>
          <p:cNvPr id="24" name="TextBox 23"/>
          <p:cNvSpPr txBox="1"/>
          <p:nvPr/>
        </p:nvSpPr>
        <p:spPr>
          <a:xfrm>
            <a:off x="2286000" y="2331720"/>
            <a:ext cx="3931920" cy="1097280"/>
          </a:xfrm>
          <a:prstGeom prst="rect">
            <a:avLst/>
          </a:prstGeom>
          <a:noFill/>
        </p:spPr>
        <p:txBody>
          <a:bodyPr wrap="square" lIns="36576" tIns="18288" rIns="36576" bIns="18288" anchor="t">
            <a:spAutoFit/>
          </a:bodyPr>
          <a:lstStyle/>
          <a:p>
            <a:pPr algn="l"/>
            <a:r>
              <a:rPr sz="1500" b="0" i="0">
                <a:solidFill>
                  <a:srgbClr val="B4B8B0"/>
                </a:solidFill>
                <a:latin typeface="Segoe UI"/>
              </a:rPr>
              <a:t>Alto impacto, baixo esforço: faça já</a:t>
            </a:r>
          </a:p>
        </p:txBody>
      </p:sp>
      <p:sp>
        <p:nvSpPr>
          <p:cNvPr id="25" name="Oval 24"/>
          <p:cNvSpPr/>
          <p:nvPr/>
        </p:nvSpPr>
        <p:spPr>
          <a:xfrm>
            <a:off x="1728216" y="1865376"/>
            <a:ext cx="384048" cy="384048"/>
          </a:xfrm>
          <a:prstGeom prst="ellipse">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22" presetClass="entr" presetSubtype="4" fill="hold" nodeType="withEffect">
                                  <p:stCondLst>
                                    <p:cond delay="20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600" fill="hold"/>
                                        <p:tgtEl>
                                          <p:spTgt spid="6"/>
                                        </p:tgtEl>
                                      </p:cBhvr>
                                    </p:animEffect>
                                  </p:childTnLst>
                                </p:cTn>
                              </p:par>
                              <p:par>
                                <p:cTn id="11" presetID="22" presetClass="entr" presetSubtype="4" fill="hold" grpId="0" nodeType="withEffect">
                                  <p:stCondLst>
                                    <p:cond delay="20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600" fill="hold"/>
                                        <p:tgtEl>
                                          <p:spTgt spid="7"/>
                                        </p:tgtEl>
                                      </p:cBhvr>
                                    </p:animEffect>
                                  </p:childTnLst>
                                </p:cTn>
                              </p:par>
                              <p:par>
                                <p:cTn id="14" presetID="22" presetClass="entr" presetSubtype="8" fill="hold" nodeType="withEffect">
                                  <p:stCondLst>
                                    <p:cond delay="400"/>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600" fill="hold"/>
                                        <p:tgtEl>
                                          <p:spTgt spid="8"/>
                                        </p:tgtEl>
                                      </p:cBhvr>
                                    </p:animEffect>
                                  </p:childTnLst>
                                </p:cTn>
                              </p:par>
                              <p:par>
                                <p:cTn id="17" presetID="22" presetClass="entr" presetSubtype="8" fill="hold" grpId="0" nodeType="withEffect">
                                  <p:stCondLst>
                                    <p:cond delay="40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600" fill="hold"/>
                                        <p:tgtEl>
                                          <p:spTgt spid="9"/>
                                        </p:tgtEl>
                                      </p:cBhvr>
                                    </p:animEffect>
                                  </p:childTnLst>
                                </p:cTn>
                              </p:par>
                              <p:par>
                                <p:cTn id="20" presetID="42" presetClass="entr" presetSubtype="0" decel="100000" fill="hold" grpId="0" nodeType="withEffect">
                                  <p:stCondLst>
                                    <p:cond delay="70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650" fill="hold"/>
                                        <p:tgtEl>
                                          <p:spTgt spid="10"/>
                                        </p:tgtEl>
                                      </p:cBhvr>
                                    </p:animEffect>
                                    <p:anim calcmode="lin" valueType="num">
                                      <p:cBhvr additive="base">
                                        <p:cTn id="23" dur="650" fill="hold"/>
                                        <p:tgtEl>
                                          <p:spTgt spid="10"/>
                                        </p:tgtEl>
                                        <p:attrNameLst>
                                          <p:attrName>ppt_x</p:attrName>
                                        </p:attrNameLst>
                                      </p:cBhvr>
                                      <p:tavLst>
                                        <p:tav tm="0">
                                          <p:val>
                                            <p:strVal val="#ppt_x"/>
                                          </p:val>
                                        </p:tav>
                                        <p:tav tm="100000">
                                          <p:val>
                                            <p:strVal val="#ppt_x"/>
                                          </p:val>
                                        </p:tav>
                                      </p:tavLst>
                                    </p:anim>
                                    <p:anim calcmode="lin" valueType="num">
                                      <p:cBhvr additive="base">
                                        <p:cTn id="24" dur="650" fill="hold"/>
                                        <p:tgtEl>
                                          <p:spTgt spid="10"/>
                                        </p:tgtEl>
                                        <p:attrNameLst>
                                          <p:attrName>ppt_y</p:attrName>
                                        </p:attrNameLst>
                                      </p:cBhvr>
                                      <p:tavLst>
                                        <p:tav tm="0">
                                          <p:val>
                                            <p:strVal val="#ppt_y+.06"/>
                                          </p:val>
                                        </p:tav>
                                        <p:tav tm="100000">
                                          <p:val>
                                            <p:strVal val="#ppt_y"/>
                                          </p:val>
                                        </p:tav>
                                      </p:tavLst>
                                    </p:anim>
                                  </p:childTnLst>
                                </p:cTn>
                              </p:par>
                              <p:par>
                                <p:cTn id="25" presetID="42" presetClass="entr" presetSubtype="0" decel="100000" fill="hold" grpId="0" nodeType="withEffect">
                                  <p:stCondLst>
                                    <p:cond delay="70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650" fill="hold"/>
                                        <p:tgtEl>
                                          <p:spTgt spid="11"/>
                                        </p:tgtEl>
                                      </p:cBhvr>
                                    </p:animEffect>
                                    <p:anim calcmode="lin" valueType="num">
                                      <p:cBhvr additive="base">
                                        <p:cTn id="28" dur="650" fill="hold"/>
                                        <p:tgtEl>
                                          <p:spTgt spid="11"/>
                                        </p:tgtEl>
                                        <p:attrNameLst>
                                          <p:attrName>ppt_x</p:attrName>
                                        </p:attrNameLst>
                                      </p:cBhvr>
                                      <p:tavLst>
                                        <p:tav tm="0">
                                          <p:val>
                                            <p:strVal val="#ppt_x"/>
                                          </p:val>
                                        </p:tav>
                                        <p:tav tm="100000">
                                          <p:val>
                                            <p:strVal val="#ppt_x"/>
                                          </p:val>
                                        </p:tav>
                                      </p:tavLst>
                                    </p:anim>
                                    <p:anim calcmode="lin" valueType="num">
                                      <p:cBhvr additive="base">
                                        <p:cTn id="29" dur="650" fill="hold"/>
                                        <p:tgtEl>
                                          <p:spTgt spid="11"/>
                                        </p:tgtEl>
                                        <p:attrNameLst>
                                          <p:attrName>ppt_y</p:attrName>
                                        </p:attrNameLst>
                                      </p:cBhvr>
                                      <p:tavLst>
                                        <p:tav tm="0">
                                          <p:val>
                                            <p:strVal val="#ppt_y+.06"/>
                                          </p:val>
                                        </p:tav>
                                        <p:tav tm="100000">
                                          <p:val>
                                            <p:strVal val="#ppt_y"/>
                                          </p:val>
                                        </p:tav>
                                      </p:tavLst>
                                    </p:anim>
                                  </p:childTnLst>
                                </p:cTn>
                              </p:par>
                              <p:par>
                                <p:cTn id="30" presetID="42" presetClass="entr" presetSubtype="0" decel="100000" fill="hold" grpId="0" nodeType="withEffect">
                                  <p:stCondLst>
                                    <p:cond delay="70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650" fill="hold"/>
                                        <p:tgtEl>
                                          <p:spTgt spid="12"/>
                                        </p:tgtEl>
                                      </p:cBhvr>
                                    </p:animEffect>
                                    <p:anim calcmode="lin" valueType="num">
                                      <p:cBhvr additive="base">
                                        <p:cTn id="33" dur="650" fill="hold"/>
                                        <p:tgtEl>
                                          <p:spTgt spid="12"/>
                                        </p:tgtEl>
                                        <p:attrNameLst>
                                          <p:attrName>ppt_x</p:attrName>
                                        </p:attrNameLst>
                                      </p:cBhvr>
                                      <p:tavLst>
                                        <p:tav tm="0">
                                          <p:val>
                                            <p:strVal val="#ppt_x"/>
                                          </p:val>
                                        </p:tav>
                                        <p:tav tm="100000">
                                          <p:val>
                                            <p:strVal val="#ppt_x"/>
                                          </p:val>
                                        </p:tav>
                                      </p:tavLst>
                                    </p:anim>
                                    <p:anim calcmode="lin" valueType="num">
                                      <p:cBhvr additive="base">
                                        <p:cTn id="34" dur="650" fill="hold"/>
                                        <p:tgtEl>
                                          <p:spTgt spid="12"/>
                                        </p:tgtEl>
                                        <p:attrNameLst>
                                          <p:attrName>ppt_y</p:attrName>
                                        </p:attrNameLst>
                                      </p:cBhvr>
                                      <p:tavLst>
                                        <p:tav tm="0">
                                          <p:val>
                                            <p:strVal val="#ppt_y+.06"/>
                                          </p:val>
                                        </p:tav>
                                        <p:tav tm="100000">
                                          <p:val>
                                            <p:strVal val="#ppt_y"/>
                                          </p:val>
                                        </p:tav>
                                      </p:tavLst>
                                    </p:anim>
                                  </p:childTnLst>
                                </p:cTn>
                              </p:par>
                              <p:par>
                                <p:cTn id="35" presetID="53" presetClass="entr" presetSubtype="16" decel="100000" fill="hold" grpId="0" nodeType="withEffect">
                                  <p:stCondLst>
                                    <p:cond delay="82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450" fill="hold"/>
                                        <p:tgtEl>
                                          <p:spTgt spid="13"/>
                                        </p:tgtEl>
                                        <p:attrNameLst>
                                          <p:attrName>ppt_w</p:attrName>
                                        </p:attrNameLst>
                                      </p:cBhvr>
                                      <p:tavLst>
                                        <p:tav tm="0">
                                          <p:val>
                                            <p:strVal val="0"/>
                                          </p:val>
                                        </p:tav>
                                        <p:tav tm="70000">
                                          <p:val>
                                            <p:strVal val="#ppt_w*1.08"/>
                                          </p:val>
                                        </p:tav>
                                        <p:tav tm="100000">
                                          <p:val>
                                            <p:strVal val="#ppt_w"/>
                                          </p:val>
                                        </p:tav>
                                      </p:tavLst>
                                    </p:anim>
                                    <p:anim calcmode="lin" valueType="num">
                                      <p:cBhvr additive="base">
                                        <p:cTn id="38" dur="450" fill="hold"/>
                                        <p:tgtEl>
                                          <p:spTgt spid="13"/>
                                        </p:tgtEl>
                                        <p:attrNameLst>
                                          <p:attrName>ppt_h</p:attrName>
                                        </p:attrNameLst>
                                      </p:cBhvr>
                                      <p:tavLst>
                                        <p:tav tm="0">
                                          <p:val>
                                            <p:strVal val="0"/>
                                          </p:val>
                                        </p:tav>
                                        <p:tav tm="70000">
                                          <p:val>
                                            <p:strVal val="#ppt_h*1.08"/>
                                          </p:val>
                                        </p:tav>
                                        <p:tav tm="100000">
                                          <p:val>
                                            <p:strVal val="#ppt_h"/>
                                          </p:val>
                                        </p:tav>
                                      </p:tavLst>
                                    </p:anim>
                                    <p:animEffect transition="in" filter="fade">
                                      <p:cBhvr>
                                        <p:cTn id="39" dur="270" fill="hold"/>
                                        <p:tgtEl>
                                          <p:spTgt spid="13"/>
                                        </p:tgtEl>
                                      </p:cBhvr>
                                    </p:animEffect>
                                  </p:childTnLst>
                                </p:cTn>
                              </p:par>
                              <p:par>
                                <p:cTn id="40" presetID="42" presetClass="entr" presetSubtype="0" decel="100000" fill="hold" grpId="0" nodeType="withEffect">
                                  <p:stCondLst>
                                    <p:cond delay="112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650" fill="hold"/>
                                        <p:tgtEl>
                                          <p:spTgt spid="14"/>
                                        </p:tgtEl>
                                      </p:cBhvr>
                                    </p:animEffect>
                                    <p:anim calcmode="lin" valueType="num">
                                      <p:cBhvr additive="base">
                                        <p:cTn id="43" dur="650" fill="hold"/>
                                        <p:tgtEl>
                                          <p:spTgt spid="14"/>
                                        </p:tgtEl>
                                        <p:attrNameLst>
                                          <p:attrName>ppt_x</p:attrName>
                                        </p:attrNameLst>
                                      </p:cBhvr>
                                      <p:tavLst>
                                        <p:tav tm="0">
                                          <p:val>
                                            <p:strVal val="#ppt_x"/>
                                          </p:val>
                                        </p:tav>
                                        <p:tav tm="100000">
                                          <p:val>
                                            <p:strVal val="#ppt_x"/>
                                          </p:val>
                                        </p:tav>
                                      </p:tavLst>
                                    </p:anim>
                                    <p:anim calcmode="lin" valueType="num">
                                      <p:cBhvr additive="base">
                                        <p:cTn id="44" dur="650" fill="hold"/>
                                        <p:tgtEl>
                                          <p:spTgt spid="14"/>
                                        </p:tgtEl>
                                        <p:attrNameLst>
                                          <p:attrName>ppt_y</p:attrName>
                                        </p:attrNameLst>
                                      </p:cBhvr>
                                      <p:tavLst>
                                        <p:tav tm="0">
                                          <p:val>
                                            <p:strVal val="#ppt_y+.06"/>
                                          </p:val>
                                        </p:tav>
                                        <p:tav tm="100000">
                                          <p:val>
                                            <p:strVal val="#ppt_y"/>
                                          </p:val>
                                        </p:tav>
                                      </p:tavLst>
                                    </p:anim>
                                  </p:childTnLst>
                                </p:cTn>
                              </p:par>
                              <p:par>
                                <p:cTn id="45" presetID="42" presetClass="entr" presetSubtype="0" decel="100000" fill="hold" grpId="0" nodeType="withEffect">
                                  <p:stCondLst>
                                    <p:cond delay="112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650" fill="hold"/>
                                        <p:tgtEl>
                                          <p:spTgt spid="15"/>
                                        </p:tgtEl>
                                      </p:cBhvr>
                                    </p:animEffect>
                                    <p:anim calcmode="lin" valueType="num">
                                      <p:cBhvr additive="base">
                                        <p:cTn id="48" dur="650" fill="hold"/>
                                        <p:tgtEl>
                                          <p:spTgt spid="15"/>
                                        </p:tgtEl>
                                        <p:attrNameLst>
                                          <p:attrName>ppt_x</p:attrName>
                                        </p:attrNameLst>
                                      </p:cBhvr>
                                      <p:tavLst>
                                        <p:tav tm="0">
                                          <p:val>
                                            <p:strVal val="#ppt_x"/>
                                          </p:val>
                                        </p:tav>
                                        <p:tav tm="100000">
                                          <p:val>
                                            <p:strVal val="#ppt_x"/>
                                          </p:val>
                                        </p:tav>
                                      </p:tavLst>
                                    </p:anim>
                                    <p:anim calcmode="lin" valueType="num">
                                      <p:cBhvr additive="base">
                                        <p:cTn id="49" dur="650" fill="hold"/>
                                        <p:tgtEl>
                                          <p:spTgt spid="15"/>
                                        </p:tgtEl>
                                        <p:attrNameLst>
                                          <p:attrName>ppt_y</p:attrName>
                                        </p:attrNameLst>
                                      </p:cBhvr>
                                      <p:tavLst>
                                        <p:tav tm="0">
                                          <p:val>
                                            <p:strVal val="#ppt_y+.06"/>
                                          </p:val>
                                        </p:tav>
                                        <p:tav tm="100000">
                                          <p:val>
                                            <p:strVal val="#ppt_y"/>
                                          </p:val>
                                        </p:tav>
                                      </p:tavLst>
                                    </p:anim>
                                  </p:childTnLst>
                                </p:cTn>
                              </p:par>
                              <p:par>
                                <p:cTn id="50" presetID="42" presetClass="entr" presetSubtype="0" decel="100000" fill="hold" grpId="0" nodeType="withEffect">
                                  <p:stCondLst>
                                    <p:cond delay="112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650" fill="hold"/>
                                        <p:tgtEl>
                                          <p:spTgt spid="16"/>
                                        </p:tgtEl>
                                      </p:cBhvr>
                                    </p:animEffect>
                                    <p:anim calcmode="lin" valueType="num">
                                      <p:cBhvr additive="base">
                                        <p:cTn id="53" dur="650" fill="hold"/>
                                        <p:tgtEl>
                                          <p:spTgt spid="16"/>
                                        </p:tgtEl>
                                        <p:attrNameLst>
                                          <p:attrName>ppt_x</p:attrName>
                                        </p:attrNameLst>
                                      </p:cBhvr>
                                      <p:tavLst>
                                        <p:tav tm="0">
                                          <p:val>
                                            <p:strVal val="#ppt_x"/>
                                          </p:val>
                                        </p:tav>
                                        <p:tav tm="100000">
                                          <p:val>
                                            <p:strVal val="#ppt_x"/>
                                          </p:val>
                                        </p:tav>
                                      </p:tavLst>
                                    </p:anim>
                                    <p:anim calcmode="lin" valueType="num">
                                      <p:cBhvr additive="base">
                                        <p:cTn id="54" dur="650" fill="hold"/>
                                        <p:tgtEl>
                                          <p:spTgt spid="16"/>
                                        </p:tgtEl>
                                        <p:attrNameLst>
                                          <p:attrName>ppt_y</p:attrName>
                                        </p:attrNameLst>
                                      </p:cBhvr>
                                      <p:tavLst>
                                        <p:tav tm="0">
                                          <p:val>
                                            <p:strVal val="#ppt_y+.06"/>
                                          </p:val>
                                        </p:tav>
                                        <p:tav tm="100000">
                                          <p:val>
                                            <p:strVal val="#ppt_y"/>
                                          </p:val>
                                        </p:tav>
                                      </p:tavLst>
                                    </p:anim>
                                  </p:childTnLst>
                                </p:cTn>
                              </p:par>
                              <p:par>
                                <p:cTn id="55" presetID="53" presetClass="entr" presetSubtype="16" decel="100000" fill="hold" grpId="0" nodeType="withEffect">
                                  <p:stCondLst>
                                    <p:cond delay="1240"/>
                                  </p:stCondLst>
                                  <p:childTnLst>
                                    <p:set>
                                      <p:cBhvr>
                                        <p:cTn id="56" dur="1" fill="hold">
                                          <p:stCondLst>
                                            <p:cond delay="0"/>
                                          </p:stCondLst>
                                        </p:cTn>
                                        <p:tgtEl>
                                          <p:spTgt spid="17"/>
                                        </p:tgtEl>
                                        <p:attrNameLst>
                                          <p:attrName>style.visibility</p:attrName>
                                        </p:attrNameLst>
                                      </p:cBhvr>
                                      <p:to>
                                        <p:strVal val="visible"/>
                                      </p:to>
                                    </p:set>
                                    <p:anim calcmode="lin" valueType="num">
                                      <p:cBhvr additive="base">
                                        <p:cTn id="57" dur="450" fill="hold"/>
                                        <p:tgtEl>
                                          <p:spTgt spid="17"/>
                                        </p:tgtEl>
                                        <p:attrNameLst>
                                          <p:attrName>ppt_w</p:attrName>
                                        </p:attrNameLst>
                                      </p:cBhvr>
                                      <p:tavLst>
                                        <p:tav tm="0">
                                          <p:val>
                                            <p:strVal val="0"/>
                                          </p:val>
                                        </p:tav>
                                        <p:tav tm="70000">
                                          <p:val>
                                            <p:strVal val="#ppt_w*1.08"/>
                                          </p:val>
                                        </p:tav>
                                        <p:tav tm="100000">
                                          <p:val>
                                            <p:strVal val="#ppt_w"/>
                                          </p:val>
                                        </p:tav>
                                      </p:tavLst>
                                    </p:anim>
                                    <p:anim calcmode="lin" valueType="num">
                                      <p:cBhvr additive="base">
                                        <p:cTn id="58" dur="450" fill="hold"/>
                                        <p:tgtEl>
                                          <p:spTgt spid="17"/>
                                        </p:tgtEl>
                                        <p:attrNameLst>
                                          <p:attrName>ppt_h</p:attrName>
                                        </p:attrNameLst>
                                      </p:cBhvr>
                                      <p:tavLst>
                                        <p:tav tm="0">
                                          <p:val>
                                            <p:strVal val="0"/>
                                          </p:val>
                                        </p:tav>
                                        <p:tav tm="70000">
                                          <p:val>
                                            <p:strVal val="#ppt_h*1.08"/>
                                          </p:val>
                                        </p:tav>
                                        <p:tav tm="100000">
                                          <p:val>
                                            <p:strVal val="#ppt_h"/>
                                          </p:val>
                                        </p:tav>
                                      </p:tavLst>
                                    </p:anim>
                                    <p:animEffect transition="in" filter="fade">
                                      <p:cBhvr>
                                        <p:cTn id="59" dur="270" fill="hold"/>
                                        <p:tgtEl>
                                          <p:spTgt spid="17"/>
                                        </p:tgtEl>
                                      </p:cBhvr>
                                    </p:animEffect>
                                  </p:childTnLst>
                                </p:cTn>
                              </p:par>
                              <p:par>
                                <p:cTn id="60" presetID="42" presetClass="entr" presetSubtype="0" decel="100000" fill="hold" grpId="0" nodeType="withEffect">
                                  <p:stCondLst>
                                    <p:cond delay="1540"/>
                                  </p:stCondLst>
                                  <p:childTnLst>
                                    <p:set>
                                      <p:cBhvr>
                                        <p:cTn id="61" dur="1" fill="hold">
                                          <p:stCondLst>
                                            <p:cond delay="0"/>
                                          </p:stCondLst>
                                        </p:cTn>
                                        <p:tgtEl>
                                          <p:spTgt spid="18"/>
                                        </p:tgtEl>
                                        <p:attrNameLst>
                                          <p:attrName>style.visibility</p:attrName>
                                        </p:attrNameLst>
                                      </p:cBhvr>
                                      <p:to>
                                        <p:strVal val="visible"/>
                                      </p:to>
                                    </p:set>
                                    <p:animEffect transition="in" filter="fade">
                                      <p:cBhvr>
                                        <p:cTn id="62" dur="650" fill="hold"/>
                                        <p:tgtEl>
                                          <p:spTgt spid="18"/>
                                        </p:tgtEl>
                                      </p:cBhvr>
                                    </p:animEffect>
                                    <p:anim calcmode="lin" valueType="num">
                                      <p:cBhvr additive="base">
                                        <p:cTn id="63" dur="650" fill="hold"/>
                                        <p:tgtEl>
                                          <p:spTgt spid="18"/>
                                        </p:tgtEl>
                                        <p:attrNameLst>
                                          <p:attrName>ppt_x</p:attrName>
                                        </p:attrNameLst>
                                      </p:cBhvr>
                                      <p:tavLst>
                                        <p:tav tm="0">
                                          <p:val>
                                            <p:strVal val="#ppt_x"/>
                                          </p:val>
                                        </p:tav>
                                        <p:tav tm="100000">
                                          <p:val>
                                            <p:strVal val="#ppt_x"/>
                                          </p:val>
                                        </p:tav>
                                      </p:tavLst>
                                    </p:anim>
                                    <p:anim calcmode="lin" valueType="num">
                                      <p:cBhvr additive="base">
                                        <p:cTn id="64" dur="650" fill="hold"/>
                                        <p:tgtEl>
                                          <p:spTgt spid="18"/>
                                        </p:tgtEl>
                                        <p:attrNameLst>
                                          <p:attrName>ppt_y</p:attrName>
                                        </p:attrNameLst>
                                      </p:cBhvr>
                                      <p:tavLst>
                                        <p:tav tm="0">
                                          <p:val>
                                            <p:strVal val="#ppt_y+.06"/>
                                          </p:val>
                                        </p:tav>
                                        <p:tav tm="100000">
                                          <p:val>
                                            <p:strVal val="#ppt_y"/>
                                          </p:val>
                                        </p:tav>
                                      </p:tavLst>
                                    </p:anim>
                                  </p:childTnLst>
                                </p:cTn>
                              </p:par>
                              <p:par>
                                <p:cTn id="65" presetID="42" presetClass="entr" presetSubtype="0" decel="100000" fill="hold" grpId="0" nodeType="withEffect">
                                  <p:stCondLst>
                                    <p:cond delay="154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650" fill="hold"/>
                                        <p:tgtEl>
                                          <p:spTgt spid="19"/>
                                        </p:tgtEl>
                                      </p:cBhvr>
                                    </p:animEffect>
                                    <p:anim calcmode="lin" valueType="num">
                                      <p:cBhvr additive="base">
                                        <p:cTn id="68" dur="650" fill="hold"/>
                                        <p:tgtEl>
                                          <p:spTgt spid="19"/>
                                        </p:tgtEl>
                                        <p:attrNameLst>
                                          <p:attrName>ppt_x</p:attrName>
                                        </p:attrNameLst>
                                      </p:cBhvr>
                                      <p:tavLst>
                                        <p:tav tm="0">
                                          <p:val>
                                            <p:strVal val="#ppt_x"/>
                                          </p:val>
                                        </p:tav>
                                        <p:tav tm="100000">
                                          <p:val>
                                            <p:strVal val="#ppt_x"/>
                                          </p:val>
                                        </p:tav>
                                      </p:tavLst>
                                    </p:anim>
                                    <p:anim calcmode="lin" valueType="num">
                                      <p:cBhvr additive="base">
                                        <p:cTn id="69" dur="650" fill="hold"/>
                                        <p:tgtEl>
                                          <p:spTgt spid="19"/>
                                        </p:tgtEl>
                                        <p:attrNameLst>
                                          <p:attrName>ppt_y</p:attrName>
                                        </p:attrNameLst>
                                      </p:cBhvr>
                                      <p:tavLst>
                                        <p:tav tm="0">
                                          <p:val>
                                            <p:strVal val="#ppt_y+.06"/>
                                          </p:val>
                                        </p:tav>
                                        <p:tav tm="100000">
                                          <p:val>
                                            <p:strVal val="#ppt_y"/>
                                          </p:val>
                                        </p:tav>
                                      </p:tavLst>
                                    </p:anim>
                                  </p:childTnLst>
                                </p:cTn>
                              </p:par>
                              <p:par>
                                <p:cTn id="70" presetID="42" presetClass="entr" presetSubtype="0" decel="100000" fill="hold" grpId="0" nodeType="withEffect">
                                  <p:stCondLst>
                                    <p:cond delay="1540"/>
                                  </p:stCondLst>
                                  <p:childTnLst>
                                    <p:set>
                                      <p:cBhvr>
                                        <p:cTn id="71" dur="1" fill="hold">
                                          <p:stCondLst>
                                            <p:cond delay="0"/>
                                          </p:stCondLst>
                                        </p:cTn>
                                        <p:tgtEl>
                                          <p:spTgt spid="20"/>
                                        </p:tgtEl>
                                        <p:attrNameLst>
                                          <p:attrName>style.visibility</p:attrName>
                                        </p:attrNameLst>
                                      </p:cBhvr>
                                      <p:to>
                                        <p:strVal val="visible"/>
                                      </p:to>
                                    </p:set>
                                    <p:animEffect transition="in" filter="fade">
                                      <p:cBhvr>
                                        <p:cTn id="72" dur="650" fill="hold"/>
                                        <p:tgtEl>
                                          <p:spTgt spid="20"/>
                                        </p:tgtEl>
                                      </p:cBhvr>
                                    </p:animEffect>
                                    <p:anim calcmode="lin" valueType="num">
                                      <p:cBhvr additive="base">
                                        <p:cTn id="73" dur="650" fill="hold"/>
                                        <p:tgtEl>
                                          <p:spTgt spid="20"/>
                                        </p:tgtEl>
                                        <p:attrNameLst>
                                          <p:attrName>ppt_x</p:attrName>
                                        </p:attrNameLst>
                                      </p:cBhvr>
                                      <p:tavLst>
                                        <p:tav tm="0">
                                          <p:val>
                                            <p:strVal val="#ppt_x"/>
                                          </p:val>
                                        </p:tav>
                                        <p:tav tm="100000">
                                          <p:val>
                                            <p:strVal val="#ppt_x"/>
                                          </p:val>
                                        </p:tav>
                                      </p:tavLst>
                                    </p:anim>
                                    <p:anim calcmode="lin" valueType="num">
                                      <p:cBhvr additive="base">
                                        <p:cTn id="74" dur="650" fill="hold"/>
                                        <p:tgtEl>
                                          <p:spTgt spid="20"/>
                                        </p:tgtEl>
                                        <p:attrNameLst>
                                          <p:attrName>ppt_y</p:attrName>
                                        </p:attrNameLst>
                                      </p:cBhvr>
                                      <p:tavLst>
                                        <p:tav tm="0">
                                          <p:val>
                                            <p:strVal val="#ppt_y+.06"/>
                                          </p:val>
                                        </p:tav>
                                        <p:tav tm="100000">
                                          <p:val>
                                            <p:strVal val="#ppt_y"/>
                                          </p:val>
                                        </p:tav>
                                      </p:tavLst>
                                    </p:anim>
                                  </p:childTnLst>
                                </p:cTn>
                              </p:par>
                              <p:par>
                                <p:cTn id="75" presetID="53" presetClass="entr" presetSubtype="16" decel="100000" fill="hold" grpId="0" nodeType="withEffect">
                                  <p:stCondLst>
                                    <p:cond delay="1660"/>
                                  </p:stCondLst>
                                  <p:childTnLst>
                                    <p:set>
                                      <p:cBhvr>
                                        <p:cTn id="76" dur="1" fill="hold">
                                          <p:stCondLst>
                                            <p:cond delay="0"/>
                                          </p:stCondLst>
                                        </p:cTn>
                                        <p:tgtEl>
                                          <p:spTgt spid="21"/>
                                        </p:tgtEl>
                                        <p:attrNameLst>
                                          <p:attrName>style.visibility</p:attrName>
                                        </p:attrNameLst>
                                      </p:cBhvr>
                                      <p:to>
                                        <p:strVal val="visible"/>
                                      </p:to>
                                    </p:set>
                                    <p:anim calcmode="lin" valueType="num">
                                      <p:cBhvr additive="base">
                                        <p:cTn id="77" dur="450" fill="hold"/>
                                        <p:tgtEl>
                                          <p:spTgt spid="21"/>
                                        </p:tgtEl>
                                        <p:attrNameLst>
                                          <p:attrName>ppt_w</p:attrName>
                                        </p:attrNameLst>
                                      </p:cBhvr>
                                      <p:tavLst>
                                        <p:tav tm="0">
                                          <p:val>
                                            <p:strVal val="0"/>
                                          </p:val>
                                        </p:tav>
                                        <p:tav tm="70000">
                                          <p:val>
                                            <p:strVal val="#ppt_w*1.08"/>
                                          </p:val>
                                        </p:tav>
                                        <p:tav tm="100000">
                                          <p:val>
                                            <p:strVal val="#ppt_w"/>
                                          </p:val>
                                        </p:tav>
                                      </p:tavLst>
                                    </p:anim>
                                    <p:anim calcmode="lin" valueType="num">
                                      <p:cBhvr additive="base">
                                        <p:cTn id="78" dur="450" fill="hold"/>
                                        <p:tgtEl>
                                          <p:spTgt spid="21"/>
                                        </p:tgtEl>
                                        <p:attrNameLst>
                                          <p:attrName>ppt_h</p:attrName>
                                        </p:attrNameLst>
                                      </p:cBhvr>
                                      <p:tavLst>
                                        <p:tav tm="0">
                                          <p:val>
                                            <p:strVal val="0"/>
                                          </p:val>
                                        </p:tav>
                                        <p:tav tm="70000">
                                          <p:val>
                                            <p:strVal val="#ppt_h*1.08"/>
                                          </p:val>
                                        </p:tav>
                                        <p:tav tm="100000">
                                          <p:val>
                                            <p:strVal val="#ppt_h"/>
                                          </p:val>
                                        </p:tav>
                                      </p:tavLst>
                                    </p:anim>
                                    <p:animEffect transition="in" filter="fade">
                                      <p:cBhvr>
                                        <p:cTn id="79" dur="270" fill="hold"/>
                                        <p:tgtEl>
                                          <p:spTgt spid="21"/>
                                        </p:tgtEl>
                                      </p:cBhvr>
                                    </p:animEffect>
                                  </p:childTnLst>
                                </p:cTn>
                              </p:par>
                              <p:par>
                                <p:cTn id="80" presetID="42" presetClass="entr" presetSubtype="0" decel="100000" fill="hold" grpId="0" nodeType="withEffect">
                                  <p:stCondLst>
                                    <p:cond delay="196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650" fill="hold"/>
                                        <p:tgtEl>
                                          <p:spTgt spid="22"/>
                                        </p:tgtEl>
                                      </p:cBhvr>
                                    </p:animEffect>
                                    <p:anim calcmode="lin" valueType="num">
                                      <p:cBhvr additive="base">
                                        <p:cTn id="83" dur="650" fill="hold"/>
                                        <p:tgtEl>
                                          <p:spTgt spid="22"/>
                                        </p:tgtEl>
                                        <p:attrNameLst>
                                          <p:attrName>ppt_x</p:attrName>
                                        </p:attrNameLst>
                                      </p:cBhvr>
                                      <p:tavLst>
                                        <p:tav tm="0">
                                          <p:val>
                                            <p:strVal val="#ppt_x"/>
                                          </p:val>
                                        </p:tav>
                                        <p:tav tm="100000">
                                          <p:val>
                                            <p:strVal val="#ppt_x"/>
                                          </p:val>
                                        </p:tav>
                                      </p:tavLst>
                                    </p:anim>
                                    <p:anim calcmode="lin" valueType="num">
                                      <p:cBhvr additive="base">
                                        <p:cTn id="84" dur="650" fill="hold"/>
                                        <p:tgtEl>
                                          <p:spTgt spid="22"/>
                                        </p:tgtEl>
                                        <p:attrNameLst>
                                          <p:attrName>ppt_y</p:attrName>
                                        </p:attrNameLst>
                                      </p:cBhvr>
                                      <p:tavLst>
                                        <p:tav tm="0">
                                          <p:val>
                                            <p:strVal val="#ppt_y+.06"/>
                                          </p:val>
                                        </p:tav>
                                        <p:tav tm="100000">
                                          <p:val>
                                            <p:strVal val="#ppt_y"/>
                                          </p:val>
                                        </p:tav>
                                      </p:tavLst>
                                    </p:anim>
                                  </p:childTnLst>
                                </p:cTn>
                              </p:par>
                              <p:par>
                                <p:cTn id="85" presetID="42" presetClass="entr" presetSubtype="0" decel="100000" fill="hold" grpId="0" nodeType="withEffect">
                                  <p:stCondLst>
                                    <p:cond delay="1960"/>
                                  </p:stCondLst>
                                  <p:childTnLst>
                                    <p:set>
                                      <p:cBhvr>
                                        <p:cTn id="86" dur="1" fill="hold">
                                          <p:stCondLst>
                                            <p:cond delay="0"/>
                                          </p:stCondLst>
                                        </p:cTn>
                                        <p:tgtEl>
                                          <p:spTgt spid="23"/>
                                        </p:tgtEl>
                                        <p:attrNameLst>
                                          <p:attrName>style.visibility</p:attrName>
                                        </p:attrNameLst>
                                      </p:cBhvr>
                                      <p:to>
                                        <p:strVal val="visible"/>
                                      </p:to>
                                    </p:set>
                                    <p:animEffect transition="in" filter="fade">
                                      <p:cBhvr>
                                        <p:cTn id="87" dur="650" fill="hold"/>
                                        <p:tgtEl>
                                          <p:spTgt spid="23"/>
                                        </p:tgtEl>
                                      </p:cBhvr>
                                    </p:animEffect>
                                    <p:anim calcmode="lin" valueType="num">
                                      <p:cBhvr additive="base">
                                        <p:cTn id="88" dur="650" fill="hold"/>
                                        <p:tgtEl>
                                          <p:spTgt spid="23"/>
                                        </p:tgtEl>
                                        <p:attrNameLst>
                                          <p:attrName>ppt_x</p:attrName>
                                        </p:attrNameLst>
                                      </p:cBhvr>
                                      <p:tavLst>
                                        <p:tav tm="0">
                                          <p:val>
                                            <p:strVal val="#ppt_x"/>
                                          </p:val>
                                        </p:tav>
                                        <p:tav tm="100000">
                                          <p:val>
                                            <p:strVal val="#ppt_x"/>
                                          </p:val>
                                        </p:tav>
                                      </p:tavLst>
                                    </p:anim>
                                    <p:anim calcmode="lin" valueType="num">
                                      <p:cBhvr additive="base">
                                        <p:cTn id="89" dur="650" fill="hold"/>
                                        <p:tgtEl>
                                          <p:spTgt spid="23"/>
                                        </p:tgtEl>
                                        <p:attrNameLst>
                                          <p:attrName>ppt_y</p:attrName>
                                        </p:attrNameLst>
                                      </p:cBhvr>
                                      <p:tavLst>
                                        <p:tav tm="0">
                                          <p:val>
                                            <p:strVal val="#ppt_y+.06"/>
                                          </p:val>
                                        </p:tav>
                                        <p:tav tm="100000">
                                          <p:val>
                                            <p:strVal val="#ppt_y"/>
                                          </p:val>
                                        </p:tav>
                                      </p:tavLst>
                                    </p:anim>
                                  </p:childTnLst>
                                </p:cTn>
                              </p:par>
                              <p:par>
                                <p:cTn id="90" presetID="42" presetClass="entr" presetSubtype="0" decel="100000" fill="hold" grpId="0" nodeType="withEffect">
                                  <p:stCondLst>
                                    <p:cond delay="1960"/>
                                  </p:stCondLst>
                                  <p:childTnLst>
                                    <p:set>
                                      <p:cBhvr>
                                        <p:cTn id="91" dur="1" fill="hold">
                                          <p:stCondLst>
                                            <p:cond delay="0"/>
                                          </p:stCondLst>
                                        </p:cTn>
                                        <p:tgtEl>
                                          <p:spTgt spid="24"/>
                                        </p:tgtEl>
                                        <p:attrNameLst>
                                          <p:attrName>style.visibility</p:attrName>
                                        </p:attrNameLst>
                                      </p:cBhvr>
                                      <p:to>
                                        <p:strVal val="visible"/>
                                      </p:to>
                                    </p:set>
                                    <p:animEffect transition="in" filter="fade">
                                      <p:cBhvr>
                                        <p:cTn id="92" dur="650" fill="hold"/>
                                        <p:tgtEl>
                                          <p:spTgt spid="24"/>
                                        </p:tgtEl>
                                      </p:cBhvr>
                                    </p:animEffect>
                                    <p:anim calcmode="lin" valueType="num">
                                      <p:cBhvr additive="base">
                                        <p:cTn id="93" dur="650" fill="hold"/>
                                        <p:tgtEl>
                                          <p:spTgt spid="24"/>
                                        </p:tgtEl>
                                        <p:attrNameLst>
                                          <p:attrName>ppt_x</p:attrName>
                                        </p:attrNameLst>
                                      </p:cBhvr>
                                      <p:tavLst>
                                        <p:tav tm="0">
                                          <p:val>
                                            <p:strVal val="#ppt_x"/>
                                          </p:val>
                                        </p:tav>
                                        <p:tav tm="100000">
                                          <p:val>
                                            <p:strVal val="#ppt_x"/>
                                          </p:val>
                                        </p:tav>
                                      </p:tavLst>
                                    </p:anim>
                                    <p:anim calcmode="lin" valueType="num">
                                      <p:cBhvr additive="base">
                                        <p:cTn id="94" dur="650" fill="hold"/>
                                        <p:tgtEl>
                                          <p:spTgt spid="24"/>
                                        </p:tgtEl>
                                        <p:attrNameLst>
                                          <p:attrName>ppt_y</p:attrName>
                                        </p:attrNameLst>
                                      </p:cBhvr>
                                      <p:tavLst>
                                        <p:tav tm="0">
                                          <p:val>
                                            <p:strVal val="#ppt_y+.06"/>
                                          </p:val>
                                        </p:tav>
                                        <p:tav tm="100000">
                                          <p:val>
                                            <p:strVal val="#ppt_y"/>
                                          </p:val>
                                        </p:tav>
                                      </p:tavLst>
                                    </p:anim>
                                  </p:childTnLst>
                                </p:cTn>
                              </p:par>
                              <p:par>
                                <p:cTn id="95" presetID="53" presetClass="entr" presetSubtype="16" decel="100000" fill="hold" grpId="0" nodeType="withEffect">
                                  <p:stCondLst>
                                    <p:cond delay="2080"/>
                                  </p:stCondLst>
                                  <p:childTnLst>
                                    <p:set>
                                      <p:cBhvr>
                                        <p:cTn id="96" dur="1" fill="hold">
                                          <p:stCondLst>
                                            <p:cond delay="0"/>
                                          </p:stCondLst>
                                        </p:cTn>
                                        <p:tgtEl>
                                          <p:spTgt spid="25"/>
                                        </p:tgtEl>
                                        <p:attrNameLst>
                                          <p:attrName>style.visibility</p:attrName>
                                        </p:attrNameLst>
                                      </p:cBhvr>
                                      <p:to>
                                        <p:strVal val="visible"/>
                                      </p:to>
                                    </p:set>
                                    <p:anim calcmode="lin" valueType="num">
                                      <p:cBhvr additive="base">
                                        <p:cTn id="97" dur="600" fill="hold"/>
                                        <p:tgtEl>
                                          <p:spTgt spid="25"/>
                                        </p:tgtEl>
                                        <p:attrNameLst>
                                          <p:attrName>ppt_w</p:attrName>
                                        </p:attrNameLst>
                                      </p:cBhvr>
                                      <p:tavLst>
                                        <p:tav tm="0">
                                          <p:val>
                                            <p:strVal val="0"/>
                                          </p:val>
                                        </p:tav>
                                        <p:tav tm="70000">
                                          <p:val>
                                            <p:strVal val="#ppt_w*1.08"/>
                                          </p:val>
                                        </p:tav>
                                        <p:tav tm="100000">
                                          <p:val>
                                            <p:strVal val="#ppt_w"/>
                                          </p:val>
                                        </p:tav>
                                      </p:tavLst>
                                    </p:anim>
                                    <p:anim calcmode="lin" valueType="num">
                                      <p:cBhvr additive="base">
                                        <p:cTn id="98" dur="600" fill="hold"/>
                                        <p:tgtEl>
                                          <p:spTgt spid="25"/>
                                        </p:tgtEl>
                                        <p:attrNameLst>
                                          <p:attrName>ppt_h</p:attrName>
                                        </p:attrNameLst>
                                      </p:cBhvr>
                                      <p:tavLst>
                                        <p:tav tm="0">
                                          <p:val>
                                            <p:strVal val="0"/>
                                          </p:val>
                                        </p:tav>
                                        <p:tav tm="70000">
                                          <p:val>
                                            <p:strVal val="#ppt_h*1.08"/>
                                          </p:val>
                                        </p:tav>
                                        <p:tav tm="100000">
                                          <p:val>
                                            <p:strVal val="#ppt_h"/>
                                          </p:val>
                                        </p:tav>
                                      </p:tavLst>
                                    </p:anim>
                                    <p:animEffect transition="in" filter="fade">
                                      <p:cBhvr>
                                        <p:cTn id="99" dur="360" fill="hold"/>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6035040" y="-320040"/>
            <a:ext cx="5852160" cy="5486400"/>
          </a:xfrm>
          <a:prstGeom prst="rect">
            <a:avLst/>
          </a:prstGeom>
          <a:noFill/>
        </p:spPr>
        <p:txBody>
          <a:bodyPr wrap="square" lIns="36576" tIns="18288" rIns="36576" bIns="18288" anchor="t">
            <a:spAutoFit/>
          </a:bodyPr>
          <a:lstStyle/>
          <a:p>
            <a:pPr algn="r"/>
            <a:r>
              <a:rPr sz="33000" b="1" i="0">
                <a:solidFill>
                  <a:srgbClr val="242826"/>
                </a:solidFill>
                <a:latin typeface="Segoe UI Semibold"/>
              </a:rPr>
              <a:t>04</a:t>
            </a:r>
          </a:p>
        </p:txBody>
      </p:sp>
      <p:sp>
        <p:nvSpPr>
          <p:cNvPr id="3" name="Rectangle 2"/>
          <p:cNvSpPr/>
          <p:nvPr/>
        </p:nvSpPr>
        <p:spPr>
          <a:xfrm>
            <a:off x="822960" y="2331720"/>
            <a:ext cx="82296" cy="1417320"/>
          </a:xfrm>
          <a:prstGeom prst="rect">
            <a:avLst/>
          </a:prstGeom>
          <a:solidFill>
            <a:srgbClr val="2F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188720" y="1783080"/>
            <a:ext cx="8229600" cy="365760"/>
          </a:xfrm>
          <a:prstGeom prst="rect">
            <a:avLst/>
          </a:prstGeom>
          <a:noFill/>
        </p:spPr>
        <p:txBody>
          <a:bodyPr wrap="square" lIns="36576" tIns="18288" rIns="36576" bIns="18288" anchor="t">
            <a:spAutoFit/>
          </a:bodyPr>
          <a:lstStyle/>
          <a:p>
            <a:pPr algn="l"/>
            <a:r>
              <a:rPr sz="1200" b="1" i="0" spc="300">
                <a:solidFill>
                  <a:srgbClr val="2FA38A"/>
                </a:solidFill>
                <a:latin typeface="Segoe UI Semibold"/>
              </a:rPr>
              <a:t>PARA LEVAR  ·  MÓDULO 4</a:t>
            </a:r>
          </a:p>
        </p:txBody>
      </p:sp>
      <p:sp>
        <p:nvSpPr>
          <p:cNvPr id="5" name="TextBox 4"/>
          <p:cNvSpPr txBox="1"/>
          <p:nvPr/>
        </p:nvSpPr>
        <p:spPr>
          <a:xfrm>
            <a:off x="1188720" y="2240280"/>
            <a:ext cx="10241280" cy="1645920"/>
          </a:xfrm>
          <a:prstGeom prst="rect">
            <a:avLst/>
          </a:prstGeom>
          <a:noFill/>
        </p:spPr>
        <p:txBody>
          <a:bodyPr wrap="square" lIns="36576" tIns="18288" rIns="36576" bIns="18288" anchor="t">
            <a:spAutoFit/>
          </a:bodyPr>
          <a:lstStyle/>
          <a:p>
            <a:pPr algn="l">
              <a:lnSpc>
                <a:spcPct val="105000"/>
              </a:lnSpc>
            </a:pPr>
            <a:r>
              <a:rPr sz="4800" b="1" i="0">
                <a:solidFill>
                  <a:srgbClr val="F2F2EC"/>
                </a:solidFill>
                <a:latin typeface="Segoe UI Semibold"/>
              </a:rPr>
              <a:t>Ideia julgada cedo demais</a:t>
            </a:r>
          </a:p>
          <a:p>
            <a:pPr algn="l">
              <a:lnSpc>
                <a:spcPct val="105000"/>
              </a:lnSpc>
            </a:pPr>
            <a:r>
              <a:rPr sz="4800" b="1" i="0">
                <a:solidFill>
                  <a:srgbClr val="F2F2EC"/>
                </a:solidFill>
                <a:latin typeface="Segoe UI Semibold"/>
              </a:rPr>
              <a:t>é ideia que </a:t>
            </a:r>
            <a:r>
              <a:rPr sz="4800" b="1" i="0">
                <a:solidFill>
                  <a:srgbClr val="2FA38A"/>
                </a:solidFill>
                <a:latin typeface="Segoe UI Semibold"/>
              </a:rPr>
              <a:t>nunca nasce</a:t>
            </a:r>
            <a:r>
              <a:rPr sz="4800" b="1" i="0">
                <a:solidFill>
                  <a:srgbClr val="F2F2EC"/>
                </a:solidFill>
                <a:latin typeface="Segoe UI Semibold"/>
              </a:rPr>
              <a:t>.</a:t>
            </a:r>
          </a:p>
        </p:txBody>
      </p:sp>
      <p:sp>
        <p:nvSpPr>
          <p:cNvPr id="6" name="Rectangle 5"/>
          <p:cNvSpPr/>
          <p:nvPr/>
        </p:nvSpPr>
        <p:spPr>
          <a:xfrm>
            <a:off x="1188720" y="4160520"/>
            <a:ext cx="2377440" cy="54864"/>
          </a:xfrm>
          <a:prstGeom prst="rect">
            <a:avLst/>
          </a:prstGeom>
          <a:solidFill>
            <a:srgbClr val="2F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188720" y="4389120"/>
            <a:ext cx="9875520" cy="731520"/>
          </a:xfrm>
          <a:prstGeom prst="rect">
            <a:avLst/>
          </a:prstGeom>
          <a:noFill/>
        </p:spPr>
        <p:txBody>
          <a:bodyPr wrap="square" lIns="36576" tIns="18288" rIns="36576" bIns="18288" anchor="t">
            <a:spAutoFit/>
          </a:bodyPr>
          <a:lstStyle/>
          <a:p>
            <a:pPr algn="l"/>
            <a:r>
              <a:rPr sz="1800" b="0" i="0">
                <a:solidFill>
                  <a:srgbClr val="B4B8B0"/>
                </a:solidFill>
                <a:latin typeface="Segoe UI"/>
              </a:rPr>
              <a:t>Primeiro a quantidade. Depois a escolha.</a:t>
            </a:r>
          </a:p>
        </p:txBody>
      </p:sp>
      <p:sp>
        <p:nvSpPr>
          <p:cNvPr id="8" name="TextBox 7"/>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400" fill="hold"/>
                                        <p:tgtEl>
                                          <p:spTgt spid="2"/>
                                        </p:tgtEl>
                                      </p:cBhvr>
                                    </p:animEffect>
                                  </p:childTnLst>
                                </p:cTn>
                              </p:par>
                              <p:par>
                                <p:cTn id="8" presetID="22" presetClass="entr" presetSubtype="4" fill="hold" grpId="0" nodeType="withEffect">
                                  <p:stCondLst>
                                    <p:cond delay="300"/>
                                  </p:stCondLst>
                                  <p:childTnLst>
                                    <p:set>
                                      <p:cBhvr>
                                        <p:cTn id="9" dur="1" fill="hold">
                                          <p:stCondLst>
                                            <p:cond delay="0"/>
                                          </p:stCondLst>
                                        </p:cTn>
                                        <p:tgtEl>
                                          <p:spTgt spid="3"/>
                                        </p:tgtEl>
                                        <p:attrNameLst>
                                          <p:attrName>style.visibility</p:attrName>
                                        </p:attrNameLst>
                                      </p:cBhvr>
                                      <p:to>
                                        <p:strVal val="visible"/>
                                      </p:to>
                                    </p:set>
                                    <p:animEffect transition="in" filter="wipe(down)">
                                      <p:cBhvr>
                                        <p:cTn id="10" dur="700" fill="hold"/>
                                        <p:tgtEl>
                                          <p:spTgt spid="3"/>
                                        </p:tgtEl>
                                      </p:cBhvr>
                                    </p:animEffect>
                                  </p:childTnLst>
                                </p:cTn>
                              </p:par>
                              <p:par>
                                <p:cTn id="11" presetID="10" presetClass="entr" presetSubtype="0" fill="hold" grpId="0" nodeType="withEffect">
                                  <p:stCondLst>
                                    <p:cond delay="65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fill="hold"/>
                                        <p:tgtEl>
                                          <p:spTgt spid="4"/>
                                        </p:tgtEl>
                                      </p:cBhvr>
                                    </p:animEffect>
                                  </p:childTnLst>
                                </p:cTn>
                              </p:par>
                              <p:par>
                                <p:cTn id="14" presetID="10" presetClass="entr" presetSubtype="0" fill="hold" grpId="0" nodeType="withEffect">
                                  <p:stCondLst>
                                    <p:cond delay="950"/>
                                  </p:stCondLst>
                                  <p:iterate type="wd">
                                    <p:tmPct val="45000"/>
                                  </p:iterate>
                                  <p:childTnLst>
                                    <p:set>
                                      <p:cBhvr>
                                        <p:cTn id="15" dur="1" fill="hold">
                                          <p:stCondLst>
                                            <p:cond delay="0"/>
                                          </p:stCondLst>
                                        </p:cTn>
                                        <p:tgtEl>
                                          <p:spTgt spid="5"/>
                                        </p:tgtEl>
                                        <p:attrNameLst>
                                          <p:attrName>style.visibility</p:attrName>
                                        </p:attrNameLst>
                                      </p:cBhvr>
                                      <p:to>
                                        <p:strVal val="visible"/>
                                      </p:to>
                                    </p:set>
                                    <p:animEffect transition="in" filter="fade">
                                      <p:cBhvr>
                                        <p:cTn id="16" dur="500" fill="hold"/>
                                        <p:tgtEl>
                                          <p:spTgt spid="5"/>
                                        </p:tgtEl>
                                      </p:cBhvr>
                                    </p:animEffect>
                                  </p:childTnLst>
                                </p:cTn>
                              </p:par>
                              <p:par>
                                <p:cTn id="17" presetID="22" presetClass="entr" presetSubtype="8" fill="hold" grpId="0" nodeType="withEffect">
                                  <p:stCondLst>
                                    <p:cond delay="3650"/>
                                  </p:stCondLst>
                                  <p:childTnLst>
                                    <p:set>
                                      <p:cBhvr>
                                        <p:cTn id="18" dur="1" fill="hold">
                                          <p:stCondLst>
                                            <p:cond delay="0"/>
                                          </p:stCondLst>
                                        </p:cTn>
                                        <p:tgtEl>
                                          <p:spTgt spid="6"/>
                                        </p:tgtEl>
                                        <p:attrNameLst>
                                          <p:attrName>style.visibility</p:attrName>
                                        </p:attrNameLst>
                                      </p:cBhvr>
                                      <p:to>
                                        <p:strVal val="visible"/>
                                      </p:to>
                                    </p:set>
                                    <p:animEffect transition="in" filter="wipe(left)">
                                      <p:cBhvr>
                                        <p:cTn id="19" dur="800" fill="hold"/>
                                        <p:tgtEl>
                                          <p:spTgt spid="6"/>
                                        </p:tgtEl>
                                      </p:cBhvr>
                                    </p:animEffect>
                                  </p:childTnLst>
                                </p:cTn>
                              </p:par>
                              <p:par>
                                <p:cTn id="20" presetID="42" presetClass="entr" presetSubtype="0" decel="100000" fill="hold" grpId="0" nodeType="withEffect">
                                  <p:stCondLst>
                                    <p:cond delay="395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650" fill="hold"/>
                                        <p:tgtEl>
                                          <p:spTgt spid="7"/>
                                        </p:tgtEl>
                                      </p:cBhvr>
                                    </p:animEffect>
                                    <p:anim calcmode="lin" valueType="num">
                                      <p:cBhvr additive="base">
                                        <p:cTn id="23" dur="650" fill="hold"/>
                                        <p:tgtEl>
                                          <p:spTgt spid="7"/>
                                        </p:tgtEl>
                                        <p:attrNameLst>
                                          <p:attrName>ppt_x</p:attrName>
                                        </p:attrNameLst>
                                      </p:cBhvr>
                                      <p:tavLst>
                                        <p:tav tm="0">
                                          <p:val>
                                            <p:strVal val="#ppt_x"/>
                                          </p:val>
                                        </p:tav>
                                        <p:tav tm="100000">
                                          <p:val>
                                            <p:strVal val="#ppt_x"/>
                                          </p:val>
                                        </p:tav>
                                      </p:tavLst>
                                    </p:anim>
                                    <p:anim calcmode="lin" valueType="num">
                                      <p:cBhvr additive="base">
                                        <p:cTn id="24" dur="650" fill="hold"/>
                                        <p:tgtEl>
                                          <p:spTgt spid="7"/>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2FA38A"/>
                </a:solidFill>
                <a:latin typeface="Segoe UI Semibold"/>
              </a:rPr>
              <a:t>MÓDULO 4  ·  DINÂMICA</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Dinâmica 4 — Oficina de ideação</a:t>
            </a:r>
          </a:p>
        </p:txBody>
      </p:sp>
      <p:sp>
        <p:nvSpPr>
          <p:cNvPr id="6" name="Rounded Rectangle 5"/>
          <p:cNvSpPr/>
          <p:nvPr/>
        </p:nvSpPr>
        <p:spPr>
          <a:xfrm>
            <a:off x="548640" y="1554480"/>
            <a:ext cx="3566160" cy="4343400"/>
          </a:xfrm>
          <a:prstGeom prst="roundRect">
            <a:avLst>
              <a:gd name="adj" fmla="val 5000"/>
            </a:avLst>
          </a:prstGeom>
          <a:solidFill>
            <a:srgbClr val="2F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68680" y="1783080"/>
            <a:ext cx="3017520" cy="365760"/>
          </a:xfrm>
          <a:prstGeom prst="rect">
            <a:avLst/>
          </a:prstGeom>
          <a:noFill/>
        </p:spPr>
        <p:txBody>
          <a:bodyPr wrap="square" lIns="36576" tIns="18288" rIns="36576" bIns="18288" anchor="t">
            <a:spAutoFit/>
          </a:bodyPr>
          <a:lstStyle/>
          <a:p>
            <a:pPr algn="l"/>
            <a:r>
              <a:rPr sz="1100" b="1" i="0" spc="200">
                <a:solidFill>
                  <a:srgbClr val="1A1A1A"/>
                </a:solidFill>
                <a:latin typeface="Segoe UI Semibold"/>
              </a:rPr>
              <a:t>DURAÇÃO</a:t>
            </a:r>
          </a:p>
        </p:txBody>
      </p:sp>
      <p:sp>
        <p:nvSpPr>
          <p:cNvPr id="8" name="TextBox 7"/>
          <p:cNvSpPr txBox="1"/>
          <p:nvPr/>
        </p:nvSpPr>
        <p:spPr>
          <a:xfrm>
            <a:off x="868680" y="2057400"/>
            <a:ext cx="3017520" cy="914400"/>
          </a:xfrm>
          <a:prstGeom prst="rect">
            <a:avLst/>
          </a:prstGeom>
          <a:noFill/>
        </p:spPr>
        <p:txBody>
          <a:bodyPr wrap="square" lIns="36576" tIns="18288" rIns="36576" bIns="18288" anchor="t">
            <a:spAutoFit/>
          </a:bodyPr>
          <a:lstStyle/>
          <a:p>
            <a:pPr algn="l"/>
            <a:r>
              <a:rPr sz="4400" b="1" i="0">
                <a:solidFill>
                  <a:srgbClr val="1A1A1A"/>
                </a:solidFill>
                <a:latin typeface="Segoe UI Semibold"/>
              </a:rPr>
              <a:t>55 min</a:t>
            </a:r>
          </a:p>
        </p:txBody>
      </p:sp>
      <p:sp>
        <p:nvSpPr>
          <p:cNvPr id="9" name="TextBox 8"/>
          <p:cNvSpPr txBox="1"/>
          <p:nvPr/>
        </p:nvSpPr>
        <p:spPr>
          <a:xfrm>
            <a:off x="868680" y="3108960"/>
            <a:ext cx="3017520" cy="365760"/>
          </a:xfrm>
          <a:prstGeom prst="rect">
            <a:avLst/>
          </a:prstGeom>
          <a:noFill/>
        </p:spPr>
        <p:txBody>
          <a:bodyPr wrap="square" lIns="36576" tIns="18288" rIns="36576" bIns="18288" anchor="t">
            <a:spAutoFit/>
          </a:bodyPr>
          <a:lstStyle/>
          <a:p>
            <a:pPr algn="l"/>
            <a:r>
              <a:rPr sz="1100" b="1" i="0" spc="200">
                <a:solidFill>
                  <a:srgbClr val="1A1A1A"/>
                </a:solidFill>
                <a:latin typeface="Segoe UI Semibold"/>
              </a:rPr>
              <a:t>OBJETIVO</a:t>
            </a:r>
          </a:p>
        </p:txBody>
      </p:sp>
      <p:sp>
        <p:nvSpPr>
          <p:cNvPr id="10" name="TextBox 9"/>
          <p:cNvSpPr txBox="1"/>
          <p:nvPr/>
        </p:nvSpPr>
        <p:spPr>
          <a:xfrm>
            <a:off x="868680" y="3429000"/>
            <a:ext cx="3017520" cy="1463040"/>
          </a:xfrm>
          <a:prstGeom prst="rect">
            <a:avLst/>
          </a:prstGeom>
          <a:noFill/>
        </p:spPr>
        <p:txBody>
          <a:bodyPr wrap="square" lIns="36576" tIns="18288" rIns="36576" bIns="18288" anchor="t">
            <a:spAutoFit/>
          </a:bodyPr>
          <a:lstStyle/>
          <a:p>
            <a:pPr algn="l"/>
            <a:r>
              <a:rPr sz="1500" b="0" i="0">
                <a:solidFill>
                  <a:srgbClr val="1A1A1A"/>
                </a:solidFill>
                <a:latin typeface="Segoe UI"/>
              </a:rPr>
              <a:t>Gerar e priorizar soluções para a pergunta 'Como poderíamos…?' da equipe.</a:t>
            </a:r>
          </a:p>
        </p:txBody>
      </p:sp>
      <p:sp>
        <p:nvSpPr>
          <p:cNvPr id="11" name="TextBox 10"/>
          <p:cNvSpPr txBox="1"/>
          <p:nvPr/>
        </p:nvSpPr>
        <p:spPr>
          <a:xfrm>
            <a:off x="868680" y="4892040"/>
            <a:ext cx="3017520" cy="822960"/>
          </a:xfrm>
          <a:prstGeom prst="rect">
            <a:avLst/>
          </a:prstGeom>
          <a:noFill/>
        </p:spPr>
        <p:txBody>
          <a:bodyPr wrap="square" lIns="36576" tIns="18288" rIns="36576" bIns="18288" anchor="t">
            <a:spAutoFit/>
          </a:bodyPr>
          <a:lstStyle/>
          <a:p>
            <a:pPr algn="l"/>
            <a:r>
              <a:rPr sz="1200" b="1" i="0">
                <a:solidFill>
                  <a:srgbClr val="1A1A1A"/>
                </a:solidFill>
                <a:latin typeface="Segoe UI Semibold"/>
              </a:rPr>
              <a:t>Materiais: </a:t>
            </a:r>
            <a:r>
              <a:rPr sz="1200" b="0" i="0">
                <a:solidFill>
                  <a:srgbClr val="1A1A1A"/>
                </a:solidFill>
                <a:latin typeface="Segoe UI"/>
              </a:rPr>
              <a:t>Folhas A4, canetas, adesivos de votação, post-its</a:t>
            </a:r>
          </a:p>
        </p:txBody>
      </p:sp>
      <p:sp>
        <p:nvSpPr>
          <p:cNvPr id="12" name="Oval 11"/>
          <p:cNvSpPr/>
          <p:nvPr/>
        </p:nvSpPr>
        <p:spPr>
          <a:xfrm>
            <a:off x="4480560" y="1760219"/>
            <a:ext cx="457200" cy="457200"/>
          </a:xfrm>
          <a:prstGeom prst="ellipse">
            <a:avLst/>
          </a:prstGeom>
          <a:solidFill>
            <a:srgbClr val="2E3431"/>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400" b="1" i="0">
                <a:solidFill>
                  <a:srgbClr val="2FA38A"/>
                </a:solidFill>
                <a:latin typeface="Segoe UI Semibold"/>
              </a:rPr>
              <a:t>1</a:t>
            </a:r>
          </a:p>
        </p:txBody>
      </p:sp>
      <p:sp>
        <p:nvSpPr>
          <p:cNvPr id="13" name="TextBox 12"/>
          <p:cNvSpPr txBox="1"/>
          <p:nvPr/>
        </p:nvSpPr>
        <p:spPr>
          <a:xfrm>
            <a:off x="5120640" y="1554480"/>
            <a:ext cx="6492240" cy="868680"/>
          </a:xfrm>
          <a:prstGeom prst="rect">
            <a:avLst/>
          </a:prstGeom>
          <a:noFill/>
        </p:spPr>
        <p:txBody>
          <a:bodyPr wrap="square" lIns="36576" tIns="18288" rIns="36576" bIns="18288" anchor="ctr">
            <a:spAutoFit/>
          </a:bodyPr>
          <a:lstStyle/>
          <a:p>
            <a:pPr algn="l"/>
            <a:r>
              <a:rPr sz="1600" b="0" i="0">
                <a:solidFill>
                  <a:srgbClr val="F2F2EC"/>
                </a:solidFill>
                <a:latin typeface="Segoe UI"/>
              </a:rPr>
              <a:t>Quebra-gelo: usos inusitados (5 min)</a:t>
            </a:r>
          </a:p>
        </p:txBody>
      </p:sp>
      <p:sp>
        <p:nvSpPr>
          <p:cNvPr id="14" name="Oval 13"/>
          <p:cNvSpPr/>
          <p:nvPr/>
        </p:nvSpPr>
        <p:spPr>
          <a:xfrm>
            <a:off x="4480560" y="2628900"/>
            <a:ext cx="457200" cy="457200"/>
          </a:xfrm>
          <a:prstGeom prst="ellipse">
            <a:avLst/>
          </a:prstGeom>
          <a:solidFill>
            <a:srgbClr val="2E3431"/>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400" b="1" i="0">
                <a:solidFill>
                  <a:srgbClr val="2FA38A"/>
                </a:solidFill>
                <a:latin typeface="Segoe UI Semibold"/>
              </a:rPr>
              <a:t>2</a:t>
            </a:r>
          </a:p>
        </p:txBody>
      </p:sp>
      <p:sp>
        <p:nvSpPr>
          <p:cNvPr id="15" name="TextBox 14"/>
          <p:cNvSpPr txBox="1"/>
          <p:nvPr/>
        </p:nvSpPr>
        <p:spPr>
          <a:xfrm>
            <a:off x="5120640" y="2423160"/>
            <a:ext cx="6492240" cy="868680"/>
          </a:xfrm>
          <a:prstGeom prst="rect">
            <a:avLst/>
          </a:prstGeom>
          <a:noFill/>
        </p:spPr>
        <p:txBody>
          <a:bodyPr wrap="square" lIns="36576" tIns="18288" rIns="36576" bIns="18288" anchor="ctr">
            <a:spAutoFit/>
          </a:bodyPr>
          <a:lstStyle/>
          <a:p>
            <a:pPr algn="l"/>
            <a:r>
              <a:rPr sz="1600" b="0" i="0">
                <a:solidFill>
                  <a:srgbClr val="F2F2EC"/>
                </a:solidFill>
                <a:latin typeface="Segoe UI"/>
              </a:rPr>
              <a:t>Crazy 8s individual (8 min) + apresentação ao grupo (12 min)</a:t>
            </a:r>
          </a:p>
        </p:txBody>
      </p:sp>
      <p:sp>
        <p:nvSpPr>
          <p:cNvPr id="16" name="Oval 15"/>
          <p:cNvSpPr/>
          <p:nvPr/>
        </p:nvSpPr>
        <p:spPr>
          <a:xfrm>
            <a:off x="4480560" y="3497579"/>
            <a:ext cx="457200" cy="457200"/>
          </a:xfrm>
          <a:prstGeom prst="ellipse">
            <a:avLst/>
          </a:prstGeom>
          <a:solidFill>
            <a:srgbClr val="2E3431"/>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400" b="1" i="0">
                <a:solidFill>
                  <a:srgbClr val="2FA38A"/>
                </a:solidFill>
                <a:latin typeface="Segoe UI Semibold"/>
              </a:rPr>
              <a:t>3</a:t>
            </a:r>
          </a:p>
        </p:txBody>
      </p:sp>
      <p:sp>
        <p:nvSpPr>
          <p:cNvPr id="17" name="TextBox 16"/>
          <p:cNvSpPr txBox="1"/>
          <p:nvPr/>
        </p:nvSpPr>
        <p:spPr>
          <a:xfrm>
            <a:off x="5120640" y="3291839"/>
            <a:ext cx="6492240" cy="868680"/>
          </a:xfrm>
          <a:prstGeom prst="rect">
            <a:avLst/>
          </a:prstGeom>
          <a:noFill/>
        </p:spPr>
        <p:txBody>
          <a:bodyPr wrap="square" lIns="36576" tIns="18288" rIns="36576" bIns="18288" anchor="ctr">
            <a:spAutoFit/>
          </a:bodyPr>
          <a:lstStyle/>
          <a:p>
            <a:pPr algn="l"/>
            <a:r>
              <a:rPr sz="1600" b="0" i="0">
                <a:solidFill>
                  <a:srgbClr val="F2F2EC"/>
                </a:solidFill>
                <a:latin typeface="Segoe UI"/>
              </a:rPr>
              <a:t>Brainstorming silencioso para combinar ideias (10 min)</a:t>
            </a:r>
          </a:p>
        </p:txBody>
      </p:sp>
      <p:sp>
        <p:nvSpPr>
          <p:cNvPr id="18" name="Oval 17"/>
          <p:cNvSpPr/>
          <p:nvPr/>
        </p:nvSpPr>
        <p:spPr>
          <a:xfrm>
            <a:off x="4480560" y="4366259"/>
            <a:ext cx="457200" cy="457200"/>
          </a:xfrm>
          <a:prstGeom prst="ellipse">
            <a:avLst/>
          </a:prstGeom>
          <a:solidFill>
            <a:srgbClr val="2E3431"/>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400" b="1" i="0">
                <a:solidFill>
                  <a:srgbClr val="2FA38A"/>
                </a:solidFill>
                <a:latin typeface="Segoe UI Semibold"/>
              </a:rPr>
              <a:t>4</a:t>
            </a:r>
          </a:p>
        </p:txBody>
      </p:sp>
      <p:sp>
        <p:nvSpPr>
          <p:cNvPr id="19" name="TextBox 18"/>
          <p:cNvSpPr txBox="1"/>
          <p:nvPr/>
        </p:nvSpPr>
        <p:spPr>
          <a:xfrm>
            <a:off x="5120640" y="4160520"/>
            <a:ext cx="6492240" cy="868680"/>
          </a:xfrm>
          <a:prstGeom prst="rect">
            <a:avLst/>
          </a:prstGeom>
          <a:noFill/>
        </p:spPr>
        <p:txBody>
          <a:bodyPr wrap="square" lIns="36576" tIns="18288" rIns="36576" bIns="18288" anchor="ctr">
            <a:spAutoFit/>
          </a:bodyPr>
          <a:lstStyle/>
          <a:p>
            <a:pPr algn="l"/>
            <a:r>
              <a:rPr sz="1600" b="0" i="0">
                <a:solidFill>
                  <a:srgbClr val="F2F2EC"/>
                </a:solidFill>
                <a:latin typeface="Segoe UI"/>
              </a:rPr>
              <a:t>Votação por pontos e matriz impacto x esforço (15 min)</a:t>
            </a:r>
          </a:p>
        </p:txBody>
      </p:sp>
      <p:sp>
        <p:nvSpPr>
          <p:cNvPr id="20" name="Oval 19"/>
          <p:cNvSpPr/>
          <p:nvPr/>
        </p:nvSpPr>
        <p:spPr>
          <a:xfrm>
            <a:off x="4480560" y="5234940"/>
            <a:ext cx="457200" cy="457200"/>
          </a:xfrm>
          <a:prstGeom prst="ellipse">
            <a:avLst/>
          </a:prstGeom>
          <a:solidFill>
            <a:srgbClr val="2E3431"/>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400" b="1" i="0">
                <a:solidFill>
                  <a:srgbClr val="2FA38A"/>
                </a:solidFill>
                <a:latin typeface="Segoe UI Semibold"/>
              </a:rPr>
              <a:t>5</a:t>
            </a:r>
          </a:p>
        </p:txBody>
      </p:sp>
      <p:sp>
        <p:nvSpPr>
          <p:cNvPr id="21" name="TextBox 20"/>
          <p:cNvSpPr txBox="1"/>
          <p:nvPr/>
        </p:nvSpPr>
        <p:spPr>
          <a:xfrm>
            <a:off x="5120640" y="5029200"/>
            <a:ext cx="6492240" cy="868680"/>
          </a:xfrm>
          <a:prstGeom prst="rect">
            <a:avLst/>
          </a:prstGeom>
          <a:noFill/>
        </p:spPr>
        <p:txBody>
          <a:bodyPr wrap="square" lIns="36576" tIns="18288" rIns="36576" bIns="18288" anchor="ctr">
            <a:spAutoFit/>
          </a:bodyPr>
          <a:lstStyle/>
          <a:p>
            <a:pPr algn="l"/>
            <a:r>
              <a:rPr sz="1600" b="0" i="0">
                <a:solidFill>
                  <a:srgbClr val="F2F2EC"/>
                </a:solidFill>
                <a:latin typeface="Segoe UI"/>
              </a:rPr>
              <a:t>Escolha da ideia que será prototipada (5 min)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42" presetClass="entr" presetSubtype="0" decel="100000" fill="hold" grpId="0" nodeType="withEffect">
                                  <p:stCondLst>
                                    <p:cond delay="2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50" fill="hold"/>
                                        <p:tgtEl>
                                          <p:spTgt spid="6"/>
                                        </p:tgtEl>
                                      </p:cBhvr>
                                    </p:animEffect>
                                    <p:anim calcmode="lin" valueType="num">
                                      <p:cBhvr additive="base">
                                        <p:cTn id="11" dur="650" fill="hold"/>
                                        <p:tgtEl>
                                          <p:spTgt spid="6"/>
                                        </p:tgtEl>
                                        <p:attrNameLst>
                                          <p:attrName>ppt_x</p:attrName>
                                        </p:attrNameLst>
                                      </p:cBhvr>
                                      <p:tavLst>
                                        <p:tav tm="0">
                                          <p:val>
                                            <p:strVal val="#ppt_x"/>
                                          </p:val>
                                        </p:tav>
                                        <p:tav tm="100000">
                                          <p:val>
                                            <p:strVal val="#ppt_x"/>
                                          </p:val>
                                        </p:tav>
                                      </p:tavLst>
                                    </p:anim>
                                    <p:anim calcmode="lin" valueType="num">
                                      <p:cBhvr additive="base">
                                        <p:cTn id="12" dur="650" fill="hold"/>
                                        <p:tgtEl>
                                          <p:spTgt spid="6"/>
                                        </p:tgtEl>
                                        <p:attrNameLst>
                                          <p:attrName>ppt_y</p:attrName>
                                        </p:attrNameLst>
                                      </p:cBhvr>
                                      <p:tavLst>
                                        <p:tav tm="0">
                                          <p:val>
                                            <p:strVal val="#ppt_y+.06"/>
                                          </p:val>
                                        </p:tav>
                                        <p:tav tm="100000">
                                          <p:val>
                                            <p:strVal val="#ppt_y"/>
                                          </p:val>
                                        </p:tav>
                                      </p:tavLst>
                                    </p:anim>
                                  </p:childTnLst>
                                </p:cTn>
                              </p:par>
                              <p:par>
                                <p:cTn id="13" presetID="42" presetClass="entr" presetSubtype="0" decel="100000" fill="hold" grpId="0" nodeType="withEffect">
                                  <p:stCondLst>
                                    <p:cond delay="20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fill="hold"/>
                                        <p:tgtEl>
                                          <p:spTgt spid="7"/>
                                        </p:tgtEl>
                                      </p:cBhvr>
                                    </p:animEffect>
                                    <p:anim calcmode="lin" valueType="num">
                                      <p:cBhvr additive="base">
                                        <p:cTn id="16" dur="650" fill="hold"/>
                                        <p:tgtEl>
                                          <p:spTgt spid="7"/>
                                        </p:tgtEl>
                                        <p:attrNameLst>
                                          <p:attrName>ppt_x</p:attrName>
                                        </p:attrNameLst>
                                      </p:cBhvr>
                                      <p:tavLst>
                                        <p:tav tm="0">
                                          <p:val>
                                            <p:strVal val="#ppt_x"/>
                                          </p:val>
                                        </p:tav>
                                        <p:tav tm="100000">
                                          <p:val>
                                            <p:strVal val="#ppt_x"/>
                                          </p:val>
                                        </p:tav>
                                      </p:tavLst>
                                    </p:anim>
                                    <p:anim calcmode="lin" valueType="num">
                                      <p:cBhvr additive="base">
                                        <p:cTn id="17" dur="650" fill="hold"/>
                                        <p:tgtEl>
                                          <p:spTgt spid="7"/>
                                        </p:tgtEl>
                                        <p:attrNameLst>
                                          <p:attrName>ppt_y</p:attrName>
                                        </p:attrNameLst>
                                      </p:cBhvr>
                                      <p:tavLst>
                                        <p:tav tm="0">
                                          <p:val>
                                            <p:strVal val="#ppt_y+.06"/>
                                          </p:val>
                                        </p:tav>
                                        <p:tav tm="100000">
                                          <p:val>
                                            <p:strVal val="#ppt_y"/>
                                          </p:val>
                                        </p:tav>
                                      </p:tavLst>
                                    </p:anim>
                                  </p:childTnLst>
                                </p:cTn>
                              </p:par>
                              <p:par>
                                <p:cTn id="18" presetID="53" presetClass="entr" presetSubtype="16" decel="100000" fill="hold" grpId="0" nodeType="withEffect">
                                  <p:stCondLst>
                                    <p:cond delay="50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50" fill="hold"/>
                                        <p:tgtEl>
                                          <p:spTgt spid="8"/>
                                        </p:tgtEl>
                                        <p:attrNameLst>
                                          <p:attrName>ppt_w</p:attrName>
                                        </p:attrNameLst>
                                      </p:cBhvr>
                                      <p:tavLst>
                                        <p:tav tm="0">
                                          <p:val>
                                            <p:strVal val="0"/>
                                          </p:val>
                                        </p:tav>
                                        <p:tav tm="70000">
                                          <p:val>
                                            <p:strVal val="#ppt_w*1.08"/>
                                          </p:val>
                                        </p:tav>
                                        <p:tav tm="100000">
                                          <p:val>
                                            <p:strVal val="#ppt_w"/>
                                          </p:val>
                                        </p:tav>
                                      </p:tavLst>
                                    </p:anim>
                                    <p:anim calcmode="lin" valueType="num">
                                      <p:cBhvr additive="base">
                                        <p:cTn id="21" dur="550" fill="hold"/>
                                        <p:tgtEl>
                                          <p:spTgt spid="8"/>
                                        </p:tgtEl>
                                        <p:attrNameLst>
                                          <p:attrName>ppt_h</p:attrName>
                                        </p:attrNameLst>
                                      </p:cBhvr>
                                      <p:tavLst>
                                        <p:tav tm="0">
                                          <p:val>
                                            <p:strVal val="0"/>
                                          </p:val>
                                        </p:tav>
                                        <p:tav tm="70000">
                                          <p:val>
                                            <p:strVal val="#ppt_h*1.08"/>
                                          </p:val>
                                        </p:tav>
                                        <p:tav tm="100000">
                                          <p:val>
                                            <p:strVal val="#ppt_h"/>
                                          </p:val>
                                        </p:tav>
                                      </p:tavLst>
                                    </p:anim>
                                    <p:animEffect transition="in" filter="fade">
                                      <p:cBhvr>
                                        <p:cTn id="22" dur="330" fill="hold"/>
                                        <p:tgtEl>
                                          <p:spTgt spid="8"/>
                                        </p:tgtEl>
                                      </p:cBhvr>
                                    </p:animEffect>
                                  </p:childTnLst>
                                </p:cTn>
                              </p:par>
                              <p:par>
                                <p:cTn id="23" presetID="10" presetClass="entr" presetSubtype="0" fill="hold" grpId="0" nodeType="withEffect">
                                  <p:stCondLst>
                                    <p:cond delay="75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fill="hold"/>
                                        <p:tgtEl>
                                          <p:spTgt spid="9"/>
                                        </p:tgtEl>
                                      </p:cBhvr>
                                    </p:animEffect>
                                  </p:childTnLst>
                                </p:cTn>
                              </p:par>
                              <p:par>
                                <p:cTn id="26" presetID="10" presetClass="entr" presetSubtype="0" fill="hold" grpId="0" nodeType="withEffect">
                                  <p:stCondLst>
                                    <p:cond delay="75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fill="hold"/>
                                        <p:tgtEl>
                                          <p:spTgt spid="10"/>
                                        </p:tgtEl>
                                      </p:cBhvr>
                                    </p:animEffect>
                                  </p:childTnLst>
                                </p:cTn>
                              </p:par>
                              <p:par>
                                <p:cTn id="29" presetID="10" presetClass="entr" presetSubtype="0" fill="hold" grpId="0" nodeType="withEffect">
                                  <p:stCondLst>
                                    <p:cond delay="75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fill="hold"/>
                                        <p:tgtEl>
                                          <p:spTgt spid="11"/>
                                        </p:tgtEl>
                                      </p:cBhvr>
                                    </p:animEffect>
                                  </p:childTnLst>
                                </p:cTn>
                              </p:par>
                              <p:par>
                                <p:cTn id="32" presetID="42" presetClass="entr" presetSubtype="0" decel="100000" fill="hold" grpId="0" nodeType="withEffect">
                                  <p:stCondLst>
                                    <p:cond delay="95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650" fill="hold"/>
                                        <p:tgtEl>
                                          <p:spTgt spid="12"/>
                                        </p:tgtEl>
                                      </p:cBhvr>
                                    </p:animEffect>
                                    <p:anim calcmode="lin" valueType="num">
                                      <p:cBhvr additive="base">
                                        <p:cTn id="35" dur="650" fill="hold"/>
                                        <p:tgtEl>
                                          <p:spTgt spid="12"/>
                                        </p:tgtEl>
                                        <p:attrNameLst>
                                          <p:attrName>ppt_x</p:attrName>
                                        </p:attrNameLst>
                                      </p:cBhvr>
                                      <p:tavLst>
                                        <p:tav tm="0">
                                          <p:val>
                                            <p:strVal val="#ppt_x"/>
                                          </p:val>
                                        </p:tav>
                                        <p:tav tm="100000">
                                          <p:val>
                                            <p:strVal val="#ppt_x"/>
                                          </p:val>
                                        </p:tav>
                                      </p:tavLst>
                                    </p:anim>
                                    <p:anim calcmode="lin" valueType="num">
                                      <p:cBhvr additive="base">
                                        <p:cTn id="36" dur="650" fill="hold"/>
                                        <p:tgtEl>
                                          <p:spTgt spid="12"/>
                                        </p:tgtEl>
                                        <p:attrNameLst>
                                          <p:attrName>ppt_y</p:attrName>
                                        </p:attrNameLst>
                                      </p:cBhvr>
                                      <p:tavLst>
                                        <p:tav tm="0">
                                          <p:val>
                                            <p:strVal val="#ppt_y+.06"/>
                                          </p:val>
                                        </p:tav>
                                        <p:tav tm="100000">
                                          <p:val>
                                            <p:strVal val="#ppt_y"/>
                                          </p:val>
                                        </p:tav>
                                      </p:tavLst>
                                    </p:anim>
                                  </p:childTnLst>
                                </p:cTn>
                              </p:par>
                              <p:par>
                                <p:cTn id="37" presetID="42" presetClass="entr" presetSubtype="0" decel="100000" fill="hold" grpId="0" nodeType="withEffect">
                                  <p:stCondLst>
                                    <p:cond delay="95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650" fill="hold"/>
                                        <p:tgtEl>
                                          <p:spTgt spid="13"/>
                                        </p:tgtEl>
                                      </p:cBhvr>
                                    </p:animEffect>
                                    <p:anim calcmode="lin" valueType="num">
                                      <p:cBhvr additive="base">
                                        <p:cTn id="40" dur="650" fill="hold"/>
                                        <p:tgtEl>
                                          <p:spTgt spid="13"/>
                                        </p:tgtEl>
                                        <p:attrNameLst>
                                          <p:attrName>ppt_x</p:attrName>
                                        </p:attrNameLst>
                                      </p:cBhvr>
                                      <p:tavLst>
                                        <p:tav tm="0">
                                          <p:val>
                                            <p:strVal val="#ppt_x"/>
                                          </p:val>
                                        </p:tav>
                                        <p:tav tm="100000">
                                          <p:val>
                                            <p:strVal val="#ppt_x"/>
                                          </p:val>
                                        </p:tav>
                                      </p:tavLst>
                                    </p:anim>
                                    <p:anim calcmode="lin" valueType="num">
                                      <p:cBhvr additive="base">
                                        <p:cTn id="41" dur="650" fill="hold"/>
                                        <p:tgtEl>
                                          <p:spTgt spid="13"/>
                                        </p:tgtEl>
                                        <p:attrNameLst>
                                          <p:attrName>ppt_y</p:attrName>
                                        </p:attrNameLst>
                                      </p:cBhvr>
                                      <p:tavLst>
                                        <p:tav tm="0">
                                          <p:val>
                                            <p:strVal val="#ppt_y+.06"/>
                                          </p:val>
                                        </p:tav>
                                        <p:tav tm="100000">
                                          <p:val>
                                            <p:strVal val="#ppt_y"/>
                                          </p:val>
                                        </p:tav>
                                      </p:tavLst>
                                    </p:anim>
                                  </p:childTnLst>
                                </p:cTn>
                              </p:par>
                              <p:par>
                                <p:cTn id="42" presetID="42" presetClass="entr" presetSubtype="0" decel="100000" fill="hold" grpId="0" nodeType="withEffect">
                                  <p:stCondLst>
                                    <p:cond delay="115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650" fill="hold"/>
                                        <p:tgtEl>
                                          <p:spTgt spid="14"/>
                                        </p:tgtEl>
                                      </p:cBhvr>
                                    </p:animEffect>
                                    <p:anim calcmode="lin" valueType="num">
                                      <p:cBhvr additive="base">
                                        <p:cTn id="45" dur="650" fill="hold"/>
                                        <p:tgtEl>
                                          <p:spTgt spid="14"/>
                                        </p:tgtEl>
                                        <p:attrNameLst>
                                          <p:attrName>ppt_x</p:attrName>
                                        </p:attrNameLst>
                                      </p:cBhvr>
                                      <p:tavLst>
                                        <p:tav tm="0">
                                          <p:val>
                                            <p:strVal val="#ppt_x"/>
                                          </p:val>
                                        </p:tav>
                                        <p:tav tm="100000">
                                          <p:val>
                                            <p:strVal val="#ppt_x"/>
                                          </p:val>
                                        </p:tav>
                                      </p:tavLst>
                                    </p:anim>
                                    <p:anim calcmode="lin" valueType="num">
                                      <p:cBhvr additive="base">
                                        <p:cTn id="46" dur="650" fill="hold"/>
                                        <p:tgtEl>
                                          <p:spTgt spid="14"/>
                                        </p:tgtEl>
                                        <p:attrNameLst>
                                          <p:attrName>ppt_y</p:attrName>
                                        </p:attrNameLst>
                                      </p:cBhvr>
                                      <p:tavLst>
                                        <p:tav tm="0">
                                          <p:val>
                                            <p:strVal val="#ppt_y+.06"/>
                                          </p:val>
                                        </p:tav>
                                        <p:tav tm="100000">
                                          <p:val>
                                            <p:strVal val="#ppt_y"/>
                                          </p:val>
                                        </p:tav>
                                      </p:tavLst>
                                    </p:anim>
                                  </p:childTnLst>
                                </p:cTn>
                              </p:par>
                              <p:par>
                                <p:cTn id="47" presetID="42" presetClass="entr" presetSubtype="0" decel="100000" fill="hold" grpId="0" nodeType="withEffect">
                                  <p:stCondLst>
                                    <p:cond delay="115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650" fill="hold"/>
                                        <p:tgtEl>
                                          <p:spTgt spid="15"/>
                                        </p:tgtEl>
                                      </p:cBhvr>
                                    </p:animEffect>
                                    <p:anim calcmode="lin" valueType="num">
                                      <p:cBhvr additive="base">
                                        <p:cTn id="50" dur="650" fill="hold"/>
                                        <p:tgtEl>
                                          <p:spTgt spid="15"/>
                                        </p:tgtEl>
                                        <p:attrNameLst>
                                          <p:attrName>ppt_x</p:attrName>
                                        </p:attrNameLst>
                                      </p:cBhvr>
                                      <p:tavLst>
                                        <p:tav tm="0">
                                          <p:val>
                                            <p:strVal val="#ppt_x"/>
                                          </p:val>
                                        </p:tav>
                                        <p:tav tm="100000">
                                          <p:val>
                                            <p:strVal val="#ppt_x"/>
                                          </p:val>
                                        </p:tav>
                                      </p:tavLst>
                                    </p:anim>
                                    <p:anim calcmode="lin" valueType="num">
                                      <p:cBhvr additive="base">
                                        <p:cTn id="51" dur="650" fill="hold"/>
                                        <p:tgtEl>
                                          <p:spTgt spid="15"/>
                                        </p:tgtEl>
                                        <p:attrNameLst>
                                          <p:attrName>ppt_y</p:attrName>
                                        </p:attrNameLst>
                                      </p:cBhvr>
                                      <p:tavLst>
                                        <p:tav tm="0">
                                          <p:val>
                                            <p:strVal val="#ppt_y+.06"/>
                                          </p:val>
                                        </p:tav>
                                        <p:tav tm="100000">
                                          <p:val>
                                            <p:strVal val="#ppt_y"/>
                                          </p:val>
                                        </p:tav>
                                      </p:tavLst>
                                    </p:anim>
                                  </p:childTnLst>
                                </p:cTn>
                              </p:par>
                              <p:par>
                                <p:cTn id="52" presetID="42" presetClass="entr" presetSubtype="0" decel="100000" fill="hold" grpId="0" nodeType="withEffect">
                                  <p:stCondLst>
                                    <p:cond delay="1350"/>
                                  </p:stCondLst>
                                  <p:childTnLst>
                                    <p:set>
                                      <p:cBhvr>
                                        <p:cTn id="53" dur="1" fill="hold">
                                          <p:stCondLst>
                                            <p:cond delay="0"/>
                                          </p:stCondLst>
                                        </p:cTn>
                                        <p:tgtEl>
                                          <p:spTgt spid="16"/>
                                        </p:tgtEl>
                                        <p:attrNameLst>
                                          <p:attrName>style.visibility</p:attrName>
                                        </p:attrNameLst>
                                      </p:cBhvr>
                                      <p:to>
                                        <p:strVal val="visible"/>
                                      </p:to>
                                    </p:set>
                                    <p:animEffect transition="in" filter="fade">
                                      <p:cBhvr>
                                        <p:cTn id="54" dur="650" fill="hold"/>
                                        <p:tgtEl>
                                          <p:spTgt spid="16"/>
                                        </p:tgtEl>
                                      </p:cBhvr>
                                    </p:animEffect>
                                    <p:anim calcmode="lin" valueType="num">
                                      <p:cBhvr additive="base">
                                        <p:cTn id="55" dur="650" fill="hold"/>
                                        <p:tgtEl>
                                          <p:spTgt spid="16"/>
                                        </p:tgtEl>
                                        <p:attrNameLst>
                                          <p:attrName>ppt_x</p:attrName>
                                        </p:attrNameLst>
                                      </p:cBhvr>
                                      <p:tavLst>
                                        <p:tav tm="0">
                                          <p:val>
                                            <p:strVal val="#ppt_x"/>
                                          </p:val>
                                        </p:tav>
                                        <p:tav tm="100000">
                                          <p:val>
                                            <p:strVal val="#ppt_x"/>
                                          </p:val>
                                        </p:tav>
                                      </p:tavLst>
                                    </p:anim>
                                    <p:anim calcmode="lin" valueType="num">
                                      <p:cBhvr additive="base">
                                        <p:cTn id="56" dur="650" fill="hold"/>
                                        <p:tgtEl>
                                          <p:spTgt spid="16"/>
                                        </p:tgtEl>
                                        <p:attrNameLst>
                                          <p:attrName>ppt_y</p:attrName>
                                        </p:attrNameLst>
                                      </p:cBhvr>
                                      <p:tavLst>
                                        <p:tav tm="0">
                                          <p:val>
                                            <p:strVal val="#ppt_y+.06"/>
                                          </p:val>
                                        </p:tav>
                                        <p:tav tm="100000">
                                          <p:val>
                                            <p:strVal val="#ppt_y"/>
                                          </p:val>
                                        </p:tav>
                                      </p:tavLst>
                                    </p:anim>
                                  </p:childTnLst>
                                </p:cTn>
                              </p:par>
                              <p:par>
                                <p:cTn id="57" presetID="42" presetClass="entr" presetSubtype="0" decel="100000" fill="hold" grpId="0" nodeType="withEffect">
                                  <p:stCondLst>
                                    <p:cond delay="1350"/>
                                  </p:stCondLst>
                                  <p:childTnLst>
                                    <p:set>
                                      <p:cBhvr>
                                        <p:cTn id="58" dur="1" fill="hold">
                                          <p:stCondLst>
                                            <p:cond delay="0"/>
                                          </p:stCondLst>
                                        </p:cTn>
                                        <p:tgtEl>
                                          <p:spTgt spid="17"/>
                                        </p:tgtEl>
                                        <p:attrNameLst>
                                          <p:attrName>style.visibility</p:attrName>
                                        </p:attrNameLst>
                                      </p:cBhvr>
                                      <p:to>
                                        <p:strVal val="visible"/>
                                      </p:to>
                                    </p:set>
                                    <p:animEffect transition="in" filter="fade">
                                      <p:cBhvr>
                                        <p:cTn id="59" dur="650" fill="hold"/>
                                        <p:tgtEl>
                                          <p:spTgt spid="17"/>
                                        </p:tgtEl>
                                      </p:cBhvr>
                                    </p:animEffect>
                                    <p:anim calcmode="lin" valueType="num">
                                      <p:cBhvr additive="base">
                                        <p:cTn id="60" dur="650" fill="hold"/>
                                        <p:tgtEl>
                                          <p:spTgt spid="17"/>
                                        </p:tgtEl>
                                        <p:attrNameLst>
                                          <p:attrName>ppt_x</p:attrName>
                                        </p:attrNameLst>
                                      </p:cBhvr>
                                      <p:tavLst>
                                        <p:tav tm="0">
                                          <p:val>
                                            <p:strVal val="#ppt_x"/>
                                          </p:val>
                                        </p:tav>
                                        <p:tav tm="100000">
                                          <p:val>
                                            <p:strVal val="#ppt_x"/>
                                          </p:val>
                                        </p:tav>
                                      </p:tavLst>
                                    </p:anim>
                                    <p:anim calcmode="lin" valueType="num">
                                      <p:cBhvr additive="base">
                                        <p:cTn id="61" dur="650" fill="hold"/>
                                        <p:tgtEl>
                                          <p:spTgt spid="17"/>
                                        </p:tgtEl>
                                        <p:attrNameLst>
                                          <p:attrName>ppt_y</p:attrName>
                                        </p:attrNameLst>
                                      </p:cBhvr>
                                      <p:tavLst>
                                        <p:tav tm="0">
                                          <p:val>
                                            <p:strVal val="#ppt_y+.06"/>
                                          </p:val>
                                        </p:tav>
                                        <p:tav tm="100000">
                                          <p:val>
                                            <p:strVal val="#ppt_y"/>
                                          </p:val>
                                        </p:tav>
                                      </p:tavLst>
                                    </p:anim>
                                  </p:childTnLst>
                                </p:cTn>
                              </p:par>
                              <p:par>
                                <p:cTn id="62" presetID="42" presetClass="entr" presetSubtype="0" decel="100000" fill="hold" grpId="0" nodeType="withEffect">
                                  <p:stCondLst>
                                    <p:cond delay="155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650" fill="hold"/>
                                        <p:tgtEl>
                                          <p:spTgt spid="18"/>
                                        </p:tgtEl>
                                      </p:cBhvr>
                                    </p:animEffect>
                                    <p:anim calcmode="lin" valueType="num">
                                      <p:cBhvr additive="base">
                                        <p:cTn id="65" dur="650" fill="hold"/>
                                        <p:tgtEl>
                                          <p:spTgt spid="18"/>
                                        </p:tgtEl>
                                        <p:attrNameLst>
                                          <p:attrName>ppt_x</p:attrName>
                                        </p:attrNameLst>
                                      </p:cBhvr>
                                      <p:tavLst>
                                        <p:tav tm="0">
                                          <p:val>
                                            <p:strVal val="#ppt_x"/>
                                          </p:val>
                                        </p:tav>
                                        <p:tav tm="100000">
                                          <p:val>
                                            <p:strVal val="#ppt_x"/>
                                          </p:val>
                                        </p:tav>
                                      </p:tavLst>
                                    </p:anim>
                                    <p:anim calcmode="lin" valueType="num">
                                      <p:cBhvr additive="base">
                                        <p:cTn id="66" dur="650" fill="hold"/>
                                        <p:tgtEl>
                                          <p:spTgt spid="18"/>
                                        </p:tgtEl>
                                        <p:attrNameLst>
                                          <p:attrName>ppt_y</p:attrName>
                                        </p:attrNameLst>
                                      </p:cBhvr>
                                      <p:tavLst>
                                        <p:tav tm="0">
                                          <p:val>
                                            <p:strVal val="#ppt_y+.06"/>
                                          </p:val>
                                        </p:tav>
                                        <p:tav tm="100000">
                                          <p:val>
                                            <p:strVal val="#ppt_y"/>
                                          </p:val>
                                        </p:tav>
                                      </p:tavLst>
                                    </p:anim>
                                  </p:childTnLst>
                                </p:cTn>
                              </p:par>
                              <p:par>
                                <p:cTn id="67" presetID="42" presetClass="entr" presetSubtype="0" decel="100000" fill="hold" grpId="0" nodeType="withEffect">
                                  <p:stCondLst>
                                    <p:cond delay="1550"/>
                                  </p:stCondLst>
                                  <p:childTnLst>
                                    <p:set>
                                      <p:cBhvr>
                                        <p:cTn id="68" dur="1" fill="hold">
                                          <p:stCondLst>
                                            <p:cond delay="0"/>
                                          </p:stCondLst>
                                        </p:cTn>
                                        <p:tgtEl>
                                          <p:spTgt spid="19"/>
                                        </p:tgtEl>
                                        <p:attrNameLst>
                                          <p:attrName>style.visibility</p:attrName>
                                        </p:attrNameLst>
                                      </p:cBhvr>
                                      <p:to>
                                        <p:strVal val="visible"/>
                                      </p:to>
                                    </p:set>
                                    <p:animEffect transition="in" filter="fade">
                                      <p:cBhvr>
                                        <p:cTn id="69" dur="650" fill="hold"/>
                                        <p:tgtEl>
                                          <p:spTgt spid="19"/>
                                        </p:tgtEl>
                                      </p:cBhvr>
                                    </p:animEffect>
                                    <p:anim calcmode="lin" valueType="num">
                                      <p:cBhvr additive="base">
                                        <p:cTn id="70" dur="650" fill="hold"/>
                                        <p:tgtEl>
                                          <p:spTgt spid="19"/>
                                        </p:tgtEl>
                                        <p:attrNameLst>
                                          <p:attrName>ppt_x</p:attrName>
                                        </p:attrNameLst>
                                      </p:cBhvr>
                                      <p:tavLst>
                                        <p:tav tm="0">
                                          <p:val>
                                            <p:strVal val="#ppt_x"/>
                                          </p:val>
                                        </p:tav>
                                        <p:tav tm="100000">
                                          <p:val>
                                            <p:strVal val="#ppt_x"/>
                                          </p:val>
                                        </p:tav>
                                      </p:tavLst>
                                    </p:anim>
                                    <p:anim calcmode="lin" valueType="num">
                                      <p:cBhvr additive="base">
                                        <p:cTn id="71" dur="650" fill="hold"/>
                                        <p:tgtEl>
                                          <p:spTgt spid="19"/>
                                        </p:tgtEl>
                                        <p:attrNameLst>
                                          <p:attrName>ppt_y</p:attrName>
                                        </p:attrNameLst>
                                      </p:cBhvr>
                                      <p:tavLst>
                                        <p:tav tm="0">
                                          <p:val>
                                            <p:strVal val="#ppt_y+.06"/>
                                          </p:val>
                                        </p:tav>
                                        <p:tav tm="100000">
                                          <p:val>
                                            <p:strVal val="#ppt_y"/>
                                          </p:val>
                                        </p:tav>
                                      </p:tavLst>
                                    </p:anim>
                                  </p:childTnLst>
                                </p:cTn>
                              </p:par>
                              <p:par>
                                <p:cTn id="72" presetID="42" presetClass="entr" presetSubtype="0" decel="100000" fill="hold" grpId="0" nodeType="withEffect">
                                  <p:stCondLst>
                                    <p:cond delay="175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650" fill="hold"/>
                                        <p:tgtEl>
                                          <p:spTgt spid="20"/>
                                        </p:tgtEl>
                                      </p:cBhvr>
                                    </p:animEffect>
                                    <p:anim calcmode="lin" valueType="num">
                                      <p:cBhvr additive="base">
                                        <p:cTn id="75" dur="650" fill="hold"/>
                                        <p:tgtEl>
                                          <p:spTgt spid="20"/>
                                        </p:tgtEl>
                                        <p:attrNameLst>
                                          <p:attrName>ppt_x</p:attrName>
                                        </p:attrNameLst>
                                      </p:cBhvr>
                                      <p:tavLst>
                                        <p:tav tm="0">
                                          <p:val>
                                            <p:strVal val="#ppt_x"/>
                                          </p:val>
                                        </p:tav>
                                        <p:tav tm="100000">
                                          <p:val>
                                            <p:strVal val="#ppt_x"/>
                                          </p:val>
                                        </p:tav>
                                      </p:tavLst>
                                    </p:anim>
                                    <p:anim calcmode="lin" valueType="num">
                                      <p:cBhvr additive="base">
                                        <p:cTn id="76" dur="650" fill="hold"/>
                                        <p:tgtEl>
                                          <p:spTgt spid="20"/>
                                        </p:tgtEl>
                                        <p:attrNameLst>
                                          <p:attrName>ppt_y</p:attrName>
                                        </p:attrNameLst>
                                      </p:cBhvr>
                                      <p:tavLst>
                                        <p:tav tm="0">
                                          <p:val>
                                            <p:strVal val="#ppt_y+.06"/>
                                          </p:val>
                                        </p:tav>
                                        <p:tav tm="100000">
                                          <p:val>
                                            <p:strVal val="#ppt_y"/>
                                          </p:val>
                                        </p:tav>
                                      </p:tavLst>
                                    </p:anim>
                                  </p:childTnLst>
                                </p:cTn>
                              </p:par>
                              <p:par>
                                <p:cTn id="77" presetID="42" presetClass="entr" presetSubtype="0" decel="100000" fill="hold" grpId="0" nodeType="withEffect">
                                  <p:stCondLst>
                                    <p:cond delay="1750"/>
                                  </p:stCondLst>
                                  <p:childTnLst>
                                    <p:set>
                                      <p:cBhvr>
                                        <p:cTn id="78" dur="1" fill="hold">
                                          <p:stCondLst>
                                            <p:cond delay="0"/>
                                          </p:stCondLst>
                                        </p:cTn>
                                        <p:tgtEl>
                                          <p:spTgt spid="21"/>
                                        </p:tgtEl>
                                        <p:attrNameLst>
                                          <p:attrName>style.visibility</p:attrName>
                                        </p:attrNameLst>
                                      </p:cBhvr>
                                      <p:to>
                                        <p:strVal val="visible"/>
                                      </p:to>
                                    </p:set>
                                    <p:animEffect transition="in" filter="fade">
                                      <p:cBhvr>
                                        <p:cTn id="79" dur="650" fill="hold"/>
                                        <p:tgtEl>
                                          <p:spTgt spid="21"/>
                                        </p:tgtEl>
                                      </p:cBhvr>
                                    </p:animEffect>
                                    <p:anim calcmode="lin" valueType="num">
                                      <p:cBhvr additive="base">
                                        <p:cTn id="80" dur="650" fill="hold"/>
                                        <p:tgtEl>
                                          <p:spTgt spid="21"/>
                                        </p:tgtEl>
                                        <p:attrNameLst>
                                          <p:attrName>ppt_x</p:attrName>
                                        </p:attrNameLst>
                                      </p:cBhvr>
                                      <p:tavLst>
                                        <p:tav tm="0">
                                          <p:val>
                                            <p:strVal val="#ppt_x"/>
                                          </p:val>
                                        </p:tav>
                                        <p:tav tm="100000">
                                          <p:val>
                                            <p:strVal val="#ppt_x"/>
                                          </p:val>
                                        </p:tav>
                                      </p:tavLst>
                                    </p:anim>
                                    <p:anim calcmode="lin" valueType="num">
                                      <p:cBhvr additive="base">
                                        <p:cTn id="81" dur="650" fill="hold"/>
                                        <p:tgtEl>
                                          <p:spTgt spid="21"/>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411480" y="868680"/>
            <a:ext cx="4572000" cy="1828800"/>
          </a:xfrm>
          <a:prstGeom prst="rect">
            <a:avLst/>
          </a:prstGeom>
          <a:noFill/>
        </p:spPr>
        <p:txBody>
          <a:bodyPr wrap="square" lIns="36576" tIns="18288" rIns="36576" bIns="18288" anchor="t">
            <a:spAutoFit/>
          </a:bodyPr>
          <a:lstStyle/>
          <a:p>
            <a:pPr algn="l"/>
            <a:r>
              <a:rPr sz="12000" b="1" i="0">
                <a:solidFill>
                  <a:srgbClr val="2A9FC0"/>
                </a:solidFill>
                <a:latin typeface="Segoe UI Semibold"/>
              </a:rPr>
              <a:t>05</a:t>
            </a:r>
          </a:p>
        </p:txBody>
      </p:sp>
      <p:sp>
        <p:nvSpPr>
          <p:cNvPr id="3" name="TextBox 2"/>
          <p:cNvSpPr txBox="1"/>
          <p:nvPr/>
        </p:nvSpPr>
        <p:spPr>
          <a:xfrm>
            <a:off x="548640" y="502920"/>
            <a:ext cx="4572000" cy="365760"/>
          </a:xfrm>
          <a:prstGeom prst="rect">
            <a:avLst/>
          </a:prstGeom>
          <a:noFill/>
        </p:spPr>
        <p:txBody>
          <a:bodyPr wrap="square" lIns="36576" tIns="18288" rIns="36576" bIns="18288" anchor="t">
            <a:spAutoFit/>
          </a:bodyPr>
          <a:lstStyle/>
          <a:p>
            <a:pPr algn="l"/>
            <a:r>
              <a:rPr sz="1200" b="1" i="0" spc="250">
                <a:solidFill>
                  <a:srgbClr val="2A9FC0"/>
                </a:solidFill>
                <a:latin typeface="Segoe UI Semibold"/>
              </a:rPr>
              <a:t>ENCONTRO 3  ·  MÓDULO 5</a:t>
            </a:r>
          </a:p>
        </p:txBody>
      </p:sp>
      <p:sp>
        <p:nvSpPr>
          <p:cNvPr id="4" name="TextBox 3"/>
          <p:cNvSpPr txBox="1"/>
          <p:nvPr/>
        </p:nvSpPr>
        <p:spPr>
          <a:xfrm>
            <a:off x="548640" y="2331720"/>
            <a:ext cx="6766560" cy="1280160"/>
          </a:xfrm>
          <a:prstGeom prst="rect">
            <a:avLst/>
          </a:prstGeom>
          <a:noFill/>
        </p:spPr>
        <p:txBody>
          <a:bodyPr wrap="square" lIns="36576" tIns="18288" rIns="36576" bIns="18288" anchor="b">
            <a:spAutoFit/>
          </a:bodyPr>
          <a:lstStyle/>
          <a:p>
            <a:pPr algn="l">
              <a:lnSpc>
                <a:spcPct val="95000"/>
              </a:lnSpc>
            </a:pPr>
            <a:r>
              <a:rPr sz="3800" b="1" i="0">
                <a:solidFill>
                  <a:srgbClr val="F2F2EC"/>
                </a:solidFill>
                <a:latin typeface="Segoe UI Semibold"/>
              </a:rPr>
              <a:t>Prototipar e testar</a:t>
            </a:r>
          </a:p>
        </p:txBody>
      </p:sp>
      <p:sp>
        <p:nvSpPr>
          <p:cNvPr id="5" name="TextBox 4"/>
          <p:cNvSpPr txBox="1"/>
          <p:nvPr/>
        </p:nvSpPr>
        <p:spPr>
          <a:xfrm>
            <a:off x="548640" y="3675887"/>
            <a:ext cx="6766560" cy="457200"/>
          </a:xfrm>
          <a:prstGeom prst="rect">
            <a:avLst/>
          </a:prstGeom>
          <a:noFill/>
        </p:spPr>
        <p:txBody>
          <a:bodyPr wrap="square" lIns="36576" tIns="18288" rIns="36576" bIns="18288" anchor="t">
            <a:spAutoFit/>
          </a:bodyPr>
          <a:lstStyle/>
          <a:p>
            <a:pPr algn="l"/>
            <a:r>
              <a:rPr sz="1800" b="0" i="0">
                <a:solidFill>
                  <a:srgbClr val="B4B8B0"/>
                </a:solidFill>
                <a:latin typeface="Segoe UI"/>
              </a:rPr>
              <a:t>Validar com pessoas</a:t>
            </a:r>
          </a:p>
        </p:txBody>
      </p:sp>
      <p:sp>
        <p:nvSpPr>
          <p:cNvPr id="6" name="Rounded Rectangle 5"/>
          <p:cNvSpPr/>
          <p:nvPr/>
        </p:nvSpPr>
        <p:spPr>
          <a:xfrm>
            <a:off x="7589520" y="2103120"/>
            <a:ext cx="4069080" cy="342900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863840" y="2286000"/>
            <a:ext cx="3657600" cy="365760"/>
          </a:xfrm>
          <a:prstGeom prst="rect">
            <a:avLst/>
          </a:prstGeom>
          <a:noFill/>
        </p:spPr>
        <p:txBody>
          <a:bodyPr wrap="square" lIns="36576" tIns="18288" rIns="36576" bIns="18288" anchor="t">
            <a:spAutoFit/>
          </a:bodyPr>
          <a:lstStyle/>
          <a:p>
            <a:pPr algn="l"/>
            <a:r>
              <a:rPr sz="1100" b="1" i="0" spc="200">
                <a:solidFill>
                  <a:srgbClr val="2A9FC0"/>
                </a:solidFill>
                <a:latin typeface="Segoe UI Semibold"/>
              </a:rPr>
              <a:t>OBJETIVOS</a:t>
            </a:r>
          </a:p>
        </p:txBody>
      </p:sp>
      <p:sp>
        <p:nvSpPr>
          <p:cNvPr id="8" name="TextBox 7"/>
          <p:cNvSpPr txBox="1"/>
          <p:nvPr/>
        </p:nvSpPr>
        <p:spPr>
          <a:xfrm>
            <a:off x="7863840" y="2651760"/>
            <a:ext cx="3611880" cy="2834640"/>
          </a:xfrm>
          <a:prstGeom prst="rect">
            <a:avLst/>
          </a:prstGeom>
          <a:noFill/>
        </p:spPr>
        <p:txBody>
          <a:bodyPr wrap="square">
            <a:spAutoFit/>
          </a:bodyPr>
          <a:lstStyle/>
          <a:p>
            <a:pPr marL="292608" indent="-292608">
              <a:spcAft>
                <a:spcPts val="800"/>
              </a:spcAft>
              <a:buClr>
                <a:srgbClr val="2A9FC0"/>
              </a:buClr>
              <a:buFont typeface="Arial"/>
              <a:buChar char="●"/>
            </a:pPr>
            <a:r>
              <a:rPr sz="1350">
                <a:solidFill>
                  <a:srgbClr val="F2F2EC"/>
                </a:solidFill>
                <a:latin typeface="Segoe UI"/>
              </a:rPr>
              <a:t>Entender por que prototipar e testar reduz riscos</a:t>
            </a:r>
          </a:p>
          <a:p>
            <a:pPr marL="292608" indent="-292608">
              <a:spcAft>
                <a:spcPts val="800"/>
              </a:spcAft>
              <a:buClr>
                <a:srgbClr val="2A9FC0"/>
              </a:buClr>
              <a:buFont typeface="Arial"/>
              <a:buChar char="●"/>
            </a:pPr>
            <a:r>
              <a:rPr sz="1350">
                <a:solidFill>
                  <a:srgbClr val="F2F2EC"/>
                </a:solidFill>
                <a:latin typeface="Segoe UI"/>
              </a:rPr>
              <a:t>Escolher entre protótipos de baixa e alta fidelidade</a:t>
            </a:r>
          </a:p>
          <a:p>
            <a:pPr marL="292608" indent="-292608">
              <a:spcAft>
                <a:spcPts val="800"/>
              </a:spcAft>
              <a:buClr>
                <a:srgbClr val="2A9FC0"/>
              </a:buClr>
              <a:buFont typeface="Arial"/>
              <a:buChar char="●"/>
            </a:pPr>
            <a:r>
              <a:rPr sz="1350">
                <a:solidFill>
                  <a:srgbClr val="F2F2EC"/>
                </a:solidFill>
                <a:latin typeface="Segoe UI"/>
              </a:rPr>
              <a:t>Planejar e conduzir um teste com usuários</a:t>
            </a:r>
          </a:p>
          <a:p>
            <a:pPr marL="292608" indent="-292608">
              <a:buClr>
                <a:srgbClr val="2A9FC0"/>
              </a:buClr>
              <a:buFont typeface="Arial"/>
              <a:buChar char="●"/>
            </a:pPr>
            <a:r>
              <a:rPr sz="1350">
                <a:solidFill>
                  <a:srgbClr val="F2F2EC"/>
                </a:solidFill>
                <a:latin typeface="Segoe UI"/>
              </a:rPr>
              <a:t>Decidir o que fazer com os resultados e como medir</a:t>
            </a:r>
          </a:p>
        </p:txBody>
      </p:sp>
      <p:sp>
        <p:nvSpPr>
          <p:cNvPr id="9" name="Rounded Rectangle 8"/>
          <p:cNvSpPr/>
          <p:nvPr/>
        </p:nvSpPr>
        <p:spPr>
          <a:xfrm>
            <a:off x="548640" y="4983480"/>
            <a:ext cx="1221638" cy="310896"/>
          </a:xfrm>
          <a:prstGeom prst="roundRect">
            <a:avLst>
              <a:gd name="adj" fmla="val 50000"/>
            </a:avLst>
          </a:prstGeom>
          <a:solidFill>
            <a:srgbClr val="242826"/>
          </a:solidFill>
          <a:ln w="12700">
            <a:solidFill>
              <a:srgbClr val="3A413D"/>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000" b="0" i="0">
                <a:solidFill>
                  <a:srgbClr val="B4B8B0"/>
                </a:solidFill>
                <a:latin typeface="Segoe UI"/>
              </a:rPr>
              <a:t>Empatizar</a:t>
            </a:r>
          </a:p>
        </p:txBody>
      </p:sp>
      <p:sp>
        <p:nvSpPr>
          <p:cNvPr id="10" name="Rounded Rectangle 9"/>
          <p:cNvSpPr/>
          <p:nvPr/>
        </p:nvSpPr>
        <p:spPr>
          <a:xfrm>
            <a:off x="1843430" y="4983480"/>
            <a:ext cx="1221638" cy="310896"/>
          </a:xfrm>
          <a:prstGeom prst="roundRect">
            <a:avLst>
              <a:gd name="adj" fmla="val 50000"/>
            </a:avLst>
          </a:prstGeom>
          <a:solidFill>
            <a:srgbClr val="242826"/>
          </a:solidFill>
          <a:ln w="12700">
            <a:solidFill>
              <a:srgbClr val="3A413D"/>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000" b="0" i="0">
                <a:solidFill>
                  <a:srgbClr val="B4B8B0"/>
                </a:solidFill>
                <a:latin typeface="Segoe UI"/>
              </a:rPr>
              <a:t>Definir</a:t>
            </a:r>
          </a:p>
        </p:txBody>
      </p:sp>
      <p:sp>
        <p:nvSpPr>
          <p:cNvPr id="11" name="Rounded Rectangle 10"/>
          <p:cNvSpPr/>
          <p:nvPr/>
        </p:nvSpPr>
        <p:spPr>
          <a:xfrm>
            <a:off x="3138220" y="4983480"/>
            <a:ext cx="1221638" cy="310896"/>
          </a:xfrm>
          <a:prstGeom prst="roundRect">
            <a:avLst>
              <a:gd name="adj" fmla="val 50000"/>
            </a:avLst>
          </a:prstGeom>
          <a:solidFill>
            <a:srgbClr val="242826"/>
          </a:solidFill>
          <a:ln w="12700">
            <a:solidFill>
              <a:srgbClr val="3A413D"/>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000" b="0" i="0">
                <a:solidFill>
                  <a:srgbClr val="B4B8B0"/>
                </a:solidFill>
                <a:latin typeface="Segoe UI"/>
              </a:rPr>
              <a:t>Idear</a:t>
            </a:r>
          </a:p>
        </p:txBody>
      </p:sp>
      <p:sp>
        <p:nvSpPr>
          <p:cNvPr id="12" name="Rounded Rectangle 11"/>
          <p:cNvSpPr/>
          <p:nvPr/>
        </p:nvSpPr>
        <p:spPr>
          <a:xfrm>
            <a:off x="4433011" y="4983480"/>
            <a:ext cx="1221638" cy="310896"/>
          </a:xfrm>
          <a:prstGeom prst="roundRect">
            <a:avLst>
              <a:gd name="adj" fmla="val 50000"/>
            </a:avLst>
          </a:prstGeom>
          <a:solidFill>
            <a:srgbClr val="2A9FC0"/>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000" b="1" i="0">
                <a:solidFill>
                  <a:srgbClr val="1A1A1A"/>
                </a:solidFill>
                <a:latin typeface="Segoe UI Semibold"/>
              </a:rPr>
              <a:t>Prototipar</a:t>
            </a:r>
          </a:p>
        </p:txBody>
      </p:sp>
      <p:sp>
        <p:nvSpPr>
          <p:cNvPr id="13" name="Rounded Rectangle 12"/>
          <p:cNvSpPr/>
          <p:nvPr/>
        </p:nvSpPr>
        <p:spPr>
          <a:xfrm>
            <a:off x="5727801" y="4983480"/>
            <a:ext cx="1221638" cy="310896"/>
          </a:xfrm>
          <a:prstGeom prst="roundRect">
            <a:avLst>
              <a:gd name="adj" fmla="val 50000"/>
            </a:avLst>
          </a:prstGeom>
          <a:solidFill>
            <a:srgbClr val="242826"/>
          </a:solidFill>
          <a:ln w="12700">
            <a:solidFill>
              <a:srgbClr val="3A413D"/>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000" b="0" i="0">
                <a:solidFill>
                  <a:srgbClr val="B4B8B0"/>
                </a:solidFill>
                <a:latin typeface="Segoe UI"/>
              </a:rPr>
              <a:t>Testar</a:t>
            </a:r>
          </a:p>
        </p:txBody>
      </p:sp>
      <p:sp>
        <p:nvSpPr>
          <p:cNvPr id="14" name="Rounded Rectangle 13">
            <a:hlinkClick r:id="rId3" action="ppaction://hlinksldjump"/>
          </p:cNvPr>
          <p:cNvSpPr/>
          <p:nvPr/>
        </p:nvSpPr>
        <p:spPr>
          <a:xfrm>
            <a:off x="548640" y="4297680"/>
            <a:ext cx="3017520" cy="502920"/>
          </a:xfrm>
          <a:prstGeom prst="roundRect">
            <a:avLst>
              <a:gd name="adj" fmla="val 50000"/>
            </a:avLst>
          </a:prstGeom>
          <a:solidFill>
            <a:srgbClr val="2A9FC0"/>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400" b="1" i="0">
                <a:solidFill>
                  <a:srgbClr val="1A1A1A"/>
                </a:solidFill>
                <a:latin typeface="Segoe UI Semibold"/>
              </a:rPr>
              <a:t>▶  Assistir vídeo do módulo</a:t>
            </a:r>
          </a:p>
        </p:txBody>
      </p:sp>
      <p:cxnSp>
        <p:nvCxnSpPr>
          <p:cNvPr id="15" name="Connector 14"/>
          <p:cNvCxnSpPr/>
          <p:nvPr/>
        </p:nvCxnSpPr>
        <p:spPr>
          <a:xfrm>
            <a:off x="9418320" y="640080"/>
            <a:ext cx="1609344" cy="0"/>
          </a:xfrm>
          <a:prstGeom prst="line">
            <a:avLst/>
          </a:prstGeom>
          <a:ln w="30734">
            <a:solidFill>
              <a:srgbClr val="2A9FC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418320" y="1092708"/>
            <a:ext cx="1106424" cy="0"/>
          </a:xfrm>
          <a:prstGeom prst="line">
            <a:avLst/>
          </a:prstGeom>
          <a:ln w="30734">
            <a:solidFill>
              <a:srgbClr val="2A9FC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524744" y="1092708"/>
            <a:ext cx="352044" cy="352044"/>
          </a:xfrm>
          <a:prstGeom prst="line">
            <a:avLst/>
          </a:prstGeom>
          <a:ln w="30734">
            <a:solidFill>
              <a:srgbClr val="2A9FC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876788" y="1444752"/>
            <a:ext cx="854964" cy="0"/>
          </a:xfrm>
          <a:prstGeom prst="line">
            <a:avLst/>
          </a:prstGeom>
          <a:ln w="30734">
            <a:solidFill>
              <a:srgbClr val="2A9FC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9418320" y="1545336"/>
            <a:ext cx="603504" cy="0"/>
          </a:xfrm>
          <a:prstGeom prst="line">
            <a:avLst/>
          </a:prstGeom>
          <a:ln w="30734">
            <a:solidFill>
              <a:srgbClr val="2A9FC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021824" y="1545336"/>
            <a:ext cx="301752" cy="352044"/>
          </a:xfrm>
          <a:prstGeom prst="line">
            <a:avLst/>
          </a:prstGeom>
          <a:ln w="30734">
            <a:solidFill>
              <a:srgbClr val="2A9FC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0323576" y="1897380"/>
            <a:ext cx="1005840" cy="0"/>
          </a:xfrm>
          <a:prstGeom prst="line">
            <a:avLst/>
          </a:prstGeom>
          <a:ln w="30734">
            <a:solidFill>
              <a:srgbClr val="2A9FC0"/>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11027664" y="529437"/>
            <a:ext cx="221284" cy="221284"/>
          </a:xfrm>
          <a:prstGeom prst="ellipse">
            <a:avLst/>
          </a:prstGeom>
          <a:solidFill>
            <a:srgbClr val="1A1A1A"/>
          </a:solidFill>
          <a:ln w="30734">
            <a:solidFill>
              <a:srgbClr val="2A9FC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11731752" y="1334109"/>
            <a:ext cx="221284" cy="221284"/>
          </a:xfrm>
          <a:prstGeom prst="ellipse">
            <a:avLst/>
          </a:prstGeom>
          <a:solidFill>
            <a:srgbClr val="1A1A1A"/>
          </a:solidFill>
          <a:ln w="30734">
            <a:solidFill>
              <a:srgbClr val="2A9FC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11329416" y="1786737"/>
            <a:ext cx="221284" cy="221284"/>
          </a:xfrm>
          <a:prstGeom prst="ellipse">
            <a:avLst/>
          </a:prstGeom>
          <a:solidFill>
            <a:srgbClr val="1A1A1A"/>
          </a:solidFill>
          <a:ln w="30734">
            <a:solidFill>
              <a:srgbClr val="2A9FC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700" fill="hold"/>
                                        <p:tgtEl>
                                          <p:spTgt spid="2"/>
                                        </p:tgtEl>
                                        <p:attrNameLst>
                                          <p:attrName>ppt_w</p:attrName>
                                        </p:attrNameLst>
                                      </p:cBhvr>
                                      <p:tavLst>
                                        <p:tav tm="0">
                                          <p:val>
                                            <p:strVal val="0"/>
                                          </p:val>
                                        </p:tav>
                                        <p:tav tm="70000">
                                          <p:val>
                                            <p:strVal val="#ppt_w*1.08"/>
                                          </p:val>
                                        </p:tav>
                                        <p:tav tm="100000">
                                          <p:val>
                                            <p:strVal val="#ppt_w"/>
                                          </p:val>
                                        </p:tav>
                                      </p:tavLst>
                                    </p:anim>
                                    <p:anim calcmode="lin" valueType="num">
                                      <p:cBhvr additive="base">
                                        <p:cTn id="8" dur="700" fill="hold"/>
                                        <p:tgtEl>
                                          <p:spTgt spid="2"/>
                                        </p:tgtEl>
                                        <p:attrNameLst>
                                          <p:attrName>ppt_h</p:attrName>
                                        </p:attrNameLst>
                                      </p:cBhvr>
                                      <p:tavLst>
                                        <p:tav tm="0">
                                          <p:val>
                                            <p:strVal val="0"/>
                                          </p:val>
                                        </p:tav>
                                        <p:tav tm="70000">
                                          <p:val>
                                            <p:strVal val="#ppt_h*1.08"/>
                                          </p:val>
                                        </p:tav>
                                        <p:tav tm="100000">
                                          <p:val>
                                            <p:strVal val="#ppt_h"/>
                                          </p:val>
                                        </p:tav>
                                      </p:tavLst>
                                    </p:anim>
                                    <p:animEffect transition="in" filter="fade">
                                      <p:cBhvr>
                                        <p:cTn id="9" dur="420" fill="hold"/>
                                        <p:tgtEl>
                                          <p:spTgt spid="2"/>
                                        </p:tgtEl>
                                      </p:cBhvr>
                                    </p:animEffect>
                                  </p:childTnLst>
                                </p:cTn>
                              </p:par>
                              <p:par>
                                <p:cTn id="10" presetID="10" presetClass="entr" presetSubtype="0" fill="hold" grpId="0" nodeType="withEffect">
                                  <p:stCondLst>
                                    <p:cond delay="30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fill="hold"/>
                                        <p:tgtEl>
                                          <p:spTgt spid="3"/>
                                        </p:tgtEl>
                                      </p:cBhvr>
                                    </p:animEffect>
                                  </p:childTnLst>
                                </p:cTn>
                              </p:par>
                              <p:par>
                                <p:cTn id="13" presetID="42" presetClass="entr" presetSubtype="0" decel="100000" fill="hold" grpId="0" nodeType="withEffect">
                                  <p:stCondLst>
                                    <p:cond delay="45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650" fill="hold"/>
                                        <p:tgtEl>
                                          <p:spTgt spid="4"/>
                                        </p:tgtEl>
                                      </p:cBhvr>
                                    </p:animEffect>
                                    <p:anim calcmode="lin" valueType="num">
                                      <p:cBhvr additive="base">
                                        <p:cTn id="16" dur="650" fill="hold"/>
                                        <p:tgtEl>
                                          <p:spTgt spid="4"/>
                                        </p:tgtEl>
                                        <p:attrNameLst>
                                          <p:attrName>ppt_x</p:attrName>
                                        </p:attrNameLst>
                                      </p:cBhvr>
                                      <p:tavLst>
                                        <p:tav tm="0">
                                          <p:val>
                                            <p:strVal val="#ppt_x"/>
                                          </p:val>
                                        </p:tav>
                                        <p:tav tm="100000">
                                          <p:val>
                                            <p:strVal val="#ppt_x"/>
                                          </p:val>
                                        </p:tav>
                                      </p:tavLst>
                                    </p:anim>
                                    <p:anim calcmode="lin" valueType="num">
                                      <p:cBhvr additive="base">
                                        <p:cTn id="17" dur="650" fill="hold"/>
                                        <p:tgtEl>
                                          <p:spTgt spid="4"/>
                                        </p:tgtEl>
                                        <p:attrNameLst>
                                          <p:attrName>ppt_y</p:attrName>
                                        </p:attrNameLst>
                                      </p:cBhvr>
                                      <p:tavLst>
                                        <p:tav tm="0">
                                          <p:val>
                                            <p:strVal val="#ppt_y+.06"/>
                                          </p:val>
                                        </p:tav>
                                        <p:tav tm="100000">
                                          <p:val>
                                            <p:strVal val="#ppt_y"/>
                                          </p:val>
                                        </p:tav>
                                      </p:tavLst>
                                    </p:anim>
                                  </p:childTnLst>
                                </p:cTn>
                              </p:par>
                              <p:par>
                                <p:cTn id="18" presetID="42" presetClass="entr" presetSubtype="0" decel="100000" fill="hold" grpId="0" nodeType="withEffect">
                                  <p:stCondLst>
                                    <p:cond delay="65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650" fill="hold"/>
                                        <p:tgtEl>
                                          <p:spTgt spid="5"/>
                                        </p:tgtEl>
                                      </p:cBhvr>
                                    </p:animEffect>
                                    <p:anim calcmode="lin" valueType="num">
                                      <p:cBhvr additive="base">
                                        <p:cTn id="21" dur="650" fill="hold"/>
                                        <p:tgtEl>
                                          <p:spTgt spid="5"/>
                                        </p:tgtEl>
                                        <p:attrNameLst>
                                          <p:attrName>ppt_x</p:attrName>
                                        </p:attrNameLst>
                                      </p:cBhvr>
                                      <p:tavLst>
                                        <p:tav tm="0">
                                          <p:val>
                                            <p:strVal val="#ppt_x"/>
                                          </p:val>
                                        </p:tav>
                                        <p:tav tm="100000">
                                          <p:val>
                                            <p:strVal val="#ppt_x"/>
                                          </p:val>
                                        </p:tav>
                                      </p:tavLst>
                                    </p:anim>
                                    <p:anim calcmode="lin" valueType="num">
                                      <p:cBhvr additive="base">
                                        <p:cTn id="22" dur="650" fill="hold"/>
                                        <p:tgtEl>
                                          <p:spTgt spid="5"/>
                                        </p:tgtEl>
                                        <p:attrNameLst>
                                          <p:attrName>ppt_y</p:attrName>
                                        </p:attrNameLst>
                                      </p:cBhvr>
                                      <p:tavLst>
                                        <p:tav tm="0">
                                          <p:val>
                                            <p:strVal val="#ppt_y+.06"/>
                                          </p:val>
                                        </p:tav>
                                        <p:tav tm="100000">
                                          <p:val>
                                            <p:strVal val="#ppt_y"/>
                                          </p:val>
                                        </p:tav>
                                      </p:tavLst>
                                    </p:anim>
                                  </p:childTnLst>
                                </p:cTn>
                              </p:par>
                              <p:par>
                                <p:cTn id="23" presetID="42" presetClass="entr" presetSubtype="0" decel="100000" fill="hold" grpId="0" nodeType="withEffect">
                                  <p:stCondLst>
                                    <p:cond delay="95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650" fill="hold"/>
                                        <p:tgtEl>
                                          <p:spTgt spid="6"/>
                                        </p:tgtEl>
                                      </p:cBhvr>
                                    </p:animEffect>
                                    <p:anim calcmode="lin" valueType="num">
                                      <p:cBhvr additive="base">
                                        <p:cTn id="26" dur="650" fill="hold"/>
                                        <p:tgtEl>
                                          <p:spTgt spid="6"/>
                                        </p:tgtEl>
                                        <p:attrNameLst>
                                          <p:attrName>ppt_x</p:attrName>
                                        </p:attrNameLst>
                                      </p:cBhvr>
                                      <p:tavLst>
                                        <p:tav tm="0">
                                          <p:val>
                                            <p:strVal val="#ppt_x"/>
                                          </p:val>
                                        </p:tav>
                                        <p:tav tm="100000">
                                          <p:val>
                                            <p:strVal val="#ppt_x"/>
                                          </p:val>
                                        </p:tav>
                                      </p:tavLst>
                                    </p:anim>
                                    <p:anim calcmode="lin" valueType="num">
                                      <p:cBhvr additive="base">
                                        <p:cTn id="27" dur="650" fill="hold"/>
                                        <p:tgtEl>
                                          <p:spTgt spid="6"/>
                                        </p:tgtEl>
                                        <p:attrNameLst>
                                          <p:attrName>ppt_y</p:attrName>
                                        </p:attrNameLst>
                                      </p:cBhvr>
                                      <p:tavLst>
                                        <p:tav tm="0">
                                          <p:val>
                                            <p:strVal val="#ppt_y+.06"/>
                                          </p:val>
                                        </p:tav>
                                        <p:tav tm="100000">
                                          <p:val>
                                            <p:strVal val="#ppt_y"/>
                                          </p:val>
                                        </p:tav>
                                      </p:tavLst>
                                    </p:anim>
                                  </p:childTnLst>
                                </p:cTn>
                              </p:par>
                              <p:par>
                                <p:cTn id="28" presetID="42" presetClass="entr" presetSubtype="0" decel="100000" fill="hold" grpId="0" nodeType="withEffect">
                                  <p:stCondLst>
                                    <p:cond delay="95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650" fill="hold"/>
                                        <p:tgtEl>
                                          <p:spTgt spid="7"/>
                                        </p:tgtEl>
                                      </p:cBhvr>
                                    </p:animEffect>
                                    <p:anim calcmode="lin" valueType="num">
                                      <p:cBhvr additive="base">
                                        <p:cTn id="31" dur="650" fill="hold"/>
                                        <p:tgtEl>
                                          <p:spTgt spid="7"/>
                                        </p:tgtEl>
                                        <p:attrNameLst>
                                          <p:attrName>ppt_x</p:attrName>
                                        </p:attrNameLst>
                                      </p:cBhvr>
                                      <p:tavLst>
                                        <p:tav tm="0">
                                          <p:val>
                                            <p:strVal val="#ppt_x"/>
                                          </p:val>
                                        </p:tav>
                                        <p:tav tm="100000">
                                          <p:val>
                                            <p:strVal val="#ppt_x"/>
                                          </p:val>
                                        </p:tav>
                                      </p:tavLst>
                                    </p:anim>
                                    <p:anim calcmode="lin" valueType="num">
                                      <p:cBhvr additive="base">
                                        <p:cTn id="32" dur="650" fill="hold"/>
                                        <p:tgtEl>
                                          <p:spTgt spid="7"/>
                                        </p:tgtEl>
                                        <p:attrNameLst>
                                          <p:attrName>ppt_y</p:attrName>
                                        </p:attrNameLst>
                                      </p:cBhvr>
                                      <p:tavLst>
                                        <p:tav tm="0">
                                          <p:val>
                                            <p:strVal val="#ppt_y+.06"/>
                                          </p:val>
                                        </p:tav>
                                        <p:tav tm="100000">
                                          <p:val>
                                            <p:strVal val="#ppt_y"/>
                                          </p:val>
                                        </p:tav>
                                      </p:tavLst>
                                    </p:anim>
                                  </p:childTnLst>
                                </p:cTn>
                              </p:par>
                              <p:par>
                                <p:cTn id="33" presetID="10" presetClass="entr" presetSubtype="0" fill="hold" grpId="0" nodeType="withEffect">
                                  <p:stCondLst>
                                    <p:cond delay="125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500" fill="hold"/>
                                        <p:tgtEl>
                                          <p:spTgt spid="8"/>
                                        </p:tgtEl>
                                      </p:cBhvr>
                                    </p:animEffect>
                                  </p:childTnLst>
                                </p:cTn>
                              </p:par>
                              <p:par>
                                <p:cTn id="36" presetID="22" presetClass="entr" presetSubtype="8" fill="hold" grpId="0" nodeType="withEffect">
                                  <p:stCondLst>
                                    <p:cond delay="1450"/>
                                  </p:stCondLst>
                                  <p:childTnLst>
                                    <p:set>
                                      <p:cBhvr>
                                        <p:cTn id="37" dur="1" fill="hold">
                                          <p:stCondLst>
                                            <p:cond delay="0"/>
                                          </p:stCondLst>
                                        </p:cTn>
                                        <p:tgtEl>
                                          <p:spTgt spid="9"/>
                                        </p:tgtEl>
                                        <p:attrNameLst>
                                          <p:attrName>style.visibility</p:attrName>
                                        </p:attrNameLst>
                                      </p:cBhvr>
                                      <p:to>
                                        <p:strVal val="visible"/>
                                      </p:to>
                                    </p:set>
                                    <p:animEffect transition="in" filter="wipe(left)">
                                      <p:cBhvr>
                                        <p:cTn id="38" dur="600" fill="hold"/>
                                        <p:tgtEl>
                                          <p:spTgt spid="9"/>
                                        </p:tgtEl>
                                      </p:cBhvr>
                                    </p:animEffect>
                                  </p:childTnLst>
                                </p:cTn>
                              </p:par>
                              <p:par>
                                <p:cTn id="39" presetID="22" presetClass="entr" presetSubtype="8" fill="hold" grpId="0" nodeType="withEffect">
                                  <p:stCondLst>
                                    <p:cond delay="145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1" dur="600" fill="hold"/>
                                        <p:tgtEl>
                                          <p:spTgt spid="10"/>
                                        </p:tgtEl>
                                      </p:cBhvr>
                                    </p:animEffect>
                                  </p:childTnLst>
                                </p:cTn>
                              </p:par>
                              <p:par>
                                <p:cTn id="42" presetID="22" presetClass="entr" presetSubtype="8" fill="hold" grpId="0" nodeType="withEffect">
                                  <p:stCondLst>
                                    <p:cond delay="1450"/>
                                  </p:stCondLst>
                                  <p:childTnLst>
                                    <p:set>
                                      <p:cBhvr>
                                        <p:cTn id="43" dur="1" fill="hold">
                                          <p:stCondLst>
                                            <p:cond delay="0"/>
                                          </p:stCondLst>
                                        </p:cTn>
                                        <p:tgtEl>
                                          <p:spTgt spid="11"/>
                                        </p:tgtEl>
                                        <p:attrNameLst>
                                          <p:attrName>style.visibility</p:attrName>
                                        </p:attrNameLst>
                                      </p:cBhvr>
                                      <p:to>
                                        <p:strVal val="visible"/>
                                      </p:to>
                                    </p:set>
                                    <p:animEffect transition="in" filter="wipe(left)">
                                      <p:cBhvr>
                                        <p:cTn id="44" dur="600" fill="hold"/>
                                        <p:tgtEl>
                                          <p:spTgt spid="11"/>
                                        </p:tgtEl>
                                      </p:cBhvr>
                                    </p:animEffect>
                                  </p:childTnLst>
                                </p:cTn>
                              </p:par>
                              <p:par>
                                <p:cTn id="45" presetID="22" presetClass="entr" presetSubtype="8" fill="hold" grpId="0" nodeType="withEffect">
                                  <p:stCondLst>
                                    <p:cond delay="1450"/>
                                  </p:stCondLst>
                                  <p:childTnLst>
                                    <p:set>
                                      <p:cBhvr>
                                        <p:cTn id="46" dur="1" fill="hold">
                                          <p:stCondLst>
                                            <p:cond delay="0"/>
                                          </p:stCondLst>
                                        </p:cTn>
                                        <p:tgtEl>
                                          <p:spTgt spid="12"/>
                                        </p:tgtEl>
                                        <p:attrNameLst>
                                          <p:attrName>style.visibility</p:attrName>
                                        </p:attrNameLst>
                                      </p:cBhvr>
                                      <p:to>
                                        <p:strVal val="visible"/>
                                      </p:to>
                                    </p:set>
                                    <p:animEffect transition="in" filter="wipe(left)">
                                      <p:cBhvr>
                                        <p:cTn id="47" dur="600" fill="hold"/>
                                        <p:tgtEl>
                                          <p:spTgt spid="12"/>
                                        </p:tgtEl>
                                      </p:cBhvr>
                                    </p:animEffect>
                                  </p:childTnLst>
                                </p:cTn>
                              </p:par>
                              <p:par>
                                <p:cTn id="48" presetID="22" presetClass="entr" presetSubtype="8" fill="hold" grpId="0" nodeType="withEffect">
                                  <p:stCondLst>
                                    <p:cond delay="1450"/>
                                  </p:stCondLst>
                                  <p:childTnLst>
                                    <p:set>
                                      <p:cBhvr>
                                        <p:cTn id="49" dur="1" fill="hold">
                                          <p:stCondLst>
                                            <p:cond delay="0"/>
                                          </p:stCondLst>
                                        </p:cTn>
                                        <p:tgtEl>
                                          <p:spTgt spid="13"/>
                                        </p:tgtEl>
                                        <p:attrNameLst>
                                          <p:attrName>style.visibility</p:attrName>
                                        </p:attrNameLst>
                                      </p:cBhvr>
                                      <p:to>
                                        <p:strVal val="visible"/>
                                      </p:to>
                                    </p:set>
                                    <p:animEffect transition="in" filter="wipe(left)">
                                      <p:cBhvr>
                                        <p:cTn id="50" dur="600" fill="hold"/>
                                        <p:tgtEl>
                                          <p:spTgt spid="13"/>
                                        </p:tgtEl>
                                      </p:cBhvr>
                                    </p:animEffect>
                                  </p:childTnLst>
                                </p:cTn>
                              </p:par>
                              <p:par>
                                <p:cTn id="51" presetID="53" presetClass="entr" presetSubtype="16" decel="100000" fill="hold" grpId="0" nodeType="withEffect">
                                  <p:stCondLst>
                                    <p:cond delay="1700"/>
                                  </p:stCondLst>
                                  <p:childTnLst>
                                    <p:set>
                                      <p:cBhvr>
                                        <p:cTn id="52" dur="1" fill="hold">
                                          <p:stCondLst>
                                            <p:cond delay="0"/>
                                          </p:stCondLst>
                                        </p:cTn>
                                        <p:tgtEl>
                                          <p:spTgt spid="14"/>
                                        </p:tgtEl>
                                        <p:attrNameLst>
                                          <p:attrName>style.visibility</p:attrName>
                                        </p:attrNameLst>
                                      </p:cBhvr>
                                      <p:to>
                                        <p:strVal val="visible"/>
                                      </p:to>
                                    </p:set>
                                    <p:anim calcmode="lin" valueType="num">
                                      <p:cBhvr additive="base">
                                        <p:cTn id="53" dur="450" fill="hold"/>
                                        <p:tgtEl>
                                          <p:spTgt spid="14"/>
                                        </p:tgtEl>
                                        <p:attrNameLst>
                                          <p:attrName>ppt_w</p:attrName>
                                        </p:attrNameLst>
                                      </p:cBhvr>
                                      <p:tavLst>
                                        <p:tav tm="0">
                                          <p:val>
                                            <p:strVal val="0"/>
                                          </p:val>
                                        </p:tav>
                                        <p:tav tm="70000">
                                          <p:val>
                                            <p:strVal val="#ppt_w*1.08"/>
                                          </p:val>
                                        </p:tav>
                                        <p:tav tm="100000">
                                          <p:val>
                                            <p:strVal val="#ppt_w"/>
                                          </p:val>
                                        </p:tav>
                                      </p:tavLst>
                                    </p:anim>
                                    <p:anim calcmode="lin" valueType="num">
                                      <p:cBhvr additive="base">
                                        <p:cTn id="54" dur="450" fill="hold"/>
                                        <p:tgtEl>
                                          <p:spTgt spid="14"/>
                                        </p:tgtEl>
                                        <p:attrNameLst>
                                          <p:attrName>ppt_h</p:attrName>
                                        </p:attrNameLst>
                                      </p:cBhvr>
                                      <p:tavLst>
                                        <p:tav tm="0">
                                          <p:val>
                                            <p:strVal val="0"/>
                                          </p:val>
                                        </p:tav>
                                        <p:tav tm="70000">
                                          <p:val>
                                            <p:strVal val="#ppt_h*1.08"/>
                                          </p:val>
                                        </p:tav>
                                        <p:tav tm="100000">
                                          <p:val>
                                            <p:strVal val="#ppt_h"/>
                                          </p:val>
                                        </p:tav>
                                      </p:tavLst>
                                    </p:anim>
                                    <p:animEffect transition="in" filter="fade">
                                      <p:cBhvr>
                                        <p:cTn id="55" dur="270" fill="hold"/>
                                        <p:tgtEl>
                                          <p:spTgt spid="14"/>
                                        </p:tgtEl>
                                      </p:cBhvr>
                                    </p:animEffect>
                                  </p:childTnLst>
                                </p:cTn>
                              </p:par>
                              <p:par>
                                <p:cTn id="56" presetID="22" presetClass="entr" presetSubtype="8" fill="hold" nodeType="withEffect">
                                  <p:stCondLst>
                                    <p:cond delay="1850"/>
                                  </p:stCondLst>
                                  <p:childTnLst>
                                    <p:set>
                                      <p:cBhvr>
                                        <p:cTn id="57" dur="1" fill="hold">
                                          <p:stCondLst>
                                            <p:cond delay="0"/>
                                          </p:stCondLst>
                                        </p:cTn>
                                        <p:tgtEl>
                                          <p:spTgt spid="15"/>
                                        </p:tgtEl>
                                        <p:attrNameLst>
                                          <p:attrName>style.visibility</p:attrName>
                                        </p:attrNameLst>
                                      </p:cBhvr>
                                      <p:to>
                                        <p:strVal val="visible"/>
                                      </p:to>
                                    </p:set>
                                    <p:animEffect transition="in" filter="wipe(left)">
                                      <p:cBhvr>
                                        <p:cTn id="58" dur="900" fill="hold"/>
                                        <p:tgtEl>
                                          <p:spTgt spid="15"/>
                                        </p:tgtEl>
                                      </p:cBhvr>
                                    </p:animEffect>
                                  </p:childTnLst>
                                </p:cTn>
                              </p:par>
                              <p:par>
                                <p:cTn id="59" presetID="22" presetClass="entr" presetSubtype="8" fill="hold" nodeType="withEffect">
                                  <p:stCondLst>
                                    <p:cond delay="1850"/>
                                  </p:stCondLst>
                                  <p:childTnLst>
                                    <p:set>
                                      <p:cBhvr>
                                        <p:cTn id="60" dur="1" fill="hold">
                                          <p:stCondLst>
                                            <p:cond delay="0"/>
                                          </p:stCondLst>
                                        </p:cTn>
                                        <p:tgtEl>
                                          <p:spTgt spid="16"/>
                                        </p:tgtEl>
                                        <p:attrNameLst>
                                          <p:attrName>style.visibility</p:attrName>
                                        </p:attrNameLst>
                                      </p:cBhvr>
                                      <p:to>
                                        <p:strVal val="visible"/>
                                      </p:to>
                                    </p:set>
                                    <p:animEffect transition="in" filter="wipe(left)">
                                      <p:cBhvr>
                                        <p:cTn id="61" dur="900" fill="hold"/>
                                        <p:tgtEl>
                                          <p:spTgt spid="16"/>
                                        </p:tgtEl>
                                      </p:cBhvr>
                                    </p:animEffect>
                                  </p:childTnLst>
                                </p:cTn>
                              </p:par>
                              <p:par>
                                <p:cTn id="62" presetID="22" presetClass="entr" presetSubtype="8" fill="hold" nodeType="withEffect">
                                  <p:stCondLst>
                                    <p:cond delay="1850"/>
                                  </p:stCondLst>
                                  <p:childTnLst>
                                    <p:set>
                                      <p:cBhvr>
                                        <p:cTn id="63" dur="1" fill="hold">
                                          <p:stCondLst>
                                            <p:cond delay="0"/>
                                          </p:stCondLst>
                                        </p:cTn>
                                        <p:tgtEl>
                                          <p:spTgt spid="17"/>
                                        </p:tgtEl>
                                        <p:attrNameLst>
                                          <p:attrName>style.visibility</p:attrName>
                                        </p:attrNameLst>
                                      </p:cBhvr>
                                      <p:to>
                                        <p:strVal val="visible"/>
                                      </p:to>
                                    </p:set>
                                    <p:animEffect transition="in" filter="wipe(left)">
                                      <p:cBhvr>
                                        <p:cTn id="64" dur="900" fill="hold"/>
                                        <p:tgtEl>
                                          <p:spTgt spid="17"/>
                                        </p:tgtEl>
                                      </p:cBhvr>
                                    </p:animEffect>
                                  </p:childTnLst>
                                </p:cTn>
                              </p:par>
                              <p:par>
                                <p:cTn id="65" presetID="22" presetClass="entr" presetSubtype="8" fill="hold" nodeType="withEffect">
                                  <p:stCondLst>
                                    <p:cond delay="1850"/>
                                  </p:stCondLst>
                                  <p:childTnLst>
                                    <p:set>
                                      <p:cBhvr>
                                        <p:cTn id="66" dur="1" fill="hold">
                                          <p:stCondLst>
                                            <p:cond delay="0"/>
                                          </p:stCondLst>
                                        </p:cTn>
                                        <p:tgtEl>
                                          <p:spTgt spid="18"/>
                                        </p:tgtEl>
                                        <p:attrNameLst>
                                          <p:attrName>style.visibility</p:attrName>
                                        </p:attrNameLst>
                                      </p:cBhvr>
                                      <p:to>
                                        <p:strVal val="visible"/>
                                      </p:to>
                                    </p:set>
                                    <p:animEffect transition="in" filter="wipe(left)">
                                      <p:cBhvr>
                                        <p:cTn id="67" dur="900" fill="hold"/>
                                        <p:tgtEl>
                                          <p:spTgt spid="18"/>
                                        </p:tgtEl>
                                      </p:cBhvr>
                                    </p:animEffect>
                                  </p:childTnLst>
                                </p:cTn>
                              </p:par>
                              <p:par>
                                <p:cTn id="68" presetID="22" presetClass="entr" presetSubtype="8" fill="hold" nodeType="withEffect">
                                  <p:stCondLst>
                                    <p:cond delay="1850"/>
                                  </p:stCondLst>
                                  <p:childTnLst>
                                    <p:set>
                                      <p:cBhvr>
                                        <p:cTn id="69" dur="1" fill="hold">
                                          <p:stCondLst>
                                            <p:cond delay="0"/>
                                          </p:stCondLst>
                                        </p:cTn>
                                        <p:tgtEl>
                                          <p:spTgt spid="19"/>
                                        </p:tgtEl>
                                        <p:attrNameLst>
                                          <p:attrName>style.visibility</p:attrName>
                                        </p:attrNameLst>
                                      </p:cBhvr>
                                      <p:to>
                                        <p:strVal val="visible"/>
                                      </p:to>
                                    </p:set>
                                    <p:animEffect transition="in" filter="wipe(left)">
                                      <p:cBhvr>
                                        <p:cTn id="70" dur="900" fill="hold"/>
                                        <p:tgtEl>
                                          <p:spTgt spid="19"/>
                                        </p:tgtEl>
                                      </p:cBhvr>
                                    </p:animEffect>
                                  </p:childTnLst>
                                </p:cTn>
                              </p:par>
                              <p:par>
                                <p:cTn id="71" presetID="22" presetClass="entr" presetSubtype="8" fill="hold" nodeType="withEffect">
                                  <p:stCondLst>
                                    <p:cond delay="1850"/>
                                  </p:stCondLst>
                                  <p:childTnLst>
                                    <p:set>
                                      <p:cBhvr>
                                        <p:cTn id="72" dur="1" fill="hold">
                                          <p:stCondLst>
                                            <p:cond delay="0"/>
                                          </p:stCondLst>
                                        </p:cTn>
                                        <p:tgtEl>
                                          <p:spTgt spid="20"/>
                                        </p:tgtEl>
                                        <p:attrNameLst>
                                          <p:attrName>style.visibility</p:attrName>
                                        </p:attrNameLst>
                                      </p:cBhvr>
                                      <p:to>
                                        <p:strVal val="visible"/>
                                      </p:to>
                                    </p:set>
                                    <p:animEffect transition="in" filter="wipe(left)">
                                      <p:cBhvr>
                                        <p:cTn id="73" dur="900" fill="hold"/>
                                        <p:tgtEl>
                                          <p:spTgt spid="20"/>
                                        </p:tgtEl>
                                      </p:cBhvr>
                                    </p:animEffect>
                                  </p:childTnLst>
                                </p:cTn>
                              </p:par>
                              <p:par>
                                <p:cTn id="74" presetID="22" presetClass="entr" presetSubtype="8" fill="hold" nodeType="withEffect">
                                  <p:stCondLst>
                                    <p:cond delay="1850"/>
                                  </p:stCondLst>
                                  <p:childTnLst>
                                    <p:set>
                                      <p:cBhvr>
                                        <p:cTn id="75" dur="1" fill="hold">
                                          <p:stCondLst>
                                            <p:cond delay="0"/>
                                          </p:stCondLst>
                                        </p:cTn>
                                        <p:tgtEl>
                                          <p:spTgt spid="21"/>
                                        </p:tgtEl>
                                        <p:attrNameLst>
                                          <p:attrName>style.visibility</p:attrName>
                                        </p:attrNameLst>
                                      </p:cBhvr>
                                      <p:to>
                                        <p:strVal val="visible"/>
                                      </p:to>
                                    </p:set>
                                    <p:animEffect transition="in" filter="wipe(left)">
                                      <p:cBhvr>
                                        <p:cTn id="76" dur="900" fill="hold"/>
                                        <p:tgtEl>
                                          <p:spTgt spid="21"/>
                                        </p:tgtEl>
                                      </p:cBhvr>
                                    </p:animEffect>
                                  </p:childTnLst>
                                </p:cTn>
                              </p:par>
                              <p:par>
                                <p:cTn id="77" presetID="53" presetClass="entr" presetSubtype="16" decel="100000" fill="hold" grpId="0" nodeType="withEffect">
                                  <p:stCondLst>
                                    <p:cond delay="2600"/>
                                  </p:stCondLst>
                                  <p:childTnLst>
                                    <p:set>
                                      <p:cBhvr>
                                        <p:cTn id="78" dur="1" fill="hold">
                                          <p:stCondLst>
                                            <p:cond delay="0"/>
                                          </p:stCondLst>
                                        </p:cTn>
                                        <p:tgtEl>
                                          <p:spTgt spid="22"/>
                                        </p:tgtEl>
                                        <p:attrNameLst>
                                          <p:attrName>style.visibility</p:attrName>
                                        </p:attrNameLst>
                                      </p:cBhvr>
                                      <p:to>
                                        <p:strVal val="visible"/>
                                      </p:to>
                                    </p:set>
                                    <p:anim calcmode="lin" valueType="num">
                                      <p:cBhvr additive="base">
                                        <p:cTn id="79" dur="450" fill="hold"/>
                                        <p:tgtEl>
                                          <p:spTgt spid="22"/>
                                        </p:tgtEl>
                                        <p:attrNameLst>
                                          <p:attrName>ppt_w</p:attrName>
                                        </p:attrNameLst>
                                      </p:cBhvr>
                                      <p:tavLst>
                                        <p:tav tm="0">
                                          <p:val>
                                            <p:strVal val="0"/>
                                          </p:val>
                                        </p:tav>
                                        <p:tav tm="70000">
                                          <p:val>
                                            <p:strVal val="#ppt_w*1.08"/>
                                          </p:val>
                                        </p:tav>
                                        <p:tav tm="100000">
                                          <p:val>
                                            <p:strVal val="#ppt_w"/>
                                          </p:val>
                                        </p:tav>
                                      </p:tavLst>
                                    </p:anim>
                                    <p:anim calcmode="lin" valueType="num">
                                      <p:cBhvr additive="base">
                                        <p:cTn id="80" dur="450" fill="hold"/>
                                        <p:tgtEl>
                                          <p:spTgt spid="22"/>
                                        </p:tgtEl>
                                        <p:attrNameLst>
                                          <p:attrName>ppt_h</p:attrName>
                                        </p:attrNameLst>
                                      </p:cBhvr>
                                      <p:tavLst>
                                        <p:tav tm="0">
                                          <p:val>
                                            <p:strVal val="0"/>
                                          </p:val>
                                        </p:tav>
                                        <p:tav tm="70000">
                                          <p:val>
                                            <p:strVal val="#ppt_h*1.08"/>
                                          </p:val>
                                        </p:tav>
                                        <p:tav tm="100000">
                                          <p:val>
                                            <p:strVal val="#ppt_h"/>
                                          </p:val>
                                        </p:tav>
                                      </p:tavLst>
                                    </p:anim>
                                    <p:animEffect transition="in" filter="fade">
                                      <p:cBhvr>
                                        <p:cTn id="81" dur="270" fill="hold"/>
                                        <p:tgtEl>
                                          <p:spTgt spid="22"/>
                                        </p:tgtEl>
                                      </p:cBhvr>
                                    </p:animEffect>
                                  </p:childTnLst>
                                </p:cTn>
                              </p:par>
                              <p:par>
                                <p:cTn id="82" presetID="53" presetClass="entr" presetSubtype="16" decel="100000" fill="hold" grpId="0" nodeType="withEffect">
                                  <p:stCondLst>
                                    <p:cond delay="2720"/>
                                  </p:stCondLst>
                                  <p:childTnLst>
                                    <p:set>
                                      <p:cBhvr>
                                        <p:cTn id="83" dur="1" fill="hold">
                                          <p:stCondLst>
                                            <p:cond delay="0"/>
                                          </p:stCondLst>
                                        </p:cTn>
                                        <p:tgtEl>
                                          <p:spTgt spid="23"/>
                                        </p:tgtEl>
                                        <p:attrNameLst>
                                          <p:attrName>style.visibility</p:attrName>
                                        </p:attrNameLst>
                                      </p:cBhvr>
                                      <p:to>
                                        <p:strVal val="visible"/>
                                      </p:to>
                                    </p:set>
                                    <p:anim calcmode="lin" valueType="num">
                                      <p:cBhvr additive="base">
                                        <p:cTn id="84" dur="450" fill="hold"/>
                                        <p:tgtEl>
                                          <p:spTgt spid="23"/>
                                        </p:tgtEl>
                                        <p:attrNameLst>
                                          <p:attrName>ppt_w</p:attrName>
                                        </p:attrNameLst>
                                      </p:cBhvr>
                                      <p:tavLst>
                                        <p:tav tm="0">
                                          <p:val>
                                            <p:strVal val="0"/>
                                          </p:val>
                                        </p:tav>
                                        <p:tav tm="70000">
                                          <p:val>
                                            <p:strVal val="#ppt_w*1.08"/>
                                          </p:val>
                                        </p:tav>
                                        <p:tav tm="100000">
                                          <p:val>
                                            <p:strVal val="#ppt_w"/>
                                          </p:val>
                                        </p:tav>
                                      </p:tavLst>
                                    </p:anim>
                                    <p:anim calcmode="lin" valueType="num">
                                      <p:cBhvr additive="base">
                                        <p:cTn id="85" dur="450" fill="hold"/>
                                        <p:tgtEl>
                                          <p:spTgt spid="23"/>
                                        </p:tgtEl>
                                        <p:attrNameLst>
                                          <p:attrName>ppt_h</p:attrName>
                                        </p:attrNameLst>
                                      </p:cBhvr>
                                      <p:tavLst>
                                        <p:tav tm="0">
                                          <p:val>
                                            <p:strVal val="0"/>
                                          </p:val>
                                        </p:tav>
                                        <p:tav tm="70000">
                                          <p:val>
                                            <p:strVal val="#ppt_h*1.08"/>
                                          </p:val>
                                        </p:tav>
                                        <p:tav tm="100000">
                                          <p:val>
                                            <p:strVal val="#ppt_h"/>
                                          </p:val>
                                        </p:tav>
                                      </p:tavLst>
                                    </p:anim>
                                    <p:animEffect transition="in" filter="fade">
                                      <p:cBhvr>
                                        <p:cTn id="86" dur="270" fill="hold"/>
                                        <p:tgtEl>
                                          <p:spTgt spid="23"/>
                                        </p:tgtEl>
                                      </p:cBhvr>
                                    </p:animEffect>
                                  </p:childTnLst>
                                </p:cTn>
                              </p:par>
                              <p:par>
                                <p:cTn id="87" presetID="53" presetClass="entr" presetSubtype="16" decel="100000" fill="hold" grpId="0" nodeType="withEffect">
                                  <p:stCondLst>
                                    <p:cond delay="2840"/>
                                  </p:stCondLst>
                                  <p:childTnLst>
                                    <p:set>
                                      <p:cBhvr>
                                        <p:cTn id="88" dur="1" fill="hold">
                                          <p:stCondLst>
                                            <p:cond delay="0"/>
                                          </p:stCondLst>
                                        </p:cTn>
                                        <p:tgtEl>
                                          <p:spTgt spid="24"/>
                                        </p:tgtEl>
                                        <p:attrNameLst>
                                          <p:attrName>style.visibility</p:attrName>
                                        </p:attrNameLst>
                                      </p:cBhvr>
                                      <p:to>
                                        <p:strVal val="visible"/>
                                      </p:to>
                                    </p:set>
                                    <p:anim calcmode="lin" valueType="num">
                                      <p:cBhvr additive="base">
                                        <p:cTn id="89" dur="450" fill="hold"/>
                                        <p:tgtEl>
                                          <p:spTgt spid="24"/>
                                        </p:tgtEl>
                                        <p:attrNameLst>
                                          <p:attrName>ppt_w</p:attrName>
                                        </p:attrNameLst>
                                      </p:cBhvr>
                                      <p:tavLst>
                                        <p:tav tm="0">
                                          <p:val>
                                            <p:strVal val="0"/>
                                          </p:val>
                                        </p:tav>
                                        <p:tav tm="70000">
                                          <p:val>
                                            <p:strVal val="#ppt_w*1.08"/>
                                          </p:val>
                                        </p:tav>
                                        <p:tav tm="100000">
                                          <p:val>
                                            <p:strVal val="#ppt_w"/>
                                          </p:val>
                                        </p:tav>
                                      </p:tavLst>
                                    </p:anim>
                                    <p:anim calcmode="lin" valueType="num">
                                      <p:cBhvr additive="base">
                                        <p:cTn id="90" dur="450" fill="hold"/>
                                        <p:tgtEl>
                                          <p:spTgt spid="24"/>
                                        </p:tgtEl>
                                        <p:attrNameLst>
                                          <p:attrName>ppt_h</p:attrName>
                                        </p:attrNameLst>
                                      </p:cBhvr>
                                      <p:tavLst>
                                        <p:tav tm="0">
                                          <p:val>
                                            <p:strVal val="0"/>
                                          </p:val>
                                        </p:tav>
                                        <p:tav tm="70000">
                                          <p:val>
                                            <p:strVal val="#ppt_h*1.08"/>
                                          </p:val>
                                        </p:tav>
                                        <p:tav tm="100000">
                                          <p:val>
                                            <p:strVal val="#ppt_h"/>
                                          </p:val>
                                        </p:tav>
                                      </p:tavLst>
                                    </p:anim>
                                    <p:animEffect transition="in" filter="fade">
                                      <p:cBhvr>
                                        <p:cTn id="91" dur="270" fill="hold"/>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22" grpId="0" animBg="1"/>
      <p:bldP spid="23" grpId="0" animBg="1"/>
      <p:bldP spid="24" grpId="0" animBg="1"/>
    </p:bldLst>
  </p:timing>
</p:sld>
</file>

<file path=ppt/slides/slide61.xml><?xml version="1.0" encoding="utf-8"?>
<p:sld xmlns:a="http://schemas.openxmlformats.org/drawingml/2006/main" xmlns:r="http://schemas.openxmlformats.org/officeDocument/2006/relationships" xmlns:p="http://schemas.openxmlformats.org/presentationml/2006/main" show="0">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2A9FC0"/>
                </a:solidFill>
                <a:latin typeface="Segoe UI Semibold"/>
              </a:rPr>
              <a:t>VÍDEO  ·  MÓDULO 5</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603504"/>
            <a:ext cx="8778240" cy="548640"/>
          </a:xfrm>
          <a:prstGeom prst="rect">
            <a:avLst/>
          </a:prstGeom>
          <a:noFill/>
        </p:spPr>
        <p:txBody>
          <a:bodyPr wrap="square" lIns="36576" tIns="18288" rIns="36576" bIns="18288" anchor="t">
            <a:spAutoFit/>
          </a:bodyPr>
          <a:lstStyle/>
          <a:p>
            <a:pPr algn="l"/>
            <a:r>
              <a:rPr sz="2100" b="1" i="0">
                <a:solidFill>
                  <a:srgbClr val="F2F2EC"/>
                </a:solidFill>
                <a:latin typeface="Segoe UI Semibold"/>
              </a:rPr>
              <a:t>Casos e Inovações: debate com Design Thinking</a:t>
            </a:r>
          </a:p>
        </p:txBody>
      </p:sp>
      <p:sp>
        <p:nvSpPr>
          <p:cNvPr id="6" name="Rectangle 5"/>
          <p:cNvSpPr/>
          <p:nvPr/>
        </p:nvSpPr>
        <p:spPr>
          <a:xfrm>
            <a:off x="1706727" y="1325880"/>
            <a:ext cx="8778240" cy="4937760"/>
          </a:xfrm>
          <a:prstGeom prst="rect">
            <a:avLst/>
          </a:prstGeom>
          <a:solidFill>
            <a:srgbClr val="242826"/>
          </a:solidFill>
          <a:ln w="25400">
            <a:solidFill>
              <a:srgbClr val="2A9FC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5501487" y="2468879"/>
            <a:ext cx="1188720" cy="1188720"/>
          </a:xfrm>
          <a:prstGeom prst="ellipse">
            <a:avLst/>
          </a:prstGeom>
          <a:solidFill>
            <a:srgbClr val="2A9FC0"/>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3400" b="1" i="0">
                <a:solidFill>
                  <a:srgbClr val="1A1A1A"/>
                </a:solidFill>
                <a:latin typeface="Segoe UI Semibold"/>
              </a:rPr>
              <a:t>▶</a:t>
            </a:r>
          </a:p>
        </p:txBody>
      </p:sp>
      <p:sp>
        <p:nvSpPr>
          <p:cNvPr id="8" name="TextBox 7"/>
          <p:cNvSpPr txBox="1"/>
          <p:nvPr/>
        </p:nvSpPr>
        <p:spPr>
          <a:xfrm>
            <a:off x="2163927" y="3931920"/>
            <a:ext cx="7863840" cy="457200"/>
          </a:xfrm>
          <a:prstGeom prst="rect">
            <a:avLst/>
          </a:prstGeom>
          <a:noFill/>
        </p:spPr>
        <p:txBody>
          <a:bodyPr wrap="square" lIns="36576" tIns="18288" rIns="36576" bIns="18288" anchor="t">
            <a:spAutoFit/>
          </a:bodyPr>
          <a:lstStyle/>
          <a:p>
            <a:pPr algn="ctr"/>
            <a:r>
              <a:rPr sz="2200" b="1" i="0">
                <a:solidFill>
                  <a:srgbClr val="F2F2EC"/>
                </a:solidFill>
                <a:latin typeface="Segoe UI Semibold"/>
              </a:rPr>
              <a:t>Espaço para o seu vídeo</a:t>
            </a:r>
          </a:p>
        </p:txBody>
      </p:sp>
      <p:sp>
        <p:nvSpPr>
          <p:cNvPr id="9" name="TextBox 8"/>
          <p:cNvSpPr txBox="1"/>
          <p:nvPr/>
        </p:nvSpPr>
        <p:spPr>
          <a:xfrm>
            <a:off x="2163927" y="4480560"/>
            <a:ext cx="7863840" cy="1097280"/>
          </a:xfrm>
          <a:prstGeom prst="rect">
            <a:avLst/>
          </a:prstGeom>
          <a:noFill/>
        </p:spPr>
        <p:txBody>
          <a:bodyPr wrap="square" lIns="36576" tIns="18288" rIns="36576" bIns="18288" anchor="t">
            <a:spAutoFit/>
          </a:bodyPr>
          <a:lstStyle/>
          <a:p>
            <a:pPr algn="ctr">
              <a:spcAft>
                <a:spcPts val="400"/>
              </a:spcAft>
            </a:pPr>
            <a:r>
              <a:rPr sz="1400" b="0" i="0">
                <a:solidFill>
                  <a:srgbClr val="B4B8B0"/>
                </a:solidFill>
                <a:latin typeface="Segoe UI"/>
              </a:rPr>
              <a:t>No PowerPoint: Inserir  &gt;  Vídeo  &gt;  Este Dispositivo…</a:t>
            </a:r>
          </a:p>
          <a:p>
            <a:pPr algn="ctr">
              <a:spcAft>
                <a:spcPts val="400"/>
              </a:spcAft>
            </a:pPr>
            <a:r>
              <a:rPr sz="1400" b="0" i="0">
                <a:solidFill>
                  <a:srgbClr val="B4B8B0"/>
                </a:solidFill>
                <a:latin typeface="Segoe UI"/>
              </a:rPr>
              <a:t>e ajuste o vídeo sobre este quadro (16:9).</a:t>
            </a:r>
          </a:p>
          <a:p>
            <a:pPr algn="ctr"/>
            <a:r>
              <a:rPr sz="1400" b="0" i="0">
                <a:solidFill>
                  <a:srgbClr val="2A9FC0"/>
                </a:solidFill>
                <a:latin typeface="Segoe UI"/>
              </a:rPr>
              <a:t>Arquivo sugerido: videos/m5.mp4</a:t>
            </a:r>
          </a:p>
        </p:txBody>
      </p:sp>
      <p:sp>
        <p:nvSpPr>
          <p:cNvPr id="10" name="Rounded Rectangle 9">
            <a:hlinkClick r:id="rId4" action="ppaction://hlinksldjump"/>
          </p:cNvPr>
          <p:cNvSpPr/>
          <p:nvPr/>
        </p:nvSpPr>
        <p:spPr>
          <a:xfrm>
            <a:off x="9448495" y="566928"/>
            <a:ext cx="2194560" cy="502920"/>
          </a:xfrm>
          <a:prstGeom prst="roundRect">
            <a:avLst>
              <a:gd name="adj" fmla="val 50000"/>
            </a:avLst>
          </a:prstGeom>
          <a:solidFill>
            <a:srgbClr val="2E343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400" b="1" i="0">
                <a:solidFill>
                  <a:srgbClr val="F2F2EC"/>
                </a:solidFill>
                <a:latin typeface="Segoe UI Semibold"/>
              </a:rPr>
              <a:t>↩  Voltar</a:t>
            </a:r>
          </a:p>
        </p:txBody>
      </p:sp>
    </p:spTree>
  </p:cSld>
  <p:clrMapOvr>
    <a:masterClrMapping/>
  </p:clrMapOvr>
  <p:transition spd="slow">
    <p:fade thruBlk="1"/>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2A9FC0"/>
                </a:solidFill>
                <a:latin typeface="Segoe UI Semibold"/>
              </a:rPr>
              <a:t>MÓDULO 5  ·  PROTOTIPAR E TESTAR</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914400" y="1188720"/>
            <a:ext cx="1828800" cy="1828800"/>
          </a:xfrm>
          <a:prstGeom prst="rect">
            <a:avLst/>
          </a:prstGeom>
          <a:noFill/>
        </p:spPr>
        <p:txBody>
          <a:bodyPr wrap="square" lIns="36576" tIns="18288" rIns="36576" bIns="18288" anchor="t">
            <a:spAutoFit/>
          </a:bodyPr>
          <a:lstStyle/>
          <a:p>
            <a:pPr algn="l"/>
            <a:r>
              <a:rPr sz="16000" b="1" i="0">
                <a:solidFill>
                  <a:srgbClr val="2A9FC0"/>
                </a:solidFill>
                <a:latin typeface="Georgia"/>
              </a:rPr>
              <a:t>“</a:t>
            </a:r>
          </a:p>
        </p:txBody>
      </p:sp>
      <p:sp>
        <p:nvSpPr>
          <p:cNvPr id="6" name="TextBox 5"/>
          <p:cNvSpPr txBox="1"/>
          <p:nvPr/>
        </p:nvSpPr>
        <p:spPr>
          <a:xfrm>
            <a:off x="1463040" y="2377440"/>
            <a:ext cx="9326880" cy="2194560"/>
          </a:xfrm>
          <a:prstGeom prst="rect">
            <a:avLst/>
          </a:prstGeom>
          <a:noFill/>
        </p:spPr>
        <p:txBody>
          <a:bodyPr wrap="square" lIns="36576" tIns="18288" rIns="36576" bIns="18288" anchor="t">
            <a:spAutoFit/>
          </a:bodyPr>
          <a:lstStyle/>
          <a:p>
            <a:pPr algn="l">
              <a:lnSpc>
                <a:spcPct val="105000"/>
              </a:lnSpc>
            </a:pPr>
            <a:r>
              <a:rPr sz="4000" b="1" i="0">
                <a:solidFill>
                  <a:srgbClr val="F2F2EC"/>
                </a:solidFill>
                <a:latin typeface="Segoe UI Semibold"/>
              </a:rPr>
              <a:t>Se uma imagem vale mil palavras, um protótipo vale mil reuniões.</a:t>
            </a:r>
          </a:p>
        </p:txBody>
      </p:sp>
      <p:sp>
        <p:nvSpPr>
          <p:cNvPr id="7" name="TextBox 6"/>
          <p:cNvSpPr txBox="1"/>
          <p:nvPr/>
        </p:nvSpPr>
        <p:spPr>
          <a:xfrm>
            <a:off x="1463040" y="4663440"/>
            <a:ext cx="9144000" cy="457200"/>
          </a:xfrm>
          <a:prstGeom prst="rect">
            <a:avLst/>
          </a:prstGeom>
          <a:noFill/>
        </p:spPr>
        <p:txBody>
          <a:bodyPr wrap="square" lIns="36576" tIns="18288" rIns="36576" bIns="18288" anchor="t">
            <a:spAutoFit/>
          </a:bodyPr>
          <a:lstStyle/>
          <a:p>
            <a:pPr algn="l"/>
            <a:r>
              <a:rPr sz="1600" b="0" i="0">
                <a:solidFill>
                  <a:srgbClr val="B4B8B0"/>
                </a:solidFill>
                <a:latin typeface="Segoe UI"/>
              </a:rPr>
              <a:t>— Ditado popular entre designers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decel="10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600" fill="hold"/>
                                        <p:tgtEl>
                                          <p:spTgt spid="5"/>
                                        </p:tgtEl>
                                        <p:attrNameLst>
                                          <p:attrName>ppt_w</p:attrName>
                                        </p:attrNameLst>
                                      </p:cBhvr>
                                      <p:tavLst>
                                        <p:tav tm="0">
                                          <p:val>
                                            <p:strVal val="0"/>
                                          </p:val>
                                        </p:tav>
                                        <p:tav tm="70000">
                                          <p:val>
                                            <p:strVal val="#ppt_w*1.08"/>
                                          </p:val>
                                        </p:tav>
                                        <p:tav tm="100000">
                                          <p:val>
                                            <p:strVal val="#ppt_w"/>
                                          </p:val>
                                        </p:tav>
                                      </p:tavLst>
                                    </p:anim>
                                    <p:anim calcmode="lin" valueType="num">
                                      <p:cBhvr additive="base">
                                        <p:cTn id="8" dur="600" fill="hold"/>
                                        <p:tgtEl>
                                          <p:spTgt spid="5"/>
                                        </p:tgtEl>
                                        <p:attrNameLst>
                                          <p:attrName>ppt_h</p:attrName>
                                        </p:attrNameLst>
                                      </p:cBhvr>
                                      <p:tavLst>
                                        <p:tav tm="0">
                                          <p:val>
                                            <p:strVal val="0"/>
                                          </p:val>
                                        </p:tav>
                                        <p:tav tm="70000">
                                          <p:val>
                                            <p:strVal val="#ppt_h*1.08"/>
                                          </p:val>
                                        </p:tav>
                                        <p:tav tm="100000">
                                          <p:val>
                                            <p:strVal val="#ppt_h"/>
                                          </p:val>
                                        </p:tav>
                                      </p:tavLst>
                                    </p:anim>
                                    <p:animEffect transition="in" filter="fade">
                                      <p:cBhvr>
                                        <p:cTn id="9" dur="360" fill="hold"/>
                                        <p:tgtEl>
                                          <p:spTgt spid="5"/>
                                        </p:tgtEl>
                                      </p:cBhvr>
                                    </p:animEffect>
                                  </p:childTnLst>
                                </p:cTn>
                              </p:par>
                              <p:par>
                                <p:cTn id="10" presetID="10" presetClass="entr" presetSubtype="0" fill="hold" grpId="0" nodeType="withEffect">
                                  <p:stCondLst>
                                    <p:cond delay="350"/>
                                  </p:stCondLst>
                                  <p:iterate type="wd">
                                    <p:tmPct val="35000"/>
                                  </p:iterate>
                                  <p:childTnLst>
                                    <p:set>
                                      <p:cBhvr>
                                        <p:cTn id="11" dur="1" fill="hold">
                                          <p:stCondLst>
                                            <p:cond delay="0"/>
                                          </p:stCondLst>
                                        </p:cTn>
                                        <p:tgtEl>
                                          <p:spTgt spid="6"/>
                                        </p:tgtEl>
                                        <p:attrNameLst>
                                          <p:attrName>style.visibility</p:attrName>
                                        </p:attrNameLst>
                                      </p:cBhvr>
                                      <p:to>
                                        <p:strVal val="visible"/>
                                      </p:to>
                                    </p:set>
                                    <p:animEffect transition="in" filter="fade">
                                      <p:cBhvr>
                                        <p:cTn id="12" dur="420" fill="hold"/>
                                        <p:tgtEl>
                                          <p:spTgt spid="6"/>
                                        </p:tgtEl>
                                      </p:cBhvr>
                                    </p:animEffect>
                                  </p:childTnLst>
                                </p:cTn>
                              </p:par>
                              <p:par>
                                <p:cTn id="13" presetID="42" presetClass="entr" presetSubtype="0" decel="100000" fill="hold" grpId="0" nodeType="withEffect">
                                  <p:stCondLst>
                                    <p:cond delay="254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fill="hold"/>
                                        <p:tgtEl>
                                          <p:spTgt spid="7"/>
                                        </p:tgtEl>
                                      </p:cBhvr>
                                    </p:animEffect>
                                    <p:anim calcmode="lin" valueType="num">
                                      <p:cBhvr additive="base">
                                        <p:cTn id="16" dur="650" fill="hold"/>
                                        <p:tgtEl>
                                          <p:spTgt spid="7"/>
                                        </p:tgtEl>
                                        <p:attrNameLst>
                                          <p:attrName>ppt_x</p:attrName>
                                        </p:attrNameLst>
                                      </p:cBhvr>
                                      <p:tavLst>
                                        <p:tav tm="0">
                                          <p:val>
                                            <p:strVal val="#ppt_x"/>
                                          </p:val>
                                        </p:tav>
                                        <p:tav tm="100000">
                                          <p:val>
                                            <p:strVal val="#ppt_x"/>
                                          </p:val>
                                        </p:tav>
                                      </p:tavLst>
                                    </p:anim>
                                    <p:anim calcmode="lin" valueType="num">
                                      <p:cBhvr additive="base">
                                        <p:cTn id="17" dur="650" fill="hold"/>
                                        <p:tgtEl>
                                          <p:spTgt spid="7"/>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dirty="0">
                <a:solidFill>
                  <a:srgbClr val="2A9FC0"/>
                </a:solidFill>
                <a:latin typeface="Segoe UI Semibold"/>
              </a:rPr>
              <a:t>MÓDULO 5  ·  PROTOTIPAR E TESTAR</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dirty="0" err="1">
                <a:solidFill>
                  <a:srgbClr val="F2F2EC"/>
                </a:solidFill>
                <a:latin typeface="Segoe UI Semibold"/>
              </a:rPr>
              <a:t>Por</a:t>
            </a:r>
            <a:r>
              <a:rPr sz="3200" b="1" i="0" dirty="0">
                <a:solidFill>
                  <a:srgbClr val="F2F2EC"/>
                </a:solidFill>
                <a:latin typeface="Segoe UI Semibold"/>
              </a:rPr>
              <a:t> que </a:t>
            </a:r>
            <a:r>
              <a:rPr sz="3200" b="1" i="0" dirty="0" err="1">
                <a:solidFill>
                  <a:srgbClr val="F2F2EC"/>
                </a:solidFill>
                <a:latin typeface="Segoe UI Semibold"/>
              </a:rPr>
              <a:t>prototipar</a:t>
            </a:r>
            <a:r>
              <a:rPr sz="3200" b="1" i="0" dirty="0">
                <a:solidFill>
                  <a:srgbClr val="F2F2EC"/>
                </a:solidFill>
                <a:latin typeface="Segoe UI Semibold"/>
              </a:rPr>
              <a:t> e </a:t>
            </a:r>
            <a:r>
              <a:rPr sz="3200" b="1" i="0" dirty="0" err="1">
                <a:solidFill>
                  <a:srgbClr val="F2F2EC"/>
                </a:solidFill>
                <a:latin typeface="Segoe UI Semibold"/>
              </a:rPr>
              <a:t>testar</a:t>
            </a:r>
            <a:endParaRPr sz="3200" b="1" i="0" dirty="0">
              <a:solidFill>
                <a:srgbClr val="F2F2EC"/>
              </a:solidFill>
              <a:latin typeface="Segoe UI Semibold"/>
            </a:endParaRPr>
          </a:p>
        </p:txBody>
      </p:sp>
      <p:sp>
        <p:nvSpPr>
          <p:cNvPr id="6" name="TextBox 5"/>
          <p:cNvSpPr txBox="1"/>
          <p:nvPr/>
        </p:nvSpPr>
        <p:spPr>
          <a:xfrm>
            <a:off x="548640" y="1325880"/>
            <a:ext cx="10972800" cy="457200"/>
          </a:xfrm>
          <a:prstGeom prst="rect">
            <a:avLst/>
          </a:prstGeom>
          <a:noFill/>
        </p:spPr>
        <p:txBody>
          <a:bodyPr wrap="square" lIns="36576" tIns="18288" rIns="36576" bIns="18288" anchor="t">
            <a:spAutoFit/>
          </a:bodyPr>
          <a:lstStyle/>
          <a:p>
            <a:pPr algn="l"/>
            <a:r>
              <a:rPr sz="1700" b="0" i="0" dirty="0">
                <a:solidFill>
                  <a:srgbClr val="B4B8B0"/>
                </a:solidFill>
                <a:latin typeface="Segoe UI"/>
              </a:rPr>
              <a:t>Um </a:t>
            </a:r>
            <a:r>
              <a:rPr sz="1700" b="0" i="0" dirty="0" err="1">
                <a:solidFill>
                  <a:srgbClr val="B4B8B0"/>
                </a:solidFill>
                <a:latin typeface="Segoe UI"/>
              </a:rPr>
              <a:t>protótipo</a:t>
            </a:r>
            <a:r>
              <a:rPr sz="1700" b="0" i="0" dirty="0">
                <a:solidFill>
                  <a:srgbClr val="B4B8B0"/>
                </a:solidFill>
                <a:latin typeface="Segoe UI"/>
              </a:rPr>
              <a:t> </a:t>
            </a:r>
            <a:r>
              <a:rPr sz="1700" b="0" i="0" dirty="0" err="1">
                <a:solidFill>
                  <a:srgbClr val="B4B8B0"/>
                </a:solidFill>
                <a:latin typeface="Segoe UI"/>
              </a:rPr>
              <a:t>transforma</a:t>
            </a:r>
            <a:r>
              <a:rPr sz="1700" b="0" i="0" dirty="0">
                <a:solidFill>
                  <a:srgbClr val="B4B8B0"/>
                </a:solidFill>
                <a:latin typeface="Segoe UI"/>
              </a:rPr>
              <a:t> a </a:t>
            </a:r>
            <a:r>
              <a:rPr sz="1700" b="0" i="0" dirty="0" err="1">
                <a:solidFill>
                  <a:srgbClr val="B4B8B0"/>
                </a:solidFill>
                <a:latin typeface="Segoe UI"/>
              </a:rPr>
              <a:t>ideia</a:t>
            </a:r>
            <a:r>
              <a:rPr sz="1700" b="0" i="0" dirty="0">
                <a:solidFill>
                  <a:srgbClr val="B4B8B0"/>
                </a:solidFill>
                <a:latin typeface="Segoe UI"/>
              </a:rPr>
              <a:t> </a:t>
            </a:r>
            <a:r>
              <a:rPr sz="1700" b="0" i="0" dirty="0" err="1">
                <a:solidFill>
                  <a:srgbClr val="B4B8B0"/>
                </a:solidFill>
                <a:latin typeface="Segoe UI"/>
              </a:rPr>
              <a:t>em</a:t>
            </a:r>
            <a:r>
              <a:rPr sz="1700" b="0" i="0" dirty="0">
                <a:solidFill>
                  <a:srgbClr val="B4B8B0"/>
                </a:solidFill>
                <a:latin typeface="Segoe UI"/>
              </a:rPr>
              <a:t> </a:t>
            </a:r>
            <a:r>
              <a:rPr sz="1700" b="0" i="0" dirty="0" err="1">
                <a:solidFill>
                  <a:srgbClr val="B4B8B0"/>
                </a:solidFill>
                <a:latin typeface="Segoe UI"/>
              </a:rPr>
              <a:t>algo</a:t>
            </a:r>
            <a:r>
              <a:rPr sz="1700" b="0" i="0" dirty="0">
                <a:solidFill>
                  <a:srgbClr val="B4B8B0"/>
                </a:solidFill>
                <a:latin typeface="Segoe UI"/>
              </a:rPr>
              <a:t> que as </a:t>
            </a:r>
            <a:r>
              <a:rPr sz="1700" b="0" i="0" dirty="0" err="1">
                <a:solidFill>
                  <a:srgbClr val="B4B8B0"/>
                </a:solidFill>
                <a:latin typeface="Segoe UI"/>
              </a:rPr>
              <a:t>pessoas</a:t>
            </a:r>
            <a:r>
              <a:rPr sz="1700" b="0" i="0" dirty="0">
                <a:solidFill>
                  <a:srgbClr val="B4B8B0"/>
                </a:solidFill>
                <a:latin typeface="Segoe UI"/>
              </a:rPr>
              <a:t> </a:t>
            </a:r>
            <a:r>
              <a:rPr sz="1700" b="0" i="0" dirty="0" err="1">
                <a:solidFill>
                  <a:srgbClr val="B4B8B0"/>
                </a:solidFill>
                <a:latin typeface="Segoe UI"/>
              </a:rPr>
              <a:t>podem</a:t>
            </a:r>
            <a:r>
              <a:rPr sz="1700" b="0" i="0" dirty="0">
                <a:solidFill>
                  <a:srgbClr val="B4B8B0"/>
                </a:solidFill>
                <a:latin typeface="Segoe UI"/>
              </a:rPr>
              <a:t> </a:t>
            </a:r>
            <a:r>
              <a:rPr sz="1700" b="0" i="0" dirty="0" err="1">
                <a:solidFill>
                  <a:srgbClr val="B4B8B0"/>
                </a:solidFill>
                <a:latin typeface="Segoe UI"/>
              </a:rPr>
              <a:t>tocar</a:t>
            </a:r>
            <a:r>
              <a:rPr sz="1700" b="0" i="0" dirty="0">
                <a:solidFill>
                  <a:srgbClr val="B4B8B0"/>
                </a:solidFill>
                <a:latin typeface="Segoe UI"/>
              </a:rPr>
              <a:t> e </a:t>
            </a:r>
            <a:r>
              <a:rPr sz="1700" b="0" i="0" dirty="0" err="1">
                <a:solidFill>
                  <a:srgbClr val="B4B8B0"/>
                </a:solidFill>
                <a:latin typeface="Segoe UI"/>
              </a:rPr>
              <a:t>criticar</a:t>
            </a:r>
            <a:r>
              <a:rPr sz="1700" b="0" i="0" dirty="0">
                <a:solidFill>
                  <a:srgbClr val="B4B8B0"/>
                </a:solidFill>
                <a:latin typeface="Segoe UI"/>
              </a:rPr>
              <a:t>.</a:t>
            </a:r>
          </a:p>
        </p:txBody>
      </p:sp>
      <p:grpSp>
        <p:nvGrpSpPr>
          <p:cNvPr id="8" name="Agrupar 7"/>
          <p:cNvGrpSpPr/>
          <p:nvPr/>
        </p:nvGrpSpPr>
        <p:grpSpPr>
          <a:xfrm>
            <a:off x="361608" y="1956659"/>
            <a:ext cx="11438304" cy="3849781"/>
            <a:chOff x="548640" y="2158908"/>
            <a:chExt cx="11438304" cy="3849781"/>
          </a:xfrm>
        </p:grpSpPr>
        <p:pic>
          <p:nvPicPr>
            <p:cNvPr id="19" name="Imagem 1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8640" y="2158908"/>
              <a:ext cx="5720275" cy="3849781"/>
            </a:xfrm>
            <a:prstGeom prst="rect">
              <a:avLst/>
            </a:prstGeom>
          </p:spPr>
        </p:pic>
        <p:pic>
          <p:nvPicPr>
            <p:cNvPr id="7" name="Imagem 6"/>
            <p:cNvPicPr>
              <a:picLocks noChangeAspect="1"/>
            </p:cNvPicPr>
            <p:nvPr/>
          </p:nvPicPr>
          <p:blipFill>
            <a:blip r:embed="rId5"/>
            <a:stretch>
              <a:fillRect/>
            </a:stretch>
          </p:blipFill>
          <p:spPr>
            <a:xfrm>
              <a:off x="6711988" y="2175191"/>
              <a:ext cx="5274956" cy="3833498"/>
            </a:xfrm>
            <a:prstGeom prst="rect">
              <a:avLst/>
            </a:prstGeom>
          </p:spPr>
        </p:pic>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fill="hold"/>
                                        <p:tgtEl>
                                          <p:spTgt spid="6"/>
                                        </p:tgtEl>
                                      </p:cBhvr>
                                    </p:animEffect>
                                  </p:childTnLst>
                                </p:cTn>
                              </p:par>
                              <p:par>
                                <p:cTn id="11" presetID="10" presetClass="entr" presetSubtype="0" fill="hold" nodeType="withEffect">
                                  <p:stCondLst>
                                    <p:cond delay="20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2A9FC0"/>
                </a:solidFill>
                <a:latin typeface="Segoe UI Semibold"/>
              </a:rPr>
              <a:t>MÓDULO 5  ·  PROTOTIPAR E TESTAR</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Por que prototipar e testar</a:t>
            </a:r>
          </a:p>
        </p:txBody>
      </p:sp>
      <p:sp>
        <p:nvSpPr>
          <p:cNvPr id="6" name="TextBox 5"/>
          <p:cNvSpPr txBox="1"/>
          <p:nvPr/>
        </p:nvSpPr>
        <p:spPr>
          <a:xfrm>
            <a:off x="548640" y="1325880"/>
            <a:ext cx="10972800" cy="457200"/>
          </a:xfrm>
          <a:prstGeom prst="rect">
            <a:avLst/>
          </a:prstGeom>
          <a:noFill/>
        </p:spPr>
        <p:txBody>
          <a:bodyPr wrap="square" lIns="36576" tIns="18288" rIns="36576" bIns="18288" anchor="t">
            <a:spAutoFit/>
          </a:bodyPr>
          <a:lstStyle/>
          <a:p>
            <a:pPr algn="l"/>
            <a:r>
              <a:rPr sz="1700" b="0" i="0">
                <a:solidFill>
                  <a:srgbClr val="B4B8B0"/>
                </a:solidFill>
                <a:latin typeface="Segoe UI"/>
              </a:rPr>
              <a:t>Um protótipo transforma a ideia em algo que as pessoas podem tocar e criticar.</a:t>
            </a:r>
          </a:p>
        </p:txBody>
      </p:sp>
      <p:sp>
        <p:nvSpPr>
          <p:cNvPr id="7" name="Rounded Rectangle 6"/>
          <p:cNvSpPr/>
          <p:nvPr/>
        </p:nvSpPr>
        <p:spPr>
          <a:xfrm>
            <a:off x="548640" y="2148840"/>
            <a:ext cx="3514344" cy="356616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68680" y="3246120"/>
            <a:ext cx="2874264" cy="822960"/>
          </a:xfrm>
          <a:prstGeom prst="rect">
            <a:avLst/>
          </a:prstGeom>
          <a:noFill/>
        </p:spPr>
        <p:txBody>
          <a:bodyPr wrap="square" lIns="36576" tIns="18288" rIns="36576" bIns="18288" anchor="t">
            <a:spAutoFit/>
          </a:bodyPr>
          <a:lstStyle/>
          <a:p>
            <a:pPr algn="l"/>
            <a:r>
              <a:rPr sz="1900" b="1" i="0">
                <a:solidFill>
                  <a:srgbClr val="F2F2EC"/>
                </a:solidFill>
                <a:latin typeface="Segoe UI Semibold"/>
              </a:rPr>
              <a:t>Reduz riscos</a:t>
            </a:r>
          </a:p>
        </p:txBody>
      </p:sp>
      <p:sp>
        <p:nvSpPr>
          <p:cNvPr id="9" name="TextBox 8"/>
          <p:cNvSpPr txBox="1"/>
          <p:nvPr/>
        </p:nvSpPr>
        <p:spPr>
          <a:xfrm>
            <a:off x="868680" y="4160520"/>
            <a:ext cx="2874264" cy="1508760"/>
          </a:xfrm>
          <a:prstGeom prst="rect">
            <a:avLst/>
          </a:prstGeom>
          <a:noFill/>
        </p:spPr>
        <p:txBody>
          <a:bodyPr wrap="square" lIns="36576" tIns="18288" rIns="36576" bIns="18288" anchor="t">
            <a:spAutoFit/>
          </a:bodyPr>
          <a:lstStyle/>
          <a:p>
            <a:pPr algn="l"/>
            <a:r>
              <a:rPr sz="1450" b="0" i="0">
                <a:solidFill>
                  <a:srgbClr val="B4B8B0"/>
                </a:solidFill>
                <a:latin typeface="Segoe UI"/>
              </a:rPr>
              <a:t>Descobre problemas antes de investir tempo e dinheiro de verdade.</a:t>
            </a:r>
          </a:p>
        </p:txBody>
      </p:sp>
      <p:sp>
        <p:nvSpPr>
          <p:cNvPr id="10" name="Oval 9"/>
          <p:cNvSpPr/>
          <p:nvPr/>
        </p:nvSpPr>
        <p:spPr>
          <a:xfrm>
            <a:off x="859536" y="2459736"/>
            <a:ext cx="566928" cy="566928"/>
          </a:xfrm>
          <a:prstGeom prst="ellipse">
            <a:avLst/>
          </a:prstGeom>
          <a:solidFill>
            <a:srgbClr val="2A9FC0"/>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700" b="1" i="0">
                <a:solidFill>
                  <a:srgbClr val="1A1A1A"/>
                </a:solidFill>
                <a:latin typeface="Segoe UI Semibold"/>
              </a:rPr>
              <a:t>1</a:t>
            </a:r>
          </a:p>
        </p:txBody>
      </p:sp>
      <p:sp>
        <p:nvSpPr>
          <p:cNvPr id="11" name="Rounded Rectangle 10"/>
          <p:cNvSpPr/>
          <p:nvPr/>
        </p:nvSpPr>
        <p:spPr>
          <a:xfrm>
            <a:off x="4337304" y="2148840"/>
            <a:ext cx="3514344" cy="356616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657344" y="3246120"/>
            <a:ext cx="2874264" cy="822960"/>
          </a:xfrm>
          <a:prstGeom prst="rect">
            <a:avLst/>
          </a:prstGeom>
          <a:noFill/>
        </p:spPr>
        <p:txBody>
          <a:bodyPr wrap="square" lIns="36576" tIns="18288" rIns="36576" bIns="18288" anchor="t">
            <a:spAutoFit/>
          </a:bodyPr>
          <a:lstStyle/>
          <a:p>
            <a:pPr algn="l"/>
            <a:r>
              <a:rPr sz="1900" b="1" i="0">
                <a:solidFill>
                  <a:srgbClr val="F2F2EC"/>
                </a:solidFill>
                <a:latin typeface="Segoe UI Semibold"/>
              </a:rPr>
              <a:t>Comunica a ideia</a:t>
            </a:r>
          </a:p>
        </p:txBody>
      </p:sp>
      <p:sp>
        <p:nvSpPr>
          <p:cNvPr id="13" name="TextBox 12"/>
          <p:cNvSpPr txBox="1"/>
          <p:nvPr/>
        </p:nvSpPr>
        <p:spPr>
          <a:xfrm>
            <a:off x="4657344" y="4160520"/>
            <a:ext cx="2874264" cy="1508760"/>
          </a:xfrm>
          <a:prstGeom prst="rect">
            <a:avLst/>
          </a:prstGeom>
          <a:noFill/>
        </p:spPr>
        <p:txBody>
          <a:bodyPr wrap="square" lIns="36576" tIns="18288" rIns="36576" bIns="18288" anchor="t">
            <a:spAutoFit/>
          </a:bodyPr>
          <a:lstStyle/>
          <a:p>
            <a:pPr algn="l"/>
            <a:r>
              <a:rPr sz="1450" b="0" i="0">
                <a:solidFill>
                  <a:srgbClr val="B4B8B0"/>
                </a:solidFill>
                <a:latin typeface="Segoe UI"/>
              </a:rPr>
              <a:t>Clientes e gestores entendem muito mais vendo do que ouvindo.</a:t>
            </a:r>
          </a:p>
        </p:txBody>
      </p:sp>
      <p:sp>
        <p:nvSpPr>
          <p:cNvPr id="14" name="Oval 13"/>
          <p:cNvSpPr/>
          <p:nvPr/>
        </p:nvSpPr>
        <p:spPr>
          <a:xfrm>
            <a:off x="4648200" y="2459736"/>
            <a:ext cx="566928" cy="566928"/>
          </a:xfrm>
          <a:prstGeom prst="ellipse">
            <a:avLst/>
          </a:prstGeom>
          <a:solidFill>
            <a:srgbClr val="2A9FC0"/>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700" b="1" i="0">
                <a:solidFill>
                  <a:srgbClr val="1A1A1A"/>
                </a:solidFill>
                <a:latin typeface="Segoe UI Semibold"/>
              </a:rPr>
              <a:t>2</a:t>
            </a:r>
          </a:p>
        </p:txBody>
      </p:sp>
      <p:sp>
        <p:nvSpPr>
          <p:cNvPr id="15" name="Rounded Rectangle 14"/>
          <p:cNvSpPr/>
          <p:nvPr/>
        </p:nvSpPr>
        <p:spPr>
          <a:xfrm>
            <a:off x="8125968" y="2148840"/>
            <a:ext cx="3514344" cy="356616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446008" y="3246120"/>
            <a:ext cx="2874264" cy="822960"/>
          </a:xfrm>
          <a:prstGeom prst="rect">
            <a:avLst/>
          </a:prstGeom>
          <a:noFill/>
        </p:spPr>
        <p:txBody>
          <a:bodyPr wrap="square" lIns="36576" tIns="18288" rIns="36576" bIns="18288" anchor="t">
            <a:spAutoFit/>
          </a:bodyPr>
          <a:lstStyle/>
          <a:p>
            <a:pPr algn="l"/>
            <a:r>
              <a:rPr sz="1900" b="1" i="0">
                <a:solidFill>
                  <a:srgbClr val="F2F2EC"/>
                </a:solidFill>
                <a:latin typeface="Segoe UI Semibold"/>
              </a:rPr>
              <a:t>Evolui barato</a:t>
            </a:r>
          </a:p>
        </p:txBody>
      </p:sp>
      <p:sp>
        <p:nvSpPr>
          <p:cNvPr id="17" name="TextBox 16"/>
          <p:cNvSpPr txBox="1"/>
          <p:nvPr/>
        </p:nvSpPr>
        <p:spPr>
          <a:xfrm>
            <a:off x="8446008" y="4160520"/>
            <a:ext cx="2874264" cy="1508760"/>
          </a:xfrm>
          <a:prstGeom prst="rect">
            <a:avLst/>
          </a:prstGeom>
          <a:noFill/>
        </p:spPr>
        <p:txBody>
          <a:bodyPr wrap="square" lIns="36576" tIns="18288" rIns="36576" bIns="18288" anchor="t">
            <a:spAutoFit/>
          </a:bodyPr>
          <a:lstStyle/>
          <a:p>
            <a:pPr algn="l"/>
            <a:r>
              <a:rPr sz="1450" b="0" i="0">
                <a:solidFill>
                  <a:srgbClr val="B4B8B0"/>
                </a:solidFill>
                <a:latin typeface="Segoe UI"/>
              </a:rPr>
              <a:t>Mudar um desenho em papel custa minutos; mudar um sistema pronto custa meses.</a:t>
            </a:r>
          </a:p>
        </p:txBody>
      </p:sp>
      <p:sp>
        <p:nvSpPr>
          <p:cNvPr id="18" name="Oval 17"/>
          <p:cNvSpPr/>
          <p:nvPr/>
        </p:nvSpPr>
        <p:spPr>
          <a:xfrm>
            <a:off x="8436864" y="2459736"/>
            <a:ext cx="566928" cy="566928"/>
          </a:xfrm>
          <a:prstGeom prst="ellipse">
            <a:avLst/>
          </a:prstGeom>
          <a:solidFill>
            <a:srgbClr val="2A9FC0"/>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700" b="1" i="0">
                <a:solidFill>
                  <a:srgbClr val="1A1A1A"/>
                </a:solidFill>
                <a:latin typeface="Segoe UI Semibold"/>
              </a:rPr>
              <a:t>3</a:t>
            </a:r>
          </a:p>
        </p:txBody>
      </p:sp>
    </p:spTree>
    <p:extLst>
      <p:ext uri="{BB962C8B-B14F-4D97-AF65-F5344CB8AC3E}">
        <p14:creationId xmlns:p14="http://schemas.microsoft.com/office/powerpoint/2010/main" val="22696835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fill="hold"/>
                                        <p:tgtEl>
                                          <p:spTgt spid="6"/>
                                        </p:tgtEl>
                                      </p:cBhvr>
                                    </p:animEffect>
                                  </p:childTnLst>
                                </p:cTn>
                              </p:par>
                              <p:par>
                                <p:cTn id="11" presetID="42" presetClass="entr" presetSubtype="0" decel="100000" fill="hold" grpId="0" nodeType="withEffect">
                                  <p:stCondLst>
                                    <p:cond delay="45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650" fill="hold"/>
                                        <p:tgtEl>
                                          <p:spTgt spid="7"/>
                                        </p:tgtEl>
                                      </p:cBhvr>
                                    </p:animEffect>
                                    <p:anim calcmode="lin" valueType="num">
                                      <p:cBhvr additive="base">
                                        <p:cTn id="14" dur="650" fill="hold"/>
                                        <p:tgtEl>
                                          <p:spTgt spid="7"/>
                                        </p:tgtEl>
                                        <p:attrNameLst>
                                          <p:attrName>ppt_x</p:attrName>
                                        </p:attrNameLst>
                                      </p:cBhvr>
                                      <p:tavLst>
                                        <p:tav tm="0">
                                          <p:val>
                                            <p:strVal val="#ppt_x"/>
                                          </p:val>
                                        </p:tav>
                                        <p:tav tm="100000">
                                          <p:val>
                                            <p:strVal val="#ppt_x"/>
                                          </p:val>
                                        </p:tav>
                                      </p:tavLst>
                                    </p:anim>
                                    <p:anim calcmode="lin" valueType="num">
                                      <p:cBhvr additive="base">
                                        <p:cTn id="15" dur="650" fill="hold"/>
                                        <p:tgtEl>
                                          <p:spTgt spid="7"/>
                                        </p:tgtEl>
                                        <p:attrNameLst>
                                          <p:attrName>ppt_y</p:attrName>
                                        </p:attrNameLst>
                                      </p:cBhvr>
                                      <p:tavLst>
                                        <p:tav tm="0">
                                          <p:val>
                                            <p:strVal val="#ppt_y+.06"/>
                                          </p:val>
                                        </p:tav>
                                        <p:tav tm="100000">
                                          <p:val>
                                            <p:strVal val="#ppt_y"/>
                                          </p:val>
                                        </p:tav>
                                      </p:tavLst>
                                    </p:anim>
                                  </p:childTnLst>
                                </p:cTn>
                              </p:par>
                              <p:par>
                                <p:cTn id="16" presetID="42" presetClass="entr" presetSubtype="0" decel="100000" fill="hold" grpId="0" nodeType="withEffect">
                                  <p:stCondLst>
                                    <p:cond delay="45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650" fill="hold"/>
                                        <p:tgtEl>
                                          <p:spTgt spid="8"/>
                                        </p:tgtEl>
                                      </p:cBhvr>
                                    </p:animEffect>
                                    <p:anim calcmode="lin" valueType="num">
                                      <p:cBhvr additive="base">
                                        <p:cTn id="19" dur="650" fill="hold"/>
                                        <p:tgtEl>
                                          <p:spTgt spid="8"/>
                                        </p:tgtEl>
                                        <p:attrNameLst>
                                          <p:attrName>ppt_x</p:attrName>
                                        </p:attrNameLst>
                                      </p:cBhvr>
                                      <p:tavLst>
                                        <p:tav tm="0">
                                          <p:val>
                                            <p:strVal val="#ppt_x"/>
                                          </p:val>
                                        </p:tav>
                                        <p:tav tm="100000">
                                          <p:val>
                                            <p:strVal val="#ppt_x"/>
                                          </p:val>
                                        </p:tav>
                                      </p:tavLst>
                                    </p:anim>
                                    <p:anim calcmode="lin" valueType="num">
                                      <p:cBhvr additive="base">
                                        <p:cTn id="20" dur="650" fill="hold"/>
                                        <p:tgtEl>
                                          <p:spTgt spid="8"/>
                                        </p:tgtEl>
                                        <p:attrNameLst>
                                          <p:attrName>ppt_y</p:attrName>
                                        </p:attrNameLst>
                                      </p:cBhvr>
                                      <p:tavLst>
                                        <p:tav tm="0">
                                          <p:val>
                                            <p:strVal val="#ppt_y+.06"/>
                                          </p:val>
                                        </p:tav>
                                        <p:tav tm="100000">
                                          <p:val>
                                            <p:strVal val="#ppt_y"/>
                                          </p:val>
                                        </p:tav>
                                      </p:tavLst>
                                    </p:anim>
                                  </p:childTnLst>
                                </p:cTn>
                              </p:par>
                              <p:par>
                                <p:cTn id="21" presetID="42" presetClass="entr" presetSubtype="0" decel="100000" fill="hold" grpId="0" nodeType="withEffect">
                                  <p:stCondLst>
                                    <p:cond delay="45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650" fill="hold"/>
                                        <p:tgtEl>
                                          <p:spTgt spid="9"/>
                                        </p:tgtEl>
                                      </p:cBhvr>
                                    </p:animEffect>
                                    <p:anim calcmode="lin" valueType="num">
                                      <p:cBhvr additive="base">
                                        <p:cTn id="24" dur="650" fill="hold"/>
                                        <p:tgtEl>
                                          <p:spTgt spid="9"/>
                                        </p:tgtEl>
                                        <p:attrNameLst>
                                          <p:attrName>ppt_x</p:attrName>
                                        </p:attrNameLst>
                                      </p:cBhvr>
                                      <p:tavLst>
                                        <p:tav tm="0">
                                          <p:val>
                                            <p:strVal val="#ppt_x"/>
                                          </p:val>
                                        </p:tav>
                                        <p:tav tm="100000">
                                          <p:val>
                                            <p:strVal val="#ppt_x"/>
                                          </p:val>
                                        </p:tav>
                                      </p:tavLst>
                                    </p:anim>
                                    <p:anim calcmode="lin" valueType="num">
                                      <p:cBhvr additive="base">
                                        <p:cTn id="25" dur="650" fill="hold"/>
                                        <p:tgtEl>
                                          <p:spTgt spid="9"/>
                                        </p:tgtEl>
                                        <p:attrNameLst>
                                          <p:attrName>ppt_y</p:attrName>
                                        </p:attrNameLst>
                                      </p:cBhvr>
                                      <p:tavLst>
                                        <p:tav tm="0">
                                          <p:val>
                                            <p:strVal val="#ppt_y+.06"/>
                                          </p:val>
                                        </p:tav>
                                        <p:tav tm="100000">
                                          <p:val>
                                            <p:strVal val="#ppt_y"/>
                                          </p:val>
                                        </p:tav>
                                      </p:tavLst>
                                    </p:anim>
                                  </p:childTnLst>
                                </p:cTn>
                              </p:par>
                              <p:par>
                                <p:cTn id="26" presetID="53" presetClass="entr" presetSubtype="16" decel="100000" fill="hold" grpId="0" nodeType="withEffect">
                                  <p:stCondLst>
                                    <p:cond delay="600"/>
                                  </p:stCondLst>
                                  <p:childTnLst>
                                    <p:set>
                                      <p:cBhvr>
                                        <p:cTn id="27" dur="1" fill="hold">
                                          <p:stCondLst>
                                            <p:cond delay="0"/>
                                          </p:stCondLst>
                                        </p:cTn>
                                        <p:tgtEl>
                                          <p:spTgt spid="10"/>
                                        </p:tgtEl>
                                        <p:attrNameLst>
                                          <p:attrName>style.visibility</p:attrName>
                                        </p:attrNameLst>
                                      </p:cBhvr>
                                      <p:to>
                                        <p:strVal val="visible"/>
                                      </p:to>
                                    </p:set>
                                    <p:anim calcmode="lin" valueType="num">
                                      <p:cBhvr additive="base">
                                        <p:cTn id="28" dur="450" fill="hold"/>
                                        <p:tgtEl>
                                          <p:spTgt spid="10"/>
                                        </p:tgtEl>
                                        <p:attrNameLst>
                                          <p:attrName>ppt_w</p:attrName>
                                        </p:attrNameLst>
                                      </p:cBhvr>
                                      <p:tavLst>
                                        <p:tav tm="0">
                                          <p:val>
                                            <p:strVal val="0"/>
                                          </p:val>
                                        </p:tav>
                                        <p:tav tm="70000">
                                          <p:val>
                                            <p:strVal val="#ppt_w*1.08"/>
                                          </p:val>
                                        </p:tav>
                                        <p:tav tm="100000">
                                          <p:val>
                                            <p:strVal val="#ppt_w"/>
                                          </p:val>
                                        </p:tav>
                                      </p:tavLst>
                                    </p:anim>
                                    <p:anim calcmode="lin" valueType="num">
                                      <p:cBhvr additive="base">
                                        <p:cTn id="29" dur="450" fill="hold"/>
                                        <p:tgtEl>
                                          <p:spTgt spid="10"/>
                                        </p:tgtEl>
                                        <p:attrNameLst>
                                          <p:attrName>ppt_h</p:attrName>
                                        </p:attrNameLst>
                                      </p:cBhvr>
                                      <p:tavLst>
                                        <p:tav tm="0">
                                          <p:val>
                                            <p:strVal val="0"/>
                                          </p:val>
                                        </p:tav>
                                        <p:tav tm="70000">
                                          <p:val>
                                            <p:strVal val="#ppt_h*1.08"/>
                                          </p:val>
                                        </p:tav>
                                        <p:tav tm="100000">
                                          <p:val>
                                            <p:strVal val="#ppt_h"/>
                                          </p:val>
                                        </p:tav>
                                      </p:tavLst>
                                    </p:anim>
                                    <p:animEffect transition="in" filter="fade">
                                      <p:cBhvr>
                                        <p:cTn id="30" dur="270" fill="hold"/>
                                        <p:tgtEl>
                                          <p:spTgt spid="10"/>
                                        </p:tgtEl>
                                      </p:cBhvr>
                                    </p:animEffect>
                                  </p:childTnLst>
                                </p:cTn>
                              </p:par>
                              <p:par>
                                <p:cTn id="31" presetID="42" presetClass="entr" presetSubtype="0" decel="100000" fill="hold" grpId="0" nodeType="withEffect">
                                  <p:stCondLst>
                                    <p:cond delay="78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650" fill="hold"/>
                                        <p:tgtEl>
                                          <p:spTgt spid="11"/>
                                        </p:tgtEl>
                                      </p:cBhvr>
                                    </p:animEffect>
                                    <p:anim calcmode="lin" valueType="num">
                                      <p:cBhvr additive="base">
                                        <p:cTn id="34" dur="650" fill="hold"/>
                                        <p:tgtEl>
                                          <p:spTgt spid="11"/>
                                        </p:tgtEl>
                                        <p:attrNameLst>
                                          <p:attrName>ppt_x</p:attrName>
                                        </p:attrNameLst>
                                      </p:cBhvr>
                                      <p:tavLst>
                                        <p:tav tm="0">
                                          <p:val>
                                            <p:strVal val="#ppt_x"/>
                                          </p:val>
                                        </p:tav>
                                        <p:tav tm="100000">
                                          <p:val>
                                            <p:strVal val="#ppt_x"/>
                                          </p:val>
                                        </p:tav>
                                      </p:tavLst>
                                    </p:anim>
                                    <p:anim calcmode="lin" valueType="num">
                                      <p:cBhvr additive="base">
                                        <p:cTn id="35" dur="650" fill="hold"/>
                                        <p:tgtEl>
                                          <p:spTgt spid="11"/>
                                        </p:tgtEl>
                                        <p:attrNameLst>
                                          <p:attrName>ppt_y</p:attrName>
                                        </p:attrNameLst>
                                      </p:cBhvr>
                                      <p:tavLst>
                                        <p:tav tm="0">
                                          <p:val>
                                            <p:strVal val="#ppt_y+.06"/>
                                          </p:val>
                                        </p:tav>
                                        <p:tav tm="100000">
                                          <p:val>
                                            <p:strVal val="#ppt_y"/>
                                          </p:val>
                                        </p:tav>
                                      </p:tavLst>
                                    </p:anim>
                                  </p:childTnLst>
                                </p:cTn>
                              </p:par>
                              <p:par>
                                <p:cTn id="36" presetID="42" presetClass="entr" presetSubtype="0" decel="100000" fill="hold" grpId="0" nodeType="withEffect">
                                  <p:stCondLst>
                                    <p:cond delay="78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650" fill="hold"/>
                                        <p:tgtEl>
                                          <p:spTgt spid="12"/>
                                        </p:tgtEl>
                                      </p:cBhvr>
                                    </p:animEffect>
                                    <p:anim calcmode="lin" valueType="num">
                                      <p:cBhvr additive="base">
                                        <p:cTn id="39" dur="650" fill="hold"/>
                                        <p:tgtEl>
                                          <p:spTgt spid="12"/>
                                        </p:tgtEl>
                                        <p:attrNameLst>
                                          <p:attrName>ppt_x</p:attrName>
                                        </p:attrNameLst>
                                      </p:cBhvr>
                                      <p:tavLst>
                                        <p:tav tm="0">
                                          <p:val>
                                            <p:strVal val="#ppt_x"/>
                                          </p:val>
                                        </p:tav>
                                        <p:tav tm="100000">
                                          <p:val>
                                            <p:strVal val="#ppt_x"/>
                                          </p:val>
                                        </p:tav>
                                      </p:tavLst>
                                    </p:anim>
                                    <p:anim calcmode="lin" valueType="num">
                                      <p:cBhvr additive="base">
                                        <p:cTn id="40" dur="650" fill="hold"/>
                                        <p:tgtEl>
                                          <p:spTgt spid="12"/>
                                        </p:tgtEl>
                                        <p:attrNameLst>
                                          <p:attrName>ppt_y</p:attrName>
                                        </p:attrNameLst>
                                      </p:cBhvr>
                                      <p:tavLst>
                                        <p:tav tm="0">
                                          <p:val>
                                            <p:strVal val="#ppt_y+.06"/>
                                          </p:val>
                                        </p:tav>
                                        <p:tav tm="100000">
                                          <p:val>
                                            <p:strVal val="#ppt_y"/>
                                          </p:val>
                                        </p:tav>
                                      </p:tavLst>
                                    </p:anim>
                                  </p:childTnLst>
                                </p:cTn>
                              </p:par>
                              <p:par>
                                <p:cTn id="41" presetID="42" presetClass="entr" presetSubtype="0" decel="100000" fill="hold" grpId="0" nodeType="withEffect">
                                  <p:stCondLst>
                                    <p:cond delay="78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650" fill="hold"/>
                                        <p:tgtEl>
                                          <p:spTgt spid="13"/>
                                        </p:tgtEl>
                                      </p:cBhvr>
                                    </p:animEffect>
                                    <p:anim calcmode="lin" valueType="num">
                                      <p:cBhvr additive="base">
                                        <p:cTn id="44" dur="650" fill="hold"/>
                                        <p:tgtEl>
                                          <p:spTgt spid="13"/>
                                        </p:tgtEl>
                                        <p:attrNameLst>
                                          <p:attrName>ppt_x</p:attrName>
                                        </p:attrNameLst>
                                      </p:cBhvr>
                                      <p:tavLst>
                                        <p:tav tm="0">
                                          <p:val>
                                            <p:strVal val="#ppt_x"/>
                                          </p:val>
                                        </p:tav>
                                        <p:tav tm="100000">
                                          <p:val>
                                            <p:strVal val="#ppt_x"/>
                                          </p:val>
                                        </p:tav>
                                      </p:tavLst>
                                    </p:anim>
                                    <p:anim calcmode="lin" valueType="num">
                                      <p:cBhvr additive="base">
                                        <p:cTn id="45" dur="650" fill="hold"/>
                                        <p:tgtEl>
                                          <p:spTgt spid="13"/>
                                        </p:tgtEl>
                                        <p:attrNameLst>
                                          <p:attrName>ppt_y</p:attrName>
                                        </p:attrNameLst>
                                      </p:cBhvr>
                                      <p:tavLst>
                                        <p:tav tm="0">
                                          <p:val>
                                            <p:strVal val="#ppt_y+.06"/>
                                          </p:val>
                                        </p:tav>
                                        <p:tav tm="100000">
                                          <p:val>
                                            <p:strVal val="#ppt_y"/>
                                          </p:val>
                                        </p:tav>
                                      </p:tavLst>
                                    </p:anim>
                                  </p:childTnLst>
                                </p:cTn>
                              </p:par>
                              <p:par>
                                <p:cTn id="46" presetID="53" presetClass="entr" presetSubtype="16" decel="100000" fill="hold" grpId="0" nodeType="withEffect">
                                  <p:stCondLst>
                                    <p:cond delay="930"/>
                                  </p:stCondLst>
                                  <p:childTnLst>
                                    <p:set>
                                      <p:cBhvr>
                                        <p:cTn id="47" dur="1" fill="hold">
                                          <p:stCondLst>
                                            <p:cond delay="0"/>
                                          </p:stCondLst>
                                        </p:cTn>
                                        <p:tgtEl>
                                          <p:spTgt spid="14"/>
                                        </p:tgtEl>
                                        <p:attrNameLst>
                                          <p:attrName>style.visibility</p:attrName>
                                        </p:attrNameLst>
                                      </p:cBhvr>
                                      <p:to>
                                        <p:strVal val="visible"/>
                                      </p:to>
                                    </p:set>
                                    <p:anim calcmode="lin" valueType="num">
                                      <p:cBhvr additive="base">
                                        <p:cTn id="48" dur="450" fill="hold"/>
                                        <p:tgtEl>
                                          <p:spTgt spid="14"/>
                                        </p:tgtEl>
                                        <p:attrNameLst>
                                          <p:attrName>ppt_w</p:attrName>
                                        </p:attrNameLst>
                                      </p:cBhvr>
                                      <p:tavLst>
                                        <p:tav tm="0">
                                          <p:val>
                                            <p:strVal val="0"/>
                                          </p:val>
                                        </p:tav>
                                        <p:tav tm="70000">
                                          <p:val>
                                            <p:strVal val="#ppt_w*1.08"/>
                                          </p:val>
                                        </p:tav>
                                        <p:tav tm="100000">
                                          <p:val>
                                            <p:strVal val="#ppt_w"/>
                                          </p:val>
                                        </p:tav>
                                      </p:tavLst>
                                    </p:anim>
                                    <p:anim calcmode="lin" valueType="num">
                                      <p:cBhvr additive="base">
                                        <p:cTn id="49" dur="450" fill="hold"/>
                                        <p:tgtEl>
                                          <p:spTgt spid="14"/>
                                        </p:tgtEl>
                                        <p:attrNameLst>
                                          <p:attrName>ppt_h</p:attrName>
                                        </p:attrNameLst>
                                      </p:cBhvr>
                                      <p:tavLst>
                                        <p:tav tm="0">
                                          <p:val>
                                            <p:strVal val="0"/>
                                          </p:val>
                                        </p:tav>
                                        <p:tav tm="70000">
                                          <p:val>
                                            <p:strVal val="#ppt_h*1.08"/>
                                          </p:val>
                                        </p:tav>
                                        <p:tav tm="100000">
                                          <p:val>
                                            <p:strVal val="#ppt_h"/>
                                          </p:val>
                                        </p:tav>
                                      </p:tavLst>
                                    </p:anim>
                                    <p:animEffect transition="in" filter="fade">
                                      <p:cBhvr>
                                        <p:cTn id="50" dur="270" fill="hold"/>
                                        <p:tgtEl>
                                          <p:spTgt spid="14"/>
                                        </p:tgtEl>
                                      </p:cBhvr>
                                    </p:animEffect>
                                  </p:childTnLst>
                                </p:cTn>
                              </p:par>
                              <p:par>
                                <p:cTn id="51" presetID="42" presetClass="entr" presetSubtype="0" decel="100000" fill="hold" grpId="0" nodeType="withEffect">
                                  <p:stCondLst>
                                    <p:cond delay="1110"/>
                                  </p:stCondLst>
                                  <p:childTnLst>
                                    <p:set>
                                      <p:cBhvr>
                                        <p:cTn id="52" dur="1" fill="hold">
                                          <p:stCondLst>
                                            <p:cond delay="0"/>
                                          </p:stCondLst>
                                        </p:cTn>
                                        <p:tgtEl>
                                          <p:spTgt spid="15"/>
                                        </p:tgtEl>
                                        <p:attrNameLst>
                                          <p:attrName>style.visibility</p:attrName>
                                        </p:attrNameLst>
                                      </p:cBhvr>
                                      <p:to>
                                        <p:strVal val="visible"/>
                                      </p:to>
                                    </p:set>
                                    <p:animEffect transition="in" filter="fade">
                                      <p:cBhvr>
                                        <p:cTn id="53" dur="650" fill="hold"/>
                                        <p:tgtEl>
                                          <p:spTgt spid="15"/>
                                        </p:tgtEl>
                                      </p:cBhvr>
                                    </p:animEffect>
                                    <p:anim calcmode="lin" valueType="num">
                                      <p:cBhvr additive="base">
                                        <p:cTn id="54" dur="650" fill="hold"/>
                                        <p:tgtEl>
                                          <p:spTgt spid="15"/>
                                        </p:tgtEl>
                                        <p:attrNameLst>
                                          <p:attrName>ppt_x</p:attrName>
                                        </p:attrNameLst>
                                      </p:cBhvr>
                                      <p:tavLst>
                                        <p:tav tm="0">
                                          <p:val>
                                            <p:strVal val="#ppt_x"/>
                                          </p:val>
                                        </p:tav>
                                        <p:tav tm="100000">
                                          <p:val>
                                            <p:strVal val="#ppt_x"/>
                                          </p:val>
                                        </p:tav>
                                      </p:tavLst>
                                    </p:anim>
                                    <p:anim calcmode="lin" valueType="num">
                                      <p:cBhvr additive="base">
                                        <p:cTn id="55" dur="650" fill="hold"/>
                                        <p:tgtEl>
                                          <p:spTgt spid="15"/>
                                        </p:tgtEl>
                                        <p:attrNameLst>
                                          <p:attrName>ppt_y</p:attrName>
                                        </p:attrNameLst>
                                      </p:cBhvr>
                                      <p:tavLst>
                                        <p:tav tm="0">
                                          <p:val>
                                            <p:strVal val="#ppt_y+.06"/>
                                          </p:val>
                                        </p:tav>
                                        <p:tav tm="100000">
                                          <p:val>
                                            <p:strVal val="#ppt_y"/>
                                          </p:val>
                                        </p:tav>
                                      </p:tavLst>
                                    </p:anim>
                                  </p:childTnLst>
                                </p:cTn>
                              </p:par>
                              <p:par>
                                <p:cTn id="56" presetID="42" presetClass="entr" presetSubtype="0" decel="100000" fill="hold" grpId="0" nodeType="withEffect">
                                  <p:stCondLst>
                                    <p:cond delay="111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650" fill="hold"/>
                                        <p:tgtEl>
                                          <p:spTgt spid="16"/>
                                        </p:tgtEl>
                                      </p:cBhvr>
                                    </p:animEffect>
                                    <p:anim calcmode="lin" valueType="num">
                                      <p:cBhvr additive="base">
                                        <p:cTn id="59" dur="650" fill="hold"/>
                                        <p:tgtEl>
                                          <p:spTgt spid="16"/>
                                        </p:tgtEl>
                                        <p:attrNameLst>
                                          <p:attrName>ppt_x</p:attrName>
                                        </p:attrNameLst>
                                      </p:cBhvr>
                                      <p:tavLst>
                                        <p:tav tm="0">
                                          <p:val>
                                            <p:strVal val="#ppt_x"/>
                                          </p:val>
                                        </p:tav>
                                        <p:tav tm="100000">
                                          <p:val>
                                            <p:strVal val="#ppt_x"/>
                                          </p:val>
                                        </p:tav>
                                      </p:tavLst>
                                    </p:anim>
                                    <p:anim calcmode="lin" valueType="num">
                                      <p:cBhvr additive="base">
                                        <p:cTn id="60" dur="650" fill="hold"/>
                                        <p:tgtEl>
                                          <p:spTgt spid="16"/>
                                        </p:tgtEl>
                                        <p:attrNameLst>
                                          <p:attrName>ppt_y</p:attrName>
                                        </p:attrNameLst>
                                      </p:cBhvr>
                                      <p:tavLst>
                                        <p:tav tm="0">
                                          <p:val>
                                            <p:strVal val="#ppt_y+.06"/>
                                          </p:val>
                                        </p:tav>
                                        <p:tav tm="100000">
                                          <p:val>
                                            <p:strVal val="#ppt_y"/>
                                          </p:val>
                                        </p:tav>
                                      </p:tavLst>
                                    </p:anim>
                                  </p:childTnLst>
                                </p:cTn>
                              </p:par>
                              <p:par>
                                <p:cTn id="61" presetID="42" presetClass="entr" presetSubtype="0" decel="100000" fill="hold" grpId="0" nodeType="withEffect">
                                  <p:stCondLst>
                                    <p:cond delay="1110"/>
                                  </p:stCondLst>
                                  <p:childTnLst>
                                    <p:set>
                                      <p:cBhvr>
                                        <p:cTn id="62" dur="1" fill="hold">
                                          <p:stCondLst>
                                            <p:cond delay="0"/>
                                          </p:stCondLst>
                                        </p:cTn>
                                        <p:tgtEl>
                                          <p:spTgt spid="17"/>
                                        </p:tgtEl>
                                        <p:attrNameLst>
                                          <p:attrName>style.visibility</p:attrName>
                                        </p:attrNameLst>
                                      </p:cBhvr>
                                      <p:to>
                                        <p:strVal val="visible"/>
                                      </p:to>
                                    </p:set>
                                    <p:animEffect transition="in" filter="fade">
                                      <p:cBhvr>
                                        <p:cTn id="63" dur="650" fill="hold"/>
                                        <p:tgtEl>
                                          <p:spTgt spid="17"/>
                                        </p:tgtEl>
                                      </p:cBhvr>
                                    </p:animEffect>
                                    <p:anim calcmode="lin" valueType="num">
                                      <p:cBhvr additive="base">
                                        <p:cTn id="64" dur="650" fill="hold"/>
                                        <p:tgtEl>
                                          <p:spTgt spid="17"/>
                                        </p:tgtEl>
                                        <p:attrNameLst>
                                          <p:attrName>ppt_x</p:attrName>
                                        </p:attrNameLst>
                                      </p:cBhvr>
                                      <p:tavLst>
                                        <p:tav tm="0">
                                          <p:val>
                                            <p:strVal val="#ppt_x"/>
                                          </p:val>
                                        </p:tav>
                                        <p:tav tm="100000">
                                          <p:val>
                                            <p:strVal val="#ppt_x"/>
                                          </p:val>
                                        </p:tav>
                                      </p:tavLst>
                                    </p:anim>
                                    <p:anim calcmode="lin" valueType="num">
                                      <p:cBhvr additive="base">
                                        <p:cTn id="65" dur="650" fill="hold"/>
                                        <p:tgtEl>
                                          <p:spTgt spid="17"/>
                                        </p:tgtEl>
                                        <p:attrNameLst>
                                          <p:attrName>ppt_y</p:attrName>
                                        </p:attrNameLst>
                                      </p:cBhvr>
                                      <p:tavLst>
                                        <p:tav tm="0">
                                          <p:val>
                                            <p:strVal val="#ppt_y+.06"/>
                                          </p:val>
                                        </p:tav>
                                        <p:tav tm="100000">
                                          <p:val>
                                            <p:strVal val="#ppt_y"/>
                                          </p:val>
                                        </p:tav>
                                      </p:tavLst>
                                    </p:anim>
                                  </p:childTnLst>
                                </p:cTn>
                              </p:par>
                              <p:par>
                                <p:cTn id="66" presetID="53" presetClass="entr" presetSubtype="16" decel="100000" fill="hold" grpId="0" nodeType="withEffect">
                                  <p:stCondLst>
                                    <p:cond delay="1260"/>
                                  </p:stCondLst>
                                  <p:childTnLst>
                                    <p:set>
                                      <p:cBhvr>
                                        <p:cTn id="67" dur="1" fill="hold">
                                          <p:stCondLst>
                                            <p:cond delay="0"/>
                                          </p:stCondLst>
                                        </p:cTn>
                                        <p:tgtEl>
                                          <p:spTgt spid="18"/>
                                        </p:tgtEl>
                                        <p:attrNameLst>
                                          <p:attrName>style.visibility</p:attrName>
                                        </p:attrNameLst>
                                      </p:cBhvr>
                                      <p:to>
                                        <p:strVal val="visible"/>
                                      </p:to>
                                    </p:set>
                                    <p:anim calcmode="lin" valueType="num">
                                      <p:cBhvr additive="base">
                                        <p:cTn id="68" dur="450" fill="hold"/>
                                        <p:tgtEl>
                                          <p:spTgt spid="18"/>
                                        </p:tgtEl>
                                        <p:attrNameLst>
                                          <p:attrName>ppt_w</p:attrName>
                                        </p:attrNameLst>
                                      </p:cBhvr>
                                      <p:tavLst>
                                        <p:tav tm="0">
                                          <p:val>
                                            <p:strVal val="0"/>
                                          </p:val>
                                        </p:tav>
                                        <p:tav tm="70000">
                                          <p:val>
                                            <p:strVal val="#ppt_w*1.08"/>
                                          </p:val>
                                        </p:tav>
                                        <p:tav tm="100000">
                                          <p:val>
                                            <p:strVal val="#ppt_w"/>
                                          </p:val>
                                        </p:tav>
                                      </p:tavLst>
                                    </p:anim>
                                    <p:anim calcmode="lin" valueType="num">
                                      <p:cBhvr additive="base">
                                        <p:cTn id="69" dur="450" fill="hold"/>
                                        <p:tgtEl>
                                          <p:spTgt spid="18"/>
                                        </p:tgtEl>
                                        <p:attrNameLst>
                                          <p:attrName>ppt_h</p:attrName>
                                        </p:attrNameLst>
                                      </p:cBhvr>
                                      <p:tavLst>
                                        <p:tav tm="0">
                                          <p:val>
                                            <p:strVal val="0"/>
                                          </p:val>
                                        </p:tav>
                                        <p:tav tm="70000">
                                          <p:val>
                                            <p:strVal val="#ppt_h*1.08"/>
                                          </p:val>
                                        </p:tav>
                                        <p:tav tm="100000">
                                          <p:val>
                                            <p:strVal val="#ppt_h"/>
                                          </p:val>
                                        </p:tav>
                                      </p:tavLst>
                                    </p:anim>
                                    <p:animEffect transition="in" filter="fade">
                                      <p:cBhvr>
                                        <p:cTn id="70" dur="270" fill="hold"/>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2A9FC0"/>
                </a:solidFill>
                <a:latin typeface="Segoe UI Semibold"/>
              </a:rPr>
              <a:t>MÓDULO 5  ·  PROTOTIPAR E TESTAR</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Baixa x alta fidelidade</a:t>
            </a:r>
          </a:p>
        </p:txBody>
      </p:sp>
      <p:sp>
        <p:nvSpPr>
          <p:cNvPr id="6" name="Rounded Rectangle 5"/>
          <p:cNvSpPr/>
          <p:nvPr/>
        </p:nvSpPr>
        <p:spPr>
          <a:xfrm>
            <a:off x="548640" y="1554480"/>
            <a:ext cx="5394960" cy="434340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914400" y="1783080"/>
            <a:ext cx="4663440" cy="548640"/>
          </a:xfrm>
          <a:prstGeom prst="rect">
            <a:avLst/>
          </a:prstGeom>
          <a:noFill/>
        </p:spPr>
        <p:txBody>
          <a:bodyPr wrap="square" lIns="36576" tIns="18288" rIns="36576" bIns="18288" anchor="t">
            <a:spAutoFit/>
          </a:bodyPr>
          <a:lstStyle/>
          <a:p>
            <a:pPr algn="l"/>
            <a:r>
              <a:rPr sz="2200" b="1" i="0">
                <a:solidFill>
                  <a:srgbClr val="B4B8B0"/>
                </a:solidFill>
                <a:latin typeface="Segoe UI Semibold"/>
              </a:rPr>
              <a:t>Baixa fidelidade</a:t>
            </a:r>
          </a:p>
        </p:txBody>
      </p:sp>
      <p:sp>
        <p:nvSpPr>
          <p:cNvPr id="8" name="TextBox 7"/>
          <p:cNvSpPr txBox="1"/>
          <p:nvPr/>
        </p:nvSpPr>
        <p:spPr>
          <a:xfrm>
            <a:off x="914400" y="2514600"/>
            <a:ext cx="4754880" cy="3200400"/>
          </a:xfrm>
          <a:prstGeom prst="rect">
            <a:avLst/>
          </a:prstGeom>
          <a:noFill/>
        </p:spPr>
        <p:txBody>
          <a:bodyPr wrap="square">
            <a:spAutoFit/>
          </a:bodyPr>
          <a:lstStyle/>
          <a:p>
            <a:pPr marL="292608" indent="-292608">
              <a:spcAft>
                <a:spcPts val="1400"/>
              </a:spcAft>
              <a:buClr>
                <a:srgbClr val="7D827B"/>
              </a:buClr>
              <a:buFont typeface="Arial"/>
              <a:buChar char="●"/>
            </a:pPr>
            <a:r>
              <a:rPr sz="1600">
                <a:solidFill>
                  <a:srgbClr val="F2F2EC"/>
                </a:solidFill>
                <a:latin typeface="Segoe UI"/>
              </a:rPr>
              <a:t>Papel, post-its, desenhos, maquetes</a:t>
            </a:r>
          </a:p>
          <a:p>
            <a:pPr marL="292608" indent="-292608">
              <a:spcAft>
                <a:spcPts val="1400"/>
              </a:spcAft>
              <a:buClr>
                <a:srgbClr val="7D827B"/>
              </a:buClr>
              <a:buFont typeface="Arial"/>
              <a:buChar char="●"/>
            </a:pPr>
            <a:r>
              <a:rPr sz="1600">
                <a:solidFill>
                  <a:srgbClr val="F2F2EC"/>
                </a:solidFill>
                <a:latin typeface="Segoe UI"/>
              </a:rPr>
              <a:t>Rápido, barato, qualquer pessoa faz</a:t>
            </a:r>
          </a:p>
          <a:p>
            <a:pPr marL="292608" indent="-292608">
              <a:spcAft>
                <a:spcPts val="1400"/>
              </a:spcAft>
              <a:buClr>
                <a:srgbClr val="7D827B"/>
              </a:buClr>
              <a:buFont typeface="Arial"/>
              <a:buChar char="●"/>
            </a:pPr>
            <a:r>
              <a:rPr sz="1600">
                <a:solidFill>
                  <a:srgbClr val="F2F2EC"/>
                </a:solidFill>
                <a:latin typeface="Segoe UI"/>
              </a:rPr>
              <a:t>Ótimo para validar o conceito</a:t>
            </a:r>
          </a:p>
          <a:p>
            <a:pPr marL="292608" indent="-292608">
              <a:buClr>
                <a:srgbClr val="7D827B"/>
              </a:buClr>
              <a:buFont typeface="Arial"/>
              <a:buChar char="●"/>
            </a:pPr>
            <a:r>
              <a:rPr sz="1600">
                <a:solidFill>
                  <a:srgbClr val="F2F2EC"/>
                </a:solidFill>
                <a:latin typeface="Segoe UI"/>
              </a:rPr>
              <a:t>Pode confundir quem testa, por ser pouco realista</a:t>
            </a:r>
          </a:p>
        </p:txBody>
      </p:sp>
      <p:sp>
        <p:nvSpPr>
          <p:cNvPr id="9" name="Rounded Rectangle 8"/>
          <p:cNvSpPr/>
          <p:nvPr/>
        </p:nvSpPr>
        <p:spPr>
          <a:xfrm>
            <a:off x="6263640" y="1554480"/>
            <a:ext cx="5394960" cy="4343400"/>
          </a:xfrm>
          <a:prstGeom prst="roundRect">
            <a:avLst>
              <a:gd name="adj" fmla="val 5000"/>
            </a:avLst>
          </a:prstGeom>
          <a:solidFill>
            <a:srgbClr val="2E3431"/>
          </a:solidFill>
          <a:ln w="19050">
            <a:solidFill>
              <a:srgbClr val="2A9FC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629400" y="1783080"/>
            <a:ext cx="4663440" cy="548640"/>
          </a:xfrm>
          <a:prstGeom prst="rect">
            <a:avLst/>
          </a:prstGeom>
          <a:noFill/>
        </p:spPr>
        <p:txBody>
          <a:bodyPr wrap="square" lIns="36576" tIns="18288" rIns="36576" bIns="18288" anchor="t">
            <a:spAutoFit/>
          </a:bodyPr>
          <a:lstStyle/>
          <a:p>
            <a:pPr algn="l"/>
            <a:r>
              <a:rPr sz="2200" b="1" i="0">
                <a:solidFill>
                  <a:srgbClr val="2A9FC0"/>
                </a:solidFill>
                <a:latin typeface="Segoe UI Semibold"/>
              </a:rPr>
              <a:t>Alta fidelidade</a:t>
            </a:r>
          </a:p>
        </p:txBody>
      </p:sp>
      <p:sp>
        <p:nvSpPr>
          <p:cNvPr id="11" name="TextBox 10"/>
          <p:cNvSpPr txBox="1"/>
          <p:nvPr/>
        </p:nvSpPr>
        <p:spPr>
          <a:xfrm>
            <a:off x="6629400" y="2514600"/>
            <a:ext cx="4754880" cy="3200400"/>
          </a:xfrm>
          <a:prstGeom prst="rect">
            <a:avLst/>
          </a:prstGeom>
          <a:noFill/>
        </p:spPr>
        <p:txBody>
          <a:bodyPr wrap="square">
            <a:spAutoFit/>
          </a:bodyPr>
          <a:lstStyle/>
          <a:p>
            <a:pPr marL="292608" indent="-292608">
              <a:spcAft>
                <a:spcPts val="1400"/>
              </a:spcAft>
              <a:buClr>
                <a:srgbClr val="2A9FC0"/>
              </a:buClr>
              <a:buFont typeface="Arial"/>
              <a:buChar char="●"/>
            </a:pPr>
            <a:r>
              <a:rPr sz="1600">
                <a:solidFill>
                  <a:srgbClr val="F2F2EC"/>
                </a:solidFill>
                <a:latin typeface="Segoe UI"/>
              </a:rPr>
              <a:t>Figma, sistemas navegáveis, produto piloto</a:t>
            </a:r>
          </a:p>
          <a:p>
            <a:pPr marL="292608" indent="-292608">
              <a:spcAft>
                <a:spcPts val="1400"/>
              </a:spcAft>
              <a:buClr>
                <a:srgbClr val="2A9FC0"/>
              </a:buClr>
              <a:buFont typeface="Arial"/>
              <a:buChar char="●"/>
            </a:pPr>
            <a:r>
              <a:rPr sz="1600">
                <a:solidFill>
                  <a:srgbClr val="F2F2EC"/>
                </a:solidFill>
                <a:latin typeface="Segoe UI"/>
              </a:rPr>
              <a:t>Parece e funciona como o real</a:t>
            </a:r>
          </a:p>
          <a:p>
            <a:pPr marL="292608" indent="-292608">
              <a:spcAft>
                <a:spcPts val="1400"/>
              </a:spcAft>
              <a:buClr>
                <a:srgbClr val="2A9FC0"/>
              </a:buClr>
              <a:buFont typeface="Arial"/>
              <a:buChar char="●"/>
            </a:pPr>
            <a:r>
              <a:rPr sz="1600">
                <a:solidFill>
                  <a:srgbClr val="F2F2EC"/>
                </a:solidFill>
                <a:latin typeface="Segoe UI"/>
              </a:rPr>
              <a:t>Ótimo para validar detalhes e usabilidade</a:t>
            </a:r>
          </a:p>
          <a:p>
            <a:pPr marL="292608" indent="-292608">
              <a:buClr>
                <a:srgbClr val="2A9FC0"/>
              </a:buClr>
              <a:buFont typeface="Arial"/>
              <a:buChar char="●"/>
            </a:pPr>
            <a:r>
              <a:rPr sz="1600">
                <a:solidFill>
                  <a:srgbClr val="F2F2EC"/>
                </a:solidFill>
                <a:latin typeface="Segoe UI"/>
              </a:rPr>
              <a:t>Mais caro e demorado; atrai críticas visuais</a:t>
            </a:r>
          </a:p>
        </p:txBody>
      </p:sp>
      <p:sp>
        <p:nvSpPr>
          <p:cNvPr id="12" name="Oval 11"/>
          <p:cNvSpPr/>
          <p:nvPr/>
        </p:nvSpPr>
        <p:spPr>
          <a:xfrm>
            <a:off x="5829300" y="3429000"/>
            <a:ext cx="548640" cy="548640"/>
          </a:xfrm>
          <a:prstGeom prst="ellipse">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400" b="1" i="0">
                <a:solidFill>
                  <a:srgbClr val="B4B8B0"/>
                </a:solidFill>
                <a:latin typeface="Segoe UI Semibold"/>
              </a:rPr>
              <a:t>vs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42" presetClass="entr" presetSubtype="0" decel="100000" fill="hold" grpId="0" nodeType="withEffect">
                                  <p:stCondLst>
                                    <p:cond delay="2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50" fill="hold"/>
                                        <p:tgtEl>
                                          <p:spTgt spid="6"/>
                                        </p:tgtEl>
                                      </p:cBhvr>
                                    </p:animEffect>
                                    <p:anim calcmode="lin" valueType="num">
                                      <p:cBhvr additive="base">
                                        <p:cTn id="11" dur="650" fill="hold"/>
                                        <p:tgtEl>
                                          <p:spTgt spid="6"/>
                                        </p:tgtEl>
                                        <p:attrNameLst>
                                          <p:attrName>ppt_x</p:attrName>
                                        </p:attrNameLst>
                                      </p:cBhvr>
                                      <p:tavLst>
                                        <p:tav tm="0">
                                          <p:val>
                                            <p:strVal val="#ppt_x"/>
                                          </p:val>
                                        </p:tav>
                                        <p:tav tm="100000">
                                          <p:val>
                                            <p:strVal val="#ppt_x"/>
                                          </p:val>
                                        </p:tav>
                                      </p:tavLst>
                                    </p:anim>
                                    <p:anim calcmode="lin" valueType="num">
                                      <p:cBhvr additive="base">
                                        <p:cTn id="12" dur="650" fill="hold"/>
                                        <p:tgtEl>
                                          <p:spTgt spid="6"/>
                                        </p:tgtEl>
                                        <p:attrNameLst>
                                          <p:attrName>ppt_y</p:attrName>
                                        </p:attrNameLst>
                                      </p:cBhvr>
                                      <p:tavLst>
                                        <p:tav tm="0">
                                          <p:val>
                                            <p:strVal val="#ppt_y+.06"/>
                                          </p:val>
                                        </p:tav>
                                        <p:tav tm="100000">
                                          <p:val>
                                            <p:strVal val="#ppt_y"/>
                                          </p:val>
                                        </p:tav>
                                      </p:tavLst>
                                    </p:anim>
                                  </p:childTnLst>
                                </p:cTn>
                              </p:par>
                              <p:par>
                                <p:cTn id="13" presetID="42" presetClass="entr" presetSubtype="0" decel="100000" fill="hold" grpId="0" nodeType="withEffect">
                                  <p:stCondLst>
                                    <p:cond delay="20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fill="hold"/>
                                        <p:tgtEl>
                                          <p:spTgt spid="7"/>
                                        </p:tgtEl>
                                      </p:cBhvr>
                                    </p:animEffect>
                                    <p:anim calcmode="lin" valueType="num">
                                      <p:cBhvr additive="base">
                                        <p:cTn id="16" dur="650" fill="hold"/>
                                        <p:tgtEl>
                                          <p:spTgt spid="7"/>
                                        </p:tgtEl>
                                        <p:attrNameLst>
                                          <p:attrName>ppt_x</p:attrName>
                                        </p:attrNameLst>
                                      </p:cBhvr>
                                      <p:tavLst>
                                        <p:tav tm="0">
                                          <p:val>
                                            <p:strVal val="#ppt_x"/>
                                          </p:val>
                                        </p:tav>
                                        <p:tav tm="100000">
                                          <p:val>
                                            <p:strVal val="#ppt_x"/>
                                          </p:val>
                                        </p:tav>
                                      </p:tavLst>
                                    </p:anim>
                                    <p:anim calcmode="lin" valueType="num">
                                      <p:cBhvr additive="base">
                                        <p:cTn id="17" dur="650" fill="hold"/>
                                        <p:tgtEl>
                                          <p:spTgt spid="7"/>
                                        </p:tgtEl>
                                        <p:attrNameLst>
                                          <p:attrName>ppt_y</p:attrName>
                                        </p:attrNameLst>
                                      </p:cBhvr>
                                      <p:tavLst>
                                        <p:tav tm="0">
                                          <p:val>
                                            <p:strVal val="#ppt_y+.06"/>
                                          </p:val>
                                        </p:tav>
                                        <p:tav tm="100000">
                                          <p:val>
                                            <p:strVal val="#ppt_y"/>
                                          </p:val>
                                        </p:tav>
                                      </p:tavLst>
                                    </p:anim>
                                  </p:childTnLst>
                                </p:cTn>
                              </p:par>
                              <p:par>
                                <p:cTn id="18" presetID="10" presetClass="entr" presetSubtype="0" fill="hold" grpId="0" nodeType="withEffect">
                                  <p:stCondLst>
                                    <p:cond delay="45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fill="hold"/>
                                        <p:tgtEl>
                                          <p:spTgt spid="8"/>
                                        </p:tgtEl>
                                      </p:cBhvr>
                                    </p:animEffect>
                                  </p:childTnLst>
                                </p:cTn>
                              </p:par>
                              <p:par>
                                <p:cTn id="21" presetID="42" presetClass="entr" presetSubtype="0" decel="100000" fill="hold" grpId="0" nodeType="withEffect">
                                  <p:stCondLst>
                                    <p:cond delay="105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650" fill="hold"/>
                                        <p:tgtEl>
                                          <p:spTgt spid="9"/>
                                        </p:tgtEl>
                                      </p:cBhvr>
                                    </p:animEffect>
                                    <p:anim calcmode="lin" valueType="num">
                                      <p:cBhvr additive="base">
                                        <p:cTn id="24" dur="650" fill="hold"/>
                                        <p:tgtEl>
                                          <p:spTgt spid="9"/>
                                        </p:tgtEl>
                                        <p:attrNameLst>
                                          <p:attrName>ppt_x</p:attrName>
                                        </p:attrNameLst>
                                      </p:cBhvr>
                                      <p:tavLst>
                                        <p:tav tm="0">
                                          <p:val>
                                            <p:strVal val="#ppt_x"/>
                                          </p:val>
                                        </p:tav>
                                        <p:tav tm="100000">
                                          <p:val>
                                            <p:strVal val="#ppt_x"/>
                                          </p:val>
                                        </p:tav>
                                      </p:tavLst>
                                    </p:anim>
                                    <p:anim calcmode="lin" valueType="num">
                                      <p:cBhvr additive="base">
                                        <p:cTn id="25" dur="650" fill="hold"/>
                                        <p:tgtEl>
                                          <p:spTgt spid="9"/>
                                        </p:tgtEl>
                                        <p:attrNameLst>
                                          <p:attrName>ppt_y</p:attrName>
                                        </p:attrNameLst>
                                      </p:cBhvr>
                                      <p:tavLst>
                                        <p:tav tm="0">
                                          <p:val>
                                            <p:strVal val="#ppt_y+.06"/>
                                          </p:val>
                                        </p:tav>
                                        <p:tav tm="100000">
                                          <p:val>
                                            <p:strVal val="#ppt_y"/>
                                          </p:val>
                                        </p:tav>
                                      </p:tavLst>
                                    </p:anim>
                                  </p:childTnLst>
                                </p:cTn>
                              </p:par>
                              <p:par>
                                <p:cTn id="26" presetID="42" presetClass="entr" presetSubtype="0" decel="100000" fill="hold" grpId="0" nodeType="withEffect">
                                  <p:stCondLst>
                                    <p:cond delay="105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650" fill="hold"/>
                                        <p:tgtEl>
                                          <p:spTgt spid="10"/>
                                        </p:tgtEl>
                                      </p:cBhvr>
                                    </p:animEffect>
                                    <p:anim calcmode="lin" valueType="num">
                                      <p:cBhvr additive="base">
                                        <p:cTn id="29" dur="650" fill="hold"/>
                                        <p:tgtEl>
                                          <p:spTgt spid="10"/>
                                        </p:tgtEl>
                                        <p:attrNameLst>
                                          <p:attrName>ppt_x</p:attrName>
                                        </p:attrNameLst>
                                      </p:cBhvr>
                                      <p:tavLst>
                                        <p:tav tm="0">
                                          <p:val>
                                            <p:strVal val="#ppt_x"/>
                                          </p:val>
                                        </p:tav>
                                        <p:tav tm="100000">
                                          <p:val>
                                            <p:strVal val="#ppt_x"/>
                                          </p:val>
                                        </p:tav>
                                      </p:tavLst>
                                    </p:anim>
                                    <p:anim calcmode="lin" valueType="num">
                                      <p:cBhvr additive="base">
                                        <p:cTn id="30" dur="650" fill="hold"/>
                                        <p:tgtEl>
                                          <p:spTgt spid="10"/>
                                        </p:tgtEl>
                                        <p:attrNameLst>
                                          <p:attrName>ppt_y</p:attrName>
                                        </p:attrNameLst>
                                      </p:cBhvr>
                                      <p:tavLst>
                                        <p:tav tm="0">
                                          <p:val>
                                            <p:strVal val="#ppt_y+.06"/>
                                          </p:val>
                                        </p:tav>
                                        <p:tav tm="100000">
                                          <p:val>
                                            <p:strVal val="#ppt_y"/>
                                          </p:val>
                                        </p:tav>
                                      </p:tavLst>
                                    </p:anim>
                                  </p:childTnLst>
                                </p:cTn>
                              </p:par>
                              <p:par>
                                <p:cTn id="31" presetID="10" presetClass="entr" presetSubtype="0" fill="hold" grpId="0" nodeType="withEffect">
                                  <p:stCondLst>
                                    <p:cond delay="130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fill="hold"/>
                                        <p:tgtEl>
                                          <p:spTgt spid="11"/>
                                        </p:tgtEl>
                                      </p:cBhvr>
                                    </p:animEffect>
                                  </p:childTnLst>
                                </p:cTn>
                              </p:par>
                              <p:par>
                                <p:cTn id="34" presetID="53" presetClass="entr" presetSubtype="16" decel="100000" fill="hold" grpId="0" nodeType="withEffect">
                                  <p:stCondLst>
                                    <p:cond delay="1700"/>
                                  </p:stCondLst>
                                  <p:childTnLst>
                                    <p:set>
                                      <p:cBhvr>
                                        <p:cTn id="35" dur="1" fill="hold">
                                          <p:stCondLst>
                                            <p:cond delay="0"/>
                                          </p:stCondLst>
                                        </p:cTn>
                                        <p:tgtEl>
                                          <p:spTgt spid="12"/>
                                        </p:tgtEl>
                                        <p:attrNameLst>
                                          <p:attrName>style.visibility</p:attrName>
                                        </p:attrNameLst>
                                      </p:cBhvr>
                                      <p:to>
                                        <p:strVal val="visible"/>
                                      </p:to>
                                    </p:set>
                                    <p:anim calcmode="lin" valueType="num">
                                      <p:cBhvr additive="base">
                                        <p:cTn id="36" dur="450" fill="hold"/>
                                        <p:tgtEl>
                                          <p:spTgt spid="12"/>
                                        </p:tgtEl>
                                        <p:attrNameLst>
                                          <p:attrName>ppt_w</p:attrName>
                                        </p:attrNameLst>
                                      </p:cBhvr>
                                      <p:tavLst>
                                        <p:tav tm="0">
                                          <p:val>
                                            <p:strVal val="0"/>
                                          </p:val>
                                        </p:tav>
                                        <p:tav tm="70000">
                                          <p:val>
                                            <p:strVal val="#ppt_w*1.08"/>
                                          </p:val>
                                        </p:tav>
                                        <p:tav tm="100000">
                                          <p:val>
                                            <p:strVal val="#ppt_w"/>
                                          </p:val>
                                        </p:tav>
                                      </p:tavLst>
                                    </p:anim>
                                    <p:anim calcmode="lin" valueType="num">
                                      <p:cBhvr additive="base">
                                        <p:cTn id="37" dur="450" fill="hold"/>
                                        <p:tgtEl>
                                          <p:spTgt spid="12"/>
                                        </p:tgtEl>
                                        <p:attrNameLst>
                                          <p:attrName>ppt_h</p:attrName>
                                        </p:attrNameLst>
                                      </p:cBhvr>
                                      <p:tavLst>
                                        <p:tav tm="0">
                                          <p:val>
                                            <p:strVal val="0"/>
                                          </p:val>
                                        </p:tav>
                                        <p:tav tm="70000">
                                          <p:val>
                                            <p:strVal val="#ppt_h*1.08"/>
                                          </p:val>
                                        </p:tav>
                                        <p:tav tm="100000">
                                          <p:val>
                                            <p:strVal val="#ppt_h"/>
                                          </p:val>
                                        </p:tav>
                                      </p:tavLst>
                                    </p:anim>
                                    <p:animEffect transition="in" filter="fade">
                                      <p:cBhvr>
                                        <p:cTn id="38" dur="270" fill="hold"/>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2A9FC0"/>
                </a:solidFill>
                <a:latin typeface="Segoe UI Semibold"/>
              </a:rPr>
              <a:t>MÓDULO 5  ·  PROTOTIPAR E TESTAR</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Protótipo não é só para app</a:t>
            </a:r>
          </a:p>
        </p:txBody>
      </p:sp>
      <p:sp>
        <p:nvSpPr>
          <p:cNvPr id="6" name="TextBox 5"/>
          <p:cNvSpPr txBox="1"/>
          <p:nvPr/>
        </p:nvSpPr>
        <p:spPr>
          <a:xfrm>
            <a:off x="548640" y="1325880"/>
            <a:ext cx="10972800" cy="457200"/>
          </a:xfrm>
          <a:prstGeom prst="rect">
            <a:avLst/>
          </a:prstGeom>
          <a:noFill/>
        </p:spPr>
        <p:txBody>
          <a:bodyPr wrap="square" lIns="36576" tIns="18288" rIns="36576" bIns="18288" anchor="t">
            <a:spAutoFit/>
          </a:bodyPr>
          <a:lstStyle/>
          <a:p>
            <a:pPr algn="l"/>
            <a:r>
              <a:rPr sz="1700" b="0" i="0">
                <a:solidFill>
                  <a:srgbClr val="B4B8B0"/>
                </a:solidFill>
                <a:latin typeface="Segoe UI"/>
              </a:rPr>
              <a:t>Serviços e processos também podem ser prototipados.</a:t>
            </a:r>
          </a:p>
        </p:txBody>
      </p:sp>
      <p:sp>
        <p:nvSpPr>
          <p:cNvPr id="7" name="Rounded Rectangle 6"/>
          <p:cNvSpPr/>
          <p:nvPr/>
        </p:nvSpPr>
        <p:spPr>
          <a:xfrm>
            <a:off x="548640" y="2148840"/>
            <a:ext cx="3514344" cy="356616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68680" y="3246120"/>
            <a:ext cx="2874264" cy="822960"/>
          </a:xfrm>
          <a:prstGeom prst="rect">
            <a:avLst/>
          </a:prstGeom>
          <a:noFill/>
        </p:spPr>
        <p:txBody>
          <a:bodyPr wrap="square" lIns="36576" tIns="18288" rIns="36576" bIns="18288" anchor="t">
            <a:spAutoFit/>
          </a:bodyPr>
          <a:lstStyle/>
          <a:p>
            <a:pPr algn="l"/>
            <a:r>
              <a:rPr sz="1900" b="1" i="0">
                <a:solidFill>
                  <a:srgbClr val="F2F2EC"/>
                </a:solidFill>
                <a:latin typeface="Segoe UI Semibold"/>
              </a:rPr>
              <a:t>Encenação</a:t>
            </a:r>
          </a:p>
        </p:txBody>
      </p:sp>
      <p:sp>
        <p:nvSpPr>
          <p:cNvPr id="9" name="TextBox 8"/>
          <p:cNvSpPr txBox="1"/>
          <p:nvPr/>
        </p:nvSpPr>
        <p:spPr>
          <a:xfrm>
            <a:off x="868680" y="4160520"/>
            <a:ext cx="2874264" cy="1508760"/>
          </a:xfrm>
          <a:prstGeom prst="rect">
            <a:avLst/>
          </a:prstGeom>
          <a:noFill/>
        </p:spPr>
        <p:txBody>
          <a:bodyPr wrap="square" lIns="36576" tIns="18288" rIns="36576" bIns="18288" anchor="t">
            <a:spAutoFit/>
          </a:bodyPr>
          <a:lstStyle/>
          <a:p>
            <a:pPr algn="l"/>
            <a:r>
              <a:rPr sz="1450" b="0" i="0">
                <a:solidFill>
                  <a:srgbClr val="B4B8B0"/>
                </a:solidFill>
                <a:latin typeface="Segoe UI"/>
              </a:rPr>
              <a:t>Simule o atendimento com pessoas fazendo os papéis de cliente e atendente.</a:t>
            </a:r>
          </a:p>
        </p:txBody>
      </p:sp>
      <p:sp>
        <p:nvSpPr>
          <p:cNvPr id="10" name="Oval 9"/>
          <p:cNvSpPr/>
          <p:nvPr/>
        </p:nvSpPr>
        <p:spPr>
          <a:xfrm>
            <a:off x="859536" y="2459736"/>
            <a:ext cx="566928" cy="566928"/>
          </a:xfrm>
          <a:prstGeom prst="ellipse">
            <a:avLst/>
          </a:prstGeom>
          <a:solidFill>
            <a:srgbClr val="2A9FC0"/>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700" b="1" i="0">
                <a:solidFill>
                  <a:srgbClr val="1A1A1A"/>
                </a:solidFill>
                <a:latin typeface="Segoe UI Semibold"/>
              </a:rPr>
              <a:t>1</a:t>
            </a:r>
          </a:p>
        </p:txBody>
      </p:sp>
      <p:sp>
        <p:nvSpPr>
          <p:cNvPr id="11" name="Rounded Rectangle 10"/>
          <p:cNvSpPr/>
          <p:nvPr/>
        </p:nvSpPr>
        <p:spPr>
          <a:xfrm>
            <a:off x="4337304" y="2148840"/>
            <a:ext cx="3514344" cy="356616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657344" y="3246120"/>
            <a:ext cx="2874264" cy="822960"/>
          </a:xfrm>
          <a:prstGeom prst="rect">
            <a:avLst/>
          </a:prstGeom>
          <a:noFill/>
        </p:spPr>
        <p:txBody>
          <a:bodyPr wrap="square" lIns="36576" tIns="18288" rIns="36576" bIns="18288" anchor="t">
            <a:spAutoFit/>
          </a:bodyPr>
          <a:lstStyle/>
          <a:p>
            <a:pPr algn="l"/>
            <a:r>
              <a:rPr sz="1900" b="1" i="0">
                <a:solidFill>
                  <a:srgbClr val="F2F2EC"/>
                </a:solidFill>
                <a:latin typeface="Segoe UI Semibold"/>
              </a:rPr>
              <a:t>'Mágico de Oz'</a:t>
            </a:r>
          </a:p>
        </p:txBody>
      </p:sp>
      <p:sp>
        <p:nvSpPr>
          <p:cNvPr id="13" name="TextBox 12"/>
          <p:cNvSpPr txBox="1"/>
          <p:nvPr/>
        </p:nvSpPr>
        <p:spPr>
          <a:xfrm>
            <a:off x="4657344" y="4160520"/>
            <a:ext cx="2874264" cy="1508760"/>
          </a:xfrm>
          <a:prstGeom prst="rect">
            <a:avLst/>
          </a:prstGeom>
          <a:noFill/>
        </p:spPr>
        <p:txBody>
          <a:bodyPr wrap="square" lIns="36576" tIns="18288" rIns="36576" bIns="18288" anchor="t">
            <a:spAutoFit/>
          </a:bodyPr>
          <a:lstStyle/>
          <a:p>
            <a:pPr algn="l"/>
            <a:r>
              <a:rPr sz="1450" b="0" i="0">
                <a:solidFill>
                  <a:srgbClr val="B4B8B0"/>
                </a:solidFill>
                <a:latin typeface="Segoe UI"/>
              </a:rPr>
              <a:t>O cliente acha que é automático, mas alguém faz manualmente nos bastidores.</a:t>
            </a:r>
          </a:p>
        </p:txBody>
      </p:sp>
      <p:sp>
        <p:nvSpPr>
          <p:cNvPr id="14" name="Oval 13"/>
          <p:cNvSpPr/>
          <p:nvPr/>
        </p:nvSpPr>
        <p:spPr>
          <a:xfrm>
            <a:off x="4648200" y="2459736"/>
            <a:ext cx="566928" cy="566928"/>
          </a:xfrm>
          <a:prstGeom prst="ellipse">
            <a:avLst/>
          </a:prstGeom>
          <a:solidFill>
            <a:srgbClr val="2A9FC0"/>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700" b="1" i="0">
                <a:solidFill>
                  <a:srgbClr val="1A1A1A"/>
                </a:solidFill>
                <a:latin typeface="Segoe UI Semibold"/>
              </a:rPr>
              <a:t>2</a:t>
            </a:r>
          </a:p>
        </p:txBody>
      </p:sp>
      <p:sp>
        <p:nvSpPr>
          <p:cNvPr id="15" name="Rounded Rectangle 14"/>
          <p:cNvSpPr/>
          <p:nvPr/>
        </p:nvSpPr>
        <p:spPr>
          <a:xfrm>
            <a:off x="8125968" y="2148840"/>
            <a:ext cx="3514344" cy="356616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446008" y="3246120"/>
            <a:ext cx="2874264" cy="822960"/>
          </a:xfrm>
          <a:prstGeom prst="rect">
            <a:avLst/>
          </a:prstGeom>
          <a:noFill/>
        </p:spPr>
        <p:txBody>
          <a:bodyPr wrap="square" lIns="36576" tIns="18288" rIns="36576" bIns="18288" anchor="t">
            <a:spAutoFit/>
          </a:bodyPr>
          <a:lstStyle/>
          <a:p>
            <a:pPr algn="l"/>
            <a:r>
              <a:rPr sz="1900" b="1" i="0">
                <a:solidFill>
                  <a:srgbClr val="F2F2EC"/>
                </a:solidFill>
                <a:latin typeface="Segoe UI Semibold"/>
              </a:rPr>
              <a:t>Piloto pequeno</a:t>
            </a:r>
          </a:p>
        </p:txBody>
      </p:sp>
      <p:sp>
        <p:nvSpPr>
          <p:cNvPr id="17" name="TextBox 16"/>
          <p:cNvSpPr txBox="1"/>
          <p:nvPr/>
        </p:nvSpPr>
        <p:spPr>
          <a:xfrm>
            <a:off x="8446008" y="4160520"/>
            <a:ext cx="2874264" cy="1508760"/>
          </a:xfrm>
          <a:prstGeom prst="rect">
            <a:avLst/>
          </a:prstGeom>
          <a:noFill/>
        </p:spPr>
        <p:txBody>
          <a:bodyPr wrap="square" lIns="36576" tIns="18288" rIns="36576" bIns="18288" anchor="t">
            <a:spAutoFit/>
          </a:bodyPr>
          <a:lstStyle/>
          <a:p>
            <a:pPr algn="l"/>
            <a:r>
              <a:rPr sz="1450" b="0" i="0">
                <a:solidFill>
                  <a:srgbClr val="B4B8B0"/>
                </a:solidFill>
                <a:latin typeface="Segoe UI"/>
              </a:rPr>
              <a:t>Teste o novo processo em uma loja, um turno ou um grupo de clientes.</a:t>
            </a:r>
          </a:p>
        </p:txBody>
      </p:sp>
      <p:sp>
        <p:nvSpPr>
          <p:cNvPr id="18" name="Oval 17"/>
          <p:cNvSpPr/>
          <p:nvPr/>
        </p:nvSpPr>
        <p:spPr>
          <a:xfrm>
            <a:off x="8436864" y="2459736"/>
            <a:ext cx="566928" cy="566928"/>
          </a:xfrm>
          <a:prstGeom prst="ellipse">
            <a:avLst/>
          </a:prstGeom>
          <a:solidFill>
            <a:srgbClr val="2A9FC0"/>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700" b="1" i="0">
                <a:solidFill>
                  <a:srgbClr val="1A1A1A"/>
                </a:solidFill>
                <a:latin typeface="Segoe UI Semibold"/>
              </a:rPr>
              <a:t>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fill="hold"/>
                                        <p:tgtEl>
                                          <p:spTgt spid="6"/>
                                        </p:tgtEl>
                                      </p:cBhvr>
                                    </p:animEffect>
                                  </p:childTnLst>
                                </p:cTn>
                              </p:par>
                              <p:par>
                                <p:cTn id="11" presetID="42" presetClass="entr" presetSubtype="0" decel="100000" fill="hold" grpId="0" nodeType="withEffect">
                                  <p:stCondLst>
                                    <p:cond delay="45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650" fill="hold"/>
                                        <p:tgtEl>
                                          <p:spTgt spid="7"/>
                                        </p:tgtEl>
                                      </p:cBhvr>
                                    </p:animEffect>
                                    <p:anim calcmode="lin" valueType="num">
                                      <p:cBhvr additive="base">
                                        <p:cTn id="14" dur="650" fill="hold"/>
                                        <p:tgtEl>
                                          <p:spTgt spid="7"/>
                                        </p:tgtEl>
                                        <p:attrNameLst>
                                          <p:attrName>ppt_x</p:attrName>
                                        </p:attrNameLst>
                                      </p:cBhvr>
                                      <p:tavLst>
                                        <p:tav tm="0">
                                          <p:val>
                                            <p:strVal val="#ppt_x"/>
                                          </p:val>
                                        </p:tav>
                                        <p:tav tm="100000">
                                          <p:val>
                                            <p:strVal val="#ppt_x"/>
                                          </p:val>
                                        </p:tav>
                                      </p:tavLst>
                                    </p:anim>
                                    <p:anim calcmode="lin" valueType="num">
                                      <p:cBhvr additive="base">
                                        <p:cTn id="15" dur="650" fill="hold"/>
                                        <p:tgtEl>
                                          <p:spTgt spid="7"/>
                                        </p:tgtEl>
                                        <p:attrNameLst>
                                          <p:attrName>ppt_y</p:attrName>
                                        </p:attrNameLst>
                                      </p:cBhvr>
                                      <p:tavLst>
                                        <p:tav tm="0">
                                          <p:val>
                                            <p:strVal val="#ppt_y+.06"/>
                                          </p:val>
                                        </p:tav>
                                        <p:tav tm="100000">
                                          <p:val>
                                            <p:strVal val="#ppt_y"/>
                                          </p:val>
                                        </p:tav>
                                      </p:tavLst>
                                    </p:anim>
                                  </p:childTnLst>
                                </p:cTn>
                              </p:par>
                              <p:par>
                                <p:cTn id="16" presetID="42" presetClass="entr" presetSubtype="0" decel="100000" fill="hold" grpId="0" nodeType="withEffect">
                                  <p:stCondLst>
                                    <p:cond delay="45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650" fill="hold"/>
                                        <p:tgtEl>
                                          <p:spTgt spid="8"/>
                                        </p:tgtEl>
                                      </p:cBhvr>
                                    </p:animEffect>
                                    <p:anim calcmode="lin" valueType="num">
                                      <p:cBhvr additive="base">
                                        <p:cTn id="19" dur="650" fill="hold"/>
                                        <p:tgtEl>
                                          <p:spTgt spid="8"/>
                                        </p:tgtEl>
                                        <p:attrNameLst>
                                          <p:attrName>ppt_x</p:attrName>
                                        </p:attrNameLst>
                                      </p:cBhvr>
                                      <p:tavLst>
                                        <p:tav tm="0">
                                          <p:val>
                                            <p:strVal val="#ppt_x"/>
                                          </p:val>
                                        </p:tav>
                                        <p:tav tm="100000">
                                          <p:val>
                                            <p:strVal val="#ppt_x"/>
                                          </p:val>
                                        </p:tav>
                                      </p:tavLst>
                                    </p:anim>
                                    <p:anim calcmode="lin" valueType="num">
                                      <p:cBhvr additive="base">
                                        <p:cTn id="20" dur="650" fill="hold"/>
                                        <p:tgtEl>
                                          <p:spTgt spid="8"/>
                                        </p:tgtEl>
                                        <p:attrNameLst>
                                          <p:attrName>ppt_y</p:attrName>
                                        </p:attrNameLst>
                                      </p:cBhvr>
                                      <p:tavLst>
                                        <p:tav tm="0">
                                          <p:val>
                                            <p:strVal val="#ppt_y+.06"/>
                                          </p:val>
                                        </p:tav>
                                        <p:tav tm="100000">
                                          <p:val>
                                            <p:strVal val="#ppt_y"/>
                                          </p:val>
                                        </p:tav>
                                      </p:tavLst>
                                    </p:anim>
                                  </p:childTnLst>
                                </p:cTn>
                              </p:par>
                              <p:par>
                                <p:cTn id="21" presetID="42" presetClass="entr" presetSubtype="0" decel="100000" fill="hold" grpId="0" nodeType="withEffect">
                                  <p:stCondLst>
                                    <p:cond delay="45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650" fill="hold"/>
                                        <p:tgtEl>
                                          <p:spTgt spid="9"/>
                                        </p:tgtEl>
                                      </p:cBhvr>
                                    </p:animEffect>
                                    <p:anim calcmode="lin" valueType="num">
                                      <p:cBhvr additive="base">
                                        <p:cTn id="24" dur="650" fill="hold"/>
                                        <p:tgtEl>
                                          <p:spTgt spid="9"/>
                                        </p:tgtEl>
                                        <p:attrNameLst>
                                          <p:attrName>ppt_x</p:attrName>
                                        </p:attrNameLst>
                                      </p:cBhvr>
                                      <p:tavLst>
                                        <p:tav tm="0">
                                          <p:val>
                                            <p:strVal val="#ppt_x"/>
                                          </p:val>
                                        </p:tav>
                                        <p:tav tm="100000">
                                          <p:val>
                                            <p:strVal val="#ppt_x"/>
                                          </p:val>
                                        </p:tav>
                                      </p:tavLst>
                                    </p:anim>
                                    <p:anim calcmode="lin" valueType="num">
                                      <p:cBhvr additive="base">
                                        <p:cTn id="25" dur="650" fill="hold"/>
                                        <p:tgtEl>
                                          <p:spTgt spid="9"/>
                                        </p:tgtEl>
                                        <p:attrNameLst>
                                          <p:attrName>ppt_y</p:attrName>
                                        </p:attrNameLst>
                                      </p:cBhvr>
                                      <p:tavLst>
                                        <p:tav tm="0">
                                          <p:val>
                                            <p:strVal val="#ppt_y+.06"/>
                                          </p:val>
                                        </p:tav>
                                        <p:tav tm="100000">
                                          <p:val>
                                            <p:strVal val="#ppt_y"/>
                                          </p:val>
                                        </p:tav>
                                      </p:tavLst>
                                    </p:anim>
                                  </p:childTnLst>
                                </p:cTn>
                              </p:par>
                              <p:par>
                                <p:cTn id="26" presetID="53" presetClass="entr" presetSubtype="16" decel="100000" fill="hold" grpId="0" nodeType="withEffect">
                                  <p:stCondLst>
                                    <p:cond delay="600"/>
                                  </p:stCondLst>
                                  <p:childTnLst>
                                    <p:set>
                                      <p:cBhvr>
                                        <p:cTn id="27" dur="1" fill="hold">
                                          <p:stCondLst>
                                            <p:cond delay="0"/>
                                          </p:stCondLst>
                                        </p:cTn>
                                        <p:tgtEl>
                                          <p:spTgt spid="10"/>
                                        </p:tgtEl>
                                        <p:attrNameLst>
                                          <p:attrName>style.visibility</p:attrName>
                                        </p:attrNameLst>
                                      </p:cBhvr>
                                      <p:to>
                                        <p:strVal val="visible"/>
                                      </p:to>
                                    </p:set>
                                    <p:anim calcmode="lin" valueType="num">
                                      <p:cBhvr additive="base">
                                        <p:cTn id="28" dur="450" fill="hold"/>
                                        <p:tgtEl>
                                          <p:spTgt spid="10"/>
                                        </p:tgtEl>
                                        <p:attrNameLst>
                                          <p:attrName>ppt_w</p:attrName>
                                        </p:attrNameLst>
                                      </p:cBhvr>
                                      <p:tavLst>
                                        <p:tav tm="0">
                                          <p:val>
                                            <p:strVal val="0"/>
                                          </p:val>
                                        </p:tav>
                                        <p:tav tm="70000">
                                          <p:val>
                                            <p:strVal val="#ppt_w*1.08"/>
                                          </p:val>
                                        </p:tav>
                                        <p:tav tm="100000">
                                          <p:val>
                                            <p:strVal val="#ppt_w"/>
                                          </p:val>
                                        </p:tav>
                                      </p:tavLst>
                                    </p:anim>
                                    <p:anim calcmode="lin" valueType="num">
                                      <p:cBhvr additive="base">
                                        <p:cTn id="29" dur="450" fill="hold"/>
                                        <p:tgtEl>
                                          <p:spTgt spid="10"/>
                                        </p:tgtEl>
                                        <p:attrNameLst>
                                          <p:attrName>ppt_h</p:attrName>
                                        </p:attrNameLst>
                                      </p:cBhvr>
                                      <p:tavLst>
                                        <p:tav tm="0">
                                          <p:val>
                                            <p:strVal val="0"/>
                                          </p:val>
                                        </p:tav>
                                        <p:tav tm="70000">
                                          <p:val>
                                            <p:strVal val="#ppt_h*1.08"/>
                                          </p:val>
                                        </p:tav>
                                        <p:tav tm="100000">
                                          <p:val>
                                            <p:strVal val="#ppt_h"/>
                                          </p:val>
                                        </p:tav>
                                      </p:tavLst>
                                    </p:anim>
                                    <p:animEffect transition="in" filter="fade">
                                      <p:cBhvr>
                                        <p:cTn id="30" dur="270" fill="hold"/>
                                        <p:tgtEl>
                                          <p:spTgt spid="10"/>
                                        </p:tgtEl>
                                      </p:cBhvr>
                                    </p:animEffect>
                                  </p:childTnLst>
                                </p:cTn>
                              </p:par>
                              <p:par>
                                <p:cTn id="31" presetID="42" presetClass="entr" presetSubtype="0" decel="100000" fill="hold" grpId="0" nodeType="withEffect">
                                  <p:stCondLst>
                                    <p:cond delay="78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650" fill="hold"/>
                                        <p:tgtEl>
                                          <p:spTgt spid="11"/>
                                        </p:tgtEl>
                                      </p:cBhvr>
                                    </p:animEffect>
                                    <p:anim calcmode="lin" valueType="num">
                                      <p:cBhvr additive="base">
                                        <p:cTn id="34" dur="650" fill="hold"/>
                                        <p:tgtEl>
                                          <p:spTgt spid="11"/>
                                        </p:tgtEl>
                                        <p:attrNameLst>
                                          <p:attrName>ppt_x</p:attrName>
                                        </p:attrNameLst>
                                      </p:cBhvr>
                                      <p:tavLst>
                                        <p:tav tm="0">
                                          <p:val>
                                            <p:strVal val="#ppt_x"/>
                                          </p:val>
                                        </p:tav>
                                        <p:tav tm="100000">
                                          <p:val>
                                            <p:strVal val="#ppt_x"/>
                                          </p:val>
                                        </p:tav>
                                      </p:tavLst>
                                    </p:anim>
                                    <p:anim calcmode="lin" valueType="num">
                                      <p:cBhvr additive="base">
                                        <p:cTn id="35" dur="650" fill="hold"/>
                                        <p:tgtEl>
                                          <p:spTgt spid="11"/>
                                        </p:tgtEl>
                                        <p:attrNameLst>
                                          <p:attrName>ppt_y</p:attrName>
                                        </p:attrNameLst>
                                      </p:cBhvr>
                                      <p:tavLst>
                                        <p:tav tm="0">
                                          <p:val>
                                            <p:strVal val="#ppt_y+.06"/>
                                          </p:val>
                                        </p:tav>
                                        <p:tav tm="100000">
                                          <p:val>
                                            <p:strVal val="#ppt_y"/>
                                          </p:val>
                                        </p:tav>
                                      </p:tavLst>
                                    </p:anim>
                                  </p:childTnLst>
                                </p:cTn>
                              </p:par>
                              <p:par>
                                <p:cTn id="36" presetID="42" presetClass="entr" presetSubtype="0" decel="100000" fill="hold" grpId="0" nodeType="withEffect">
                                  <p:stCondLst>
                                    <p:cond delay="78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650" fill="hold"/>
                                        <p:tgtEl>
                                          <p:spTgt spid="12"/>
                                        </p:tgtEl>
                                      </p:cBhvr>
                                    </p:animEffect>
                                    <p:anim calcmode="lin" valueType="num">
                                      <p:cBhvr additive="base">
                                        <p:cTn id="39" dur="650" fill="hold"/>
                                        <p:tgtEl>
                                          <p:spTgt spid="12"/>
                                        </p:tgtEl>
                                        <p:attrNameLst>
                                          <p:attrName>ppt_x</p:attrName>
                                        </p:attrNameLst>
                                      </p:cBhvr>
                                      <p:tavLst>
                                        <p:tav tm="0">
                                          <p:val>
                                            <p:strVal val="#ppt_x"/>
                                          </p:val>
                                        </p:tav>
                                        <p:tav tm="100000">
                                          <p:val>
                                            <p:strVal val="#ppt_x"/>
                                          </p:val>
                                        </p:tav>
                                      </p:tavLst>
                                    </p:anim>
                                    <p:anim calcmode="lin" valueType="num">
                                      <p:cBhvr additive="base">
                                        <p:cTn id="40" dur="650" fill="hold"/>
                                        <p:tgtEl>
                                          <p:spTgt spid="12"/>
                                        </p:tgtEl>
                                        <p:attrNameLst>
                                          <p:attrName>ppt_y</p:attrName>
                                        </p:attrNameLst>
                                      </p:cBhvr>
                                      <p:tavLst>
                                        <p:tav tm="0">
                                          <p:val>
                                            <p:strVal val="#ppt_y+.06"/>
                                          </p:val>
                                        </p:tav>
                                        <p:tav tm="100000">
                                          <p:val>
                                            <p:strVal val="#ppt_y"/>
                                          </p:val>
                                        </p:tav>
                                      </p:tavLst>
                                    </p:anim>
                                  </p:childTnLst>
                                </p:cTn>
                              </p:par>
                              <p:par>
                                <p:cTn id="41" presetID="42" presetClass="entr" presetSubtype="0" decel="100000" fill="hold" grpId="0" nodeType="withEffect">
                                  <p:stCondLst>
                                    <p:cond delay="78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650" fill="hold"/>
                                        <p:tgtEl>
                                          <p:spTgt spid="13"/>
                                        </p:tgtEl>
                                      </p:cBhvr>
                                    </p:animEffect>
                                    <p:anim calcmode="lin" valueType="num">
                                      <p:cBhvr additive="base">
                                        <p:cTn id="44" dur="650" fill="hold"/>
                                        <p:tgtEl>
                                          <p:spTgt spid="13"/>
                                        </p:tgtEl>
                                        <p:attrNameLst>
                                          <p:attrName>ppt_x</p:attrName>
                                        </p:attrNameLst>
                                      </p:cBhvr>
                                      <p:tavLst>
                                        <p:tav tm="0">
                                          <p:val>
                                            <p:strVal val="#ppt_x"/>
                                          </p:val>
                                        </p:tav>
                                        <p:tav tm="100000">
                                          <p:val>
                                            <p:strVal val="#ppt_x"/>
                                          </p:val>
                                        </p:tav>
                                      </p:tavLst>
                                    </p:anim>
                                    <p:anim calcmode="lin" valueType="num">
                                      <p:cBhvr additive="base">
                                        <p:cTn id="45" dur="650" fill="hold"/>
                                        <p:tgtEl>
                                          <p:spTgt spid="13"/>
                                        </p:tgtEl>
                                        <p:attrNameLst>
                                          <p:attrName>ppt_y</p:attrName>
                                        </p:attrNameLst>
                                      </p:cBhvr>
                                      <p:tavLst>
                                        <p:tav tm="0">
                                          <p:val>
                                            <p:strVal val="#ppt_y+.06"/>
                                          </p:val>
                                        </p:tav>
                                        <p:tav tm="100000">
                                          <p:val>
                                            <p:strVal val="#ppt_y"/>
                                          </p:val>
                                        </p:tav>
                                      </p:tavLst>
                                    </p:anim>
                                  </p:childTnLst>
                                </p:cTn>
                              </p:par>
                              <p:par>
                                <p:cTn id="46" presetID="53" presetClass="entr" presetSubtype="16" decel="100000" fill="hold" grpId="0" nodeType="withEffect">
                                  <p:stCondLst>
                                    <p:cond delay="930"/>
                                  </p:stCondLst>
                                  <p:childTnLst>
                                    <p:set>
                                      <p:cBhvr>
                                        <p:cTn id="47" dur="1" fill="hold">
                                          <p:stCondLst>
                                            <p:cond delay="0"/>
                                          </p:stCondLst>
                                        </p:cTn>
                                        <p:tgtEl>
                                          <p:spTgt spid="14"/>
                                        </p:tgtEl>
                                        <p:attrNameLst>
                                          <p:attrName>style.visibility</p:attrName>
                                        </p:attrNameLst>
                                      </p:cBhvr>
                                      <p:to>
                                        <p:strVal val="visible"/>
                                      </p:to>
                                    </p:set>
                                    <p:anim calcmode="lin" valueType="num">
                                      <p:cBhvr additive="base">
                                        <p:cTn id="48" dur="450" fill="hold"/>
                                        <p:tgtEl>
                                          <p:spTgt spid="14"/>
                                        </p:tgtEl>
                                        <p:attrNameLst>
                                          <p:attrName>ppt_w</p:attrName>
                                        </p:attrNameLst>
                                      </p:cBhvr>
                                      <p:tavLst>
                                        <p:tav tm="0">
                                          <p:val>
                                            <p:strVal val="0"/>
                                          </p:val>
                                        </p:tav>
                                        <p:tav tm="70000">
                                          <p:val>
                                            <p:strVal val="#ppt_w*1.08"/>
                                          </p:val>
                                        </p:tav>
                                        <p:tav tm="100000">
                                          <p:val>
                                            <p:strVal val="#ppt_w"/>
                                          </p:val>
                                        </p:tav>
                                      </p:tavLst>
                                    </p:anim>
                                    <p:anim calcmode="lin" valueType="num">
                                      <p:cBhvr additive="base">
                                        <p:cTn id="49" dur="450" fill="hold"/>
                                        <p:tgtEl>
                                          <p:spTgt spid="14"/>
                                        </p:tgtEl>
                                        <p:attrNameLst>
                                          <p:attrName>ppt_h</p:attrName>
                                        </p:attrNameLst>
                                      </p:cBhvr>
                                      <p:tavLst>
                                        <p:tav tm="0">
                                          <p:val>
                                            <p:strVal val="0"/>
                                          </p:val>
                                        </p:tav>
                                        <p:tav tm="70000">
                                          <p:val>
                                            <p:strVal val="#ppt_h*1.08"/>
                                          </p:val>
                                        </p:tav>
                                        <p:tav tm="100000">
                                          <p:val>
                                            <p:strVal val="#ppt_h"/>
                                          </p:val>
                                        </p:tav>
                                      </p:tavLst>
                                    </p:anim>
                                    <p:animEffect transition="in" filter="fade">
                                      <p:cBhvr>
                                        <p:cTn id="50" dur="270" fill="hold"/>
                                        <p:tgtEl>
                                          <p:spTgt spid="14"/>
                                        </p:tgtEl>
                                      </p:cBhvr>
                                    </p:animEffect>
                                  </p:childTnLst>
                                </p:cTn>
                              </p:par>
                              <p:par>
                                <p:cTn id="51" presetID="42" presetClass="entr" presetSubtype="0" decel="100000" fill="hold" grpId="0" nodeType="withEffect">
                                  <p:stCondLst>
                                    <p:cond delay="1110"/>
                                  </p:stCondLst>
                                  <p:childTnLst>
                                    <p:set>
                                      <p:cBhvr>
                                        <p:cTn id="52" dur="1" fill="hold">
                                          <p:stCondLst>
                                            <p:cond delay="0"/>
                                          </p:stCondLst>
                                        </p:cTn>
                                        <p:tgtEl>
                                          <p:spTgt spid="15"/>
                                        </p:tgtEl>
                                        <p:attrNameLst>
                                          <p:attrName>style.visibility</p:attrName>
                                        </p:attrNameLst>
                                      </p:cBhvr>
                                      <p:to>
                                        <p:strVal val="visible"/>
                                      </p:to>
                                    </p:set>
                                    <p:animEffect transition="in" filter="fade">
                                      <p:cBhvr>
                                        <p:cTn id="53" dur="650" fill="hold"/>
                                        <p:tgtEl>
                                          <p:spTgt spid="15"/>
                                        </p:tgtEl>
                                      </p:cBhvr>
                                    </p:animEffect>
                                    <p:anim calcmode="lin" valueType="num">
                                      <p:cBhvr additive="base">
                                        <p:cTn id="54" dur="650" fill="hold"/>
                                        <p:tgtEl>
                                          <p:spTgt spid="15"/>
                                        </p:tgtEl>
                                        <p:attrNameLst>
                                          <p:attrName>ppt_x</p:attrName>
                                        </p:attrNameLst>
                                      </p:cBhvr>
                                      <p:tavLst>
                                        <p:tav tm="0">
                                          <p:val>
                                            <p:strVal val="#ppt_x"/>
                                          </p:val>
                                        </p:tav>
                                        <p:tav tm="100000">
                                          <p:val>
                                            <p:strVal val="#ppt_x"/>
                                          </p:val>
                                        </p:tav>
                                      </p:tavLst>
                                    </p:anim>
                                    <p:anim calcmode="lin" valueType="num">
                                      <p:cBhvr additive="base">
                                        <p:cTn id="55" dur="650" fill="hold"/>
                                        <p:tgtEl>
                                          <p:spTgt spid="15"/>
                                        </p:tgtEl>
                                        <p:attrNameLst>
                                          <p:attrName>ppt_y</p:attrName>
                                        </p:attrNameLst>
                                      </p:cBhvr>
                                      <p:tavLst>
                                        <p:tav tm="0">
                                          <p:val>
                                            <p:strVal val="#ppt_y+.06"/>
                                          </p:val>
                                        </p:tav>
                                        <p:tav tm="100000">
                                          <p:val>
                                            <p:strVal val="#ppt_y"/>
                                          </p:val>
                                        </p:tav>
                                      </p:tavLst>
                                    </p:anim>
                                  </p:childTnLst>
                                </p:cTn>
                              </p:par>
                              <p:par>
                                <p:cTn id="56" presetID="42" presetClass="entr" presetSubtype="0" decel="100000" fill="hold" grpId="0" nodeType="withEffect">
                                  <p:stCondLst>
                                    <p:cond delay="111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650" fill="hold"/>
                                        <p:tgtEl>
                                          <p:spTgt spid="16"/>
                                        </p:tgtEl>
                                      </p:cBhvr>
                                    </p:animEffect>
                                    <p:anim calcmode="lin" valueType="num">
                                      <p:cBhvr additive="base">
                                        <p:cTn id="59" dur="650" fill="hold"/>
                                        <p:tgtEl>
                                          <p:spTgt spid="16"/>
                                        </p:tgtEl>
                                        <p:attrNameLst>
                                          <p:attrName>ppt_x</p:attrName>
                                        </p:attrNameLst>
                                      </p:cBhvr>
                                      <p:tavLst>
                                        <p:tav tm="0">
                                          <p:val>
                                            <p:strVal val="#ppt_x"/>
                                          </p:val>
                                        </p:tav>
                                        <p:tav tm="100000">
                                          <p:val>
                                            <p:strVal val="#ppt_x"/>
                                          </p:val>
                                        </p:tav>
                                      </p:tavLst>
                                    </p:anim>
                                    <p:anim calcmode="lin" valueType="num">
                                      <p:cBhvr additive="base">
                                        <p:cTn id="60" dur="650" fill="hold"/>
                                        <p:tgtEl>
                                          <p:spTgt spid="16"/>
                                        </p:tgtEl>
                                        <p:attrNameLst>
                                          <p:attrName>ppt_y</p:attrName>
                                        </p:attrNameLst>
                                      </p:cBhvr>
                                      <p:tavLst>
                                        <p:tav tm="0">
                                          <p:val>
                                            <p:strVal val="#ppt_y+.06"/>
                                          </p:val>
                                        </p:tav>
                                        <p:tav tm="100000">
                                          <p:val>
                                            <p:strVal val="#ppt_y"/>
                                          </p:val>
                                        </p:tav>
                                      </p:tavLst>
                                    </p:anim>
                                  </p:childTnLst>
                                </p:cTn>
                              </p:par>
                              <p:par>
                                <p:cTn id="61" presetID="42" presetClass="entr" presetSubtype="0" decel="100000" fill="hold" grpId="0" nodeType="withEffect">
                                  <p:stCondLst>
                                    <p:cond delay="1110"/>
                                  </p:stCondLst>
                                  <p:childTnLst>
                                    <p:set>
                                      <p:cBhvr>
                                        <p:cTn id="62" dur="1" fill="hold">
                                          <p:stCondLst>
                                            <p:cond delay="0"/>
                                          </p:stCondLst>
                                        </p:cTn>
                                        <p:tgtEl>
                                          <p:spTgt spid="17"/>
                                        </p:tgtEl>
                                        <p:attrNameLst>
                                          <p:attrName>style.visibility</p:attrName>
                                        </p:attrNameLst>
                                      </p:cBhvr>
                                      <p:to>
                                        <p:strVal val="visible"/>
                                      </p:to>
                                    </p:set>
                                    <p:animEffect transition="in" filter="fade">
                                      <p:cBhvr>
                                        <p:cTn id="63" dur="650" fill="hold"/>
                                        <p:tgtEl>
                                          <p:spTgt spid="17"/>
                                        </p:tgtEl>
                                      </p:cBhvr>
                                    </p:animEffect>
                                    <p:anim calcmode="lin" valueType="num">
                                      <p:cBhvr additive="base">
                                        <p:cTn id="64" dur="650" fill="hold"/>
                                        <p:tgtEl>
                                          <p:spTgt spid="17"/>
                                        </p:tgtEl>
                                        <p:attrNameLst>
                                          <p:attrName>ppt_x</p:attrName>
                                        </p:attrNameLst>
                                      </p:cBhvr>
                                      <p:tavLst>
                                        <p:tav tm="0">
                                          <p:val>
                                            <p:strVal val="#ppt_x"/>
                                          </p:val>
                                        </p:tav>
                                        <p:tav tm="100000">
                                          <p:val>
                                            <p:strVal val="#ppt_x"/>
                                          </p:val>
                                        </p:tav>
                                      </p:tavLst>
                                    </p:anim>
                                    <p:anim calcmode="lin" valueType="num">
                                      <p:cBhvr additive="base">
                                        <p:cTn id="65" dur="650" fill="hold"/>
                                        <p:tgtEl>
                                          <p:spTgt spid="17"/>
                                        </p:tgtEl>
                                        <p:attrNameLst>
                                          <p:attrName>ppt_y</p:attrName>
                                        </p:attrNameLst>
                                      </p:cBhvr>
                                      <p:tavLst>
                                        <p:tav tm="0">
                                          <p:val>
                                            <p:strVal val="#ppt_y+.06"/>
                                          </p:val>
                                        </p:tav>
                                        <p:tav tm="100000">
                                          <p:val>
                                            <p:strVal val="#ppt_y"/>
                                          </p:val>
                                        </p:tav>
                                      </p:tavLst>
                                    </p:anim>
                                  </p:childTnLst>
                                </p:cTn>
                              </p:par>
                              <p:par>
                                <p:cTn id="66" presetID="53" presetClass="entr" presetSubtype="16" decel="100000" fill="hold" grpId="0" nodeType="withEffect">
                                  <p:stCondLst>
                                    <p:cond delay="1260"/>
                                  </p:stCondLst>
                                  <p:childTnLst>
                                    <p:set>
                                      <p:cBhvr>
                                        <p:cTn id="67" dur="1" fill="hold">
                                          <p:stCondLst>
                                            <p:cond delay="0"/>
                                          </p:stCondLst>
                                        </p:cTn>
                                        <p:tgtEl>
                                          <p:spTgt spid="18"/>
                                        </p:tgtEl>
                                        <p:attrNameLst>
                                          <p:attrName>style.visibility</p:attrName>
                                        </p:attrNameLst>
                                      </p:cBhvr>
                                      <p:to>
                                        <p:strVal val="visible"/>
                                      </p:to>
                                    </p:set>
                                    <p:anim calcmode="lin" valueType="num">
                                      <p:cBhvr additive="base">
                                        <p:cTn id="68" dur="450" fill="hold"/>
                                        <p:tgtEl>
                                          <p:spTgt spid="18"/>
                                        </p:tgtEl>
                                        <p:attrNameLst>
                                          <p:attrName>ppt_w</p:attrName>
                                        </p:attrNameLst>
                                      </p:cBhvr>
                                      <p:tavLst>
                                        <p:tav tm="0">
                                          <p:val>
                                            <p:strVal val="0"/>
                                          </p:val>
                                        </p:tav>
                                        <p:tav tm="70000">
                                          <p:val>
                                            <p:strVal val="#ppt_w*1.08"/>
                                          </p:val>
                                        </p:tav>
                                        <p:tav tm="100000">
                                          <p:val>
                                            <p:strVal val="#ppt_w"/>
                                          </p:val>
                                        </p:tav>
                                      </p:tavLst>
                                    </p:anim>
                                    <p:anim calcmode="lin" valueType="num">
                                      <p:cBhvr additive="base">
                                        <p:cTn id="69" dur="450" fill="hold"/>
                                        <p:tgtEl>
                                          <p:spTgt spid="18"/>
                                        </p:tgtEl>
                                        <p:attrNameLst>
                                          <p:attrName>ppt_h</p:attrName>
                                        </p:attrNameLst>
                                      </p:cBhvr>
                                      <p:tavLst>
                                        <p:tav tm="0">
                                          <p:val>
                                            <p:strVal val="0"/>
                                          </p:val>
                                        </p:tav>
                                        <p:tav tm="70000">
                                          <p:val>
                                            <p:strVal val="#ppt_h*1.08"/>
                                          </p:val>
                                        </p:tav>
                                        <p:tav tm="100000">
                                          <p:val>
                                            <p:strVal val="#ppt_h"/>
                                          </p:val>
                                        </p:tav>
                                      </p:tavLst>
                                    </p:anim>
                                    <p:animEffect transition="in" filter="fade">
                                      <p:cBhvr>
                                        <p:cTn id="70" dur="270" fill="hold"/>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2A9FC0"/>
                </a:solidFill>
                <a:latin typeface="Segoe UI Semibold"/>
              </a:rPr>
              <a:t>MÓDULO 5  ·  PROTOTIPAR E TESTAR</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Conduzindo um teste</a:t>
            </a:r>
          </a:p>
        </p:txBody>
      </p:sp>
      <p:cxnSp>
        <p:nvCxnSpPr>
          <p:cNvPr id="6" name="Connector 5"/>
          <p:cNvCxnSpPr/>
          <p:nvPr/>
        </p:nvCxnSpPr>
        <p:spPr>
          <a:xfrm>
            <a:off x="1657807" y="2606040"/>
            <a:ext cx="8873337" cy="0"/>
          </a:xfrm>
          <a:prstGeom prst="line">
            <a:avLst/>
          </a:prstGeom>
          <a:ln w="38100">
            <a:solidFill>
              <a:srgbClr val="3A413D"/>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1200607" y="2148840"/>
            <a:ext cx="914400" cy="914400"/>
          </a:xfrm>
          <a:prstGeom prst="ellipse">
            <a:avLst/>
          </a:prstGeom>
          <a:solidFill>
            <a:srgbClr val="2A9FC0"/>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2000" b="1" i="0">
                <a:solidFill>
                  <a:srgbClr val="1A1A1A"/>
                </a:solidFill>
                <a:latin typeface="Segoe UI Semibold"/>
              </a:rPr>
              <a:t>01</a:t>
            </a:r>
          </a:p>
        </p:txBody>
      </p:sp>
      <p:sp>
        <p:nvSpPr>
          <p:cNvPr id="8" name="Rounded Rectangle 7"/>
          <p:cNvSpPr/>
          <p:nvPr/>
        </p:nvSpPr>
        <p:spPr>
          <a:xfrm>
            <a:off x="658368" y="3429000"/>
            <a:ext cx="1998878" cy="237744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822960" y="3611880"/>
            <a:ext cx="1669694" cy="457200"/>
          </a:xfrm>
          <a:prstGeom prst="rect">
            <a:avLst/>
          </a:prstGeom>
          <a:noFill/>
        </p:spPr>
        <p:txBody>
          <a:bodyPr wrap="square" lIns="36576" tIns="18288" rIns="36576" bIns="18288" anchor="t">
            <a:spAutoFit/>
          </a:bodyPr>
          <a:lstStyle/>
          <a:p>
            <a:pPr algn="ctr"/>
            <a:r>
              <a:rPr sz="1900" b="1" i="0">
                <a:solidFill>
                  <a:srgbClr val="F2F2EC"/>
                </a:solidFill>
                <a:latin typeface="Segoe UI Semibold"/>
              </a:rPr>
              <a:t>Objetivo</a:t>
            </a:r>
          </a:p>
        </p:txBody>
      </p:sp>
      <p:sp>
        <p:nvSpPr>
          <p:cNvPr id="10" name="TextBox 9"/>
          <p:cNvSpPr txBox="1"/>
          <p:nvPr/>
        </p:nvSpPr>
        <p:spPr>
          <a:xfrm>
            <a:off x="822960" y="4114800"/>
            <a:ext cx="1669694" cy="1554480"/>
          </a:xfrm>
          <a:prstGeom prst="rect">
            <a:avLst/>
          </a:prstGeom>
          <a:noFill/>
        </p:spPr>
        <p:txBody>
          <a:bodyPr wrap="square" lIns="36576" tIns="18288" rIns="36576" bIns="18288" anchor="t">
            <a:spAutoFit/>
          </a:bodyPr>
          <a:lstStyle/>
          <a:p>
            <a:pPr algn="ctr"/>
            <a:r>
              <a:rPr sz="1400" b="0" i="0">
                <a:solidFill>
                  <a:srgbClr val="B4B8B0"/>
                </a:solidFill>
                <a:latin typeface="Segoe UI"/>
              </a:rPr>
              <a:t>O que queremos aprender?</a:t>
            </a:r>
          </a:p>
        </p:txBody>
      </p:sp>
      <p:sp>
        <p:nvSpPr>
          <p:cNvPr id="11" name="Oval 10"/>
          <p:cNvSpPr/>
          <p:nvPr/>
        </p:nvSpPr>
        <p:spPr>
          <a:xfrm>
            <a:off x="3418941" y="2148840"/>
            <a:ext cx="914400" cy="914400"/>
          </a:xfrm>
          <a:prstGeom prst="ellipse">
            <a:avLst/>
          </a:prstGeom>
          <a:solidFill>
            <a:srgbClr val="2A9FC0"/>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2000" b="1" i="0">
                <a:solidFill>
                  <a:srgbClr val="1A1A1A"/>
                </a:solidFill>
                <a:latin typeface="Segoe UI Semibold"/>
              </a:rPr>
              <a:t>02</a:t>
            </a:r>
          </a:p>
        </p:txBody>
      </p:sp>
      <p:sp>
        <p:nvSpPr>
          <p:cNvPr id="12" name="Rounded Rectangle 11"/>
          <p:cNvSpPr/>
          <p:nvPr/>
        </p:nvSpPr>
        <p:spPr>
          <a:xfrm>
            <a:off x="2876702" y="3429000"/>
            <a:ext cx="1998878" cy="237744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041294" y="3611880"/>
            <a:ext cx="1669694" cy="457200"/>
          </a:xfrm>
          <a:prstGeom prst="rect">
            <a:avLst/>
          </a:prstGeom>
          <a:noFill/>
        </p:spPr>
        <p:txBody>
          <a:bodyPr wrap="square" lIns="36576" tIns="18288" rIns="36576" bIns="18288" anchor="t">
            <a:spAutoFit/>
          </a:bodyPr>
          <a:lstStyle/>
          <a:p>
            <a:pPr algn="ctr"/>
            <a:r>
              <a:rPr sz="1900" b="1" i="0">
                <a:solidFill>
                  <a:srgbClr val="F2F2EC"/>
                </a:solidFill>
                <a:latin typeface="Segoe UI Semibold"/>
              </a:rPr>
              <a:t>Pessoas</a:t>
            </a:r>
          </a:p>
        </p:txBody>
      </p:sp>
      <p:sp>
        <p:nvSpPr>
          <p:cNvPr id="14" name="TextBox 13"/>
          <p:cNvSpPr txBox="1"/>
          <p:nvPr/>
        </p:nvSpPr>
        <p:spPr>
          <a:xfrm>
            <a:off x="3041294" y="4114800"/>
            <a:ext cx="1669694" cy="1554480"/>
          </a:xfrm>
          <a:prstGeom prst="rect">
            <a:avLst/>
          </a:prstGeom>
          <a:noFill/>
        </p:spPr>
        <p:txBody>
          <a:bodyPr wrap="square" lIns="36576" tIns="18288" rIns="36576" bIns="18288" anchor="t">
            <a:spAutoFit/>
          </a:bodyPr>
          <a:lstStyle/>
          <a:p>
            <a:pPr algn="ctr"/>
            <a:r>
              <a:rPr sz="1400" b="0" i="0">
                <a:solidFill>
                  <a:srgbClr val="B4B8B0"/>
                </a:solidFill>
                <a:latin typeface="Segoe UI"/>
              </a:rPr>
              <a:t>5 usuários do perfil certo</a:t>
            </a:r>
          </a:p>
        </p:txBody>
      </p:sp>
      <p:sp>
        <p:nvSpPr>
          <p:cNvPr id="15" name="Oval 14"/>
          <p:cNvSpPr/>
          <p:nvPr/>
        </p:nvSpPr>
        <p:spPr>
          <a:xfrm>
            <a:off x="5637276" y="2148840"/>
            <a:ext cx="914400" cy="914400"/>
          </a:xfrm>
          <a:prstGeom prst="ellipse">
            <a:avLst/>
          </a:prstGeom>
          <a:solidFill>
            <a:srgbClr val="2A9FC0"/>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2000" b="1" i="0">
                <a:solidFill>
                  <a:srgbClr val="1A1A1A"/>
                </a:solidFill>
                <a:latin typeface="Segoe UI Semibold"/>
              </a:rPr>
              <a:t>03</a:t>
            </a:r>
          </a:p>
        </p:txBody>
      </p:sp>
      <p:sp>
        <p:nvSpPr>
          <p:cNvPr id="16" name="Rounded Rectangle 15"/>
          <p:cNvSpPr/>
          <p:nvPr/>
        </p:nvSpPr>
        <p:spPr>
          <a:xfrm>
            <a:off x="5095036" y="3429000"/>
            <a:ext cx="1998878" cy="237744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5259628" y="3611880"/>
            <a:ext cx="1669694" cy="457200"/>
          </a:xfrm>
          <a:prstGeom prst="rect">
            <a:avLst/>
          </a:prstGeom>
          <a:noFill/>
        </p:spPr>
        <p:txBody>
          <a:bodyPr wrap="square" lIns="36576" tIns="18288" rIns="36576" bIns="18288" anchor="t">
            <a:spAutoFit/>
          </a:bodyPr>
          <a:lstStyle/>
          <a:p>
            <a:pPr algn="ctr"/>
            <a:r>
              <a:rPr sz="1900" b="1" i="0">
                <a:solidFill>
                  <a:srgbClr val="F2F2EC"/>
                </a:solidFill>
                <a:latin typeface="Segoe UI Semibold"/>
              </a:rPr>
              <a:t>Tarefas</a:t>
            </a:r>
          </a:p>
        </p:txBody>
      </p:sp>
      <p:sp>
        <p:nvSpPr>
          <p:cNvPr id="18" name="TextBox 17"/>
          <p:cNvSpPr txBox="1"/>
          <p:nvPr/>
        </p:nvSpPr>
        <p:spPr>
          <a:xfrm>
            <a:off x="5259628" y="4114800"/>
            <a:ext cx="1669694" cy="1554480"/>
          </a:xfrm>
          <a:prstGeom prst="rect">
            <a:avLst/>
          </a:prstGeom>
          <a:noFill/>
        </p:spPr>
        <p:txBody>
          <a:bodyPr wrap="square" lIns="36576" tIns="18288" rIns="36576" bIns="18288" anchor="t">
            <a:spAutoFit/>
          </a:bodyPr>
          <a:lstStyle/>
          <a:p>
            <a:pPr algn="ctr"/>
            <a:r>
              <a:rPr sz="1400" b="0" i="0">
                <a:solidFill>
                  <a:srgbClr val="B4B8B0"/>
                </a:solidFill>
                <a:latin typeface="Segoe UI"/>
              </a:rPr>
              <a:t>Cenários realistas para executar</a:t>
            </a:r>
          </a:p>
        </p:txBody>
      </p:sp>
      <p:sp>
        <p:nvSpPr>
          <p:cNvPr id="19" name="Oval 18"/>
          <p:cNvSpPr/>
          <p:nvPr/>
        </p:nvSpPr>
        <p:spPr>
          <a:xfrm>
            <a:off x="7855610" y="2148840"/>
            <a:ext cx="914400" cy="914400"/>
          </a:xfrm>
          <a:prstGeom prst="ellipse">
            <a:avLst/>
          </a:prstGeom>
          <a:solidFill>
            <a:srgbClr val="2A9FC0"/>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2000" b="1" i="0">
                <a:solidFill>
                  <a:srgbClr val="1A1A1A"/>
                </a:solidFill>
                <a:latin typeface="Segoe UI Semibold"/>
              </a:rPr>
              <a:t>04</a:t>
            </a:r>
          </a:p>
        </p:txBody>
      </p:sp>
      <p:sp>
        <p:nvSpPr>
          <p:cNvPr id="20" name="Rounded Rectangle 19"/>
          <p:cNvSpPr/>
          <p:nvPr/>
        </p:nvSpPr>
        <p:spPr>
          <a:xfrm>
            <a:off x="7313371" y="3429000"/>
            <a:ext cx="1998878" cy="237744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477963" y="3611880"/>
            <a:ext cx="1669694" cy="457200"/>
          </a:xfrm>
          <a:prstGeom prst="rect">
            <a:avLst/>
          </a:prstGeom>
          <a:noFill/>
        </p:spPr>
        <p:txBody>
          <a:bodyPr wrap="square" lIns="36576" tIns="18288" rIns="36576" bIns="18288" anchor="t">
            <a:spAutoFit/>
          </a:bodyPr>
          <a:lstStyle/>
          <a:p>
            <a:pPr algn="ctr"/>
            <a:r>
              <a:rPr sz="1900" b="1" i="0">
                <a:solidFill>
                  <a:srgbClr val="F2F2EC"/>
                </a:solidFill>
                <a:latin typeface="Segoe UI Semibold"/>
              </a:rPr>
              <a:t>Observe</a:t>
            </a:r>
          </a:p>
        </p:txBody>
      </p:sp>
      <p:sp>
        <p:nvSpPr>
          <p:cNvPr id="22" name="TextBox 21"/>
          <p:cNvSpPr txBox="1"/>
          <p:nvPr/>
        </p:nvSpPr>
        <p:spPr>
          <a:xfrm>
            <a:off x="7477963" y="4114800"/>
            <a:ext cx="1669694" cy="1554480"/>
          </a:xfrm>
          <a:prstGeom prst="rect">
            <a:avLst/>
          </a:prstGeom>
          <a:noFill/>
        </p:spPr>
        <p:txBody>
          <a:bodyPr wrap="square" lIns="36576" tIns="18288" rIns="36576" bIns="18288" anchor="t">
            <a:spAutoFit/>
          </a:bodyPr>
          <a:lstStyle/>
          <a:p>
            <a:pPr algn="ctr"/>
            <a:r>
              <a:rPr sz="1400" b="0" i="0">
                <a:solidFill>
                  <a:srgbClr val="B4B8B0"/>
                </a:solidFill>
                <a:latin typeface="Segoe UI"/>
              </a:rPr>
              <a:t>Peça para pensar em voz alta</a:t>
            </a:r>
          </a:p>
        </p:txBody>
      </p:sp>
      <p:sp>
        <p:nvSpPr>
          <p:cNvPr id="23" name="Oval 22"/>
          <p:cNvSpPr/>
          <p:nvPr/>
        </p:nvSpPr>
        <p:spPr>
          <a:xfrm>
            <a:off x="10073944" y="2148840"/>
            <a:ext cx="914400" cy="914400"/>
          </a:xfrm>
          <a:prstGeom prst="ellipse">
            <a:avLst/>
          </a:prstGeom>
          <a:solidFill>
            <a:srgbClr val="2A9FC0"/>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2000" b="1" i="0">
                <a:solidFill>
                  <a:srgbClr val="1A1A1A"/>
                </a:solidFill>
                <a:latin typeface="Segoe UI Semibold"/>
              </a:rPr>
              <a:t>05</a:t>
            </a:r>
          </a:p>
        </p:txBody>
      </p:sp>
      <p:sp>
        <p:nvSpPr>
          <p:cNvPr id="24" name="Rounded Rectangle 23"/>
          <p:cNvSpPr/>
          <p:nvPr/>
        </p:nvSpPr>
        <p:spPr>
          <a:xfrm>
            <a:off x="9531705" y="3429000"/>
            <a:ext cx="1998878" cy="237744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9696297" y="3611880"/>
            <a:ext cx="1669694" cy="457200"/>
          </a:xfrm>
          <a:prstGeom prst="rect">
            <a:avLst/>
          </a:prstGeom>
          <a:noFill/>
        </p:spPr>
        <p:txBody>
          <a:bodyPr wrap="square" lIns="36576" tIns="18288" rIns="36576" bIns="18288" anchor="t">
            <a:spAutoFit/>
          </a:bodyPr>
          <a:lstStyle/>
          <a:p>
            <a:pPr algn="ctr"/>
            <a:r>
              <a:rPr sz="1900" b="1" i="0">
                <a:solidFill>
                  <a:srgbClr val="F2F2EC"/>
                </a:solidFill>
                <a:latin typeface="Segoe UI Semibold"/>
              </a:rPr>
              <a:t>Registre</a:t>
            </a:r>
          </a:p>
        </p:txBody>
      </p:sp>
      <p:sp>
        <p:nvSpPr>
          <p:cNvPr id="26" name="TextBox 25"/>
          <p:cNvSpPr txBox="1"/>
          <p:nvPr/>
        </p:nvSpPr>
        <p:spPr>
          <a:xfrm>
            <a:off x="9696297" y="4114800"/>
            <a:ext cx="1669694" cy="1554480"/>
          </a:xfrm>
          <a:prstGeom prst="rect">
            <a:avLst/>
          </a:prstGeom>
          <a:noFill/>
        </p:spPr>
        <p:txBody>
          <a:bodyPr wrap="square" lIns="36576" tIns="18288" rIns="36576" bIns="18288" anchor="t">
            <a:spAutoFit/>
          </a:bodyPr>
          <a:lstStyle/>
          <a:p>
            <a:pPr algn="ctr"/>
            <a:r>
              <a:rPr sz="1400" b="0" i="0">
                <a:solidFill>
                  <a:srgbClr val="B4B8B0"/>
                </a:solidFill>
                <a:latin typeface="Segoe UI"/>
              </a:rPr>
              <a:t>Anote falas, erros e hesitações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22" presetClass="entr" presetSubtype="8" fill="hold" nodeType="withEffect">
                                  <p:stCondLst>
                                    <p:cond delay="20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1500" fill="hold"/>
                                        <p:tgtEl>
                                          <p:spTgt spid="6"/>
                                        </p:tgtEl>
                                      </p:cBhvr>
                                    </p:animEffect>
                                  </p:childTnLst>
                                </p:cTn>
                              </p:par>
                              <p:par>
                                <p:cTn id="11" presetID="53" presetClass="entr" presetSubtype="16" decel="100000" fill="hold" grpId="0" nodeType="withEffect">
                                  <p:stCondLst>
                                    <p:cond delay="20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450" fill="hold"/>
                                        <p:tgtEl>
                                          <p:spTgt spid="7"/>
                                        </p:tgtEl>
                                        <p:attrNameLst>
                                          <p:attrName>ppt_w</p:attrName>
                                        </p:attrNameLst>
                                      </p:cBhvr>
                                      <p:tavLst>
                                        <p:tav tm="0">
                                          <p:val>
                                            <p:strVal val="0"/>
                                          </p:val>
                                        </p:tav>
                                        <p:tav tm="70000">
                                          <p:val>
                                            <p:strVal val="#ppt_w*1.08"/>
                                          </p:val>
                                        </p:tav>
                                        <p:tav tm="100000">
                                          <p:val>
                                            <p:strVal val="#ppt_w"/>
                                          </p:val>
                                        </p:tav>
                                      </p:tavLst>
                                    </p:anim>
                                    <p:anim calcmode="lin" valueType="num">
                                      <p:cBhvr additive="base">
                                        <p:cTn id="14" dur="450" fill="hold"/>
                                        <p:tgtEl>
                                          <p:spTgt spid="7"/>
                                        </p:tgtEl>
                                        <p:attrNameLst>
                                          <p:attrName>ppt_h</p:attrName>
                                        </p:attrNameLst>
                                      </p:cBhvr>
                                      <p:tavLst>
                                        <p:tav tm="0">
                                          <p:val>
                                            <p:strVal val="0"/>
                                          </p:val>
                                        </p:tav>
                                        <p:tav tm="70000">
                                          <p:val>
                                            <p:strVal val="#ppt_h*1.08"/>
                                          </p:val>
                                        </p:tav>
                                        <p:tav tm="100000">
                                          <p:val>
                                            <p:strVal val="#ppt_h"/>
                                          </p:val>
                                        </p:tav>
                                      </p:tavLst>
                                    </p:anim>
                                    <p:animEffect transition="in" filter="fade">
                                      <p:cBhvr>
                                        <p:cTn id="15" dur="270" fill="hold"/>
                                        <p:tgtEl>
                                          <p:spTgt spid="7"/>
                                        </p:tgtEl>
                                      </p:cBhvr>
                                    </p:animEffect>
                                  </p:childTnLst>
                                </p:cTn>
                              </p:par>
                              <p:par>
                                <p:cTn id="16" presetID="42" presetClass="entr" presetSubtype="0" decel="100000" fill="hold" grpId="0" nodeType="withEffect">
                                  <p:stCondLst>
                                    <p:cond delay="32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650" fill="hold"/>
                                        <p:tgtEl>
                                          <p:spTgt spid="8"/>
                                        </p:tgtEl>
                                      </p:cBhvr>
                                    </p:animEffect>
                                    <p:anim calcmode="lin" valueType="num">
                                      <p:cBhvr additive="base">
                                        <p:cTn id="19" dur="650" fill="hold"/>
                                        <p:tgtEl>
                                          <p:spTgt spid="8"/>
                                        </p:tgtEl>
                                        <p:attrNameLst>
                                          <p:attrName>ppt_x</p:attrName>
                                        </p:attrNameLst>
                                      </p:cBhvr>
                                      <p:tavLst>
                                        <p:tav tm="0">
                                          <p:val>
                                            <p:strVal val="#ppt_x"/>
                                          </p:val>
                                        </p:tav>
                                        <p:tav tm="100000">
                                          <p:val>
                                            <p:strVal val="#ppt_x"/>
                                          </p:val>
                                        </p:tav>
                                      </p:tavLst>
                                    </p:anim>
                                    <p:anim calcmode="lin" valueType="num">
                                      <p:cBhvr additive="base">
                                        <p:cTn id="20" dur="650" fill="hold"/>
                                        <p:tgtEl>
                                          <p:spTgt spid="8"/>
                                        </p:tgtEl>
                                        <p:attrNameLst>
                                          <p:attrName>ppt_y</p:attrName>
                                        </p:attrNameLst>
                                      </p:cBhvr>
                                      <p:tavLst>
                                        <p:tav tm="0">
                                          <p:val>
                                            <p:strVal val="#ppt_y+.06"/>
                                          </p:val>
                                        </p:tav>
                                        <p:tav tm="100000">
                                          <p:val>
                                            <p:strVal val="#ppt_y"/>
                                          </p:val>
                                        </p:tav>
                                      </p:tavLst>
                                    </p:anim>
                                  </p:childTnLst>
                                </p:cTn>
                              </p:par>
                              <p:par>
                                <p:cTn id="21" presetID="42" presetClass="entr" presetSubtype="0" decel="100000" fill="hold" grpId="0" nodeType="withEffect">
                                  <p:stCondLst>
                                    <p:cond delay="32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650" fill="hold"/>
                                        <p:tgtEl>
                                          <p:spTgt spid="9"/>
                                        </p:tgtEl>
                                      </p:cBhvr>
                                    </p:animEffect>
                                    <p:anim calcmode="lin" valueType="num">
                                      <p:cBhvr additive="base">
                                        <p:cTn id="24" dur="650" fill="hold"/>
                                        <p:tgtEl>
                                          <p:spTgt spid="9"/>
                                        </p:tgtEl>
                                        <p:attrNameLst>
                                          <p:attrName>ppt_x</p:attrName>
                                        </p:attrNameLst>
                                      </p:cBhvr>
                                      <p:tavLst>
                                        <p:tav tm="0">
                                          <p:val>
                                            <p:strVal val="#ppt_x"/>
                                          </p:val>
                                        </p:tav>
                                        <p:tav tm="100000">
                                          <p:val>
                                            <p:strVal val="#ppt_x"/>
                                          </p:val>
                                        </p:tav>
                                      </p:tavLst>
                                    </p:anim>
                                    <p:anim calcmode="lin" valueType="num">
                                      <p:cBhvr additive="base">
                                        <p:cTn id="25" dur="650" fill="hold"/>
                                        <p:tgtEl>
                                          <p:spTgt spid="9"/>
                                        </p:tgtEl>
                                        <p:attrNameLst>
                                          <p:attrName>ppt_y</p:attrName>
                                        </p:attrNameLst>
                                      </p:cBhvr>
                                      <p:tavLst>
                                        <p:tav tm="0">
                                          <p:val>
                                            <p:strVal val="#ppt_y+.06"/>
                                          </p:val>
                                        </p:tav>
                                        <p:tav tm="100000">
                                          <p:val>
                                            <p:strVal val="#ppt_y"/>
                                          </p:val>
                                        </p:tav>
                                      </p:tavLst>
                                    </p:anim>
                                  </p:childTnLst>
                                </p:cTn>
                              </p:par>
                              <p:par>
                                <p:cTn id="26" presetID="42" presetClass="entr" presetSubtype="0" decel="100000" fill="hold" grpId="0" nodeType="withEffect">
                                  <p:stCondLst>
                                    <p:cond delay="32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650" fill="hold"/>
                                        <p:tgtEl>
                                          <p:spTgt spid="10"/>
                                        </p:tgtEl>
                                      </p:cBhvr>
                                    </p:animEffect>
                                    <p:anim calcmode="lin" valueType="num">
                                      <p:cBhvr additive="base">
                                        <p:cTn id="29" dur="650" fill="hold"/>
                                        <p:tgtEl>
                                          <p:spTgt spid="10"/>
                                        </p:tgtEl>
                                        <p:attrNameLst>
                                          <p:attrName>ppt_x</p:attrName>
                                        </p:attrNameLst>
                                      </p:cBhvr>
                                      <p:tavLst>
                                        <p:tav tm="0">
                                          <p:val>
                                            <p:strVal val="#ppt_x"/>
                                          </p:val>
                                        </p:tav>
                                        <p:tav tm="100000">
                                          <p:val>
                                            <p:strVal val="#ppt_x"/>
                                          </p:val>
                                        </p:tav>
                                      </p:tavLst>
                                    </p:anim>
                                    <p:anim calcmode="lin" valueType="num">
                                      <p:cBhvr additive="base">
                                        <p:cTn id="30" dur="650" fill="hold"/>
                                        <p:tgtEl>
                                          <p:spTgt spid="10"/>
                                        </p:tgtEl>
                                        <p:attrNameLst>
                                          <p:attrName>ppt_y</p:attrName>
                                        </p:attrNameLst>
                                      </p:cBhvr>
                                      <p:tavLst>
                                        <p:tav tm="0">
                                          <p:val>
                                            <p:strVal val="#ppt_y+.06"/>
                                          </p:val>
                                        </p:tav>
                                        <p:tav tm="100000">
                                          <p:val>
                                            <p:strVal val="#ppt_y"/>
                                          </p:val>
                                        </p:tav>
                                      </p:tavLst>
                                    </p:anim>
                                  </p:childTnLst>
                                </p:cTn>
                              </p:par>
                              <p:par>
                                <p:cTn id="31" presetID="53" presetClass="entr" presetSubtype="16" decel="100000" fill="hold" grpId="0" nodeType="withEffect">
                                  <p:stCondLst>
                                    <p:cond delay="620"/>
                                  </p:stCondLst>
                                  <p:childTnLst>
                                    <p:set>
                                      <p:cBhvr>
                                        <p:cTn id="32" dur="1" fill="hold">
                                          <p:stCondLst>
                                            <p:cond delay="0"/>
                                          </p:stCondLst>
                                        </p:cTn>
                                        <p:tgtEl>
                                          <p:spTgt spid="11"/>
                                        </p:tgtEl>
                                        <p:attrNameLst>
                                          <p:attrName>style.visibility</p:attrName>
                                        </p:attrNameLst>
                                      </p:cBhvr>
                                      <p:to>
                                        <p:strVal val="visible"/>
                                      </p:to>
                                    </p:set>
                                    <p:anim calcmode="lin" valueType="num">
                                      <p:cBhvr additive="base">
                                        <p:cTn id="33" dur="450" fill="hold"/>
                                        <p:tgtEl>
                                          <p:spTgt spid="11"/>
                                        </p:tgtEl>
                                        <p:attrNameLst>
                                          <p:attrName>ppt_w</p:attrName>
                                        </p:attrNameLst>
                                      </p:cBhvr>
                                      <p:tavLst>
                                        <p:tav tm="0">
                                          <p:val>
                                            <p:strVal val="0"/>
                                          </p:val>
                                        </p:tav>
                                        <p:tav tm="70000">
                                          <p:val>
                                            <p:strVal val="#ppt_w*1.08"/>
                                          </p:val>
                                        </p:tav>
                                        <p:tav tm="100000">
                                          <p:val>
                                            <p:strVal val="#ppt_w"/>
                                          </p:val>
                                        </p:tav>
                                      </p:tavLst>
                                    </p:anim>
                                    <p:anim calcmode="lin" valueType="num">
                                      <p:cBhvr additive="base">
                                        <p:cTn id="34" dur="450" fill="hold"/>
                                        <p:tgtEl>
                                          <p:spTgt spid="11"/>
                                        </p:tgtEl>
                                        <p:attrNameLst>
                                          <p:attrName>ppt_h</p:attrName>
                                        </p:attrNameLst>
                                      </p:cBhvr>
                                      <p:tavLst>
                                        <p:tav tm="0">
                                          <p:val>
                                            <p:strVal val="0"/>
                                          </p:val>
                                        </p:tav>
                                        <p:tav tm="70000">
                                          <p:val>
                                            <p:strVal val="#ppt_h*1.08"/>
                                          </p:val>
                                        </p:tav>
                                        <p:tav tm="100000">
                                          <p:val>
                                            <p:strVal val="#ppt_h"/>
                                          </p:val>
                                        </p:tav>
                                      </p:tavLst>
                                    </p:anim>
                                    <p:animEffect transition="in" filter="fade">
                                      <p:cBhvr>
                                        <p:cTn id="35" dur="270" fill="hold"/>
                                        <p:tgtEl>
                                          <p:spTgt spid="11"/>
                                        </p:tgtEl>
                                      </p:cBhvr>
                                    </p:animEffect>
                                  </p:childTnLst>
                                </p:cTn>
                              </p:par>
                              <p:par>
                                <p:cTn id="36" presetID="42" presetClass="entr" presetSubtype="0" decel="100000" fill="hold" grpId="0" nodeType="withEffect">
                                  <p:stCondLst>
                                    <p:cond delay="74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650" fill="hold"/>
                                        <p:tgtEl>
                                          <p:spTgt spid="12"/>
                                        </p:tgtEl>
                                      </p:cBhvr>
                                    </p:animEffect>
                                    <p:anim calcmode="lin" valueType="num">
                                      <p:cBhvr additive="base">
                                        <p:cTn id="39" dur="650" fill="hold"/>
                                        <p:tgtEl>
                                          <p:spTgt spid="12"/>
                                        </p:tgtEl>
                                        <p:attrNameLst>
                                          <p:attrName>ppt_x</p:attrName>
                                        </p:attrNameLst>
                                      </p:cBhvr>
                                      <p:tavLst>
                                        <p:tav tm="0">
                                          <p:val>
                                            <p:strVal val="#ppt_x"/>
                                          </p:val>
                                        </p:tav>
                                        <p:tav tm="100000">
                                          <p:val>
                                            <p:strVal val="#ppt_x"/>
                                          </p:val>
                                        </p:tav>
                                      </p:tavLst>
                                    </p:anim>
                                    <p:anim calcmode="lin" valueType="num">
                                      <p:cBhvr additive="base">
                                        <p:cTn id="40" dur="650" fill="hold"/>
                                        <p:tgtEl>
                                          <p:spTgt spid="12"/>
                                        </p:tgtEl>
                                        <p:attrNameLst>
                                          <p:attrName>ppt_y</p:attrName>
                                        </p:attrNameLst>
                                      </p:cBhvr>
                                      <p:tavLst>
                                        <p:tav tm="0">
                                          <p:val>
                                            <p:strVal val="#ppt_y+.06"/>
                                          </p:val>
                                        </p:tav>
                                        <p:tav tm="100000">
                                          <p:val>
                                            <p:strVal val="#ppt_y"/>
                                          </p:val>
                                        </p:tav>
                                      </p:tavLst>
                                    </p:anim>
                                  </p:childTnLst>
                                </p:cTn>
                              </p:par>
                              <p:par>
                                <p:cTn id="41" presetID="42" presetClass="entr" presetSubtype="0" decel="100000" fill="hold" grpId="0" nodeType="withEffect">
                                  <p:stCondLst>
                                    <p:cond delay="74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650" fill="hold"/>
                                        <p:tgtEl>
                                          <p:spTgt spid="13"/>
                                        </p:tgtEl>
                                      </p:cBhvr>
                                    </p:animEffect>
                                    <p:anim calcmode="lin" valueType="num">
                                      <p:cBhvr additive="base">
                                        <p:cTn id="44" dur="650" fill="hold"/>
                                        <p:tgtEl>
                                          <p:spTgt spid="13"/>
                                        </p:tgtEl>
                                        <p:attrNameLst>
                                          <p:attrName>ppt_x</p:attrName>
                                        </p:attrNameLst>
                                      </p:cBhvr>
                                      <p:tavLst>
                                        <p:tav tm="0">
                                          <p:val>
                                            <p:strVal val="#ppt_x"/>
                                          </p:val>
                                        </p:tav>
                                        <p:tav tm="100000">
                                          <p:val>
                                            <p:strVal val="#ppt_x"/>
                                          </p:val>
                                        </p:tav>
                                      </p:tavLst>
                                    </p:anim>
                                    <p:anim calcmode="lin" valueType="num">
                                      <p:cBhvr additive="base">
                                        <p:cTn id="45" dur="650" fill="hold"/>
                                        <p:tgtEl>
                                          <p:spTgt spid="13"/>
                                        </p:tgtEl>
                                        <p:attrNameLst>
                                          <p:attrName>ppt_y</p:attrName>
                                        </p:attrNameLst>
                                      </p:cBhvr>
                                      <p:tavLst>
                                        <p:tav tm="0">
                                          <p:val>
                                            <p:strVal val="#ppt_y+.06"/>
                                          </p:val>
                                        </p:tav>
                                        <p:tav tm="100000">
                                          <p:val>
                                            <p:strVal val="#ppt_y"/>
                                          </p:val>
                                        </p:tav>
                                      </p:tavLst>
                                    </p:anim>
                                  </p:childTnLst>
                                </p:cTn>
                              </p:par>
                              <p:par>
                                <p:cTn id="46" presetID="42" presetClass="entr" presetSubtype="0" decel="100000" fill="hold" grpId="0" nodeType="withEffect">
                                  <p:stCondLst>
                                    <p:cond delay="740"/>
                                  </p:stCondLst>
                                  <p:childTnLst>
                                    <p:set>
                                      <p:cBhvr>
                                        <p:cTn id="47" dur="1" fill="hold">
                                          <p:stCondLst>
                                            <p:cond delay="0"/>
                                          </p:stCondLst>
                                        </p:cTn>
                                        <p:tgtEl>
                                          <p:spTgt spid="14"/>
                                        </p:tgtEl>
                                        <p:attrNameLst>
                                          <p:attrName>style.visibility</p:attrName>
                                        </p:attrNameLst>
                                      </p:cBhvr>
                                      <p:to>
                                        <p:strVal val="visible"/>
                                      </p:to>
                                    </p:set>
                                    <p:animEffect transition="in" filter="fade">
                                      <p:cBhvr>
                                        <p:cTn id="48" dur="650" fill="hold"/>
                                        <p:tgtEl>
                                          <p:spTgt spid="14"/>
                                        </p:tgtEl>
                                      </p:cBhvr>
                                    </p:animEffect>
                                    <p:anim calcmode="lin" valueType="num">
                                      <p:cBhvr additive="base">
                                        <p:cTn id="49" dur="650" fill="hold"/>
                                        <p:tgtEl>
                                          <p:spTgt spid="14"/>
                                        </p:tgtEl>
                                        <p:attrNameLst>
                                          <p:attrName>ppt_x</p:attrName>
                                        </p:attrNameLst>
                                      </p:cBhvr>
                                      <p:tavLst>
                                        <p:tav tm="0">
                                          <p:val>
                                            <p:strVal val="#ppt_x"/>
                                          </p:val>
                                        </p:tav>
                                        <p:tav tm="100000">
                                          <p:val>
                                            <p:strVal val="#ppt_x"/>
                                          </p:val>
                                        </p:tav>
                                      </p:tavLst>
                                    </p:anim>
                                    <p:anim calcmode="lin" valueType="num">
                                      <p:cBhvr additive="base">
                                        <p:cTn id="50" dur="650" fill="hold"/>
                                        <p:tgtEl>
                                          <p:spTgt spid="14"/>
                                        </p:tgtEl>
                                        <p:attrNameLst>
                                          <p:attrName>ppt_y</p:attrName>
                                        </p:attrNameLst>
                                      </p:cBhvr>
                                      <p:tavLst>
                                        <p:tav tm="0">
                                          <p:val>
                                            <p:strVal val="#ppt_y+.06"/>
                                          </p:val>
                                        </p:tav>
                                        <p:tav tm="100000">
                                          <p:val>
                                            <p:strVal val="#ppt_y"/>
                                          </p:val>
                                        </p:tav>
                                      </p:tavLst>
                                    </p:anim>
                                  </p:childTnLst>
                                </p:cTn>
                              </p:par>
                              <p:par>
                                <p:cTn id="51" presetID="53" presetClass="entr" presetSubtype="16" decel="100000" fill="hold" grpId="0" nodeType="withEffect">
                                  <p:stCondLst>
                                    <p:cond delay="1040"/>
                                  </p:stCondLst>
                                  <p:childTnLst>
                                    <p:set>
                                      <p:cBhvr>
                                        <p:cTn id="52" dur="1" fill="hold">
                                          <p:stCondLst>
                                            <p:cond delay="0"/>
                                          </p:stCondLst>
                                        </p:cTn>
                                        <p:tgtEl>
                                          <p:spTgt spid="15"/>
                                        </p:tgtEl>
                                        <p:attrNameLst>
                                          <p:attrName>style.visibility</p:attrName>
                                        </p:attrNameLst>
                                      </p:cBhvr>
                                      <p:to>
                                        <p:strVal val="visible"/>
                                      </p:to>
                                    </p:set>
                                    <p:anim calcmode="lin" valueType="num">
                                      <p:cBhvr additive="base">
                                        <p:cTn id="53" dur="450" fill="hold"/>
                                        <p:tgtEl>
                                          <p:spTgt spid="15"/>
                                        </p:tgtEl>
                                        <p:attrNameLst>
                                          <p:attrName>ppt_w</p:attrName>
                                        </p:attrNameLst>
                                      </p:cBhvr>
                                      <p:tavLst>
                                        <p:tav tm="0">
                                          <p:val>
                                            <p:strVal val="0"/>
                                          </p:val>
                                        </p:tav>
                                        <p:tav tm="70000">
                                          <p:val>
                                            <p:strVal val="#ppt_w*1.08"/>
                                          </p:val>
                                        </p:tav>
                                        <p:tav tm="100000">
                                          <p:val>
                                            <p:strVal val="#ppt_w"/>
                                          </p:val>
                                        </p:tav>
                                      </p:tavLst>
                                    </p:anim>
                                    <p:anim calcmode="lin" valueType="num">
                                      <p:cBhvr additive="base">
                                        <p:cTn id="54" dur="450" fill="hold"/>
                                        <p:tgtEl>
                                          <p:spTgt spid="15"/>
                                        </p:tgtEl>
                                        <p:attrNameLst>
                                          <p:attrName>ppt_h</p:attrName>
                                        </p:attrNameLst>
                                      </p:cBhvr>
                                      <p:tavLst>
                                        <p:tav tm="0">
                                          <p:val>
                                            <p:strVal val="0"/>
                                          </p:val>
                                        </p:tav>
                                        <p:tav tm="70000">
                                          <p:val>
                                            <p:strVal val="#ppt_h*1.08"/>
                                          </p:val>
                                        </p:tav>
                                        <p:tav tm="100000">
                                          <p:val>
                                            <p:strVal val="#ppt_h"/>
                                          </p:val>
                                        </p:tav>
                                      </p:tavLst>
                                    </p:anim>
                                    <p:animEffect transition="in" filter="fade">
                                      <p:cBhvr>
                                        <p:cTn id="55" dur="270" fill="hold"/>
                                        <p:tgtEl>
                                          <p:spTgt spid="15"/>
                                        </p:tgtEl>
                                      </p:cBhvr>
                                    </p:animEffect>
                                  </p:childTnLst>
                                </p:cTn>
                              </p:par>
                              <p:par>
                                <p:cTn id="56" presetID="42" presetClass="entr" presetSubtype="0" decel="100000" fill="hold" grpId="0" nodeType="withEffect">
                                  <p:stCondLst>
                                    <p:cond delay="116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650" fill="hold"/>
                                        <p:tgtEl>
                                          <p:spTgt spid="16"/>
                                        </p:tgtEl>
                                      </p:cBhvr>
                                    </p:animEffect>
                                    <p:anim calcmode="lin" valueType="num">
                                      <p:cBhvr additive="base">
                                        <p:cTn id="59" dur="650" fill="hold"/>
                                        <p:tgtEl>
                                          <p:spTgt spid="16"/>
                                        </p:tgtEl>
                                        <p:attrNameLst>
                                          <p:attrName>ppt_x</p:attrName>
                                        </p:attrNameLst>
                                      </p:cBhvr>
                                      <p:tavLst>
                                        <p:tav tm="0">
                                          <p:val>
                                            <p:strVal val="#ppt_x"/>
                                          </p:val>
                                        </p:tav>
                                        <p:tav tm="100000">
                                          <p:val>
                                            <p:strVal val="#ppt_x"/>
                                          </p:val>
                                        </p:tav>
                                      </p:tavLst>
                                    </p:anim>
                                    <p:anim calcmode="lin" valueType="num">
                                      <p:cBhvr additive="base">
                                        <p:cTn id="60" dur="650" fill="hold"/>
                                        <p:tgtEl>
                                          <p:spTgt spid="16"/>
                                        </p:tgtEl>
                                        <p:attrNameLst>
                                          <p:attrName>ppt_y</p:attrName>
                                        </p:attrNameLst>
                                      </p:cBhvr>
                                      <p:tavLst>
                                        <p:tav tm="0">
                                          <p:val>
                                            <p:strVal val="#ppt_y+.06"/>
                                          </p:val>
                                        </p:tav>
                                        <p:tav tm="100000">
                                          <p:val>
                                            <p:strVal val="#ppt_y"/>
                                          </p:val>
                                        </p:tav>
                                      </p:tavLst>
                                    </p:anim>
                                  </p:childTnLst>
                                </p:cTn>
                              </p:par>
                              <p:par>
                                <p:cTn id="61" presetID="42" presetClass="entr" presetSubtype="0" decel="100000" fill="hold" grpId="0" nodeType="withEffect">
                                  <p:stCondLst>
                                    <p:cond delay="1160"/>
                                  </p:stCondLst>
                                  <p:childTnLst>
                                    <p:set>
                                      <p:cBhvr>
                                        <p:cTn id="62" dur="1" fill="hold">
                                          <p:stCondLst>
                                            <p:cond delay="0"/>
                                          </p:stCondLst>
                                        </p:cTn>
                                        <p:tgtEl>
                                          <p:spTgt spid="17"/>
                                        </p:tgtEl>
                                        <p:attrNameLst>
                                          <p:attrName>style.visibility</p:attrName>
                                        </p:attrNameLst>
                                      </p:cBhvr>
                                      <p:to>
                                        <p:strVal val="visible"/>
                                      </p:to>
                                    </p:set>
                                    <p:animEffect transition="in" filter="fade">
                                      <p:cBhvr>
                                        <p:cTn id="63" dur="650" fill="hold"/>
                                        <p:tgtEl>
                                          <p:spTgt spid="17"/>
                                        </p:tgtEl>
                                      </p:cBhvr>
                                    </p:animEffect>
                                    <p:anim calcmode="lin" valueType="num">
                                      <p:cBhvr additive="base">
                                        <p:cTn id="64" dur="650" fill="hold"/>
                                        <p:tgtEl>
                                          <p:spTgt spid="17"/>
                                        </p:tgtEl>
                                        <p:attrNameLst>
                                          <p:attrName>ppt_x</p:attrName>
                                        </p:attrNameLst>
                                      </p:cBhvr>
                                      <p:tavLst>
                                        <p:tav tm="0">
                                          <p:val>
                                            <p:strVal val="#ppt_x"/>
                                          </p:val>
                                        </p:tav>
                                        <p:tav tm="100000">
                                          <p:val>
                                            <p:strVal val="#ppt_x"/>
                                          </p:val>
                                        </p:tav>
                                      </p:tavLst>
                                    </p:anim>
                                    <p:anim calcmode="lin" valueType="num">
                                      <p:cBhvr additive="base">
                                        <p:cTn id="65" dur="650" fill="hold"/>
                                        <p:tgtEl>
                                          <p:spTgt spid="17"/>
                                        </p:tgtEl>
                                        <p:attrNameLst>
                                          <p:attrName>ppt_y</p:attrName>
                                        </p:attrNameLst>
                                      </p:cBhvr>
                                      <p:tavLst>
                                        <p:tav tm="0">
                                          <p:val>
                                            <p:strVal val="#ppt_y+.06"/>
                                          </p:val>
                                        </p:tav>
                                        <p:tav tm="100000">
                                          <p:val>
                                            <p:strVal val="#ppt_y"/>
                                          </p:val>
                                        </p:tav>
                                      </p:tavLst>
                                    </p:anim>
                                  </p:childTnLst>
                                </p:cTn>
                              </p:par>
                              <p:par>
                                <p:cTn id="66" presetID="42" presetClass="entr" presetSubtype="0" decel="100000" fill="hold" grpId="0" nodeType="withEffect">
                                  <p:stCondLst>
                                    <p:cond delay="1160"/>
                                  </p:stCondLst>
                                  <p:childTnLst>
                                    <p:set>
                                      <p:cBhvr>
                                        <p:cTn id="67" dur="1" fill="hold">
                                          <p:stCondLst>
                                            <p:cond delay="0"/>
                                          </p:stCondLst>
                                        </p:cTn>
                                        <p:tgtEl>
                                          <p:spTgt spid="18"/>
                                        </p:tgtEl>
                                        <p:attrNameLst>
                                          <p:attrName>style.visibility</p:attrName>
                                        </p:attrNameLst>
                                      </p:cBhvr>
                                      <p:to>
                                        <p:strVal val="visible"/>
                                      </p:to>
                                    </p:set>
                                    <p:animEffect transition="in" filter="fade">
                                      <p:cBhvr>
                                        <p:cTn id="68" dur="650" fill="hold"/>
                                        <p:tgtEl>
                                          <p:spTgt spid="18"/>
                                        </p:tgtEl>
                                      </p:cBhvr>
                                    </p:animEffect>
                                    <p:anim calcmode="lin" valueType="num">
                                      <p:cBhvr additive="base">
                                        <p:cTn id="69" dur="650" fill="hold"/>
                                        <p:tgtEl>
                                          <p:spTgt spid="18"/>
                                        </p:tgtEl>
                                        <p:attrNameLst>
                                          <p:attrName>ppt_x</p:attrName>
                                        </p:attrNameLst>
                                      </p:cBhvr>
                                      <p:tavLst>
                                        <p:tav tm="0">
                                          <p:val>
                                            <p:strVal val="#ppt_x"/>
                                          </p:val>
                                        </p:tav>
                                        <p:tav tm="100000">
                                          <p:val>
                                            <p:strVal val="#ppt_x"/>
                                          </p:val>
                                        </p:tav>
                                      </p:tavLst>
                                    </p:anim>
                                    <p:anim calcmode="lin" valueType="num">
                                      <p:cBhvr additive="base">
                                        <p:cTn id="70" dur="650" fill="hold"/>
                                        <p:tgtEl>
                                          <p:spTgt spid="18"/>
                                        </p:tgtEl>
                                        <p:attrNameLst>
                                          <p:attrName>ppt_y</p:attrName>
                                        </p:attrNameLst>
                                      </p:cBhvr>
                                      <p:tavLst>
                                        <p:tav tm="0">
                                          <p:val>
                                            <p:strVal val="#ppt_y+.06"/>
                                          </p:val>
                                        </p:tav>
                                        <p:tav tm="100000">
                                          <p:val>
                                            <p:strVal val="#ppt_y"/>
                                          </p:val>
                                        </p:tav>
                                      </p:tavLst>
                                    </p:anim>
                                  </p:childTnLst>
                                </p:cTn>
                              </p:par>
                              <p:par>
                                <p:cTn id="71" presetID="53" presetClass="entr" presetSubtype="16" decel="100000" fill="hold" grpId="0" nodeType="withEffect">
                                  <p:stCondLst>
                                    <p:cond delay="1460"/>
                                  </p:stCondLst>
                                  <p:childTnLst>
                                    <p:set>
                                      <p:cBhvr>
                                        <p:cTn id="72" dur="1" fill="hold">
                                          <p:stCondLst>
                                            <p:cond delay="0"/>
                                          </p:stCondLst>
                                        </p:cTn>
                                        <p:tgtEl>
                                          <p:spTgt spid="19"/>
                                        </p:tgtEl>
                                        <p:attrNameLst>
                                          <p:attrName>style.visibility</p:attrName>
                                        </p:attrNameLst>
                                      </p:cBhvr>
                                      <p:to>
                                        <p:strVal val="visible"/>
                                      </p:to>
                                    </p:set>
                                    <p:anim calcmode="lin" valueType="num">
                                      <p:cBhvr additive="base">
                                        <p:cTn id="73" dur="450" fill="hold"/>
                                        <p:tgtEl>
                                          <p:spTgt spid="19"/>
                                        </p:tgtEl>
                                        <p:attrNameLst>
                                          <p:attrName>ppt_w</p:attrName>
                                        </p:attrNameLst>
                                      </p:cBhvr>
                                      <p:tavLst>
                                        <p:tav tm="0">
                                          <p:val>
                                            <p:strVal val="0"/>
                                          </p:val>
                                        </p:tav>
                                        <p:tav tm="70000">
                                          <p:val>
                                            <p:strVal val="#ppt_w*1.08"/>
                                          </p:val>
                                        </p:tav>
                                        <p:tav tm="100000">
                                          <p:val>
                                            <p:strVal val="#ppt_w"/>
                                          </p:val>
                                        </p:tav>
                                      </p:tavLst>
                                    </p:anim>
                                    <p:anim calcmode="lin" valueType="num">
                                      <p:cBhvr additive="base">
                                        <p:cTn id="74" dur="450" fill="hold"/>
                                        <p:tgtEl>
                                          <p:spTgt spid="19"/>
                                        </p:tgtEl>
                                        <p:attrNameLst>
                                          <p:attrName>ppt_h</p:attrName>
                                        </p:attrNameLst>
                                      </p:cBhvr>
                                      <p:tavLst>
                                        <p:tav tm="0">
                                          <p:val>
                                            <p:strVal val="0"/>
                                          </p:val>
                                        </p:tav>
                                        <p:tav tm="70000">
                                          <p:val>
                                            <p:strVal val="#ppt_h*1.08"/>
                                          </p:val>
                                        </p:tav>
                                        <p:tav tm="100000">
                                          <p:val>
                                            <p:strVal val="#ppt_h"/>
                                          </p:val>
                                        </p:tav>
                                      </p:tavLst>
                                    </p:anim>
                                    <p:animEffect transition="in" filter="fade">
                                      <p:cBhvr>
                                        <p:cTn id="75" dur="270" fill="hold"/>
                                        <p:tgtEl>
                                          <p:spTgt spid="19"/>
                                        </p:tgtEl>
                                      </p:cBhvr>
                                    </p:animEffect>
                                  </p:childTnLst>
                                </p:cTn>
                              </p:par>
                              <p:par>
                                <p:cTn id="76" presetID="42" presetClass="entr" presetSubtype="0" decel="100000" fill="hold" grpId="0" nodeType="withEffect">
                                  <p:stCondLst>
                                    <p:cond delay="158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650" fill="hold"/>
                                        <p:tgtEl>
                                          <p:spTgt spid="20"/>
                                        </p:tgtEl>
                                      </p:cBhvr>
                                    </p:animEffect>
                                    <p:anim calcmode="lin" valueType="num">
                                      <p:cBhvr additive="base">
                                        <p:cTn id="79" dur="650" fill="hold"/>
                                        <p:tgtEl>
                                          <p:spTgt spid="20"/>
                                        </p:tgtEl>
                                        <p:attrNameLst>
                                          <p:attrName>ppt_x</p:attrName>
                                        </p:attrNameLst>
                                      </p:cBhvr>
                                      <p:tavLst>
                                        <p:tav tm="0">
                                          <p:val>
                                            <p:strVal val="#ppt_x"/>
                                          </p:val>
                                        </p:tav>
                                        <p:tav tm="100000">
                                          <p:val>
                                            <p:strVal val="#ppt_x"/>
                                          </p:val>
                                        </p:tav>
                                      </p:tavLst>
                                    </p:anim>
                                    <p:anim calcmode="lin" valueType="num">
                                      <p:cBhvr additive="base">
                                        <p:cTn id="80" dur="650" fill="hold"/>
                                        <p:tgtEl>
                                          <p:spTgt spid="20"/>
                                        </p:tgtEl>
                                        <p:attrNameLst>
                                          <p:attrName>ppt_y</p:attrName>
                                        </p:attrNameLst>
                                      </p:cBhvr>
                                      <p:tavLst>
                                        <p:tav tm="0">
                                          <p:val>
                                            <p:strVal val="#ppt_y+.06"/>
                                          </p:val>
                                        </p:tav>
                                        <p:tav tm="100000">
                                          <p:val>
                                            <p:strVal val="#ppt_y"/>
                                          </p:val>
                                        </p:tav>
                                      </p:tavLst>
                                    </p:anim>
                                  </p:childTnLst>
                                </p:cTn>
                              </p:par>
                              <p:par>
                                <p:cTn id="81" presetID="42" presetClass="entr" presetSubtype="0" decel="100000" fill="hold" grpId="0" nodeType="withEffect">
                                  <p:stCondLst>
                                    <p:cond delay="1580"/>
                                  </p:stCondLst>
                                  <p:childTnLst>
                                    <p:set>
                                      <p:cBhvr>
                                        <p:cTn id="82" dur="1" fill="hold">
                                          <p:stCondLst>
                                            <p:cond delay="0"/>
                                          </p:stCondLst>
                                        </p:cTn>
                                        <p:tgtEl>
                                          <p:spTgt spid="21"/>
                                        </p:tgtEl>
                                        <p:attrNameLst>
                                          <p:attrName>style.visibility</p:attrName>
                                        </p:attrNameLst>
                                      </p:cBhvr>
                                      <p:to>
                                        <p:strVal val="visible"/>
                                      </p:to>
                                    </p:set>
                                    <p:animEffect transition="in" filter="fade">
                                      <p:cBhvr>
                                        <p:cTn id="83" dur="650" fill="hold"/>
                                        <p:tgtEl>
                                          <p:spTgt spid="21"/>
                                        </p:tgtEl>
                                      </p:cBhvr>
                                    </p:animEffect>
                                    <p:anim calcmode="lin" valueType="num">
                                      <p:cBhvr additive="base">
                                        <p:cTn id="84" dur="650" fill="hold"/>
                                        <p:tgtEl>
                                          <p:spTgt spid="21"/>
                                        </p:tgtEl>
                                        <p:attrNameLst>
                                          <p:attrName>ppt_x</p:attrName>
                                        </p:attrNameLst>
                                      </p:cBhvr>
                                      <p:tavLst>
                                        <p:tav tm="0">
                                          <p:val>
                                            <p:strVal val="#ppt_x"/>
                                          </p:val>
                                        </p:tav>
                                        <p:tav tm="100000">
                                          <p:val>
                                            <p:strVal val="#ppt_x"/>
                                          </p:val>
                                        </p:tav>
                                      </p:tavLst>
                                    </p:anim>
                                    <p:anim calcmode="lin" valueType="num">
                                      <p:cBhvr additive="base">
                                        <p:cTn id="85" dur="650" fill="hold"/>
                                        <p:tgtEl>
                                          <p:spTgt spid="21"/>
                                        </p:tgtEl>
                                        <p:attrNameLst>
                                          <p:attrName>ppt_y</p:attrName>
                                        </p:attrNameLst>
                                      </p:cBhvr>
                                      <p:tavLst>
                                        <p:tav tm="0">
                                          <p:val>
                                            <p:strVal val="#ppt_y+.06"/>
                                          </p:val>
                                        </p:tav>
                                        <p:tav tm="100000">
                                          <p:val>
                                            <p:strVal val="#ppt_y"/>
                                          </p:val>
                                        </p:tav>
                                      </p:tavLst>
                                    </p:anim>
                                  </p:childTnLst>
                                </p:cTn>
                              </p:par>
                              <p:par>
                                <p:cTn id="86" presetID="42" presetClass="entr" presetSubtype="0" decel="100000" fill="hold" grpId="0" nodeType="withEffect">
                                  <p:stCondLst>
                                    <p:cond delay="158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650" fill="hold"/>
                                        <p:tgtEl>
                                          <p:spTgt spid="22"/>
                                        </p:tgtEl>
                                      </p:cBhvr>
                                    </p:animEffect>
                                    <p:anim calcmode="lin" valueType="num">
                                      <p:cBhvr additive="base">
                                        <p:cTn id="89" dur="650" fill="hold"/>
                                        <p:tgtEl>
                                          <p:spTgt spid="22"/>
                                        </p:tgtEl>
                                        <p:attrNameLst>
                                          <p:attrName>ppt_x</p:attrName>
                                        </p:attrNameLst>
                                      </p:cBhvr>
                                      <p:tavLst>
                                        <p:tav tm="0">
                                          <p:val>
                                            <p:strVal val="#ppt_x"/>
                                          </p:val>
                                        </p:tav>
                                        <p:tav tm="100000">
                                          <p:val>
                                            <p:strVal val="#ppt_x"/>
                                          </p:val>
                                        </p:tav>
                                      </p:tavLst>
                                    </p:anim>
                                    <p:anim calcmode="lin" valueType="num">
                                      <p:cBhvr additive="base">
                                        <p:cTn id="90" dur="650" fill="hold"/>
                                        <p:tgtEl>
                                          <p:spTgt spid="22"/>
                                        </p:tgtEl>
                                        <p:attrNameLst>
                                          <p:attrName>ppt_y</p:attrName>
                                        </p:attrNameLst>
                                      </p:cBhvr>
                                      <p:tavLst>
                                        <p:tav tm="0">
                                          <p:val>
                                            <p:strVal val="#ppt_y+.06"/>
                                          </p:val>
                                        </p:tav>
                                        <p:tav tm="100000">
                                          <p:val>
                                            <p:strVal val="#ppt_y"/>
                                          </p:val>
                                        </p:tav>
                                      </p:tavLst>
                                    </p:anim>
                                  </p:childTnLst>
                                </p:cTn>
                              </p:par>
                              <p:par>
                                <p:cTn id="91" presetID="53" presetClass="entr" presetSubtype="16" decel="100000" fill="hold" grpId="0" nodeType="withEffect">
                                  <p:stCondLst>
                                    <p:cond delay="1880"/>
                                  </p:stCondLst>
                                  <p:childTnLst>
                                    <p:set>
                                      <p:cBhvr>
                                        <p:cTn id="92" dur="1" fill="hold">
                                          <p:stCondLst>
                                            <p:cond delay="0"/>
                                          </p:stCondLst>
                                        </p:cTn>
                                        <p:tgtEl>
                                          <p:spTgt spid="23"/>
                                        </p:tgtEl>
                                        <p:attrNameLst>
                                          <p:attrName>style.visibility</p:attrName>
                                        </p:attrNameLst>
                                      </p:cBhvr>
                                      <p:to>
                                        <p:strVal val="visible"/>
                                      </p:to>
                                    </p:set>
                                    <p:anim calcmode="lin" valueType="num">
                                      <p:cBhvr additive="base">
                                        <p:cTn id="93" dur="450" fill="hold"/>
                                        <p:tgtEl>
                                          <p:spTgt spid="23"/>
                                        </p:tgtEl>
                                        <p:attrNameLst>
                                          <p:attrName>ppt_w</p:attrName>
                                        </p:attrNameLst>
                                      </p:cBhvr>
                                      <p:tavLst>
                                        <p:tav tm="0">
                                          <p:val>
                                            <p:strVal val="0"/>
                                          </p:val>
                                        </p:tav>
                                        <p:tav tm="70000">
                                          <p:val>
                                            <p:strVal val="#ppt_w*1.08"/>
                                          </p:val>
                                        </p:tav>
                                        <p:tav tm="100000">
                                          <p:val>
                                            <p:strVal val="#ppt_w"/>
                                          </p:val>
                                        </p:tav>
                                      </p:tavLst>
                                    </p:anim>
                                    <p:anim calcmode="lin" valueType="num">
                                      <p:cBhvr additive="base">
                                        <p:cTn id="94" dur="450" fill="hold"/>
                                        <p:tgtEl>
                                          <p:spTgt spid="23"/>
                                        </p:tgtEl>
                                        <p:attrNameLst>
                                          <p:attrName>ppt_h</p:attrName>
                                        </p:attrNameLst>
                                      </p:cBhvr>
                                      <p:tavLst>
                                        <p:tav tm="0">
                                          <p:val>
                                            <p:strVal val="0"/>
                                          </p:val>
                                        </p:tav>
                                        <p:tav tm="70000">
                                          <p:val>
                                            <p:strVal val="#ppt_h*1.08"/>
                                          </p:val>
                                        </p:tav>
                                        <p:tav tm="100000">
                                          <p:val>
                                            <p:strVal val="#ppt_h"/>
                                          </p:val>
                                        </p:tav>
                                      </p:tavLst>
                                    </p:anim>
                                    <p:animEffect transition="in" filter="fade">
                                      <p:cBhvr>
                                        <p:cTn id="95" dur="270" fill="hold"/>
                                        <p:tgtEl>
                                          <p:spTgt spid="23"/>
                                        </p:tgtEl>
                                      </p:cBhvr>
                                    </p:animEffect>
                                  </p:childTnLst>
                                </p:cTn>
                              </p:par>
                              <p:par>
                                <p:cTn id="96" presetID="42" presetClass="entr" presetSubtype="0" decel="100000" fill="hold" grpId="0" nodeType="withEffect">
                                  <p:stCondLst>
                                    <p:cond delay="2000"/>
                                  </p:stCondLst>
                                  <p:childTnLst>
                                    <p:set>
                                      <p:cBhvr>
                                        <p:cTn id="97" dur="1" fill="hold">
                                          <p:stCondLst>
                                            <p:cond delay="0"/>
                                          </p:stCondLst>
                                        </p:cTn>
                                        <p:tgtEl>
                                          <p:spTgt spid="24"/>
                                        </p:tgtEl>
                                        <p:attrNameLst>
                                          <p:attrName>style.visibility</p:attrName>
                                        </p:attrNameLst>
                                      </p:cBhvr>
                                      <p:to>
                                        <p:strVal val="visible"/>
                                      </p:to>
                                    </p:set>
                                    <p:animEffect transition="in" filter="fade">
                                      <p:cBhvr>
                                        <p:cTn id="98" dur="650" fill="hold"/>
                                        <p:tgtEl>
                                          <p:spTgt spid="24"/>
                                        </p:tgtEl>
                                      </p:cBhvr>
                                    </p:animEffect>
                                    <p:anim calcmode="lin" valueType="num">
                                      <p:cBhvr additive="base">
                                        <p:cTn id="99" dur="650" fill="hold"/>
                                        <p:tgtEl>
                                          <p:spTgt spid="24"/>
                                        </p:tgtEl>
                                        <p:attrNameLst>
                                          <p:attrName>ppt_x</p:attrName>
                                        </p:attrNameLst>
                                      </p:cBhvr>
                                      <p:tavLst>
                                        <p:tav tm="0">
                                          <p:val>
                                            <p:strVal val="#ppt_x"/>
                                          </p:val>
                                        </p:tav>
                                        <p:tav tm="100000">
                                          <p:val>
                                            <p:strVal val="#ppt_x"/>
                                          </p:val>
                                        </p:tav>
                                      </p:tavLst>
                                    </p:anim>
                                    <p:anim calcmode="lin" valueType="num">
                                      <p:cBhvr additive="base">
                                        <p:cTn id="100" dur="650" fill="hold"/>
                                        <p:tgtEl>
                                          <p:spTgt spid="24"/>
                                        </p:tgtEl>
                                        <p:attrNameLst>
                                          <p:attrName>ppt_y</p:attrName>
                                        </p:attrNameLst>
                                      </p:cBhvr>
                                      <p:tavLst>
                                        <p:tav tm="0">
                                          <p:val>
                                            <p:strVal val="#ppt_y+.06"/>
                                          </p:val>
                                        </p:tav>
                                        <p:tav tm="100000">
                                          <p:val>
                                            <p:strVal val="#ppt_y"/>
                                          </p:val>
                                        </p:tav>
                                      </p:tavLst>
                                    </p:anim>
                                  </p:childTnLst>
                                </p:cTn>
                              </p:par>
                              <p:par>
                                <p:cTn id="101" presetID="42" presetClass="entr" presetSubtype="0" decel="100000" fill="hold" grpId="0" nodeType="withEffect">
                                  <p:stCondLst>
                                    <p:cond delay="2000"/>
                                  </p:stCondLst>
                                  <p:childTnLst>
                                    <p:set>
                                      <p:cBhvr>
                                        <p:cTn id="102" dur="1" fill="hold">
                                          <p:stCondLst>
                                            <p:cond delay="0"/>
                                          </p:stCondLst>
                                        </p:cTn>
                                        <p:tgtEl>
                                          <p:spTgt spid="25"/>
                                        </p:tgtEl>
                                        <p:attrNameLst>
                                          <p:attrName>style.visibility</p:attrName>
                                        </p:attrNameLst>
                                      </p:cBhvr>
                                      <p:to>
                                        <p:strVal val="visible"/>
                                      </p:to>
                                    </p:set>
                                    <p:animEffect transition="in" filter="fade">
                                      <p:cBhvr>
                                        <p:cTn id="103" dur="650" fill="hold"/>
                                        <p:tgtEl>
                                          <p:spTgt spid="25"/>
                                        </p:tgtEl>
                                      </p:cBhvr>
                                    </p:animEffect>
                                    <p:anim calcmode="lin" valueType="num">
                                      <p:cBhvr additive="base">
                                        <p:cTn id="104" dur="650" fill="hold"/>
                                        <p:tgtEl>
                                          <p:spTgt spid="25"/>
                                        </p:tgtEl>
                                        <p:attrNameLst>
                                          <p:attrName>ppt_x</p:attrName>
                                        </p:attrNameLst>
                                      </p:cBhvr>
                                      <p:tavLst>
                                        <p:tav tm="0">
                                          <p:val>
                                            <p:strVal val="#ppt_x"/>
                                          </p:val>
                                        </p:tav>
                                        <p:tav tm="100000">
                                          <p:val>
                                            <p:strVal val="#ppt_x"/>
                                          </p:val>
                                        </p:tav>
                                      </p:tavLst>
                                    </p:anim>
                                    <p:anim calcmode="lin" valueType="num">
                                      <p:cBhvr additive="base">
                                        <p:cTn id="105" dur="650" fill="hold"/>
                                        <p:tgtEl>
                                          <p:spTgt spid="25"/>
                                        </p:tgtEl>
                                        <p:attrNameLst>
                                          <p:attrName>ppt_y</p:attrName>
                                        </p:attrNameLst>
                                      </p:cBhvr>
                                      <p:tavLst>
                                        <p:tav tm="0">
                                          <p:val>
                                            <p:strVal val="#ppt_y+.06"/>
                                          </p:val>
                                        </p:tav>
                                        <p:tav tm="100000">
                                          <p:val>
                                            <p:strVal val="#ppt_y"/>
                                          </p:val>
                                        </p:tav>
                                      </p:tavLst>
                                    </p:anim>
                                  </p:childTnLst>
                                </p:cTn>
                              </p:par>
                              <p:par>
                                <p:cTn id="106" presetID="42" presetClass="entr" presetSubtype="0" decel="100000" fill="hold" grpId="0" nodeType="withEffect">
                                  <p:stCondLst>
                                    <p:cond delay="2000"/>
                                  </p:stCondLst>
                                  <p:childTnLst>
                                    <p:set>
                                      <p:cBhvr>
                                        <p:cTn id="107" dur="1" fill="hold">
                                          <p:stCondLst>
                                            <p:cond delay="0"/>
                                          </p:stCondLst>
                                        </p:cTn>
                                        <p:tgtEl>
                                          <p:spTgt spid="26"/>
                                        </p:tgtEl>
                                        <p:attrNameLst>
                                          <p:attrName>style.visibility</p:attrName>
                                        </p:attrNameLst>
                                      </p:cBhvr>
                                      <p:to>
                                        <p:strVal val="visible"/>
                                      </p:to>
                                    </p:set>
                                    <p:animEffect transition="in" filter="fade">
                                      <p:cBhvr>
                                        <p:cTn id="108" dur="650" fill="hold"/>
                                        <p:tgtEl>
                                          <p:spTgt spid="26"/>
                                        </p:tgtEl>
                                      </p:cBhvr>
                                    </p:animEffect>
                                    <p:anim calcmode="lin" valueType="num">
                                      <p:cBhvr additive="base">
                                        <p:cTn id="109" dur="650" fill="hold"/>
                                        <p:tgtEl>
                                          <p:spTgt spid="26"/>
                                        </p:tgtEl>
                                        <p:attrNameLst>
                                          <p:attrName>ppt_x</p:attrName>
                                        </p:attrNameLst>
                                      </p:cBhvr>
                                      <p:tavLst>
                                        <p:tav tm="0">
                                          <p:val>
                                            <p:strVal val="#ppt_x"/>
                                          </p:val>
                                        </p:tav>
                                        <p:tav tm="100000">
                                          <p:val>
                                            <p:strVal val="#ppt_x"/>
                                          </p:val>
                                        </p:tav>
                                      </p:tavLst>
                                    </p:anim>
                                    <p:anim calcmode="lin" valueType="num">
                                      <p:cBhvr additive="base">
                                        <p:cTn id="110" dur="650" fill="hold"/>
                                        <p:tgtEl>
                                          <p:spTgt spid="26"/>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2A9FC0"/>
                </a:solidFill>
                <a:latin typeface="Segoe UI Semibold"/>
              </a:rPr>
              <a:t>MÓDULO 5  ·  PROTOTIPAR E TESTAR</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Durante o teste: o que fazer e evitar</a:t>
            </a:r>
          </a:p>
        </p:txBody>
      </p:sp>
      <p:sp>
        <p:nvSpPr>
          <p:cNvPr id="6" name="TextBox 5"/>
          <p:cNvSpPr txBox="1"/>
          <p:nvPr/>
        </p:nvSpPr>
        <p:spPr>
          <a:xfrm>
            <a:off x="548640" y="1325880"/>
            <a:ext cx="10972800" cy="457200"/>
          </a:xfrm>
          <a:prstGeom prst="rect">
            <a:avLst/>
          </a:prstGeom>
          <a:noFill/>
        </p:spPr>
        <p:txBody>
          <a:bodyPr wrap="square" lIns="36576" tIns="18288" rIns="36576" bIns="18288" anchor="t">
            <a:spAutoFit/>
          </a:bodyPr>
          <a:lstStyle/>
          <a:p>
            <a:pPr algn="l"/>
            <a:r>
              <a:rPr sz="1700" b="0" i="0">
                <a:solidFill>
                  <a:srgbClr val="B4B8B0"/>
                </a:solidFill>
                <a:latin typeface="Segoe UI"/>
              </a:rPr>
              <a:t>Você está testando a solução, não a pessoa.</a:t>
            </a:r>
          </a:p>
        </p:txBody>
      </p:sp>
      <p:sp>
        <p:nvSpPr>
          <p:cNvPr id="7" name="Rounded Rectangle 6"/>
          <p:cNvSpPr/>
          <p:nvPr/>
        </p:nvSpPr>
        <p:spPr>
          <a:xfrm>
            <a:off x="548640" y="2148840"/>
            <a:ext cx="3514344" cy="356616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68680" y="3246120"/>
            <a:ext cx="2874264" cy="822960"/>
          </a:xfrm>
          <a:prstGeom prst="rect">
            <a:avLst/>
          </a:prstGeom>
          <a:noFill/>
        </p:spPr>
        <p:txBody>
          <a:bodyPr wrap="square" lIns="36576" tIns="18288" rIns="36576" bIns="18288" anchor="t">
            <a:spAutoFit/>
          </a:bodyPr>
          <a:lstStyle/>
          <a:p>
            <a:pPr algn="l"/>
            <a:r>
              <a:rPr sz="1900" b="1" i="0">
                <a:solidFill>
                  <a:srgbClr val="F2F2EC"/>
                </a:solidFill>
                <a:latin typeface="Segoe UI Semibold"/>
              </a:rPr>
              <a:t>Faça</a:t>
            </a:r>
          </a:p>
        </p:txBody>
      </p:sp>
      <p:sp>
        <p:nvSpPr>
          <p:cNvPr id="9" name="TextBox 8"/>
          <p:cNvSpPr txBox="1"/>
          <p:nvPr/>
        </p:nvSpPr>
        <p:spPr>
          <a:xfrm>
            <a:off x="868680" y="4160520"/>
            <a:ext cx="2874264" cy="1508760"/>
          </a:xfrm>
          <a:prstGeom prst="rect">
            <a:avLst/>
          </a:prstGeom>
          <a:noFill/>
        </p:spPr>
        <p:txBody>
          <a:bodyPr wrap="square" lIns="36576" tIns="18288" rIns="36576" bIns="18288" anchor="t">
            <a:spAutoFit/>
          </a:bodyPr>
          <a:lstStyle/>
          <a:p>
            <a:pPr algn="l"/>
            <a:r>
              <a:rPr sz="1450" b="0" i="0">
                <a:solidFill>
                  <a:srgbClr val="B4B8B0"/>
                </a:solidFill>
                <a:latin typeface="Segoe UI"/>
              </a:rPr>
              <a:t>Explique que não há resposta errada. Observe em silêncio. Pergunte 'o que você esperava que acontecesse?'.</a:t>
            </a:r>
          </a:p>
        </p:txBody>
      </p:sp>
      <p:sp>
        <p:nvSpPr>
          <p:cNvPr id="10" name="Oval 9"/>
          <p:cNvSpPr/>
          <p:nvPr/>
        </p:nvSpPr>
        <p:spPr>
          <a:xfrm>
            <a:off x="859536" y="2459736"/>
            <a:ext cx="566928" cy="566928"/>
          </a:xfrm>
          <a:prstGeom prst="ellipse">
            <a:avLst/>
          </a:prstGeom>
          <a:solidFill>
            <a:srgbClr val="2A9FC0"/>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700" b="1" i="0">
                <a:solidFill>
                  <a:srgbClr val="1A1A1A"/>
                </a:solidFill>
                <a:latin typeface="Segoe UI Semibold"/>
              </a:rPr>
              <a:t>1</a:t>
            </a:r>
          </a:p>
        </p:txBody>
      </p:sp>
      <p:sp>
        <p:nvSpPr>
          <p:cNvPr id="11" name="Rounded Rectangle 10"/>
          <p:cNvSpPr/>
          <p:nvPr/>
        </p:nvSpPr>
        <p:spPr>
          <a:xfrm>
            <a:off x="4337304" y="2148840"/>
            <a:ext cx="3514344" cy="356616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657344" y="3246120"/>
            <a:ext cx="2874264" cy="822960"/>
          </a:xfrm>
          <a:prstGeom prst="rect">
            <a:avLst/>
          </a:prstGeom>
          <a:noFill/>
        </p:spPr>
        <p:txBody>
          <a:bodyPr wrap="square" lIns="36576" tIns="18288" rIns="36576" bIns="18288" anchor="t">
            <a:spAutoFit/>
          </a:bodyPr>
          <a:lstStyle/>
          <a:p>
            <a:pPr algn="l"/>
            <a:r>
              <a:rPr sz="1900" b="1" i="0">
                <a:solidFill>
                  <a:srgbClr val="F2F2EC"/>
                </a:solidFill>
                <a:latin typeface="Segoe UI Semibold"/>
              </a:rPr>
              <a:t>Evite</a:t>
            </a:r>
          </a:p>
        </p:txBody>
      </p:sp>
      <p:sp>
        <p:nvSpPr>
          <p:cNvPr id="13" name="TextBox 12"/>
          <p:cNvSpPr txBox="1"/>
          <p:nvPr/>
        </p:nvSpPr>
        <p:spPr>
          <a:xfrm>
            <a:off x="4657344" y="4160520"/>
            <a:ext cx="2874264" cy="1508760"/>
          </a:xfrm>
          <a:prstGeom prst="rect">
            <a:avLst/>
          </a:prstGeom>
          <a:noFill/>
        </p:spPr>
        <p:txBody>
          <a:bodyPr wrap="square" lIns="36576" tIns="18288" rIns="36576" bIns="18288" anchor="t">
            <a:spAutoFit/>
          </a:bodyPr>
          <a:lstStyle/>
          <a:p>
            <a:pPr algn="l"/>
            <a:r>
              <a:rPr sz="1450" b="0" i="0">
                <a:solidFill>
                  <a:srgbClr val="B4B8B0"/>
                </a:solidFill>
                <a:latin typeface="Segoe UI"/>
              </a:rPr>
              <a:t>Ajudar, explicar a tela ou defender a ideia. Se precisou explicar, o protótipo falhou nesse ponto.</a:t>
            </a:r>
          </a:p>
        </p:txBody>
      </p:sp>
      <p:sp>
        <p:nvSpPr>
          <p:cNvPr id="14" name="Oval 13"/>
          <p:cNvSpPr/>
          <p:nvPr/>
        </p:nvSpPr>
        <p:spPr>
          <a:xfrm>
            <a:off x="4648200" y="2459736"/>
            <a:ext cx="566928" cy="566928"/>
          </a:xfrm>
          <a:prstGeom prst="ellipse">
            <a:avLst/>
          </a:prstGeom>
          <a:solidFill>
            <a:srgbClr val="2A9FC0"/>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700" b="1" i="0">
                <a:solidFill>
                  <a:srgbClr val="1A1A1A"/>
                </a:solidFill>
                <a:latin typeface="Segoe UI Semibold"/>
              </a:rPr>
              <a:t>2</a:t>
            </a:r>
          </a:p>
        </p:txBody>
      </p:sp>
      <p:sp>
        <p:nvSpPr>
          <p:cNvPr id="15" name="Rounded Rectangle 14"/>
          <p:cNvSpPr/>
          <p:nvPr/>
        </p:nvSpPr>
        <p:spPr>
          <a:xfrm>
            <a:off x="8125968" y="2148840"/>
            <a:ext cx="3514344" cy="356616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446008" y="3246120"/>
            <a:ext cx="2874264" cy="822960"/>
          </a:xfrm>
          <a:prstGeom prst="rect">
            <a:avLst/>
          </a:prstGeom>
          <a:noFill/>
        </p:spPr>
        <p:txBody>
          <a:bodyPr wrap="square" lIns="36576" tIns="18288" rIns="36576" bIns="18288" anchor="t">
            <a:spAutoFit/>
          </a:bodyPr>
          <a:lstStyle/>
          <a:p>
            <a:pPr algn="l"/>
            <a:r>
              <a:rPr sz="1900" b="1" i="0">
                <a:solidFill>
                  <a:srgbClr val="F2F2EC"/>
                </a:solidFill>
                <a:latin typeface="Segoe UI Semibold"/>
              </a:rPr>
              <a:t>Depois</a:t>
            </a:r>
          </a:p>
        </p:txBody>
      </p:sp>
      <p:sp>
        <p:nvSpPr>
          <p:cNvPr id="17" name="TextBox 16"/>
          <p:cNvSpPr txBox="1"/>
          <p:nvPr/>
        </p:nvSpPr>
        <p:spPr>
          <a:xfrm>
            <a:off x="8446008" y="4160520"/>
            <a:ext cx="2874264" cy="1508760"/>
          </a:xfrm>
          <a:prstGeom prst="rect">
            <a:avLst/>
          </a:prstGeom>
          <a:noFill/>
        </p:spPr>
        <p:txBody>
          <a:bodyPr wrap="square" lIns="36576" tIns="18288" rIns="36576" bIns="18288" anchor="t">
            <a:spAutoFit/>
          </a:bodyPr>
          <a:lstStyle/>
          <a:p>
            <a:pPr algn="l"/>
            <a:r>
              <a:rPr sz="1450" b="0" i="0">
                <a:solidFill>
                  <a:srgbClr val="B4B8B0"/>
                </a:solidFill>
                <a:latin typeface="Segoe UI"/>
              </a:rPr>
              <a:t>Agradeça, registre tudo no mesmo dia e compare os resultados com o time.</a:t>
            </a:r>
          </a:p>
        </p:txBody>
      </p:sp>
      <p:sp>
        <p:nvSpPr>
          <p:cNvPr id="18" name="Oval 17"/>
          <p:cNvSpPr/>
          <p:nvPr/>
        </p:nvSpPr>
        <p:spPr>
          <a:xfrm>
            <a:off x="8436864" y="2459736"/>
            <a:ext cx="566928" cy="566928"/>
          </a:xfrm>
          <a:prstGeom prst="ellipse">
            <a:avLst/>
          </a:prstGeom>
          <a:solidFill>
            <a:srgbClr val="2A9FC0"/>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700" b="1" i="0">
                <a:solidFill>
                  <a:srgbClr val="1A1A1A"/>
                </a:solidFill>
                <a:latin typeface="Segoe UI Semibold"/>
              </a:rPr>
              <a:t>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fill="hold"/>
                                        <p:tgtEl>
                                          <p:spTgt spid="6"/>
                                        </p:tgtEl>
                                      </p:cBhvr>
                                    </p:animEffect>
                                  </p:childTnLst>
                                </p:cTn>
                              </p:par>
                              <p:par>
                                <p:cTn id="11" presetID="42" presetClass="entr" presetSubtype="0" decel="100000" fill="hold" grpId="0" nodeType="withEffect">
                                  <p:stCondLst>
                                    <p:cond delay="45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650" fill="hold"/>
                                        <p:tgtEl>
                                          <p:spTgt spid="7"/>
                                        </p:tgtEl>
                                      </p:cBhvr>
                                    </p:animEffect>
                                    <p:anim calcmode="lin" valueType="num">
                                      <p:cBhvr additive="base">
                                        <p:cTn id="14" dur="650" fill="hold"/>
                                        <p:tgtEl>
                                          <p:spTgt spid="7"/>
                                        </p:tgtEl>
                                        <p:attrNameLst>
                                          <p:attrName>ppt_x</p:attrName>
                                        </p:attrNameLst>
                                      </p:cBhvr>
                                      <p:tavLst>
                                        <p:tav tm="0">
                                          <p:val>
                                            <p:strVal val="#ppt_x"/>
                                          </p:val>
                                        </p:tav>
                                        <p:tav tm="100000">
                                          <p:val>
                                            <p:strVal val="#ppt_x"/>
                                          </p:val>
                                        </p:tav>
                                      </p:tavLst>
                                    </p:anim>
                                    <p:anim calcmode="lin" valueType="num">
                                      <p:cBhvr additive="base">
                                        <p:cTn id="15" dur="650" fill="hold"/>
                                        <p:tgtEl>
                                          <p:spTgt spid="7"/>
                                        </p:tgtEl>
                                        <p:attrNameLst>
                                          <p:attrName>ppt_y</p:attrName>
                                        </p:attrNameLst>
                                      </p:cBhvr>
                                      <p:tavLst>
                                        <p:tav tm="0">
                                          <p:val>
                                            <p:strVal val="#ppt_y+.06"/>
                                          </p:val>
                                        </p:tav>
                                        <p:tav tm="100000">
                                          <p:val>
                                            <p:strVal val="#ppt_y"/>
                                          </p:val>
                                        </p:tav>
                                      </p:tavLst>
                                    </p:anim>
                                  </p:childTnLst>
                                </p:cTn>
                              </p:par>
                              <p:par>
                                <p:cTn id="16" presetID="42" presetClass="entr" presetSubtype="0" decel="100000" fill="hold" grpId="0" nodeType="withEffect">
                                  <p:stCondLst>
                                    <p:cond delay="45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650" fill="hold"/>
                                        <p:tgtEl>
                                          <p:spTgt spid="8"/>
                                        </p:tgtEl>
                                      </p:cBhvr>
                                    </p:animEffect>
                                    <p:anim calcmode="lin" valueType="num">
                                      <p:cBhvr additive="base">
                                        <p:cTn id="19" dur="650" fill="hold"/>
                                        <p:tgtEl>
                                          <p:spTgt spid="8"/>
                                        </p:tgtEl>
                                        <p:attrNameLst>
                                          <p:attrName>ppt_x</p:attrName>
                                        </p:attrNameLst>
                                      </p:cBhvr>
                                      <p:tavLst>
                                        <p:tav tm="0">
                                          <p:val>
                                            <p:strVal val="#ppt_x"/>
                                          </p:val>
                                        </p:tav>
                                        <p:tav tm="100000">
                                          <p:val>
                                            <p:strVal val="#ppt_x"/>
                                          </p:val>
                                        </p:tav>
                                      </p:tavLst>
                                    </p:anim>
                                    <p:anim calcmode="lin" valueType="num">
                                      <p:cBhvr additive="base">
                                        <p:cTn id="20" dur="650" fill="hold"/>
                                        <p:tgtEl>
                                          <p:spTgt spid="8"/>
                                        </p:tgtEl>
                                        <p:attrNameLst>
                                          <p:attrName>ppt_y</p:attrName>
                                        </p:attrNameLst>
                                      </p:cBhvr>
                                      <p:tavLst>
                                        <p:tav tm="0">
                                          <p:val>
                                            <p:strVal val="#ppt_y+.06"/>
                                          </p:val>
                                        </p:tav>
                                        <p:tav tm="100000">
                                          <p:val>
                                            <p:strVal val="#ppt_y"/>
                                          </p:val>
                                        </p:tav>
                                      </p:tavLst>
                                    </p:anim>
                                  </p:childTnLst>
                                </p:cTn>
                              </p:par>
                              <p:par>
                                <p:cTn id="21" presetID="42" presetClass="entr" presetSubtype="0" decel="100000" fill="hold" grpId="0" nodeType="withEffect">
                                  <p:stCondLst>
                                    <p:cond delay="45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650" fill="hold"/>
                                        <p:tgtEl>
                                          <p:spTgt spid="9"/>
                                        </p:tgtEl>
                                      </p:cBhvr>
                                    </p:animEffect>
                                    <p:anim calcmode="lin" valueType="num">
                                      <p:cBhvr additive="base">
                                        <p:cTn id="24" dur="650" fill="hold"/>
                                        <p:tgtEl>
                                          <p:spTgt spid="9"/>
                                        </p:tgtEl>
                                        <p:attrNameLst>
                                          <p:attrName>ppt_x</p:attrName>
                                        </p:attrNameLst>
                                      </p:cBhvr>
                                      <p:tavLst>
                                        <p:tav tm="0">
                                          <p:val>
                                            <p:strVal val="#ppt_x"/>
                                          </p:val>
                                        </p:tav>
                                        <p:tav tm="100000">
                                          <p:val>
                                            <p:strVal val="#ppt_x"/>
                                          </p:val>
                                        </p:tav>
                                      </p:tavLst>
                                    </p:anim>
                                    <p:anim calcmode="lin" valueType="num">
                                      <p:cBhvr additive="base">
                                        <p:cTn id="25" dur="650" fill="hold"/>
                                        <p:tgtEl>
                                          <p:spTgt spid="9"/>
                                        </p:tgtEl>
                                        <p:attrNameLst>
                                          <p:attrName>ppt_y</p:attrName>
                                        </p:attrNameLst>
                                      </p:cBhvr>
                                      <p:tavLst>
                                        <p:tav tm="0">
                                          <p:val>
                                            <p:strVal val="#ppt_y+.06"/>
                                          </p:val>
                                        </p:tav>
                                        <p:tav tm="100000">
                                          <p:val>
                                            <p:strVal val="#ppt_y"/>
                                          </p:val>
                                        </p:tav>
                                      </p:tavLst>
                                    </p:anim>
                                  </p:childTnLst>
                                </p:cTn>
                              </p:par>
                              <p:par>
                                <p:cTn id="26" presetID="53" presetClass="entr" presetSubtype="16" decel="100000" fill="hold" grpId="0" nodeType="withEffect">
                                  <p:stCondLst>
                                    <p:cond delay="600"/>
                                  </p:stCondLst>
                                  <p:childTnLst>
                                    <p:set>
                                      <p:cBhvr>
                                        <p:cTn id="27" dur="1" fill="hold">
                                          <p:stCondLst>
                                            <p:cond delay="0"/>
                                          </p:stCondLst>
                                        </p:cTn>
                                        <p:tgtEl>
                                          <p:spTgt spid="10"/>
                                        </p:tgtEl>
                                        <p:attrNameLst>
                                          <p:attrName>style.visibility</p:attrName>
                                        </p:attrNameLst>
                                      </p:cBhvr>
                                      <p:to>
                                        <p:strVal val="visible"/>
                                      </p:to>
                                    </p:set>
                                    <p:anim calcmode="lin" valueType="num">
                                      <p:cBhvr additive="base">
                                        <p:cTn id="28" dur="450" fill="hold"/>
                                        <p:tgtEl>
                                          <p:spTgt spid="10"/>
                                        </p:tgtEl>
                                        <p:attrNameLst>
                                          <p:attrName>ppt_w</p:attrName>
                                        </p:attrNameLst>
                                      </p:cBhvr>
                                      <p:tavLst>
                                        <p:tav tm="0">
                                          <p:val>
                                            <p:strVal val="0"/>
                                          </p:val>
                                        </p:tav>
                                        <p:tav tm="70000">
                                          <p:val>
                                            <p:strVal val="#ppt_w*1.08"/>
                                          </p:val>
                                        </p:tav>
                                        <p:tav tm="100000">
                                          <p:val>
                                            <p:strVal val="#ppt_w"/>
                                          </p:val>
                                        </p:tav>
                                      </p:tavLst>
                                    </p:anim>
                                    <p:anim calcmode="lin" valueType="num">
                                      <p:cBhvr additive="base">
                                        <p:cTn id="29" dur="450" fill="hold"/>
                                        <p:tgtEl>
                                          <p:spTgt spid="10"/>
                                        </p:tgtEl>
                                        <p:attrNameLst>
                                          <p:attrName>ppt_h</p:attrName>
                                        </p:attrNameLst>
                                      </p:cBhvr>
                                      <p:tavLst>
                                        <p:tav tm="0">
                                          <p:val>
                                            <p:strVal val="0"/>
                                          </p:val>
                                        </p:tav>
                                        <p:tav tm="70000">
                                          <p:val>
                                            <p:strVal val="#ppt_h*1.08"/>
                                          </p:val>
                                        </p:tav>
                                        <p:tav tm="100000">
                                          <p:val>
                                            <p:strVal val="#ppt_h"/>
                                          </p:val>
                                        </p:tav>
                                      </p:tavLst>
                                    </p:anim>
                                    <p:animEffect transition="in" filter="fade">
                                      <p:cBhvr>
                                        <p:cTn id="30" dur="270" fill="hold"/>
                                        <p:tgtEl>
                                          <p:spTgt spid="10"/>
                                        </p:tgtEl>
                                      </p:cBhvr>
                                    </p:animEffect>
                                  </p:childTnLst>
                                </p:cTn>
                              </p:par>
                              <p:par>
                                <p:cTn id="31" presetID="42" presetClass="entr" presetSubtype="0" decel="100000" fill="hold" grpId="0" nodeType="withEffect">
                                  <p:stCondLst>
                                    <p:cond delay="78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650" fill="hold"/>
                                        <p:tgtEl>
                                          <p:spTgt spid="11"/>
                                        </p:tgtEl>
                                      </p:cBhvr>
                                    </p:animEffect>
                                    <p:anim calcmode="lin" valueType="num">
                                      <p:cBhvr additive="base">
                                        <p:cTn id="34" dur="650" fill="hold"/>
                                        <p:tgtEl>
                                          <p:spTgt spid="11"/>
                                        </p:tgtEl>
                                        <p:attrNameLst>
                                          <p:attrName>ppt_x</p:attrName>
                                        </p:attrNameLst>
                                      </p:cBhvr>
                                      <p:tavLst>
                                        <p:tav tm="0">
                                          <p:val>
                                            <p:strVal val="#ppt_x"/>
                                          </p:val>
                                        </p:tav>
                                        <p:tav tm="100000">
                                          <p:val>
                                            <p:strVal val="#ppt_x"/>
                                          </p:val>
                                        </p:tav>
                                      </p:tavLst>
                                    </p:anim>
                                    <p:anim calcmode="lin" valueType="num">
                                      <p:cBhvr additive="base">
                                        <p:cTn id="35" dur="650" fill="hold"/>
                                        <p:tgtEl>
                                          <p:spTgt spid="11"/>
                                        </p:tgtEl>
                                        <p:attrNameLst>
                                          <p:attrName>ppt_y</p:attrName>
                                        </p:attrNameLst>
                                      </p:cBhvr>
                                      <p:tavLst>
                                        <p:tav tm="0">
                                          <p:val>
                                            <p:strVal val="#ppt_y+.06"/>
                                          </p:val>
                                        </p:tav>
                                        <p:tav tm="100000">
                                          <p:val>
                                            <p:strVal val="#ppt_y"/>
                                          </p:val>
                                        </p:tav>
                                      </p:tavLst>
                                    </p:anim>
                                  </p:childTnLst>
                                </p:cTn>
                              </p:par>
                              <p:par>
                                <p:cTn id="36" presetID="42" presetClass="entr" presetSubtype="0" decel="100000" fill="hold" grpId="0" nodeType="withEffect">
                                  <p:stCondLst>
                                    <p:cond delay="78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650" fill="hold"/>
                                        <p:tgtEl>
                                          <p:spTgt spid="12"/>
                                        </p:tgtEl>
                                      </p:cBhvr>
                                    </p:animEffect>
                                    <p:anim calcmode="lin" valueType="num">
                                      <p:cBhvr additive="base">
                                        <p:cTn id="39" dur="650" fill="hold"/>
                                        <p:tgtEl>
                                          <p:spTgt spid="12"/>
                                        </p:tgtEl>
                                        <p:attrNameLst>
                                          <p:attrName>ppt_x</p:attrName>
                                        </p:attrNameLst>
                                      </p:cBhvr>
                                      <p:tavLst>
                                        <p:tav tm="0">
                                          <p:val>
                                            <p:strVal val="#ppt_x"/>
                                          </p:val>
                                        </p:tav>
                                        <p:tav tm="100000">
                                          <p:val>
                                            <p:strVal val="#ppt_x"/>
                                          </p:val>
                                        </p:tav>
                                      </p:tavLst>
                                    </p:anim>
                                    <p:anim calcmode="lin" valueType="num">
                                      <p:cBhvr additive="base">
                                        <p:cTn id="40" dur="650" fill="hold"/>
                                        <p:tgtEl>
                                          <p:spTgt spid="12"/>
                                        </p:tgtEl>
                                        <p:attrNameLst>
                                          <p:attrName>ppt_y</p:attrName>
                                        </p:attrNameLst>
                                      </p:cBhvr>
                                      <p:tavLst>
                                        <p:tav tm="0">
                                          <p:val>
                                            <p:strVal val="#ppt_y+.06"/>
                                          </p:val>
                                        </p:tav>
                                        <p:tav tm="100000">
                                          <p:val>
                                            <p:strVal val="#ppt_y"/>
                                          </p:val>
                                        </p:tav>
                                      </p:tavLst>
                                    </p:anim>
                                  </p:childTnLst>
                                </p:cTn>
                              </p:par>
                              <p:par>
                                <p:cTn id="41" presetID="42" presetClass="entr" presetSubtype="0" decel="100000" fill="hold" grpId="0" nodeType="withEffect">
                                  <p:stCondLst>
                                    <p:cond delay="78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650" fill="hold"/>
                                        <p:tgtEl>
                                          <p:spTgt spid="13"/>
                                        </p:tgtEl>
                                      </p:cBhvr>
                                    </p:animEffect>
                                    <p:anim calcmode="lin" valueType="num">
                                      <p:cBhvr additive="base">
                                        <p:cTn id="44" dur="650" fill="hold"/>
                                        <p:tgtEl>
                                          <p:spTgt spid="13"/>
                                        </p:tgtEl>
                                        <p:attrNameLst>
                                          <p:attrName>ppt_x</p:attrName>
                                        </p:attrNameLst>
                                      </p:cBhvr>
                                      <p:tavLst>
                                        <p:tav tm="0">
                                          <p:val>
                                            <p:strVal val="#ppt_x"/>
                                          </p:val>
                                        </p:tav>
                                        <p:tav tm="100000">
                                          <p:val>
                                            <p:strVal val="#ppt_x"/>
                                          </p:val>
                                        </p:tav>
                                      </p:tavLst>
                                    </p:anim>
                                    <p:anim calcmode="lin" valueType="num">
                                      <p:cBhvr additive="base">
                                        <p:cTn id="45" dur="650" fill="hold"/>
                                        <p:tgtEl>
                                          <p:spTgt spid="13"/>
                                        </p:tgtEl>
                                        <p:attrNameLst>
                                          <p:attrName>ppt_y</p:attrName>
                                        </p:attrNameLst>
                                      </p:cBhvr>
                                      <p:tavLst>
                                        <p:tav tm="0">
                                          <p:val>
                                            <p:strVal val="#ppt_y+.06"/>
                                          </p:val>
                                        </p:tav>
                                        <p:tav tm="100000">
                                          <p:val>
                                            <p:strVal val="#ppt_y"/>
                                          </p:val>
                                        </p:tav>
                                      </p:tavLst>
                                    </p:anim>
                                  </p:childTnLst>
                                </p:cTn>
                              </p:par>
                              <p:par>
                                <p:cTn id="46" presetID="53" presetClass="entr" presetSubtype="16" decel="100000" fill="hold" grpId="0" nodeType="withEffect">
                                  <p:stCondLst>
                                    <p:cond delay="930"/>
                                  </p:stCondLst>
                                  <p:childTnLst>
                                    <p:set>
                                      <p:cBhvr>
                                        <p:cTn id="47" dur="1" fill="hold">
                                          <p:stCondLst>
                                            <p:cond delay="0"/>
                                          </p:stCondLst>
                                        </p:cTn>
                                        <p:tgtEl>
                                          <p:spTgt spid="14"/>
                                        </p:tgtEl>
                                        <p:attrNameLst>
                                          <p:attrName>style.visibility</p:attrName>
                                        </p:attrNameLst>
                                      </p:cBhvr>
                                      <p:to>
                                        <p:strVal val="visible"/>
                                      </p:to>
                                    </p:set>
                                    <p:anim calcmode="lin" valueType="num">
                                      <p:cBhvr additive="base">
                                        <p:cTn id="48" dur="450" fill="hold"/>
                                        <p:tgtEl>
                                          <p:spTgt spid="14"/>
                                        </p:tgtEl>
                                        <p:attrNameLst>
                                          <p:attrName>ppt_w</p:attrName>
                                        </p:attrNameLst>
                                      </p:cBhvr>
                                      <p:tavLst>
                                        <p:tav tm="0">
                                          <p:val>
                                            <p:strVal val="0"/>
                                          </p:val>
                                        </p:tav>
                                        <p:tav tm="70000">
                                          <p:val>
                                            <p:strVal val="#ppt_w*1.08"/>
                                          </p:val>
                                        </p:tav>
                                        <p:tav tm="100000">
                                          <p:val>
                                            <p:strVal val="#ppt_w"/>
                                          </p:val>
                                        </p:tav>
                                      </p:tavLst>
                                    </p:anim>
                                    <p:anim calcmode="lin" valueType="num">
                                      <p:cBhvr additive="base">
                                        <p:cTn id="49" dur="450" fill="hold"/>
                                        <p:tgtEl>
                                          <p:spTgt spid="14"/>
                                        </p:tgtEl>
                                        <p:attrNameLst>
                                          <p:attrName>ppt_h</p:attrName>
                                        </p:attrNameLst>
                                      </p:cBhvr>
                                      <p:tavLst>
                                        <p:tav tm="0">
                                          <p:val>
                                            <p:strVal val="0"/>
                                          </p:val>
                                        </p:tav>
                                        <p:tav tm="70000">
                                          <p:val>
                                            <p:strVal val="#ppt_h*1.08"/>
                                          </p:val>
                                        </p:tav>
                                        <p:tav tm="100000">
                                          <p:val>
                                            <p:strVal val="#ppt_h"/>
                                          </p:val>
                                        </p:tav>
                                      </p:tavLst>
                                    </p:anim>
                                    <p:animEffect transition="in" filter="fade">
                                      <p:cBhvr>
                                        <p:cTn id="50" dur="270" fill="hold"/>
                                        <p:tgtEl>
                                          <p:spTgt spid="14"/>
                                        </p:tgtEl>
                                      </p:cBhvr>
                                    </p:animEffect>
                                  </p:childTnLst>
                                </p:cTn>
                              </p:par>
                              <p:par>
                                <p:cTn id="51" presetID="42" presetClass="entr" presetSubtype="0" decel="100000" fill="hold" grpId="0" nodeType="withEffect">
                                  <p:stCondLst>
                                    <p:cond delay="1110"/>
                                  </p:stCondLst>
                                  <p:childTnLst>
                                    <p:set>
                                      <p:cBhvr>
                                        <p:cTn id="52" dur="1" fill="hold">
                                          <p:stCondLst>
                                            <p:cond delay="0"/>
                                          </p:stCondLst>
                                        </p:cTn>
                                        <p:tgtEl>
                                          <p:spTgt spid="15"/>
                                        </p:tgtEl>
                                        <p:attrNameLst>
                                          <p:attrName>style.visibility</p:attrName>
                                        </p:attrNameLst>
                                      </p:cBhvr>
                                      <p:to>
                                        <p:strVal val="visible"/>
                                      </p:to>
                                    </p:set>
                                    <p:animEffect transition="in" filter="fade">
                                      <p:cBhvr>
                                        <p:cTn id="53" dur="650" fill="hold"/>
                                        <p:tgtEl>
                                          <p:spTgt spid="15"/>
                                        </p:tgtEl>
                                      </p:cBhvr>
                                    </p:animEffect>
                                    <p:anim calcmode="lin" valueType="num">
                                      <p:cBhvr additive="base">
                                        <p:cTn id="54" dur="650" fill="hold"/>
                                        <p:tgtEl>
                                          <p:spTgt spid="15"/>
                                        </p:tgtEl>
                                        <p:attrNameLst>
                                          <p:attrName>ppt_x</p:attrName>
                                        </p:attrNameLst>
                                      </p:cBhvr>
                                      <p:tavLst>
                                        <p:tav tm="0">
                                          <p:val>
                                            <p:strVal val="#ppt_x"/>
                                          </p:val>
                                        </p:tav>
                                        <p:tav tm="100000">
                                          <p:val>
                                            <p:strVal val="#ppt_x"/>
                                          </p:val>
                                        </p:tav>
                                      </p:tavLst>
                                    </p:anim>
                                    <p:anim calcmode="lin" valueType="num">
                                      <p:cBhvr additive="base">
                                        <p:cTn id="55" dur="650" fill="hold"/>
                                        <p:tgtEl>
                                          <p:spTgt spid="15"/>
                                        </p:tgtEl>
                                        <p:attrNameLst>
                                          <p:attrName>ppt_y</p:attrName>
                                        </p:attrNameLst>
                                      </p:cBhvr>
                                      <p:tavLst>
                                        <p:tav tm="0">
                                          <p:val>
                                            <p:strVal val="#ppt_y+.06"/>
                                          </p:val>
                                        </p:tav>
                                        <p:tav tm="100000">
                                          <p:val>
                                            <p:strVal val="#ppt_y"/>
                                          </p:val>
                                        </p:tav>
                                      </p:tavLst>
                                    </p:anim>
                                  </p:childTnLst>
                                </p:cTn>
                              </p:par>
                              <p:par>
                                <p:cTn id="56" presetID="42" presetClass="entr" presetSubtype="0" decel="100000" fill="hold" grpId="0" nodeType="withEffect">
                                  <p:stCondLst>
                                    <p:cond delay="111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650" fill="hold"/>
                                        <p:tgtEl>
                                          <p:spTgt spid="16"/>
                                        </p:tgtEl>
                                      </p:cBhvr>
                                    </p:animEffect>
                                    <p:anim calcmode="lin" valueType="num">
                                      <p:cBhvr additive="base">
                                        <p:cTn id="59" dur="650" fill="hold"/>
                                        <p:tgtEl>
                                          <p:spTgt spid="16"/>
                                        </p:tgtEl>
                                        <p:attrNameLst>
                                          <p:attrName>ppt_x</p:attrName>
                                        </p:attrNameLst>
                                      </p:cBhvr>
                                      <p:tavLst>
                                        <p:tav tm="0">
                                          <p:val>
                                            <p:strVal val="#ppt_x"/>
                                          </p:val>
                                        </p:tav>
                                        <p:tav tm="100000">
                                          <p:val>
                                            <p:strVal val="#ppt_x"/>
                                          </p:val>
                                        </p:tav>
                                      </p:tavLst>
                                    </p:anim>
                                    <p:anim calcmode="lin" valueType="num">
                                      <p:cBhvr additive="base">
                                        <p:cTn id="60" dur="650" fill="hold"/>
                                        <p:tgtEl>
                                          <p:spTgt spid="16"/>
                                        </p:tgtEl>
                                        <p:attrNameLst>
                                          <p:attrName>ppt_y</p:attrName>
                                        </p:attrNameLst>
                                      </p:cBhvr>
                                      <p:tavLst>
                                        <p:tav tm="0">
                                          <p:val>
                                            <p:strVal val="#ppt_y+.06"/>
                                          </p:val>
                                        </p:tav>
                                        <p:tav tm="100000">
                                          <p:val>
                                            <p:strVal val="#ppt_y"/>
                                          </p:val>
                                        </p:tav>
                                      </p:tavLst>
                                    </p:anim>
                                  </p:childTnLst>
                                </p:cTn>
                              </p:par>
                              <p:par>
                                <p:cTn id="61" presetID="42" presetClass="entr" presetSubtype="0" decel="100000" fill="hold" grpId="0" nodeType="withEffect">
                                  <p:stCondLst>
                                    <p:cond delay="1110"/>
                                  </p:stCondLst>
                                  <p:childTnLst>
                                    <p:set>
                                      <p:cBhvr>
                                        <p:cTn id="62" dur="1" fill="hold">
                                          <p:stCondLst>
                                            <p:cond delay="0"/>
                                          </p:stCondLst>
                                        </p:cTn>
                                        <p:tgtEl>
                                          <p:spTgt spid="17"/>
                                        </p:tgtEl>
                                        <p:attrNameLst>
                                          <p:attrName>style.visibility</p:attrName>
                                        </p:attrNameLst>
                                      </p:cBhvr>
                                      <p:to>
                                        <p:strVal val="visible"/>
                                      </p:to>
                                    </p:set>
                                    <p:animEffect transition="in" filter="fade">
                                      <p:cBhvr>
                                        <p:cTn id="63" dur="650" fill="hold"/>
                                        <p:tgtEl>
                                          <p:spTgt spid="17"/>
                                        </p:tgtEl>
                                      </p:cBhvr>
                                    </p:animEffect>
                                    <p:anim calcmode="lin" valueType="num">
                                      <p:cBhvr additive="base">
                                        <p:cTn id="64" dur="650" fill="hold"/>
                                        <p:tgtEl>
                                          <p:spTgt spid="17"/>
                                        </p:tgtEl>
                                        <p:attrNameLst>
                                          <p:attrName>ppt_x</p:attrName>
                                        </p:attrNameLst>
                                      </p:cBhvr>
                                      <p:tavLst>
                                        <p:tav tm="0">
                                          <p:val>
                                            <p:strVal val="#ppt_x"/>
                                          </p:val>
                                        </p:tav>
                                        <p:tav tm="100000">
                                          <p:val>
                                            <p:strVal val="#ppt_x"/>
                                          </p:val>
                                        </p:tav>
                                      </p:tavLst>
                                    </p:anim>
                                    <p:anim calcmode="lin" valueType="num">
                                      <p:cBhvr additive="base">
                                        <p:cTn id="65" dur="650" fill="hold"/>
                                        <p:tgtEl>
                                          <p:spTgt spid="17"/>
                                        </p:tgtEl>
                                        <p:attrNameLst>
                                          <p:attrName>ppt_y</p:attrName>
                                        </p:attrNameLst>
                                      </p:cBhvr>
                                      <p:tavLst>
                                        <p:tav tm="0">
                                          <p:val>
                                            <p:strVal val="#ppt_y+.06"/>
                                          </p:val>
                                        </p:tav>
                                        <p:tav tm="100000">
                                          <p:val>
                                            <p:strVal val="#ppt_y"/>
                                          </p:val>
                                        </p:tav>
                                      </p:tavLst>
                                    </p:anim>
                                  </p:childTnLst>
                                </p:cTn>
                              </p:par>
                              <p:par>
                                <p:cTn id="66" presetID="53" presetClass="entr" presetSubtype="16" decel="100000" fill="hold" grpId="0" nodeType="withEffect">
                                  <p:stCondLst>
                                    <p:cond delay="1260"/>
                                  </p:stCondLst>
                                  <p:childTnLst>
                                    <p:set>
                                      <p:cBhvr>
                                        <p:cTn id="67" dur="1" fill="hold">
                                          <p:stCondLst>
                                            <p:cond delay="0"/>
                                          </p:stCondLst>
                                        </p:cTn>
                                        <p:tgtEl>
                                          <p:spTgt spid="18"/>
                                        </p:tgtEl>
                                        <p:attrNameLst>
                                          <p:attrName>style.visibility</p:attrName>
                                        </p:attrNameLst>
                                      </p:cBhvr>
                                      <p:to>
                                        <p:strVal val="visible"/>
                                      </p:to>
                                    </p:set>
                                    <p:anim calcmode="lin" valueType="num">
                                      <p:cBhvr additive="base">
                                        <p:cTn id="68" dur="450" fill="hold"/>
                                        <p:tgtEl>
                                          <p:spTgt spid="18"/>
                                        </p:tgtEl>
                                        <p:attrNameLst>
                                          <p:attrName>ppt_w</p:attrName>
                                        </p:attrNameLst>
                                      </p:cBhvr>
                                      <p:tavLst>
                                        <p:tav tm="0">
                                          <p:val>
                                            <p:strVal val="0"/>
                                          </p:val>
                                        </p:tav>
                                        <p:tav tm="70000">
                                          <p:val>
                                            <p:strVal val="#ppt_w*1.08"/>
                                          </p:val>
                                        </p:tav>
                                        <p:tav tm="100000">
                                          <p:val>
                                            <p:strVal val="#ppt_w"/>
                                          </p:val>
                                        </p:tav>
                                      </p:tavLst>
                                    </p:anim>
                                    <p:anim calcmode="lin" valueType="num">
                                      <p:cBhvr additive="base">
                                        <p:cTn id="69" dur="450" fill="hold"/>
                                        <p:tgtEl>
                                          <p:spTgt spid="18"/>
                                        </p:tgtEl>
                                        <p:attrNameLst>
                                          <p:attrName>ppt_h</p:attrName>
                                        </p:attrNameLst>
                                      </p:cBhvr>
                                      <p:tavLst>
                                        <p:tav tm="0">
                                          <p:val>
                                            <p:strVal val="0"/>
                                          </p:val>
                                        </p:tav>
                                        <p:tav tm="70000">
                                          <p:val>
                                            <p:strVal val="#ppt_h*1.08"/>
                                          </p:val>
                                        </p:tav>
                                        <p:tav tm="100000">
                                          <p:val>
                                            <p:strVal val="#ppt_h"/>
                                          </p:val>
                                        </p:tav>
                                      </p:tavLst>
                                    </p:anim>
                                    <p:animEffect transition="in" filter="fade">
                                      <p:cBhvr>
                                        <p:cTn id="70" dur="270" fill="hold"/>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2A9FC0"/>
                </a:solidFill>
                <a:latin typeface="Segoe UI Semibold"/>
              </a:rPr>
              <a:t>MÓDULO 5  ·  PROTOTIPAR E TESTAR</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Depois do teste: capture o aprendizado</a:t>
            </a:r>
          </a:p>
        </p:txBody>
      </p:sp>
      <p:sp>
        <p:nvSpPr>
          <p:cNvPr id="6" name="Rounded Rectangle 5"/>
          <p:cNvSpPr/>
          <p:nvPr/>
        </p:nvSpPr>
        <p:spPr>
          <a:xfrm>
            <a:off x="548640" y="1554480"/>
            <a:ext cx="5440680" cy="205740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2103120" y="2057400"/>
            <a:ext cx="3657600" cy="548640"/>
          </a:xfrm>
          <a:prstGeom prst="rect">
            <a:avLst/>
          </a:prstGeom>
          <a:noFill/>
        </p:spPr>
        <p:txBody>
          <a:bodyPr wrap="square" lIns="36576" tIns="18288" rIns="36576" bIns="18288" anchor="t">
            <a:spAutoFit/>
          </a:bodyPr>
          <a:lstStyle/>
          <a:p>
            <a:pPr algn="l"/>
            <a:r>
              <a:rPr sz="2200" b="1" i="0">
                <a:solidFill>
                  <a:srgbClr val="F2F2EC"/>
                </a:solidFill>
                <a:latin typeface="Segoe UI Semibold"/>
              </a:rPr>
              <a:t>Funcionou</a:t>
            </a:r>
          </a:p>
        </p:txBody>
      </p:sp>
      <p:sp>
        <p:nvSpPr>
          <p:cNvPr id="8" name="TextBox 7"/>
          <p:cNvSpPr txBox="1"/>
          <p:nvPr/>
        </p:nvSpPr>
        <p:spPr>
          <a:xfrm>
            <a:off x="2103120" y="2606039"/>
            <a:ext cx="3657600" cy="731520"/>
          </a:xfrm>
          <a:prstGeom prst="rect">
            <a:avLst/>
          </a:prstGeom>
          <a:noFill/>
        </p:spPr>
        <p:txBody>
          <a:bodyPr wrap="square" lIns="36576" tIns="18288" rIns="36576" bIns="18288" anchor="t">
            <a:spAutoFit/>
          </a:bodyPr>
          <a:lstStyle/>
          <a:p>
            <a:pPr algn="l"/>
            <a:r>
              <a:rPr sz="1600" b="0" i="0">
                <a:solidFill>
                  <a:srgbClr val="B4B8B0"/>
                </a:solidFill>
                <a:latin typeface="Segoe UI"/>
              </a:rPr>
              <a:t>O que manter</a:t>
            </a:r>
          </a:p>
        </p:txBody>
      </p:sp>
      <p:sp>
        <p:nvSpPr>
          <p:cNvPr id="9" name="Oval 8"/>
          <p:cNvSpPr/>
          <p:nvPr/>
        </p:nvSpPr>
        <p:spPr>
          <a:xfrm>
            <a:off x="868680" y="2121408"/>
            <a:ext cx="914400" cy="914400"/>
          </a:xfrm>
          <a:prstGeom prst="ellipse">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3000" b="1" i="0">
                <a:solidFill>
                  <a:srgbClr val="1A1A1A"/>
                </a:solidFill>
                <a:latin typeface="Segoe UI Semibold"/>
              </a:rPr>
              <a:t>+</a:t>
            </a:r>
          </a:p>
        </p:txBody>
      </p:sp>
      <p:sp>
        <p:nvSpPr>
          <p:cNvPr id="10" name="Rounded Rectangle 9"/>
          <p:cNvSpPr/>
          <p:nvPr/>
        </p:nvSpPr>
        <p:spPr>
          <a:xfrm>
            <a:off x="6172200" y="1554480"/>
            <a:ext cx="5440680" cy="205740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7726679" y="2057400"/>
            <a:ext cx="3657600" cy="548640"/>
          </a:xfrm>
          <a:prstGeom prst="rect">
            <a:avLst/>
          </a:prstGeom>
          <a:noFill/>
        </p:spPr>
        <p:txBody>
          <a:bodyPr wrap="square" lIns="36576" tIns="18288" rIns="36576" bIns="18288" anchor="t">
            <a:spAutoFit/>
          </a:bodyPr>
          <a:lstStyle/>
          <a:p>
            <a:pPr algn="l"/>
            <a:r>
              <a:rPr sz="2200" b="1" i="0">
                <a:solidFill>
                  <a:srgbClr val="F2F2EC"/>
                </a:solidFill>
                <a:latin typeface="Segoe UI Semibold"/>
              </a:rPr>
              <a:t>Não funcionou</a:t>
            </a:r>
          </a:p>
        </p:txBody>
      </p:sp>
      <p:sp>
        <p:nvSpPr>
          <p:cNvPr id="12" name="TextBox 11"/>
          <p:cNvSpPr txBox="1"/>
          <p:nvPr/>
        </p:nvSpPr>
        <p:spPr>
          <a:xfrm>
            <a:off x="7726679" y="2606039"/>
            <a:ext cx="3657600" cy="731520"/>
          </a:xfrm>
          <a:prstGeom prst="rect">
            <a:avLst/>
          </a:prstGeom>
          <a:noFill/>
        </p:spPr>
        <p:txBody>
          <a:bodyPr wrap="square" lIns="36576" tIns="18288" rIns="36576" bIns="18288" anchor="t">
            <a:spAutoFit/>
          </a:bodyPr>
          <a:lstStyle/>
          <a:p>
            <a:pPr algn="l"/>
            <a:r>
              <a:rPr sz="1600" b="0" i="0">
                <a:solidFill>
                  <a:srgbClr val="B4B8B0"/>
                </a:solidFill>
                <a:latin typeface="Segoe UI"/>
              </a:rPr>
              <a:t>O que mudar ou remover</a:t>
            </a:r>
          </a:p>
        </p:txBody>
      </p:sp>
      <p:sp>
        <p:nvSpPr>
          <p:cNvPr id="13" name="Oval 12"/>
          <p:cNvSpPr/>
          <p:nvPr/>
        </p:nvSpPr>
        <p:spPr>
          <a:xfrm>
            <a:off x="6492240" y="2121408"/>
            <a:ext cx="914400" cy="914400"/>
          </a:xfrm>
          <a:prstGeom prst="ellipse">
            <a:avLst/>
          </a:prstGeom>
          <a:solidFill>
            <a:srgbClr val="C0584F"/>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3000" b="1" i="0">
                <a:solidFill>
                  <a:srgbClr val="1A1A1A"/>
                </a:solidFill>
                <a:latin typeface="Segoe UI Semibold"/>
              </a:rPr>
              <a:t>−</a:t>
            </a:r>
          </a:p>
        </p:txBody>
      </p:sp>
      <p:sp>
        <p:nvSpPr>
          <p:cNvPr id="14" name="Rounded Rectangle 13"/>
          <p:cNvSpPr/>
          <p:nvPr/>
        </p:nvSpPr>
        <p:spPr>
          <a:xfrm>
            <a:off x="548640" y="3794760"/>
            <a:ext cx="5440680" cy="205740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2103120" y="4297680"/>
            <a:ext cx="3657600" cy="548640"/>
          </a:xfrm>
          <a:prstGeom prst="rect">
            <a:avLst/>
          </a:prstGeom>
          <a:noFill/>
        </p:spPr>
        <p:txBody>
          <a:bodyPr wrap="square" lIns="36576" tIns="18288" rIns="36576" bIns="18288" anchor="t">
            <a:spAutoFit/>
          </a:bodyPr>
          <a:lstStyle/>
          <a:p>
            <a:pPr algn="l"/>
            <a:r>
              <a:rPr sz="2200" b="1" i="0">
                <a:solidFill>
                  <a:srgbClr val="F2F2EC"/>
                </a:solidFill>
                <a:latin typeface="Segoe UI Semibold"/>
              </a:rPr>
              <a:t>Perguntas</a:t>
            </a:r>
          </a:p>
        </p:txBody>
      </p:sp>
      <p:sp>
        <p:nvSpPr>
          <p:cNvPr id="16" name="TextBox 15"/>
          <p:cNvSpPr txBox="1"/>
          <p:nvPr/>
        </p:nvSpPr>
        <p:spPr>
          <a:xfrm>
            <a:off x="2103120" y="4846320"/>
            <a:ext cx="3657600" cy="731520"/>
          </a:xfrm>
          <a:prstGeom prst="rect">
            <a:avLst/>
          </a:prstGeom>
          <a:noFill/>
        </p:spPr>
        <p:txBody>
          <a:bodyPr wrap="square" lIns="36576" tIns="18288" rIns="36576" bIns="18288" anchor="t">
            <a:spAutoFit/>
          </a:bodyPr>
          <a:lstStyle/>
          <a:p>
            <a:pPr algn="l"/>
            <a:r>
              <a:rPr sz="1600" b="0" i="0">
                <a:solidFill>
                  <a:srgbClr val="B4B8B0"/>
                </a:solidFill>
                <a:latin typeface="Segoe UI"/>
              </a:rPr>
              <a:t>O que ainda não sabemos</a:t>
            </a:r>
          </a:p>
        </p:txBody>
      </p:sp>
      <p:sp>
        <p:nvSpPr>
          <p:cNvPr id="17" name="Oval 16"/>
          <p:cNvSpPr/>
          <p:nvPr/>
        </p:nvSpPr>
        <p:spPr>
          <a:xfrm>
            <a:off x="868680" y="4361688"/>
            <a:ext cx="914400" cy="914400"/>
          </a:xfrm>
          <a:prstGeom prst="ellipse">
            <a:avLst/>
          </a:prstGeom>
          <a:solidFill>
            <a:srgbClr val="2A9FC0"/>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3000" b="1" i="0">
                <a:solidFill>
                  <a:srgbClr val="1A1A1A"/>
                </a:solidFill>
                <a:latin typeface="Segoe UI Semibold"/>
              </a:rPr>
              <a:t>?</a:t>
            </a:r>
          </a:p>
        </p:txBody>
      </p:sp>
      <p:sp>
        <p:nvSpPr>
          <p:cNvPr id="18" name="Rounded Rectangle 17"/>
          <p:cNvSpPr/>
          <p:nvPr/>
        </p:nvSpPr>
        <p:spPr>
          <a:xfrm>
            <a:off x="6172200" y="3794760"/>
            <a:ext cx="5440680" cy="205740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726679" y="4297680"/>
            <a:ext cx="3657600" cy="548640"/>
          </a:xfrm>
          <a:prstGeom prst="rect">
            <a:avLst/>
          </a:prstGeom>
          <a:noFill/>
        </p:spPr>
        <p:txBody>
          <a:bodyPr wrap="square" lIns="36576" tIns="18288" rIns="36576" bIns="18288" anchor="t">
            <a:spAutoFit/>
          </a:bodyPr>
          <a:lstStyle/>
          <a:p>
            <a:pPr algn="l"/>
            <a:r>
              <a:rPr sz="2200" b="1" i="0">
                <a:solidFill>
                  <a:srgbClr val="F2F2EC"/>
                </a:solidFill>
                <a:latin typeface="Segoe UI Semibold"/>
              </a:rPr>
              <a:t>Novas ideias</a:t>
            </a:r>
          </a:p>
        </p:txBody>
      </p:sp>
      <p:sp>
        <p:nvSpPr>
          <p:cNvPr id="20" name="TextBox 19"/>
          <p:cNvSpPr txBox="1"/>
          <p:nvPr/>
        </p:nvSpPr>
        <p:spPr>
          <a:xfrm>
            <a:off x="7726679" y="4846320"/>
            <a:ext cx="3657600" cy="731520"/>
          </a:xfrm>
          <a:prstGeom prst="rect">
            <a:avLst/>
          </a:prstGeom>
          <a:noFill/>
        </p:spPr>
        <p:txBody>
          <a:bodyPr wrap="square" lIns="36576" tIns="18288" rIns="36576" bIns="18288" anchor="t">
            <a:spAutoFit/>
          </a:bodyPr>
          <a:lstStyle/>
          <a:p>
            <a:pPr algn="l"/>
            <a:r>
              <a:rPr sz="1600" b="0" i="0">
                <a:solidFill>
                  <a:srgbClr val="B4B8B0"/>
                </a:solidFill>
                <a:latin typeface="Segoe UI"/>
              </a:rPr>
              <a:t>O que surgiu no teste</a:t>
            </a:r>
          </a:p>
        </p:txBody>
      </p:sp>
      <p:sp>
        <p:nvSpPr>
          <p:cNvPr id="21" name="Oval 20"/>
          <p:cNvSpPr/>
          <p:nvPr/>
        </p:nvSpPr>
        <p:spPr>
          <a:xfrm>
            <a:off x="6492240" y="4361688"/>
            <a:ext cx="914400" cy="914400"/>
          </a:xfrm>
          <a:prstGeom prst="ellipse">
            <a:avLst/>
          </a:prstGeom>
          <a:solidFill>
            <a:srgbClr val="2FA38A"/>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3000" b="1" i="0">
                <a:solidFill>
                  <a:srgbClr val="1A1A1A"/>
                </a:solidFill>
                <a:latin typeface="Segoe UI Semibold"/>
              </a:rPr>
              <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50" fill="hold"/>
                                        <p:tgtEl>
                                          <p:spTgt spid="6"/>
                                        </p:tgtEl>
                                      </p:cBhvr>
                                    </p:animEffect>
                                    <p:anim calcmode="lin" valueType="num">
                                      <p:cBhvr additive="base">
                                        <p:cTn id="11" dur="650" fill="hold"/>
                                        <p:tgtEl>
                                          <p:spTgt spid="6"/>
                                        </p:tgtEl>
                                        <p:attrNameLst>
                                          <p:attrName>ppt_x</p:attrName>
                                        </p:attrNameLst>
                                      </p:cBhvr>
                                      <p:tavLst>
                                        <p:tav tm="0">
                                          <p:val>
                                            <p:strVal val="#ppt_x"/>
                                          </p:val>
                                        </p:tav>
                                        <p:tav tm="100000">
                                          <p:val>
                                            <p:strVal val="#ppt_x"/>
                                          </p:val>
                                        </p:tav>
                                      </p:tavLst>
                                    </p:anim>
                                    <p:anim calcmode="lin" valueType="num">
                                      <p:cBhvr additive="base">
                                        <p:cTn id="12" dur="650" fill="hold"/>
                                        <p:tgtEl>
                                          <p:spTgt spid="6"/>
                                        </p:tgtEl>
                                        <p:attrNameLst>
                                          <p:attrName>ppt_y</p:attrName>
                                        </p:attrNameLst>
                                      </p:cBhvr>
                                      <p:tavLst>
                                        <p:tav tm="0">
                                          <p:val>
                                            <p:strVal val="#ppt_y+.06"/>
                                          </p:val>
                                        </p:tav>
                                        <p:tav tm="100000">
                                          <p:val>
                                            <p:strVal val="#ppt_y"/>
                                          </p:val>
                                        </p:tav>
                                      </p:tavLst>
                                    </p:anim>
                                  </p:childTnLst>
                                </p:cTn>
                              </p:par>
                              <p:par>
                                <p:cTn id="13" presetID="42" presetClass="entr" presetSubtype="0" decel="100000" fill="hold" grpId="0" nodeType="withEffect">
                                  <p:stCondLst>
                                    <p:cond delay="25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fill="hold"/>
                                        <p:tgtEl>
                                          <p:spTgt spid="7"/>
                                        </p:tgtEl>
                                      </p:cBhvr>
                                    </p:animEffect>
                                    <p:anim calcmode="lin" valueType="num">
                                      <p:cBhvr additive="base">
                                        <p:cTn id="16" dur="650" fill="hold"/>
                                        <p:tgtEl>
                                          <p:spTgt spid="7"/>
                                        </p:tgtEl>
                                        <p:attrNameLst>
                                          <p:attrName>ppt_x</p:attrName>
                                        </p:attrNameLst>
                                      </p:cBhvr>
                                      <p:tavLst>
                                        <p:tav tm="0">
                                          <p:val>
                                            <p:strVal val="#ppt_x"/>
                                          </p:val>
                                        </p:tav>
                                        <p:tav tm="100000">
                                          <p:val>
                                            <p:strVal val="#ppt_x"/>
                                          </p:val>
                                        </p:tav>
                                      </p:tavLst>
                                    </p:anim>
                                    <p:anim calcmode="lin" valueType="num">
                                      <p:cBhvr additive="base">
                                        <p:cTn id="17" dur="650" fill="hold"/>
                                        <p:tgtEl>
                                          <p:spTgt spid="7"/>
                                        </p:tgtEl>
                                        <p:attrNameLst>
                                          <p:attrName>ppt_y</p:attrName>
                                        </p:attrNameLst>
                                      </p:cBhvr>
                                      <p:tavLst>
                                        <p:tav tm="0">
                                          <p:val>
                                            <p:strVal val="#ppt_y+.06"/>
                                          </p:val>
                                        </p:tav>
                                        <p:tav tm="100000">
                                          <p:val>
                                            <p:strVal val="#ppt_y"/>
                                          </p:val>
                                        </p:tav>
                                      </p:tavLst>
                                    </p:anim>
                                  </p:childTnLst>
                                </p:cTn>
                              </p:par>
                              <p:par>
                                <p:cTn id="18" presetID="42" presetClass="entr" presetSubtype="0" decel="100000" fill="hold" grpId="0" nodeType="withEffect">
                                  <p:stCondLst>
                                    <p:cond delay="25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650" fill="hold"/>
                                        <p:tgtEl>
                                          <p:spTgt spid="8"/>
                                        </p:tgtEl>
                                      </p:cBhvr>
                                    </p:animEffect>
                                    <p:anim calcmode="lin" valueType="num">
                                      <p:cBhvr additive="base">
                                        <p:cTn id="21" dur="650" fill="hold"/>
                                        <p:tgtEl>
                                          <p:spTgt spid="8"/>
                                        </p:tgtEl>
                                        <p:attrNameLst>
                                          <p:attrName>ppt_x</p:attrName>
                                        </p:attrNameLst>
                                      </p:cBhvr>
                                      <p:tavLst>
                                        <p:tav tm="0">
                                          <p:val>
                                            <p:strVal val="#ppt_x"/>
                                          </p:val>
                                        </p:tav>
                                        <p:tav tm="100000">
                                          <p:val>
                                            <p:strVal val="#ppt_x"/>
                                          </p:val>
                                        </p:tav>
                                      </p:tavLst>
                                    </p:anim>
                                    <p:anim calcmode="lin" valueType="num">
                                      <p:cBhvr additive="base">
                                        <p:cTn id="22" dur="650" fill="hold"/>
                                        <p:tgtEl>
                                          <p:spTgt spid="8"/>
                                        </p:tgtEl>
                                        <p:attrNameLst>
                                          <p:attrName>ppt_y</p:attrName>
                                        </p:attrNameLst>
                                      </p:cBhvr>
                                      <p:tavLst>
                                        <p:tav tm="0">
                                          <p:val>
                                            <p:strVal val="#ppt_y+.06"/>
                                          </p:val>
                                        </p:tav>
                                        <p:tav tm="100000">
                                          <p:val>
                                            <p:strVal val="#ppt_y"/>
                                          </p:val>
                                        </p:tav>
                                      </p:tavLst>
                                    </p:anim>
                                  </p:childTnLst>
                                </p:cTn>
                              </p:par>
                              <p:par>
                                <p:cTn id="23" presetID="53" presetClass="entr" presetSubtype="16" decel="100000" fill="hold" grpId="0" nodeType="withEffect">
                                  <p:stCondLst>
                                    <p:cond delay="40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450" fill="hold"/>
                                        <p:tgtEl>
                                          <p:spTgt spid="9"/>
                                        </p:tgtEl>
                                        <p:attrNameLst>
                                          <p:attrName>ppt_w</p:attrName>
                                        </p:attrNameLst>
                                      </p:cBhvr>
                                      <p:tavLst>
                                        <p:tav tm="0">
                                          <p:val>
                                            <p:strVal val="0"/>
                                          </p:val>
                                        </p:tav>
                                        <p:tav tm="70000">
                                          <p:val>
                                            <p:strVal val="#ppt_w*1.08"/>
                                          </p:val>
                                        </p:tav>
                                        <p:tav tm="100000">
                                          <p:val>
                                            <p:strVal val="#ppt_w"/>
                                          </p:val>
                                        </p:tav>
                                      </p:tavLst>
                                    </p:anim>
                                    <p:anim calcmode="lin" valueType="num">
                                      <p:cBhvr additive="base">
                                        <p:cTn id="26" dur="450" fill="hold"/>
                                        <p:tgtEl>
                                          <p:spTgt spid="9"/>
                                        </p:tgtEl>
                                        <p:attrNameLst>
                                          <p:attrName>ppt_h</p:attrName>
                                        </p:attrNameLst>
                                      </p:cBhvr>
                                      <p:tavLst>
                                        <p:tav tm="0">
                                          <p:val>
                                            <p:strVal val="0"/>
                                          </p:val>
                                        </p:tav>
                                        <p:tav tm="70000">
                                          <p:val>
                                            <p:strVal val="#ppt_h*1.08"/>
                                          </p:val>
                                        </p:tav>
                                        <p:tav tm="100000">
                                          <p:val>
                                            <p:strVal val="#ppt_h"/>
                                          </p:val>
                                        </p:tav>
                                      </p:tavLst>
                                    </p:anim>
                                    <p:animEffect transition="in" filter="fade">
                                      <p:cBhvr>
                                        <p:cTn id="27" dur="270" fill="hold"/>
                                        <p:tgtEl>
                                          <p:spTgt spid="9"/>
                                        </p:tgtEl>
                                      </p:cBhvr>
                                    </p:animEffect>
                                  </p:childTnLst>
                                </p:cTn>
                              </p:par>
                              <p:par>
                                <p:cTn id="28" presetID="42" presetClass="entr" presetSubtype="0" decel="100000" fill="hold" grpId="0" nodeType="withEffect">
                                  <p:stCondLst>
                                    <p:cond delay="65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650" fill="hold"/>
                                        <p:tgtEl>
                                          <p:spTgt spid="10"/>
                                        </p:tgtEl>
                                      </p:cBhvr>
                                    </p:animEffect>
                                    <p:anim calcmode="lin" valueType="num">
                                      <p:cBhvr additive="base">
                                        <p:cTn id="31" dur="650" fill="hold"/>
                                        <p:tgtEl>
                                          <p:spTgt spid="10"/>
                                        </p:tgtEl>
                                        <p:attrNameLst>
                                          <p:attrName>ppt_x</p:attrName>
                                        </p:attrNameLst>
                                      </p:cBhvr>
                                      <p:tavLst>
                                        <p:tav tm="0">
                                          <p:val>
                                            <p:strVal val="#ppt_x"/>
                                          </p:val>
                                        </p:tav>
                                        <p:tav tm="100000">
                                          <p:val>
                                            <p:strVal val="#ppt_x"/>
                                          </p:val>
                                        </p:tav>
                                      </p:tavLst>
                                    </p:anim>
                                    <p:anim calcmode="lin" valueType="num">
                                      <p:cBhvr additive="base">
                                        <p:cTn id="32" dur="650" fill="hold"/>
                                        <p:tgtEl>
                                          <p:spTgt spid="10"/>
                                        </p:tgtEl>
                                        <p:attrNameLst>
                                          <p:attrName>ppt_y</p:attrName>
                                        </p:attrNameLst>
                                      </p:cBhvr>
                                      <p:tavLst>
                                        <p:tav tm="0">
                                          <p:val>
                                            <p:strVal val="#ppt_y+.06"/>
                                          </p:val>
                                        </p:tav>
                                        <p:tav tm="100000">
                                          <p:val>
                                            <p:strVal val="#ppt_y"/>
                                          </p:val>
                                        </p:tav>
                                      </p:tavLst>
                                    </p:anim>
                                  </p:childTnLst>
                                </p:cTn>
                              </p:par>
                              <p:par>
                                <p:cTn id="33" presetID="42" presetClass="entr" presetSubtype="0" decel="100000" fill="hold" grpId="0" nodeType="withEffect">
                                  <p:stCondLst>
                                    <p:cond delay="65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650" fill="hold"/>
                                        <p:tgtEl>
                                          <p:spTgt spid="11"/>
                                        </p:tgtEl>
                                      </p:cBhvr>
                                    </p:animEffect>
                                    <p:anim calcmode="lin" valueType="num">
                                      <p:cBhvr additive="base">
                                        <p:cTn id="36" dur="650" fill="hold"/>
                                        <p:tgtEl>
                                          <p:spTgt spid="11"/>
                                        </p:tgtEl>
                                        <p:attrNameLst>
                                          <p:attrName>ppt_x</p:attrName>
                                        </p:attrNameLst>
                                      </p:cBhvr>
                                      <p:tavLst>
                                        <p:tav tm="0">
                                          <p:val>
                                            <p:strVal val="#ppt_x"/>
                                          </p:val>
                                        </p:tav>
                                        <p:tav tm="100000">
                                          <p:val>
                                            <p:strVal val="#ppt_x"/>
                                          </p:val>
                                        </p:tav>
                                      </p:tavLst>
                                    </p:anim>
                                    <p:anim calcmode="lin" valueType="num">
                                      <p:cBhvr additive="base">
                                        <p:cTn id="37" dur="650" fill="hold"/>
                                        <p:tgtEl>
                                          <p:spTgt spid="11"/>
                                        </p:tgtEl>
                                        <p:attrNameLst>
                                          <p:attrName>ppt_y</p:attrName>
                                        </p:attrNameLst>
                                      </p:cBhvr>
                                      <p:tavLst>
                                        <p:tav tm="0">
                                          <p:val>
                                            <p:strVal val="#ppt_y+.06"/>
                                          </p:val>
                                        </p:tav>
                                        <p:tav tm="100000">
                                          <p:val>
                                            <p:strVal val="#ppt_y"/>
                                          </p:val>
                                        </p:tav>
                                      </p:tavLst>
                                    </p:anim>
                                  </p:childTnLst>
                                </p:cTn>
                              </p:par>
                              <p:par>
                                <p:cTn id="38" presetID="42" presetClass="entr" presetSubtype="0" decel="100000" fill="hold" grpId="0" nodeType="withEffect">
                                  <p:stCondLst>
                                    <p:cond delay="65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650" fill="hold"/>
                                        <p:tgtEl>
                                          <p:spTgt spid="12"/>
                                        </p:tgtEl>
                                      </p:cBhvr>
                                    </p:animEffect>
                                    <p:anim calcmode="lin" valueType="num">
                                      <p:cBhvr additive="base">
                                        <p:cTn id="41" dur="650" fill="hold"/>
                                        <p:tgtEl>
                                          <p:spTgt spid="12"/>
                                        </p:tgtEl>
                                        <p:attrNameLst>
                                          <p:attrName>ppt_x</p:attrName>
                                        </p:attrNameLst>
                                      </p:cBhvr>
                                      <p:tavLst>
                                        <p:tav tm="0">
                                          <p:val>
                                            <p:strVal val="#ppt_x"/>
                                          </p:val>
                                        </p:tav>
                                        <p:tav tm="100000">
                                          <p:val>
                                            <p:strVal val="#ppt_x"/>
                                          </p:val>
                                        </p:tav>
                                      </p:tavLst>
                                    </p:anim>
                                    <p:anim calcmode="lin" valueType="num">
                                      <p:cBhvr additive="base">
                                        <p:cTn id="42" dur="650" fill="hold"/>
                                        <p:tgtEl>
                                          <p:spTgt spid="12"/>
                                        </p:tgtEl>
                                        <p:attrNameLst>
                                          <p:attrName>ppt_y</p:attrName>
                                        </p:attrNameLst>
                                      </p:cBhvr>
                                      <p:tavLst>
                                        <p:tav tm="0">
                                          <p:val>
                                            <p:strVal val="#ppt_y+.06"/>
                                          </p:val>
                                        </p:tav>
                                        <p:tav tm="100000">
                                          <p:val>
                                            <p:strVal val="#ppt_y"/>
                                          </p:val>
                                        </p:tav>
                                      </p:tavLst>
                                    </p:anim>
                                  </p:childTnLst>
                                </p:cTn>
                              </p:par>
                              <p:par>
                                <p:cTn id="43" presetID="53" presetClass="entr" presetSubtype="16" decel="100000" fill="hold" grpId="0" nodeType="withEffect">
                                  <p:stCondLst>
                                    <p:cond delay="800"/>
                                  </p:stCondLst>
                                  <p:childTnLst>
                                    <p:set>
                                      <p:cBhvr>
                                        <p:cTn id="44" dur="1" fill="hold">
                                          <p:stCondLst>
                                            <p:cond delay="0"/>
                                          </p:stCondLst>
                                        </p:cTn>
                                        <p:tgtEl>
                                          <p:spTgt spid="13"/>
                                        </p:tgtEl>
                                        <p:attrNameLst>
                                          <p:attrName>style.visibility</p:attrName>
                                        </p:attrNameLst>
                                      </p:cBhvr>
                                      <p:to>
                                        <p:strVal val="visible"/>
                                      </p:to>
                                    </p:set>
                                    <p:anim calcmode="lin" valueType="num">
                                      <p:cBhvr additive="base">
                                        <p:cTn id="45" dur="450" fill="hold"/>
                                        <p:tgtEl>
                                          <p:spTgt spid="13"/>
                                        </p:tgtEl>
                                        <p:attrNameLst>
                                          <p:attrName>ppt_w</p:attrName>
                                        </p:attrNameLst>
                                      </p:cBhvr>
                                      <p:tavLst>
                                        <p:tav tm="0">
                                          <p:val>
                                            <p:strVal val="0"/>
                                          </p:val>
                                        </p:tav>
                                        <p:tav tm="70000">
                                          <p:val>
                                            <p:strVal val="#ppt_w*1.08"/>
                                          </p:val>
                                        </p:tav>
                                        <p:tav tm="100000">
                                          <p:val>
                                            <p:strVal val="#ppt_w"/>
                                          </p:val>
                                        </p:tav>
                                      </p:tavLst>
                                    </p:anim>
                                    <p:anim calcmode="lin" valueType="num">
                                      <p:cBhvr additive="base">
                                        <p:cTn id="46" dur="450" fill="hold"/>
                                        <p:tgtEl>
                                          <p:spTgt spid="13"/>
                                        </p:tgtEl>
                                        <p:attrNameLst>
                                          <p:attrName>ppt_h</p:attrName>
                                        </p:attrNameLst>
                                      </p:cBhvr>
                                      <p:tavLst>
                                        <p:tav tm="0">
                                          <p:val>
                                            <p:strVal val="0"/>
                                          </p:val>
                                        </p:tav>
                                        <p:tav tm="70000">
                                          <p:val>
                                            <p:strVal val="#ppt_h*1.08"/>
                                          </p:val>
                                        </p:tav>
                                        <p:tav tm="100000">
                                          <p:val>
                                            <p:strVal val="#ppt_h"/>
                                          </p:val>
                                        </p:tav>
                                      </p:tavLst>
                                    </p:anim>
                                    <p:animEffect transition="in" filter="fade">
                                      <p:cBhvr>
                                        <p:cTn id="47" dur="270" fill="hold"/>
                                        <p:tgtEl>
                                          <p:spTgt spid="13"/>
                                        </p:tgtEl>
                                      </p:cBhvr>
                                    </p:animEffect>
                                  </p:childTnLst>
                                </p:cTn>
                              </p:par>
                              <p:par>
                                <p:cTn id="48" presetID="42" presetClass="entr" presetSubtype="0" decel="100000" fill="hold" grpId="0" nodeType="withEffect">
                                  <p:stCondLst>
                                    <p:cond delay="105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650" fill="hold"/>
                                        <p:tgtEl>
                                          <p:spTgt spid="14"/>
                                        </p:tgtEl>
                                      </p:cBhvr>
                                    </p:animEffect>
                                    <p:anim calcmode="lin" valueType="num">
                                      <p:cBhvr additive="base">
                                        <p:cTn id="51" dur="650" fill="hold"/>
                                        <p:tgtEl>
                                          <p:spTgt spid="14"/>
                                        </p:tgtEl>
                                        <p:attrNameLst>
                                          <p:attrName>ppt_x</p:attrName>
                                        </p:attrNameLst>
                                      </p:cBhvr>
                                      <p:tavLst>
                                        <p:tav tm="0">
                                          <p:val>
                                            <p:strVal val="#ppt_x"/>
                                          </p:val>
                                        </p:tav>
                                        <p:tav tm="100000">
                                          <p:val>
                                            <p:strVal val="#ppt_x"/>
                                          </p:val>
                                        </p:tav>
                                      </p:tavLst>
                                    </p:anim>
                                    <p:anim calcmode="lin" valueType="num">
                                      <p:cBhvr additive="base">
                                        <p:cTn id="52" dur="650" fill="hold"/>
                                        <p:tgtEl>
                                          <p:spTgt spid="14"/>
                                        </p:tgtEl>
                                        <p:attrNameLst>
                                          <p:attrName>ppt_y</p:attrName>
                                        </p:attrNameLst>
                                      </p:cBhvr>
                                      <p:tavLst>
                                        <p:tav tm="0">
                                          <p:val>
                                            <p:strVal val="#ppt_y+.06"/>
                                          </p:val>
                                        </p:tav>
                                        <p:tav tm="100000">
                                          <p:val>
                                            <p:strVal val="#ppt_y"/>
                                          </p:val>
                                        </p:tav>
                                      </p:tavLst>
                                    </p:anim>
                                  </p:childTnLst>
                                </p:cTn>
                              </p:par>
                              <p:par>
                                <p:cTn id="53" presetID="42" presetClass="entr" presetSubtype="0" decel="100000" fill="hold" grpId="0" nodeType="withEffect">
                                  <p:stCondLst>
                                    <p:cond delay="105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650" fill="hold"/>
                                        <p:tgtEl>
                                          <p:spTgt spid="15"/>
                                        </p:tgtEl>
                                      </p:cBhvr>
                                    </p:animEffect>
                                    <p:anim calcmode="lin" valueType="num">
                                      <p:cBhvr additive="base">
                                        <p:cTn id="56" dur="650" fill="hold"/>
                                        <p:tgtEl>
                                          <p:spTgt spid="15"/>
                                        </p:tgtEl>
                                        <p:attrNameLst>
                                          <p:attrName>ppt_x</p:attrName>
                                        </p:attrNameLst>
                                      </p:cBhvr>
                                      <p:tavLst>
                                        <p:tav tm="0">
                                          <p:val>
                                            <p:strVal val="#ppt_x"/>
                                          </p:val>
                                        </p:tav>
                                        <p:tav tm="100000">
                                          <p:val>
                                            <p:strVal val="#ppt_x"/>
                                          </p:val>
                                        </p:tav>
                                      </p:tavLst>
                                    </p:anim>
                                    <p:anim calcmode="lin" valueType="num">
                                      <p:cBhvr additive="base">
                                        <p:cTn id="57" dur="650" fill="hold"/>
                                        <p:tgtEl>
                                          <p:spTgt spid="15"/>
                                        </p:tgtEl>
                                        <p:attrNameLst>
                                          <p:attrName>ppt_y</p:attrName>
                                        </p:attrNameLst>
                                      </p:cBhvr>
                                      <p:tavLst>
                                        <p:tav tm="0">
                                          <p:val>
                                            <p:strVal val="#ppt_y+.06"/>
                                          </p:val>
                                        </p:tav>
                                        <p:tav tm="100000">
                                          <p:val>
                                            <p:strVal val="#ppt_y"/>
                                          </p:val>
                                        </p:tav>
                                      </p:tavLst>
                                    </p:anim>
                                  </p:childTnLst>
                                </p:cTn>
                              </p:par>
                              <p:par>
                                <p:cTn id="58" presetID="42" presetClass="entr" presetSubtype="0" decel="100000" fill="hold" grpId="0" nodeType="withEffect">
                                  <p:stCondLst>
                                    <p:cond delay="105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650" fill="hold"/>
                                        <p:tgtEl>
                                          <p:spTgt spid="16"/>
                                        </p:tgtEl>
                                      </p:cBhvr>
                                    </p:animEffect>
                                    <p:anim calcmode="lin" valueType="num">
                                      <p:cBhvr additive="base">
                                        <p:cTn id="61" dur="650" fill="hold"/>
                                        <p:tgtEl>
                                          <p:spTgt spid="16"/>
                                        </p:tgtEl>
                                        <p:attrNameLst>
                                          <p:attrName>ppt_x</p:attrName>
                                        </p:attrNameLst>
                                      </p:cBhvr>
                                      <p:tavLst>
                                        <p:tav tm="0">
                                          <p:val>
                                            <p:strVal val="#ppt_x"/>
                                          </p:val>
                                        </p:tav>
                                        <p:tav tm="100000">
                                          <p:val>
                                            <p:strVal val="#ppt_x"/>
                                          </p:val>
                                        </p:tav>
                                      </p:tavLst>
                                    </p:anim>
                                    <p:anim calcmode="lin" valueType="num">
                                      <p:cBhvr additive="base">
                                        <p:cTn id="62" dur="650" fill="hold"/>
                                        <p:tgtEl>
                                          <p:spTgt spid="16"/>
                                        </p:tgtEl>
                                        <p:attrNameLst>
                                          <p:attrName>ppt_y</p:attrName>
                                        </p:attrNameLst>
                                      </p:cBhvr>
                                      <p:tavLst>
                                        <p:tav tm="0">
                                          <p:val>
                                            <p:strVal val="#ppt_y+.06"/>
                                          </p:val>
                                        </p:tav>
                                        <p:tav tm="100000">
                                          <p:val>
                                            <p:strVal val="#ppt_y"/>
                                          </p:val>
                                        </p:tav>
                                      </p:tavLst>
                                    </p:anim>
                                  </p:childTnLst>
                                </p:cTn>
                              </p:par>
                              <p:par>
                                <p:cTn id="63" presetID="53" presetClass="entr" presetSubtype="16" decel="100000" fill="hold" grpId="0" nodeType="withEffect">
                                  <p:stCondLst>
                                    <p:cond delay="1200"/>
                                  </p:stCondLst>
                                  <p:childTnLst>
                                    <p:set>
                                      <p:cBhvr>
                                        <p:cTn id="64" dur="1" fill="hold">
                                          <p:stCondLst>
                                            <p:cond delay="0"/>
                                          </p:stCondLst>
                                        </p:cTn>
                                        <p:tgtEl>
                                          <p:spTgt spid="17"/>
                                        </p:tgtEl>
                                        <p:attrNameLst>
                                          <p:attrName>style.visibility</p:attrName>
                                        </p:attrNameLst>
                                      </p:cBhvr>
                                      <p:to>
                                        <p:strVal val="visible"/>
                                      </p:to>
                                    </p:set>
                                    <p:anim calcmode="lin" valueType="num">
                                      <p:cBhvr additive="base">
                                        <p:cTn id="65" dur="450" fill="hold"/>
                                        <p:tgtEl>
                                          <p:spTgt spid="17"/>
                                        </p:tgtEl>
                                        <p:attrNameLst>
                                          <p:attrName>ppt_w</p:attrName>
                                        </p:attrNameLst>
                                      </p:cBhvr>
                                      <p:tavLst>
                                        <p:tav tm="0">
                                          <p:val>
                                            <p:strVal val="0"/>
                                          </p:val>
                                        </p:tav>
                                        <p:tav tm="70000">
                                          <p:val>
                                            <p:strVal val="#ppt_w*1.08"/>
                                          </p:val>
                                        </p:tav>
                                        <p:tav tm="100000">
                                          <p:val>
                                            <p:strVal val="#ppt_w"/>
                                          </p:val>
                                        </p:tav>
                                      </p:tavLst>
                                    </p:anim>
                                    <p:anim calcmode="lin" valueType="num">
                                      <p:cBhvr additive="base">
                                        <p:cTn id="66" dur="450" fill="hold"/>
                                        <p:tgtEl>
                                          <p:spTgt spid="17"/>
                                        </p:tgtEl>
                                        <p:attrNameLst>
                                          <p:attrName>ppt_h</p:attrName>
                                        </p:attrNameLst>
                                      </p:cBhvr>
                                      <p:tavLst>
                                        <p:tav tm="0">
                                          <p:val>
                                            <p:strVal val="0"/>
                                          </p:val>
                                        </p:tav>
                                        <p:tav tm="70000">
                                          <p:val>
                                            <p:strVal val="#ppt_h*1.08"/>
                                          </p:val>
                                        </p:tav>
                                        <p:tav tm="100000">
                                          <p:val>
                                            <p:strVal val="#ppt_h"/>
                                          </p:val>
                                        </p:tav>
                                      </p:tavLst>
                                    </p:anim>
                                    <p:animEffect transition="in" filter="fade">
                                      <p:cBhvr>
                                        <p:cTn id="67" dur="270" fill="hold"/>
                                        <p:tgtEl>
                                          <p:spTgt spid="17"/>
                                        </p:tgtEl>
                                      </p:cBhvr>
                                    </p:animEffect>
                                  </p:childTnLst>
                                </p:cTn>
                              </p:par>
                              <p:par>
                                <p:cTn id="68" presetID="42" presetClass="entr" presetSubtype="0" decel="100000" fill="hold" grpId="0" nodeType="withEffect">
                                  <p:stCondLst>
                                    <p:cond delay="145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650" fill="hold"/>
                                        <p:tgtEl>
                                          <p:spTgt spid="18"/>
                                        </p:tgtEl>
                                      </p:cBhvr>
                                    </p:animEffect>
                                    <p:anim calcmode="lin" valueType="num">
                                      <p:cBhvr additive="base">
                                        <p:cTn id="71" dur="650" fill="hold"/>
                                        <p:tgtEl>
                                          <p:spTgt spid="18"/>
                                        </p:tgtEl>
                                        <p:attrNameLst>
                                          <p:attrName>ppt_x</p:attrName>
                                        </p:attrNameLst>
                                      </p:cBhvr>
                                      <p:tavLst>
                                        <p:tav tm="0">
                                          <p:val>
                                            <p:strVal val="#ppt_x"/>
                                          </p:val>
                                        </p:tav>
                                        <p:tav tm="100000">
                                          <p:val>
                                            <p:strVal val="#ppt_x"/>
                                          </p:val>
                                        </p:tav>
                                      </p:tavLst>
                                    </p:anim>
                                    <p:anim calcmode="lin" valueType="num">
                                      <p:cBhvr additive="base">
                                        <p:cTn id="72" dur="650" fill="hold"/>
                                        <p:tgtEl>
                                          <p:spTgt spid="18"/>
                                        </p:tgtEl>
                                        <p:attrNameLst>
                                          <p:attrName>ppt_y</p:attrName>
                                        </p:attrNameLst>
                                      </p:cBhvr>
                                      <p:tavLst>
                                        <p:tav tm="0">
                                          <p:val>
                                            <p:strVal val="#ppt_y+.06"/>
                                          </p:val>
                                        </p:tav>
                                        <p:tav tm="100000">
                                          <p:val>
                                            <p:strVal val="#ppt_y"/>
                                          </p:val>
                                        </p:tav>
                                      </p:tavLst>
                                    </p:anim>
                                  </p:childTnLst>
                                </p:cTn>
                              </p:par>
                              <p:par>
                                <p:cTn id="73" presetID="42" presetClass="entr" presetSubtype="0" decel="100000" fill="hold" grpId="0" nodeType="withEffect">
                                  <p:stCondLst>
                                    <p:cond delay="145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650" fill="hold"/>
                                        <p:tgtEl>
                                          <p:spTgt spid="19"/>
                                        </p:tgtEl>
                                      </p:cBhvr>
                                    </p:animEffect>
                                    <p:anim calcmode="lin" valueType="num">
                                      <p:cBhvr additive="base">
                                        <p:cTn id="76" dur="650" fill="hold"/>
                                        <p:tgtEl>
                                          <p:spTgt spid="19"/>
                                        </p:tgtEl>
                                        <p:attrNameLst>
                                          <p:attrName>ppt_x</p:attrName>
                                        </p:attrNameLst>
                                      </p:cBhvr>
                                      <p:tavLst>
                                        <p:tav tm="0">
                                          <p:val>
                                            <p:strVal val="#ppt_x"/>
                                          </p:val>
                                        </p:tav>
                                        <p:tav tm="100000">
                                          <p:val>
                                            <p:strVal val="#ppt_x"/>
                                          </p:val>
                                        </p:tav>
                                      </p:tavLst>
                                    </p:anim>
                                    <p:anim calcmode="lin" valueType="num">
                                      <p:cBhvr additive="base">
                                        <p:cTn id="77" dur="650" fill="hold"/>
                                        <p:tgtEl>
                                          <p:spTgt spid="19"/>
                                        </p:tgtEl>
                                        <p:attrNameLst>
                                          <p:attrName>ppt_y</p:attrName>
                                        </p:attrNameLst>
                                      </p:cBhvr>
                                      <p:tavLst>
                                        <p:tav tm="0">
                                          <p:val>
                                            <p:strVal val="#ppt_y+.06"/>
                                          </p:val>
                                        </p:tav>
                                        <p:tav tm="100000">
                                          <p:val>
                                            <p:strVal val="#ppt_y"/>
                                          </p:val>
                                        </p:tav>
                                      </p:tavLst>
                                    </p:anim>
                                  </p:childTnLst>
                                </p:cTn>
                              </p:par>
                              <p:par>
                                <p:cTn id="78" presetID="42" presetClass="entr" presetSubtype="0" decel="100000" fill="hold" grpId="0" nodeType="withEffect">
                                  <p:stCondLst>
                                    <p:cond delay="1450"/>
                                  </p:stCondLst>
                                  <p:childTnLst>
                                    <p:set>
                                      <p:cBhvr>
                                        <p:cTn id="79" dur="1" fill="hold">
                                          <p:stCondLst>
                                            <p:cond delay="0"/>
                                          </p:stCondLst>
                                        </p:cTn>
                                        <p:tgtEl>
                                          <p:spTgt spid="20"/>
                                        </p:tgtEl>
                                        <p:attrNameLst>
                                          <p:attrName>style.visibility</p:attrName>
                                        </p:attrNameLst>
                                      </p:cBhvr>
                                      <p:to>
                                        <p:strVal val="visible"/>
                                      </p:to>
                                    </p:set>
                                    <p:animEffect transition="in" filter="fade">
                                      <p:cBhvr>
                                        <p:cTn id="80" dur="650" fill="hold"/>
                                        <p:tgtEl>
                                          <p:spTgt spid="20"/>
                                        </p:tgtEl>
                                      </p:cBhvr>
                                    </p:animEffect>
                                    <p:anim calcmode="lin" valueType="num">
                                      <p:cBhvr additive="base">
                                        <p:cTn id="81" dur="650" fill="hold"/>
                                        <p:tgtEl>
                                          <p:spTgt spid="20"/>
                                        </p:tgtEl>
                                        <p:attrNameLst>
                                          <p:attrName>ppt_x</p:attrName>
                                        </p:attrNameLst>
                                      </p:cBhvr>
                                      <p:tavLst>
                                        <p:tav tm="0">
                                          <p:val>
                                            <p:strVal val="#ppt_x"/>
                                          </p:val>
                                        </p:tav>
                                        <p:tav tm="100000">
                                          <p:val>
                                            <p:strVal val="#ppt_x"/>
                                          </p:val>
                                        </p:tav>
                                      </p:tavLst>
                                    </p:anim>
                                    <p:anim calcmode="lin" valueType="num">
                                      <p:cBhvr additive="base">
                                        <p:cTn id="82" dur="650" fill="hold"/>
                                        <p:tgtEl>
                                          <p:spTgt spid="20"/>
                                        </p:tgtEl>
                                        <p:attrNameLst>
                                          <p:attrName>ppt_y</p:attrName>
                                        </p:attrNameLst>
                                      </p:cBhvr>
                                      <p:tavLst>
                                        <p:tav tm="0">
                                          <p:val>
                                            <p:strVal val="#ppt_y+.06"/>
                                          </p:val>
                                        </p:tav>
                                        <p:tav tm="100000">
                                          <p:val>
                                            <p:strVal val="#ppt_y"/>
                                          </p:val>
                                        </p:tav>
                                      </p:tavLst>
                                    </p:anim>
                                  </p:childTnLst>
                                </p:cTn>
                              </p:par>
                              <p:par>
                                <p:cTn id="83" presetID="53" presetClass="entr" presetSubtype="16" decel="100000" fill="hold" grpId="0" nodeType="withEffect">
                                  <p:stCondLst>
                                    <p:cond delay="1600"/>
                                  </p:stCondLst>
                                  <p:childTnLst>
                                    <p:set>
                                      <p:cBhvr>
                                        <p:cTn id="84" dur="1" fill="hold">
                                          <p:stCondLst>
                                            <p:cond delay="0"/>
                                          </p:stCondLst>
                                        </p:cTn>
                                        <p:tgtEl>
                                          <p:spTgt spid="21"/>
                                        </p:tgtEl>
                                        <p:attrNameLst>
                                          <p:attrName>style.visibility</p:attrName>
                                        </p:attrNameLst>
                                      </p:cBhvr>
                                      <p:to>
                                        <p:strVal val="visible"/>
                                      </p:to>
                                    </p:set>
                                    <p:anim calcmode="lin" valueType="num">
                                      <p:cBhvr additive="base">
                                        <p:cTn id="85" dur="450" fill="hold"/>
                                        <p:tgtEl>
                                          <p:spTgt spid="21"/>
                                        </p:tgtEl>
                                        <p:attrNameLst>
                                          <p:attrName>ppt_w</p:attrName>
                                        </p:attrNameLst>
                                      </p:cBhvr>
                                      <p:tavLst>
                                        <p:tav tm="0">
                                          <p:val>
                                            <p:strVal val="0"/>
                                          </p:val>
                                        </p:tav>
                                        <p:tav tm="70000">
                                          <p:val>
                                            <p:strVal val="#ppt_w*1.08"/>
                                          </p:val>
                                        </p:tav>
                                        <p:tav tm="100000">
                                          <p:val>
                                            <p:strVal val="#ppt_w"/>
                                          </p:val>
                                        </p:tav>
                                      </p:tavLst>
                                    </p:anim>
                                    <p:anim calcmode="lin" valueType="num">
                                      <p:cBhvr additive="base">
                                        <p:cTn id="86" dur="450" fill="hold"/>
                                        <p:tgtEl>
                                          <p:spTgt spid="21"/>
                                        </p:tgtEl>
                                        <p:attrNameLst>
                                          <p:attrName>ppt_h</p:attrName>
                                        </p:attrNameLst>
                                      </p:cBhvr>
                                      <p:tavLst>
                                        <p:tav tm="0">
                                          <p:val>
                                            <p:strVal val="0"/>
                                          </p:val>
                                        </p:tav>
                                        <p:tav tm="70000">
                                          <p:val>
                                            <p:strVal val="#ppt_h*1.08"/>
                                          </p:val>
                                        </p:tav>
                                        <p:tav tm="100000">
                                          <p:val>
                                            <p:strVal val="#ppt_h"/>
                                          </p:val>
                                        </p:tav>
                                      </p:tavLst>
                                    </p:anim>
                                    <p:animEffect transition="in" filter="fade">
                                      <p:cBhvr>
                                        <p:cTn id="87" dur="270" fill="hold"/>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2A9FC0"/>
                </a:solidFill>
                <a:latin typeface="Segoe UI Semibold"/>
              </a:rPr>
              <a:t>MÓDULO 5  ·  PROTOTIPAR E TESTAR</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Implementar e medir</a:t>
            </a:r>
          </a:p>
        </p:txBody>
      </p:sp>
      <p:sp>
        <p:nvSpPr>
          <p:cNvPr id="6" name="TextBox 5"/>
          <p:cNvSpPr txBox="1"/>
          <p:nvPr/>
        </p:nvSpPr>
        <p:spPr>
          <a:xfrm>
            <a:off x="548640" y="1645920"/>
            <a:ext cx="6675120" cy="4206240"/>
          </a:xfrm>
          <a:prstGeom prst="rect">
            <a:avLst/>
          </a:prstGeom>
          <a:noFill/>
        </p:spPr>
        <p:txBody>
          <a:bodyPr wrap="square">
            <a:spAutoFit/>
          </a:bodyPr>
          <a:lstStyle/>
          <a:p>
            <a:pPr marL="292608" indent="-292608">
              <a:spcAft>
                <a:spcPts val="1600"/>
              </a:spcAft>
              <a:buClr>
                <a:srgbClr val="2A9FC0"/>
              </a:buClr>
              <a:buFont typeface="Arial"/>
              <a:buChar char="●"/>
            </a:pPr>
            <a:r>
              <a:rPr sz="1800">
                <a:solidFill>
                  <a:srgbClr val="F2F2EC"/>
                </a:solidFill>
                <a:latin typeface="Segoe UI"/>
              </a:rPr>
              <a:t>Solução validada? Hora de implementar, de preferência em etapas</a:t>
            </a:r>
          </a:p>
          <a:p>
            <a:pPr marL="292608" indent="-292608">
              <a:spcAft>
                <a:spcPts val="1600"/>
              </a:spcAft>
              <a:buClr>
                <a:srgbClr val="2A9FC0"/>
              </a:buClr>
              <a:buFont typeface="Arial"/>
              <a:buChar char="●"/>
            </a:pPr>
            <a:r>
              <a:rPr sz="1800">
                <a:solidFill>
                  <a:srgbClr val="F2F2EC"/>
                </a:solidFill>
                <a:latin typeface="Segoe UI"/>
              </a:rPr>
              <a:t>Defina indicadores antes de lançar: o que muda se der certo?</a:t>
            </a:r>
          </a:p>
          <a:p>
            <a:pPr marL="292608" indent="-292608">
              <a:spcAft>
                <a:spcPts val="1600"/>
              </a:spcAft>
              <a:buClr>
                <a:srgbClr val="2A9FC0"/>
              </a:buClr>
              <a:buFont typeface="Arial"/>
              <a:buChar char="●"/>
            </a:pPr>
            <a:r>
              <a:rPr sz="1800">
                <a:solidFill>
                  <a:srgbClr val="F2F2EC"/>
                </a:solidFill>
                <a:latin typeface="Segoe UI"/>
              </a:rPr>
              <a:t>Exemplos: taxa de conversão, tempo de atendimento, reclamações, recompra</a:t>
            </a:r>
          </a:p>
          <a:p>
            <a:pPr marL="292608" indent="-292608">
              <a:buClr>
                <a:srgbClr val="2A9FC0"/>
              </a:buClr>
              <a:buFont typeface="Arial"/>
              <a:buChar char="●"/>
            </a:pPr>
            <a:r>
              <a:rPr sz="1800">
                <a:solidFill>
                  <a:srgbClr val="F2F2EC"/>
                </a:solidFill>
                <a:latin typeface="Segoe UI"/>
              </a:rPr>
              <a:t>Continue ouvindo: o ciclo de Design Thinking recomeça com novos dados</a:t>
            </a:r>
          </a:p>
        </p:txBody>
      </p:sp>
      <p:sp>
        <p:nvSpPr>
          <p:cNvPr id="7" name="Rounded Rectangle 6"/>
          <p:cNvSpPr/>
          <p:nvPr/>
        </p:nvSpPr>
        <p:spPr>
          <a:xfrm>
            <a:off x="7680960" y="1645920"/>
            <a:ext cx="3959352" cy="402336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955279" y="1691640"/>
            <a:ext cx="1371600" cy="1097280"/>
          </a:xfrm>
          <a:prstGeom prst="rect">
            <a:avLst/>
          </a:prstGeom>
          <a:noFill/>
        </p:spPr>
        <p:txBody>
          <a:bodyPr wrap="square" lIns="36576" tIns="18288" rIns="36576" bIns="18288" anchor="t">
            <a:spAutoFit/>
          </a:bodyPr>
          <a:lstStyle/>
          <a:p>
            <a:pPr algn="l"/>
            <a:r>
              <a:rPr sz="8000" b="1" i="0">
                <a:solidFill>
                  <a:srgbClr val="2A9FC0"/>
                </a:solidFill>
                <a:latin typeface="Georgia"/>
              </a:rPr>
              <a:t>“</a:t>
            </a:r>
          </a:p>
        </p:txBody>
      </p:sp>
      <p:sp>
        <p:nvSpPr>
          <p:cNvPr id="9" name="TextBox 8"/>
          <p:cNvSpPr txBox="1"/>
          <p:nvPr/>
        </p:nvSpPr>
        <p:spPr>
          <a:xfrm>
            <a:off x="8001000" y="2743200"/>
            <a:ext cx="3383280" cy="2743200"/>
          </a:xfrm>
          <a:prstGeom prst="rect">
            <a:avLst/>
          </a:prstGeom>
          <a:noFill/>
        </p:spPr>
        <p:txBody>
          <a:bodyPr wrap="square" lIns="36576" tIns="18288" rIns="36576" bIns="18288" anchor="t">
            <a:spAutoFit/>
          </a:bodyPr>
          <a:lstStyle/>
          <a:p>
            <a:pPr algn="l">
              <a:lnSpc>
                <a:spcPct val="110000"/>
              </a:lnSpc>
            </a:pPr>
            <a:r>
              <a:rPr sz="2100" b="1" i="0">
                <a:solidFill>
                  <a:srgbClr val="F2F2EC"/>
                </a:solidFill>
                <a:latin typeface="Segoe UI Semibold"/>
              </a:rPr>
              <a:t>O que não é medido não pode ser melhorado.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50" fill="hold"/>
                                        <p:tgtEl>
                                          <p:spTgt spid="6"/>
                                        </p:tgtEl>
                                      </p:cBhvr>
                                    </p:animEffect>
                                    <p:anim calcmode="lin" valueType="num">
                                      <p:cBhvr additive="base">
                                        <p:cTn id="11" dur="650" fill="hold"/>
                                        <p:tgtEl>
                                          <p:spTgt spid="6"/>
                                        </p:tgtEl>
                                        <p:attrNameLst>
                                          <p:attrName>ppt_x</p:attrName>
                                        </p:attrNameLst>
                                      </p:cBhvr>
                                      <p:tavLst>
                                        <p:tav tm="0">
                                          <p:val>
                                            <p:strVal val="#ppt_x"/>
                                          </p:val>
                                        </p:tav>
                                        <p:tav tm="100000">
                                          <p:val>
                                            <p:strVal val="#ppt_x"/>
                                          </p:val>
                                        </p:tav>
                                      </p:tavLst>
                                    </p:anim>
                                    <p:anim calcmode="lin" valueType="num">
                                      <p:cBhvr additive="base">
                                        <p:cTn id="12" dur="650" fill="hold"/>
                                        <p:tgtEl>
                                          <p:spTgt spid="6"/>
                                        </p:tgtEl>
                                        <p:attrNameLst>
                                          <p:attrName>ppt_y</p:attrName>
                                        </p:attrNameLst>
                                      </p:cBhvr>
                                      <p:tavLst>
                                        <p:tav tm="0">
                                          <p:val>
                                            <p:strVal val="#ppt_y+.06"/>
                                          </p:val>
                                        </p:tav>
                                        <p:tav tm="100000">
                                          <p:val>
                                            <p:strVal val="#ppt_y"/>
                                          </p:val>
                                        </p:tav>
                                      </p:tavLst>
                                    </p:anim>
                                  </p:childTnLst>
                                </p:cTn>
                              </p:par>
                              <p:par>
                                <p:cTn id="13" presetID="42" presetClass="entr" presetSubtype="0" decel="100000" fill="hold" grpId="0" nodeType="withEffect">
                                  <p:stCondLst>
                                    <p:cond delay="75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fill="hold"/>
                                        <p:tgtEl>
                                          <p:spTgt spid="7"/>
                                        </p:tgtEl>
                                      </p:cBhvr>
                                    </p:animEffect>
                                    <p:anim calcmode="lin" valueType="num">
                                      <p:cBhvr additive="base">
                                        <p:cTn id="16" dur="650" fill="hold"/>
                                        <p:tgtEl>
                                          <p:spTgt spid="7"/>
                                        </p:tgtEl>
                                        <p:attrNameLst>
                                          <p:attrName>ppt_x</p:attrName>
                                        </p:attrNameLst>
                                      </p:cBhvr>
                                      <p:tavLst>
                                        <p:tav tm="0">
                                          <p:val>
                                            <p:strVal val="#ppt_x"/>
                                          </p:val>
                                        </p:tav>
                                        <p:tav tm="100000">
                                          <p:val>
                                            <p:strVal val="#ppt_x"/>
                                          </p:val>
                                        </p:tav>
                                      </p:tavLst>
                                    </p:anim>
                                    <p:anim calcmode="lin" valueType="num">
                                      <p:cBhvr additive="base">
                                        <p:cTn id="17" dur="650" fill="hold"/>
                                        <p:tgtEl>
                                          <p:spTgt spid="7"/>
                                        </p:tgtEl>
                                        <p:attrNameLst>
                                          <p:attrName>ppt_y</p:attrName>
                                        </p:attrNameLst>
                                      </p:cBhvr>
                                      <p:tavLst>
                                        <p:tav tm="0">
                                          <p:val>
                                            <p:strVal val="#ppt_y+.06"/>
                                          </p:val>
                                        </p:tav>
                                        <p:tav tm="100000">
                                          <p:val>
                                            <p:strVal val="#ppt_y"/>
                                          </p:val>
                                        </p:tav>
                                      </p:tavLst>
                                    </p:anim>
                                  </p:childTnLst>
                                </p:cTn>
                              </p:par>
                              <p:par>
                                <p:cTn id="18" presetID="53" presetClass="entr" presetSubtype="16" decel="100000" fill="hold" grpId="0" nodeType="withEffect">
                                  <p:stCondLst>
                                    <p:cond delay="105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450" fill="hold"/>
                                        <p:tgtEl>
                                          <p:spTgt spid="8"/>
                                        </p:tgtEl>
                                        <p:attrNameLst>
                                          <p:attrName>ppt_w</p:attrName>
                                        </p:attrNameLst>
                                      </p:cBhvr>
                                      <p:tavLst>
                                        <p:tav tm="0">
                                          <p:val>
                                            <p:strVal val="0"/>
                                          </p:val>
                                        </p:tav>
                                        <p:tav tm="70000">
                                          <p:val>
                                            <p:strVal val="#ppt_w*1.08"/>
                                          </p:val>
                                        </p:tav>
                                        <p:tav tm="100000">
                                          <p:val>
                                            <p:strVal val="#ppt_w"/>
                                          </p:val>
                                        </p:tav>
                                      </p:tavLst>
                                    </p:anim>
                                    <p:anim calcmode="lin" valueType="num">
                                      <p:cBhvr additive="base">
                                        <p:cTn id="21" dur="450" fill="hold"/>
                                        <p:tgtEl>
                                          <p:spTgt spid="8"/>
                                        </p:tgtEl>
                                        <p:attrNameLst>
                                          <p:attrName>ppt_h</p:attrName>
                                        </p:attrNameLst>
                                      </p:cBhvr>
                                      <p:tavLst>
                                        <p:tav tm="0">
                                          <p:val>
                                            <p:strVal val="0"/>
                                          </p:val>
                                        </p:tav>
                                        <p:tav tm="70000">
                                          <p:val>
                                            <p:strVal val="#ppt_h*1.08"/>
                                          </p:val>
                                        </p:tav>
                                        <p:tav tm="100000">
                                          <p:val>
                                            <p:strVal val="#ppt_h"/>
                                          </p:val>
                                        </p:tav>
                                      </p:tavLst>
                                    </p:anim>
                                    <p:animEffect transition="in" filter="fade">
                                      <p:cBhvr>
                                        <p:cTn id="22" dur="270" fill="hold"/>
                                        <p:tgtEl>
                                          <p:spTgt spid="8"/>
                                        </p:tgtEl>
                                      </p:cBhvr>
                                    </p:animEffect>
                                  </p:childTnLst>
                                </p:cTn>
                              </p:par>
                              <p:par>
                                <p:cTn id="23" presetID="10" presetClass="entr" presetSubtype="0" fill="hold" grpId="0" nodeType="withEffect">
                                  <p:stCondLst>
                                    <p:cond delay="1250"/>
                                  </p:stCondLst>
                                  <p:iterate type="wd">
                                    <p:tmPct val="35000"/>
                                  </p:iterate>
                                  <p:childTnLst>
                                    <p:set>
                                      <p:cBhvr>
                                        <p:cTn id="24" dur="1" fill="hold">
                                          <p:stCondLst>
                                            <p:cond delay="0"/>
                                          </p:stCondLst>
                                        </p:cTn>
                                        <p:tgtEl>
                                          <p:spTgt spid="9"/>
                                        </p:tgtEl>
                                        <p:attrNameLst>
                                          <p:attrName>style.visibility</p:attrName>
                                        </p:attrNameLst>
                                      </p:cBhvr>
                                      <p:to>
                                        <p:strVal val="visible"/>
                                      </p:to>
                                    </p:set>
                                    <p:animEffect transition="in" filter="fade">
                                      <p:cBhvr>
                                        <p:cTn id="25" dur="420" fill="hold"/>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6035040" y="-320040"/>
            <a:ext cx="5852160" cy="5486400"/>
          </a:xfrm>
          <a:prstGeom prst="rect">
            <a:avLst/>
          </a:prstGeom>
          <a:noFill/>
        </p:spPr>
        <p:txBody>
          <a:bodyPr wrap="square" lIns="36576" tIns="18288" rIns="36576" bIns="18288" anchor="t">
            <a:spAutoFit/>
          </a:bodyPr>
          <a:lstStyle/>
          <a:p>
            <a:pPr algn="r"/>
            <a:r>
              <a:rPr sz="33000" b="1" i="0">
                <a:solidFill>
                  <a:srgbClr val="242826"/>
                </a:solidFill>
                <a:latin typeface="Segoe UI Semibold"/>
              </a:rPr>
              <a:t>05</a:t>
            </a:r>
          </a:p>
        </p:txBody>
      </p:sp>
      <p:sp>
        <p:nvSpPr>
          <p:cNvPr id="3" name="Rectangle 2"/>
          <p:cNvSpPr/>
          <p:nvPr/>
        </p:nvSpPr>
        <p:spPr>
          <a:xfrm>
            <a:off x="822960" y="2331720"/>
            <a:ext cx="82296" cy="1417320"/>
          </a:xfrm>
          <a:prstGeom prst="rect">
            <a:avLst/>
          </a:prstGeom>
          <a:solidFill>
            <a:srgbClr val="2A9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188720" y="1783080"/>
            <a:ext cx="8229600" cy="365760"/>
          </a:xfrm>
          <a:prstGeom prst="rect">
            <a:avLst/>
          </a:prstGeom>
          <a:noFill/>
        </p:spPr>
        <p:txBody>
          <a:bodyPr wrap="square" lIns="36576" tIns="18288" rIns="36576" bIns="18288" anchor="t">
            <a:spAutoFit/>
          </a:bodyPr>
          <a:lstStyle/>
          <a:p>
            <a:pPr algn="l"/>
            <a:r>
              <a:rPr sz="1200" b="1" i="0" spc="300">
                <a:solidFill>
                  <a:srgbClr val="2A9FC0"/>
                </a:solidFill>
                <a:latin typeface="Segoe UI Semibold"/>
              </a:rPr>
              <a:t>PARA LEVAR  ·  MÓDULO 5</a:t>
            </a:r>
          </a:p>
        </p:txBody>
      </p:sp>
      <p:sp>
        <p:nvSpPr>
          <p:cNvPr id="5" name="TextBox 4"/>
          <p:cNvSpPr txBox="1"/>
          <p:nvPr/>
        </p:nvSpPr>
        <p:spPr>
          <a:xfrm>
            <a:off x="1188720" y="2240280"/>
            <a:ext cx="10241280" cy="1645920"/>
          </a:xfrm>
          <a:prstGeom prst="rect">
            <a:avLst/>
          </a:prstGeom>
          <a:noFill/>
        </p:spPr>
        <p:txBody>
          <a:bodyPr wrap="square" lIns="36576" tIns="18288" rIns="36576" bIns="18288" anchor="t">
            <a:spAutoFit/>
          </a:bodyPr>
          <a:lstStyle/>
          <a:p>
            <a:pPr algn="l">
              <a:lnSpc>
                <a:spcPct val="105000"/>
              </a:lnSpc>
            </a:pPr>
            <a:r>
              <a:rPr sz="4800" b="1" i="0">
                <a:solidFill>
                  <a:srgbClr val="F2F2EC"/>
                </a:solidFill>
                <a:latin typeface="Segoe UI Semibold"/>
              </a:rPr>
              <a:t>Errar no papel custa </a:t>
            </a:r>
            <a:r>
              <a:rPr sz="4800" b="1" i="0">
                <a:solidFill>
                  <a:srgbClr val="2A9FC0"/>
                </a:solidFill>
                <a:latin typeface="Segoe UI Semibold"/>
              </a:rPr>
              <a:t>centavos</a:t>
            </a:r>
            <a:r>
              <a:rPr sz="4800" b="1" i="0">
                <a:solidFill>
                  <a:srgbClr val="F2F2EC"/>
                </a:solidFill>
                <a:latin typeface="Segoe UI Semibold"/>
              </a:rPr>
              <a:t>.</a:t>
            </a:r>
          </a:p>
          <a:p>
            <a:pPr algn="l">
              <a:lnSpc>
                <a:spcPct val="105000"/>
              </a:lnSpc>
            </a:pPr>
            <a:r>
              <a:rPr sz="4800" b="1" i="0">
                <a:solidFill>
                  <a:srgbClr val="F2F2EC"/>
                </a:solidFill>
                <a:latin typeface="Segoe UI Semibold"/>
              </a:rPr>
              <a:t>Errar no mercado custa </a:t>
            </a:r>
            <a:r>
              <a:rPr sz="4800" b="1" i="0">
                <a:solidFill>
                  <a:srgbClr val="2A9FC0"/>
                </a:solidFill>
                <a:latin typeface="Segoe UI Semibold"/>
              </a:rPr>
              <a:t>caro</a:t>
            </a:r>
            <a:r>
              <a:rPr sz="4800" b="1" i="0">
                <a:solidFill>
                  <a:srgbClr val="F2F2EC"/>
                </a:solidFill>
                <a:latin typeface="Segoe UI Semibold"/>
              </a:rPr>
              <a:t>.</a:t>
            </a:r>
          </a:p>
        </p:txBody>
      </p:sp>
      <p:sp>
        <p:nvSpPr>
          <p:cNvPr id="6" name="Rectangle 5"/>
          <p:cNvSpPr/>
          <p:nvPr/>
        </p:nvSpPr>
        <p:spPr>
          <a:xfrm>
            <a:off x="1188720" y="4160520"/>
            <a:ext cx="2377440" cy="54864"/>
          </a:xfrm>
          <a:prstGeom prst="rect">
            <a:avLst/>
          </a:prstGeom>
          <a:solidFill>
            <a:srgbClr val="2A9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188720" y="4389120"/>
            <a:ext cx="9875520" cy="731520"/>
          </a:xfrm>
          <a:prstGeom prst="rect">
            <a:avLst/>
          </a:prstGeom>
          <a:noFill/>
        </p:spPr>
        <p:txBody>
          <a:bodyPr wrap="square" lIns="36576" tIns="18288" rIns="36576" bIns="18288" anchor="t">
            <a:spAutoFit/>
          </a:bodyPr>
          <a:lstStyle/>
          <a:p>
            <a:pPr algn="l"/>
            <a:r>
              <a:rPr sz="1800" b="0" i="0">
                <a:solidFill>
                  <a:srgbClr val="B4B8B0"/>
                </a:solidFill>
                <a:latin typeface="Segoe UI"/>
              </a:rPr>
              <a:t>Teste barato, aprenda rápido e só então invista.</a:t>
            </a:r>
          </a:p>
        </p:txBody>
      </p:sp>
      <p:sp>
        <p:nvSpPr>
          <p:cNvPr id="8" name="TextBox 7"/>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400" fill="hold"/>
                                        <p:tgtEl>
                                          <p:spTgt spid="2"/>
                                        </p:tgtEl>
                                      </p:cBhvr>
                                    </p:animEffect>
                                  </p:childTnLst>
                                </p:cTn>
                              </p:par>
                              <p:par>
                                <p:cTn id="8" presetID="22" presetClass="entr" presetSubtype="4" fill="hold" grpId="0" nodeType="withEffect">
                                  <p:stCondLst>
                                    <p:cond delay="300"/>
                                  </p:stCondLst>
                                  <p:childTnLst>
                                    <p:set>
                                      <p:cBhvr>
                                        <p:cTn id="9" dur="1" fill="hold">
                                          <p:stCondLst>
                                            <p:cond delay="0"/>
                                          </p:stCondLst>
                                        </p:cTn>
                                        <p:tgtEl>
                                          <p:spTgt spid="3"/>
                                        </p:tgtEl>
                                        <p:attrNameLst>
                                          <p:attrName>style.visibility</p:attrName>
                                        </p:attrNameLst>
                                      </p:cBhvr>
                                      <p:to>
                                        <p:strVal val="visible"/>
                                      </p:to>
                                    </p:set>
                                    <p:animEffect transition="in" filter="wipe(down)">
                                      <p:cBhvr>
                                        <p:cTn id="10" dur="700" fill="hold"/>
                                        <p:tgtEl>
                                          <p:spTgt spid="3"/>
                                        </p:tgtEl>
                                      </p:cBhvr>
                                    </p:animEffect>
                                  </p:childTnLst>
                                </p:cTn>
                              </p:par>
                              <p:par>
                                <p:cTn id="11" presetID="10" presetClass="entr" presetSubtype="0" fill="hold" grpId="0" nodeType="withEffect">
                                  <p:stCondLst>
                                    <p:cond delay="65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fill="hold"/>
                                        <p:tgtEl>
                                          <p:spTgt spid="4"/>
                                        </p:tgtEl>
                                      </p:cBhvr>
                                    </p:animEffect>
                                  </p:childTnLst>
                                </p:cTn>
                              </p:par>
                              <p:par>
                                <p:cTn id="14" presetID="10" presetClass="entr" presetSubtype="0" fill="hold" grpId="0" nodeType="withEffect">
                                  <p:stCondLst>
                                    <p:cond delay="950"/>
                                  </p:stCondLst>
                                  <p:iterate type="wd">
                                    <p:tmPct val="45000"/>
                                  </p:iterate>
                                  <p:childTnLst>
                                    <p:set>
                                      <p:cBhvr>
                                        <p:cTn id="15" dur="1" fill="hold">
                                          <p:stCondLst>
                                            <p:cond delay="0"/>
                                          </p:stCondLst>
                                        </p:cTn>
                                        <p:tgtEl>
                                          <p:spTgt spid="5"/>
                                        </p:tgtEl>
                                        <p:attrNameLst>
                                          <p:attrName>style.visibility</p:attrName>
                                        </p:attrNameLst>
                                      </p:cBhvr>
                                      <p:to>
                                        <p:strVal val="visible"/>
                                      </p:to>
                                    </p:set>
                                    <p:animEffect transition="in" filter="fade">
                                      <p:cBhvr>
                                        <p:cTn id="16" dur="500" fill="hold"/>
                                        <p:tgtEl>
                                          <p:spTgt spid="5"/>
                                        </p:tgtEl>
                                      </p:cBhvr>
                                    </p:animEffect>
                                  </p:childTnLst>
                                </p:cTn>
                              </p:par>
                              <p:par>
                                <p:cTn id="17" presetID="22" presetClass="entr" presetSubtype="8" fill="hold" grpId="0" nodeType="withEffect">
                                  <p:stCondLst>
                                    <p:cond delay="3875"/>
                                  </p:stCondLst>
                                  <p:childTnLst>
                                    <p:set>
                                      <p:cBhvr>
                                        <p:cTn id="18" dur="1" fill="hold">
                                          <p:stCondLst>
                                            <p:cond delay="0"/>
                                          </p:stCondLst>
                                        </p:cTn>
                                        <p:tgtEl>
                                          <p:spTgt spid="6"/>
                                        </p:tgtEl>
                                        <p:attrNameLst>
                                          <p:attrName>style.visibility</p:attrName>
                                        </p:attrNameLst>
                                      </p:cBhvr>
                                      <p:to>
                                        <p:strVal val="visible"/>
                                      </p:to>
                                    </p:set>
                                    <p:animEffect transition="in" filter="wipe(left)">
                                      <p:cBhvr>
                                        <p:cTn id="19" dur="800" fill="hold"/>
                                        <p:tgtEl>
                                          <p:spTgt spid="6"/>
                                        </p:tgtEl>
                                      </p:cBhvr>
                                    </p:animEffect>
                                  </p:childTnLst>
                                </p:cTn>
                              </p:par>
                              <p:par>
                                <p:cTn id="20" presetID="42" presetClass="entr" presetSubtype="0" decel="100000" fill="hold" grpId="0" nodeType="withEffect">
                                  <p:stCondLst>
                                    <p:cond delay="4175"/>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650" fill="hold"/>
                                        <p:tgtEl>
                                          <p:spTgt spid="7"/>
                                        </p:tgtEl>
                                      </p:cBhvr>
                                    </p:animEffect>
                                    <p:anim calcmode="lin" valueType="num">
                                      <p:cBhvr additive="base">
                                        <p:cTn id="23" dur="650" fill="hold"/>
                                        <p:tgtEl>
                                          <p:spTgt spid="7"/>
                                        </p:tgtEl>
                                        <p:attrNameLst>
                                          <p:attrName>ppt_x</p:attrName>
                                        </p:attrNameLst>
                                      </p:cBhvr>
                                      <p:tavLst>
                                        <p:tav tm="0">
                                          <p:val>
                                            <p:strVal val="#ppt_x"/>
                                          </p:val>
                                        </p:tav>
                                        <p:tav tm="100000">
                                          <p:val>
                                            <p:strVal val="#ppt_x"/>
                                          </p:val>
                                        </p:tav>
                                      </p:tavLst>
                                    </p:anim>
                                    <p:anim calcmode="lin" valueType="num">
                                      <p:cBhvr additive="base">
                                        <p:cTn id="24" dur="650" fill="hold"/>
                                        <p:tgtEl>
                                          <p:spTgt spid="7"/>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411480" y="868680"/>
            <a:ext cx="4572000" cy="1828800"/>
          </a:xfrm>
          <a:prstGeom prst="rect">
            <a:avLst/>
          </a:prstGeom>
          <a:noFill/>
        </p:spPr>
        <p:txBody>
          <a:bodyPr wrap="square" lIns="36576" tIns="18288" rIns="36576" bIns="18288" anchor="t">
            <a:spAutoFit/>
          </a:bodyPr>
          <a:lstStyle/>
          <a:p>
            <a:pPr algn="l"/>
            <a:r>
              <a:rPr sz="12000" b="1" i="0">
                <a:solidFill>
                  <a:srgbClr val="1F7FA8"/>
                </a:solidFill>
                <a:latin typeface="Segoe UI Semibold"/>
              </a:rPr>
              <a:t>06</a:t>
            </a:r>
          </a:p>
        </p:txBody>
      </p:sp>
      <p:sp>
        <p:nvSpPr>
          <p:cNvPr id="3" name="TextBox 2"/>
          <p:cNvSpPr txBox="1"/>
          <p:nvPr/>
        </p:nvSpPr>
        <p:spPr>
          <a:xfrm>
            <a:off x="548640" y="502920"/>
            <a:ext cx="4572000" cy="365760"/>
          </a:xfrm>
          <a:prstGeom prst="rect">
            <a:avLst/>
          </a:prstGeom>
          <a:noFill/>
        </p:spPr>
        <p:txBody>
          <a:bodyPr wrap="square" lIns="36576" tIns="18288" rIns="36576" bIns="18288" anchor="t">
            <a:spAutoFit/>
          </a:bodyPr>
          <a:lstStyle/>
          <a:p>
            <a:pPr algn="l"/>
            <a:r>
              <a:rPr sz="1200" b="1" i="0" spc="250">
                <a:solidFill>
                  <a:srgbClr val="1F7FA8"/>
                </a:solidFill>
                <a:latin typeface="Segoe UI Semibold"/>
              </a:rPr>
              <a:t>ENCONTRO 3  ·  MÓDULO 6</a:t>
            </a:r>
          </a:p>
        </p:txBody>
      </p:sp>
      <p:sp>
        <p:nvSpPr>
          <p:cNvPr id="4" name="TextBox 3"/>
          <p:cNvSpPr txBox="1"/>
          <p:nvPr/>
        </p:nvSpPr>
        <p:spPr>
          <a:xfrm>
            <a:off x="548640" y="2331720"/>
            <a:ext cx="6766560" cy="1280160"/>
          </a:xfrm>
          <a:prstGeom prst="rect">
            <a:avLst/>
          </a:prstGeom>
          <a:noFill/>
        </p:spPr>
        <p:txBody>
          <a:bodyPr wrap="square" lIns="36576" tIns="18288" rIns="36576" bIns="18288" anchor="b">
            <a:spAutoFit/>
          </a:bodyPr>
          <a:lstStyle/>
          <a:p>
            <a:pPr algn="l">
              <a:lnSpc>
                <a:spcPct val="95000"/>
              </a:lnSpc>
            </a:pPr>
            <a:r>
              <a:rPr sz="3800" b="1" i="0">
                <a:solidFill>
                  <a:srgbClr val="F2F2EC"/>
                </a:solidFill>
                <a:latin typeface="Segoe UI Semibold"/>
              </a:rPr>
              <a:t>Estudo de caso</a:t>
            </a:r>
          </a:p>
        </p:txBody>
      </p:sp>
      <p:sp>
        <p:nvSpPr>
          <p:cNvPr id="5" name="TextBox 4"/>
          <p:cNvSpPr txBox="1"/>
          <p:nvPr/>
        </p:nvSpPr>
        <p:spPr>
          <a:xfrm>
            <a:off x="548640" y="3675887"/>
            <a:ext cx="6766560" cy="457200"/>
          </a:xfrm>
          <a:prstGeom prst="rect">
            <a:avLst/>
          </a:prstGeom>
          <a:noFill/>
        </p:spPr>
        <p:txBody>
          <a:bodyPr wrap="square" lIns="36576" tIns="18288" rIns="36576" bIns="18288" anchor="t">
            <a:spAutoFit/>
          </a:bodyPr>
          <a:lstStyle/>
          <a:p>
            <a:pPr algn="l"/>
            <a:r>
              <a:rPr sz="1800" b="0" i="0">
                <a:solidFill>
                  <a:srgbClr val="B4B8B0"/>
                </a:solidFill>
                <a:latin typeface="Segoe UI"/>
              </a:rPr>
              <a:t>O processo completo</a:t>
            </a:r>
          </a:p>
        </p:txBody>
      </p:sp>
      <p:sp>
        <p:nvSpPr>
          <p:cNvPr id="6" name="Rounded Rectangle 5"/>
          <p:cNvSpPr/>
          <p:nvPr/>
        </p:nvSpPr>
        <p:spPr>
          <a:xfrm>
            <a:off x="7589520" y="2103120"/>
            <a:ext cx="4069080" cy="342900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863840" y="2286000"/>
            <a:ext cx="3657600" cy="365760"/>
          </a:xfrm>
          <a:prstGeom prst="rect">
            <a:avLst/>
          </a:prstGeom>
          <a:noFill/>
        </p:spPr>
        <p:txBody>
          <a:bodyPr wrap="square" lIns="36576" tIns="18288" rIns="36576" bIns="18288" anchor="t">
            <a:spAutoFit/>
          </a:bodyPr>
          <a:lstStyle/>
          <a:p>
            <a:pPr algn="l"/>
            <a:r>
              <a:rPr sz="1100" b="1" i="0" spc="200">
                <a:solidFill>
                  <a:srgbClr val="1F7FA8"/>
                </a:solidFill>
                <a:latin typeface="Segoe UI Semibold"/>
              </a:rPr>
              <a:t>OBJETIVOS</a:t>
            </a:r>
          </a:p>
        </p:txBody>
      </p:sp>
      <p:sp>
        <p:nvSpPr>
          <p:cNvPr id="8" name="TextBox 7"/>
          <p:cNvSpPr txBox="1"/>
          <p:nvPr/>
        </p:nvSpPr>
        <p:spPr>
          <a:xfrm>
            <a:off x="7863840" y="2651760"/>
            <a:ext cx="3611880" cy="2834640"/>
          </a:xfrm>
          <a:prstGeom prst="rect">
            <a:avLst/>
          </a:prstGeom>
          <a:noFill/>
        </p:spPr>
        <p:txBody>
          <a:bodyPr wrap="square">
            <a:spAutoFit/>
          </a:bodyPr>
          <a:lstStyle/>
          <a:p>
            <a:pPr marL="292608" indent="-292608">
              <a:spcAft>
                <a:spcPts val="800"/>
              </a:spcAft>
              <a:buClr>
                <a:srgbClr val="1F7FA8"/>
              </a:buClr>
              <a:buFont typeface="Arial"/>
              <a:buChar char="●"/>
            </a:pPr>
            <a:r>
              <a:rPr sz="1350">
                <a:solidFill>
                  <a:srgbClr val="F2F2EC"/>
                </a:solidFill>
                <a:latin typeface="Segoe UI"/>
              </a:rPr>
              <a:t>Ver as 5 etapas aplicadas a um negócio local</a:t>
            </a:r>
          </a:p>
          <a:p>
            <a:pPr marL="292608" indent="-292608">
              <a:spcAft>
                <a:spcPts val="800"/>
              </a:spcAft>
              <a:buClr>
                <a:srgbClr val="1F7FA8"/>
              </a:buClr>
              <a:buFont typeface="Arial"/>
              <a:buChar char="●"/>
            </a:pPr>
            <a:r>
              <a:rPr sz="1350">
                <a:solidFill>
                  <a:srgbClr val="F2F2EC"/>
                </a:solidFill>
                <a:latin typeface="Segoe UI"/>
              </a:rPr>
              <a:t>Conectar ferramentas: CSD, persona, 'Como poderíamos…?', matriz, protótipo</a:t>
            </a:r>
          </a:p>
          <a:p>
            <a:pPr marL="292608" indent="-292608">
              <a:spcAft>
                <a:spcPts val="800"/>
              </a:spcAft>
              <a:buClr>
                <a:srgbClr val="1F7FA8"/>
              </a:buClr>
              <a:buFont typeface="Arial"/>
              <a:buChar char="●"/>
            </a:pPr>
            <a:r>
              <a:rPr sz="1350">
                <a:solidFill>
                  <a:srgbClr val="F2F2EC"/>
                </a:solidFill>
                <a:latin typeface="Segoe UI"/>
              </a:rPr>
              <a:t>Entender como medir o resultado</a:t>
            </a:r>
          </a:p>
          <a:p>
            <a:pPr marL="292608" indent="-292608">
              <a:buClr>
                <a:srgbClr val="1F7FA8"/>
              </a:buClr>
              <a:buFont typeface="Arial"/>
              <a:buChar char="●"/>
            </a:pPr>
            <a:r>
              <a:rPr sz="1350">
                <a:solidFill>
                  <a:srgbClr val="F2F2EC"/>
                </a:solidFill>
                <a:latin typeface="Segoe UI"/>
              </a:rPr>
              <a:t>Preparar-se para o Desafio Final</a:t>
            </a:r>
          </a:p>
        </p:txBody>
      </p:sp>
      <p:sp>
        <p:nvSpPr>
          <p:cNvPr id="9" name="Rounded Rectangle 8">
            <a:hlinkClick r:id="rId3" action="ppaction://hlinksldjump"/>
          </p:cNvPr>
          <p:cNvSpPr/>
          <p:nvPr/>
        </p:nvSpPr>
        <p:spPr>
          <a:xfrm>
            <a:off x="548640" y="4297680"/>
            <a:ext cx="3017520" cy="502920"/>
          </a:xfrm>
          <a:prstGeom prst="roundRect">
            <a:avLst>
              <a:gd name="adj" fmla="val 50000"/>
            </a:avLst>
          </a:prstGeom>
          <a:solidFill>
            <a:srgbClr val="1F7FA8"/>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400" b="1" i="0">
                <a:solidFill>
                  <a:srgbClr val="1A1A1A"/>
                </a:solidFill>
                <a:latin typeface="Segoe UI Semibold"/>
              </a:rPr>
              <a:t>▶  Assistir vídeo do módulo</a:t>
            </a:r>
          </a:p>
        </p:txBody>
      </p:sp>
      <p:cxnSp>
        <p:nvCxnSpPr>
          <p:cNvPr id="10" name="Connector 9"/>
          <p:cNvCxnSpPr/>
          <p:nvPr/>
        </p:nvCxnSpPr>
        <p:spPr>
          <a:xfrm>
            <a:off x="9418320" y="640080"/>
            <a:ext cx="1609344" cy="0"/>
          </a:xfrm>
          <a:prstGeom prst="line">
            <a:avLst/>
          </a:prstGeom>
          <a:ln w="30734">
            <a:solidFill>
              <a:srgbClr val="1F7FA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418320" y="1092708"/>
            <a:ext cx="1106424" cy="0"/>
          </a:xfrm>
          <a:prstGeom prst="line">
            <a:avLst/>
          </a:prstGeom>
          <a:ln w="30734">
            <a:solidFill>
              <a:srgbClr val="1F7FA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0524744" y="1092708"/>
            <a:ext cx="352044" cy="352044"/>
          </a:xfrm>
          <a:prstGeom prst="line">
            <a:avLst/>
          </a:prstGeom>
          <a:ln w="30734">
            <a:solidFill>
              <a:srgbClr val="1F7FA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876788" y="1444752"/>
            <a:ext cx="854964" cy="0"/>
          </a:xfrm>
          <a:prstGeom prst="line">
            <a:avLst/>
          </a:prstGeom>
          <a:ln w="30734">
            <a:solidFill>
              <a:srgbClr val="1F7FA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8320" y="1545336"/>
            <a:ext cx="603504" cy="0"/>
          </a:xfrm>
          <a:prstGeom prst="line">
            <a:avLst/>
          </a:prstGeom>
          <a:ln w="30734">
            <a:solidFill>
              <a:srgbClr val="1F7FA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021824" y="1545336"/>
            <a:ext cx="301752" cy="352044"/>
          </a:xfrm>
          <a:prstGeom prst="line">
            <a:avLst/>
          </a:prstGeom>
          <a:ln w="30734">
            <a:solidFill>
              <a:srgbClr val="1F7FA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323576" y="1897380"/>
            <a:ext cx="1005840" cy="0"/>
          </a:xfrm>
          <a:prstGeom prst="line">
            <a:avLst/>
          </a:prstGeom>
          <a:ln w="30734">
            <a:solidFill>
              <a:srgbClr val="1F7FA8"/>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11027664" y="529437"/>
            <a:ext cx="221284" cy="221284"/>
          </a:xfrm>
          <a:prstGeom prst="ellipse">
            <a:avLst/>
          </a:prstGeom>
          <a:solidFill>
            <a:srgbClr val="1A1A1A"/>
          </a:solidFill>
          <a:ln w="30734">
            <a:solidFill>
              <a:srgbClr val="1F7FA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11731752" y="1334109"/>
            <a:ext cx="221284" cy="221284"/>
          </a:xfrm>
          <a:prstGeom prst="ellipse">
            <a:avLst/>
          </a:prstGeom>
          <a:solidFill>
            <a:srgbClr val="1A1A1A"/>
          </a:solidFill>
          <a:ln w="30734">
            <a:solidFill>
              <a:srgbClr val="1F7FA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11329416" y="1786737"/>
            <a:ext cx="221284" cy="221284"/>
          </a:xfrm>
          <a:prstGeom prst="ellipse">
            <a:avLst/>
          </a:prstGeom>
          <a:solidFill>
            <a:srgbClr val="1A1A1A"/>
          </a:solidFill>
          <a:ln w="30734">
            <a:solidFill>
              <a:srgbClr val="1F7FA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700" fill="hold"/>
                                        <p:tgtEl>
                                          <p:spTgt spid="2"/>
                                        </p:tgtEl>
                                        <p:attrNameLst>
                                          <p:attrName>ppt_w</p:attrName>
                                        </p:attrNameLst>
                                      </p:cBhvr>
                                      <p:tavLst>
                                        <p:tav tm="0">
                                          <p:val>
                                            <p:strVal val="0"/>
                                          </p:val>
                                        </p:tav>
                                        <p:tav tm="70000">
                                          <p:val>
                                            <p:strVal val="#ppt_w*1.08"/>
                                          </p:val>
                                        </p:tav>
                                        <p:tav tm="100000">
                                          <p:val>
                                            <p:strVal val="#ppt_w"/>
                                          </p:val>
                                        </p:tav>
                                      </p:tavLst>
                                    </p:anim>
                                    <p:anim calcmode="lin" valueType="num">
                                      <p:cBhvr additive="base">
                                        <p:cTn id="8" dur="700" fill="hold"/>
                                        <p:tgtEl>
                                          <p:spTgt spid="2"/>
                                        </p:tgtEl>
                                        <p:attrNameLst>
                                          <p:attrName>ppt_h</p:attrName>
                                        </p:attrNameLst>
                                      </p:cBhvr>
                                      <p:tavLst>
                                        <p:tav tm="0">
                                          <p:val>
                                            <p:strVal val="0"/>
                                          </p:val>
                                        </p:tav>
                                        <p:tav tm="70000">
                                          <p:val>
                                            <p:strVal val="#ppt_h*1.08"/>
                                          </p:val>
                                        </p:tav>
                                        <p:tav tm="100000">
                                          <p:val>
                                            <p:strVal val="#ppt_h"/>
                                          </p:val>
                                        </p:tav>
                                      </p:tavLst>
                                    </p:anim>
                                    <p:animEffect transition="in" filter="fade">
                                      <p:cBhvr>
                                        <p:cTn id="9" dur="420" fill="hold"/>
                                        <p:tgtEl>
                                          <p:spTgt spid="2"/>
                                        </p:tgtEl>
                                      </p:cBhvr>
                                    </p:animEffect>
                                  </p:childTnLst>
                                </p:cTn>
                              </p:par>
                              <p:par>
                                <p:cTn id="10" presetID="10" presetClass="entr" presetSubtype="0" fill="hold" grpId="0" nodeType="withEffect">
                                  <p:stCondLst>
                                    <p:cond delay="30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fill="hold"/>
                                        <p:tgtEl>
                                          <p:spTgt spid="3"/>
                                        </p:tgtEl>
                                      </p:cBhvr>
                                    </p:animEffect>
                                  </p:childTnLst>
                                </p:cTn>
                              </p:par>
                              <p:par>
                                <p:cTn id="13" presetID="42" presetClass="entr" presetSubtype="0" decel="100000" fill="hold" grpId="0" nodeType="withEffect">
                                  <p:stCondLst>
                                    <p:cond delay="45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650" fill="hold"/>
                                        <p:tgtEl>
                                          <p:spTgt spid="4"/>
                                        </p:tgtEl>
                                      </p:cBhvr>
                                    </p:animEffect>
                                    <p:anim calcmode="lin" valueType="num">
                                      <p:cBhvr additive="base">
                                        <p:cTn id="16" dur="650" fill="hold"/>
                                        <p:tgtEl>
                                          <p:spTgt spid="4"/>
                                        </p:tgtEl>
                                        <p:attrNameLst>
                                          <p:attrName>ppt_x</p:attrName>
                                        </p:attrNameLst>
                                      </p:cBhvr>
                                      <p:tavLst>
                                        <p:tav tm="0">
                                          <p:val>
                                            <p:strVal val="#ppt_x"/>
                                          </p:val>
                                        </p:tav>
                                        <p:tav tm="100000">
                                          <p:val>
                                            <p:strVal val="#ppt_x"/>
                                          </p:val>
                                        </p:tav>
                                      </p:tavLst>
                                    </p:anim>
                                    <p:anim calcmode="lin" valueType="num">
                                      <p:cBhvr additive="base">
                                        <p:cTn id="17" dur="650" fill="hold"/>
                                        <p:tgtEl>
                                          <p:spTgt spid="4"/>
                                        </p:tgtEl>
                                        <p:attrNameLst>
                                          <p:attrName>ppt_y</p:attrName>
                                        </p:attrNameLst>
                                      </p:cBhvr>
                                      <p:tavLst>
                                        <p:tav tm="0">
                                          <p:val>
                                            <p:strVal val="#ppt_y+.06"/>
                                          </p:val>
                                        </p:tav>
                                        <p:tav tm="100000">
                                          <p:val>
                                            <p:strVal val="#ppt_y"/>
                                          </p:val>
                                        </p:tav>
                                      </p:tavLst>
                                    </p:anim>
                                  </p:childTnLst>
                                </p:cTn>
                              </p:par>
                              <p:par>
                                <p:cTn id="18" presetID="42" presetClass="entr" presetSubtype="0" decel="100000" fill="hold" grpId="0" nodeType="withEffect">
                                  <p:stCondLst>
                                    <p:cond delay="65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650" fill="hold"/>
                                        <p:tgtEl>
                                          <p:spTgt spid="5"/>
                                        </p:tgtEl>
                                      </p:cBhvr>
                                    </p:animEffect>
                                    <p:anim calcmode="lin" valueType="num">
                                      <p:cBhvr additive="base">
                                        <p:cTn id="21" dur="650" fill="hold"/>
                                        <p:tgtEl>
                                          <p:spTgt spid="5"/>
                                        </p:tgtEl>
                                        <p:attrNameLst>
                                          <p:attrName>ppt_x</p:attrName>
                                        </p:attrNameLst>
                                      </p:cBhvr>
                                      <p:tavLst>
                                        <p:tav tm="0">
                                          <p:val>
                                            <p:strVal val="#ppt_x"/>
                                          </p:val>
                                        </p:tav>
                                        <p:tav tm="100000">
                                          <p:val>
                                            <p:strVal val="#ppt_x"/>
                                          </p:val>
                                        </p:tav>
                                      </p:tavLst>
                                    </p:anim>
                                    <p:anim calcmode="lin" valueType="num">
                                      <p:cBhvr additive="base">
                                        <p:cTn id="22" dur="650" fill="hold"/>
                                        <p:tgtEl>
                                          <p:spTgt spid="5"/>
                                        </p:tgtEl>
                                        <p:attrNameLst>
                                          <p:attrName>ppt_y</p:attrName>
                                        </p:attrNameLst>
                                      </p:cBhvr>
                                      <p:tavLst>
                                        <p:tav tm="0">
                                          <p:val>
                                            <p:strVal val="#ppt_y+.06"/>
                                          </p:val>
                                        </p:tav>
                                        <p:tav tm="100000">
                                          <p:val>
                                            <p:strVal val="#ppt_y"/>
                                          </p:val>
                                        </p:tav>
                                      </p:tavLst>
                                    </p:anim>
                                  </p:childTnLst>
                                </p:cTn>
                              </p:par>
                              <p:par>
                                <p:cTn id="23" presetID="42" presetClass="entr" presetSubtype="0" decel="100000" fill="hold" grpId="0" nodeType="withEffect">
                                  <p:stCondLst>
                                    <p:cond delay="95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650" fill="hold"/>
                                        <p:tgtEl>
                                          <p:spTgt spid="6"/>
                                        </p:tgtEl>
                                      </p:cBhvr>
                                    </p:animEffect>
                                    <p:anim calcmode="lin" valueType="num">
                                      <p:cBhvr additive="base">
                                        <p:cTn id="26" dur="650" fill="hold"/>
                                        <p:tgtEl>
                                          <p:spTgt spid="6"/>
                                        </p:tgtEl>
                                        <p:attrNameLst>
                                          <p:attrName>ppt_x</p:attrName>
                                        </p:attrNameLst>
                                      </p:cBhvr>
                                      <p:tavLst>
                                        <p:tav tm="0">
                                          <p:val>
                                            <p:strVal val="#ppt_x"/>
                                          </p:val>
                                        </p:tav>
                                        <p:tav tm="100000">
                                          <p:val>
                                            <p:strVal val="#ppt_x"/>
                                          </p:val>
                                        </p:tav>
                                      </p:tavLst>
                                    </p:anim>
                                    <p:anim calcmode="lin" valueType="num">
                                      <p:cBhvr additive="base">
                                        <p:cTn id="27" dur="650" fill="hold"/>
                                        <p:tgtEl>
                                          <p:spTgt spid="6"/>
                                        </p:tgtEl>
                                        <p:attrNameLst>
                                          <p:attrName>ppt_y</p:attrName>
                                        </p:attrNameLst>
                                      </p:cBhvr>
                                      <p:tavLst>
                                        <p:tav tm="0">
                                          <p:val>
                                            <p:strVal val="#ppt_y+.06"/>
                                          </p:val>
                                        </p:tav>
                                        <p:tav tm="100000">
                                          <p:val>
                                            <p:strVal val="#ppt_y"/>
                                          </p:val>
                                        </p:tav>
                                      </p:tavLst>
                                    </p:anim>
                                  </p:childTnLst>
                                </p:cTn>
                              </p:par>
                              <p:par>
                                <p:cTn id="28" presetID="42" presetClass="entr" presetSubtype="0" decel="100000" fill="hold" grpId="0" nodeType="withEffect">
                                  <p:stCondLst>
                                    <p:cond delay="95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650" fill="hold"/>
                                        <p:tgtEl>
                                          <p:spTgt spid="7"/>
                                        </p:tgtEl>
                                      </p:cBhvr>
                                    </p:animEffect>
                                    <p:anim calcmode="lin" valueType="num">
                                      <p:cBhvr additive="base">
                                        <p:cTn id="31" dur="650" fill="hold"/>
                                        <p:tgtEl>
                                          <p:spTgt spid="7"/>
                                        </p:tgtEl>
                                        <p:attrNameLst>
                                          <p:attrName>ppt_x</p:attrName>
                                        </p:attrNameLst>
                                      </p:cBhvr>
                                      <p:tavLst>
                                        <p:tav tm="0">
                                          <p:val>
                                            <p:strVal val="#ppt_x"/>
                                          </p:val>
                                        </p:tav>
                                        <p:tav tm="100000">
                                          <p:val>
                                            <p:strVal val="#ppt_x"/>
                                          </p:val>
                                        </p:tav>
                                      </p:tavLst>
                                    </p:anim>
                                    <p:anim calcmode="lin" valueType="num">
                                      <p:cBhvr additive="base">
                                        <p:cTn id="32" dur="650" fill="hold"/>
                                        <p:tgtEl>
                                          <p:spTgt spid="7"/>
                                        </p:tgtEl>
                                        <p:attrNameLst>
                                          <p:attrName>ppt_y</p:attrName>
                                        </p:attrNameLst>
                                      </p:cBhvr>
                                      <p:tavLst>
                                        <p:tav tm="0">
                                          <p:val>
                                            <p:strVal val="#ppt_y+.06"/>
                                          </p:val>
                                        </p:tav>
                                        <p:tav tm="100000">
                                          <p:val>
                                            <p:strVal val="#ppt_y"/>
                                          </p:val>
                                        </p:tav>
                                      </p:tavLst>
                                    </p:anim>
                                  </p:childTnLst>
                                </p:cTn>
                              </p:par>
                              <p:par>
                                <p:cTn id="33" presetID="10" presetClass="entr" presetSubtype="0" fill="hold" grpId="0" nodeType="withEffect">
                                  <p:stCondLst>
                                    <p:cond delay="125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500" fill="hold"/>
                                        <p:tgtEl>
                                          <p:spTgt spid="8"/>
                                        </p:tgtEl>
                                      </p:cBhvr>
                                    </p:animEffect>
                                  </p:childTnLst>
                                </p:cTn>
                              </p:par>
                              <p:par>
                                <p:cTn id="36" presetID="53" presetClass="entr" presetSubtype="16" decel="100000" fill="hold" grpId="0" nodeType="withEffect">
                                  <p:stCondLst>
                                    <p:cond delay="1500"/>
                                  </p:stCondLst>
                                  <p:childTnLst>
                                    <p:set>
                                      <p:cBhvr>
                                        <p:cTn id="37" dur="1" fill="hold">
                                          <p:stCondLst>
                                            <p:cond delay="0"/>
                                          </p:stCondLst>
                                        </p:cTn>
                                        <p:tgtEl>
                                          <p:spTgt spid="9"/>
                                        </p:tgtEl>
                                        <p:attrNameLst>
                                          <p:attrName>style.visibility</p:attrName>
                                        </p:attrNameLst>
                                      </p:cBhvr>
                                      <p:to>
                                        <p:strVal val="visible"/>
                                      </p:to>
                                    </p:set>
                                    <p:anim calcmode="lin" valueType="num">
                                      <p:cBhvr additive="base">
                                        <p:cTn id="38" dur="450" fill="hold"/>
                                        <p:tgtEl>
                                          <p:spTgt spid="9"/>
                                        </p:tgtEl>
                                        <p:attrNameLst>
                                          <p:attrName>ppt_w</p:attrName>
                                        </p:attrNameLst>
                                      </p:cBhvr>
                                      <p:tavLst>
                                        <p:tav tm="0">
                                          <p:val>
                                            <p:strVal val="0"/>
                                          </p:val>
                                        </p:tav>
                                        <p:tav tm="70000">
                                          <p:val>
                                            <p:strVal val="#ppt_w*1.08"/>
                                          </p:val>
                                        </p:tav>
                                        <p:tav tm="100000">
                                          <p:val>
                                            <p:strVal val="#ppt_w"/>
                                          </p:val>
                                        </p:tav>
                                      </p:tavLst>
                                    </p:anim>
                                    <p:anim calcmode="lin" valueType="num">
                                      <p:cBhvr additive="base">
                                        <p:cTn id="39" dur="450" fill="hold"/>
                                        <p:tgtEl>
                                          <p:spTgt spid="9"/>
                                        </p:tgtEl>
                                        <p:attrNameLst>
                                          <p:attrName>ppt_h</p:attrName>
                                        </p:attrNameLst>
                                      </p:cBhvr>
                                      <p:tavLst>
                                        <p:tav tm="0">
                                          <p:val>
                                            <p:strVal val="0"/>
                                          </p:val>
                                        </p:tav>
                                        <p:tav tm="70000">
                                          <p:val>
                                            <p:strVal val="#ppt_h*1.08"/>
                                          </p:val>
                                        </p:tav>
                                        <p:tav tm="100000">
                                          <p:val>
                                            <p:strVal val="#ppt_h"/>
                                          </p:val>
                                        </p:tav>
                                      </p:tavLst>
                                    </p:anim>
                                    <p:animEffect transition="in" filter="fade">
                                      <p:cBhvr>
                                        <p:cTn id="40" dur="270" fill="hold"/>
                                        <p:tgtEl>
                                          <p:spTgt spid="9"/>
                                        </p:tgtEl>
                                      </p:cBhvr>
                                    </p:animEffect>
                                  </p:childTnLst>
                                </p:cTn>
                              </p:par>
                              <p:par>
                                <p:cTn id="41" presetID="22" presetClass="entr" presetSubtype="8" fill="hold" nodeType="withEffect">
                                  <p:stCondLst>
                                    <p:cond delay="1650"/>
                                  </p:stCondLst>
                                  <p:childTnLst>
                                    <p:set>
                                      <p:cBhvr>
                                        <p:cTn id="42" dur="1" fill="hold">
                                          <p:stCondLst>
                                            <p:cond delay="0"/>
                                          </p:stCondLst>
                                        </p:cTn>
                                        <p:tgtEl>
                                          <p:spTgt spid="10"/>
                                        </p:tgtEl>
                                        <p:attrNameLst>
                                          <p:attrName>style.visibility</p:attrName>
                                        </p:attrNameLst>
                                      </p:cBhvr>
                                      <p:to>
                                        <p:strVal val="visible"/>
                                      </p:to>
                                    </p:set>
                                    <p:animEffect transition="in" filter="wipe(left)">
                                      <p:cBhvr>
                                        <p:cTn id="43" dur="900" fill="hold"/>
                                        <p:tgtEl>
                                          <p:spTgt spid="10"/>
                                        </p:tgtEl>
                                      </p:cBhvr>
                                    </p:animEffect>
                                  </p:childTnLst>
                                </p:cTn>
                              </p:par>
                              <p:par>
                                <p:cTn id="44" presetID="22" presetClass="entr" presetSubtype="8" fill="hold" nodeType="withEffect">
                                  <p:stCondLst>
                                    <p:cond delay="1650"/>
                                  </p:stCondLst>
                                  <p:childTnLst>
                                    <p:set>
                                      <p:cBhvr>
                                        <p:cTn id="45" dur="1" fill="hold">
                                          <p:stCondLst>
                                            <p:cond delay="0"/>
                                          </p:stCondLst>
                                        </p:cTn>
                                        <p:tgtEl>
                                          <p:spTgt spid="11"/>
                                        </p:tgtEl>
                                        <p:attrNameLst>
                                          <p:attrName>style.visibility</p:attrName>
                                        </p:attrNameLst>
                                      </p:cBhvr>
                                      <p:to>
                                        <p:strVal val="visible"/>
                                      </p:to>
                                    </p:set>
                                    <p:animEffect transition="in" filter="wipe(left)">
                                      <p:cBhvr>
                                        <p:cTn id="46" dur="900" fill="hold"/>
                                        <p:tgtEl>
                                          <p:spTgt spid="11"/>
                                        </p:tgtEl>
                                      </p:cBhvr>
                                    </p:animEffect>
                                  </p:childTnLst>
                                </p:cTn>
                              </p:par>
                              <p:par>
                                <p:cTn id="47" presetID="22" presetClass="entr" presetSubtype="8" fill="hold" nodeType="withEffect">
                                  <p:stCondLst>
                                    <p:cond delay="1650"/>
                                  </p:stCondLst>
                                  <p:childTnLst>
                                    <p:set>
                                      <p:cBhvr>
                                        <p:cTn id="48" dur="1" fill="hold">
                                          <p:stCondLst>
                                            <p:cond delay="0"/>
                                          </p:stCondLst>
                                        </p:cTn>
                                        <p:tgtEl>
                                          <p:spTgt spid="12"/>
                                        </p:tgtEl>
                                        <p:attrNameLst>
                                          <p:attrName>style.visibility</p:attrName>
                                        </p:attrNameLst>
                                      </p:cBhvr>
                                      <p:to>
                                        <p:strVal val="visible"/>
                                      </p:to>
                                    </p:set>
                                    <p:animEffect transition="in" filter="wipe(left)">
                                      <p:cBhvr>
                                        <p:cTn id="49" dur="900" fill="hold"/>
                                        <p:tgtEl>
                                          <p:spTgt spid="12"/>
                                        </p:tgtEl>
                                      </p:cBhvr>
                                    </p:animEffect>
                                  </p:childTnLst>
                                </p:cTn>
                              </p:par>
                              <p:par>
                                <p:cTn id="50" presetID="22" presetClass="entr" presetSubtype="8" fill="hold" nodeType="withEffect">
                                  <p:stCondLst>
                                    <p:cond delay="1650"/>
                                  </p:stCondLst>
                                  <p:childTnLst>
                                    <p:set>
                                      <p:cBhvr>
                                        <p:cTn id="51" dur="1" fill="hold">
                                          <p:stCondLst>
                                            <p:cond delay="0"/>
                                          </p:stCondLst>
                                        </p:cTn>
                                        <p:tgtEl>
                                          <p:spTgt spid="13"/>
                                        </p:tgtEl>
                                        <p:attrNameLst>
                                          <p:attrName>style.visibility</p:attrName>
                                        </p:attrNameLst>
                                      </p:cBhvr>
                                      <p:to>
                                        <p:strVal val="visible"/>
                                      </p:to>
                                    </p:set>
                                    <p:animEffect transition="in" filter="wipe(left)">
                                      <p:cBhvr>
                                        <p:cTn id="52" dur="900" fill="hold"/>
                                        <p:tgtEl>
                                          <p:spTgt spid="13"/>
                                        </p:tgtEl>
                                      </p:cBhvr>
                                    </p:animEffect>
                                  </p:childTnLst>
                                </p:cTn>
                              </p:par>
                              <p:par>
                                <p:cTn id="53" presetID="22" presetClass="entr" presetSubtype="8" fill="hold" nodeType="withEffect">
                                  <p:stCondLst>
                                    <p:cond delay="1650"/>
                                  </p:stCondLst>
                                  <p:childTnLst>
                                    <p:set>
                                      <p:cBhvr>
                                        <p:cTn id="54" dur="1" fill="hold">
                                          <p:stCondLst>
                                            <p:cond delay="0"/>
                                          </p:stCondLst>
                                        </p:cTn>
                                        <p:tgtEl>
                                          <p:spTgt spid="14"/>
                                        </p:tgtEl>
                                        <p:attrNameLst>
                                          <p:attrName>style.visibility</p:attrName>
                                        </p:attrNameLst>
                                      </p:cBhvr>
                                      <p:to>
                                        <p:strVal val="visible"/>
                                      </p:to>
                                    </p:set>
                                    <p:animEffect transition="in" filter="wipe(left)">
                                      <p:cBhvr>
                                        <p:cTn id="55" dur="900" fill="hold"/>
                                        <p:tgtEl>
                                          <p:spTgt spid="14"/>
                                        </p:tgtEl>
                                      </p:cBhvr>
                                    </p:animEffect>
                                  </p:childTnLst>
                                </p:cTn>
                              </p:par>
                              <p:par>
                                <p:cTn id="56" presetID="22" presetClass="entr" presetSubtype="8" fill="hold" nodeType="withEffect">
                                  <p:stCondLst>
                                    <p:cond delay="1650"/>
                                  </p:stCondLst>
                                  <p:childTnLst>
                                    <p:set>
                                      <p:cBhvr>
                                        <p:cTn id="57" dur="1" fill="hold">
                                          <p:stCondLst>
                                            <p:cond delay="0"/>
                                          </p:stCondLst>
                                        </p:cTn>
                                        <p:tgtEl>
                                          <p:spTgt spid="15"/>
                                        </p:tgtEl>
                                        <p:attrNameLst>
                                          <p:attrName>style.visibility</p:attrName>
                                        </p:attrNameLst>
                                      </p:cBhvr>
                                      <p:to>
                                        <p:strVal val="visible"/>
                                      </p:to>
                                    </p:set>
                                    <p:animEffect transition="in" filter="wipe(left)">
                                      <p:cBhvr>
                                        <p:cTn id="58" dur="900" fill="hold"/>
                                        <p:tgtEl>
                                          <p:spTgt spid="15"/>
                                        </p:tgtEl>
                                      </p:cBhvr>
                                    </p:animEffect>
                                  </p:childTnLst>
                                </p:cTn>
                              </p:par>
                              <p:par>
                                <p:cTn id="59" presetID="22" presetClass="entr" presetSubtype="8" fill="hold" nodeType="withEffect">
                                  <p:stCondLst>
                                    <p:cond delay="1650"/>
                                  </p:stCondLst>
                                  <p:childTnLst>
                                    <p:set>
                                      <p:cBhvr>
                                        <p:cTn id="60" dur="1" fill="hold">
                                          <p:stCondLst>
                                            <p:cond delay="0"/>
                                          </p:stCondLst>
                                        </p:cTn>
                                        <p:tgtEl>
                                          <p:spTgt spid="16"/>
                                        </p:tgtEl>
                                        <p:attrNameLst>
                                          <p:attrName>style.visibility</p:attrName>
                                        </p:attrNameLst>
                                      </p:cBhvr>
                                      <p:to>
                                        <p:strVal val="visible"/>
                                      </p:to>
                                    </p:set>
                                    <p:animEffect transition="in" filter="wipe(left)">
                                      <p:cBhvr>
                                        <p:cTn id="61" dur="900" fill="hold"/>
                                        <p:tgtEl>
                                          <p:spTgt spid="16"/>
                                        </p:tgtEl>
                                      </p:cBhvr>
                                    </p:animEffect>
                                  </p:childTnLst>
                                </p:cTn>
                              </p:par>
                              <p:par>
                                <p:cTn id="62" presetID="53" presetClass="entr" presetSubtype="16" decel="100000" fill="hold" grpId="0" nodeType="withEffect">
                                  <p:stCondLst>
                                    <p:cond delay="2400"/>
                                  </p:stCondLst>
                                  <p:childTnLst>
                                    <p:set>
                                      <p:cBhvr>
                                        <p:cTn id="63" dur="1" fill="hold">
                                          <p:stCondLst>
                                            <p:cond delay="0"/>
                                          </p:stCondLst>
                                        </p:cTn>
                                        <p:tgtEl>
                                          <p:spTgt spid="17"/>
                                        </p:tgtEl>
                                        <p:attrNameLst>
                                          <p:attrName>style.visibility</p:attrName>
                                        </p:attrNameLst>
                                      </p:cBhvr>
                                      <p:to>
                                        <p:strVal val="visible"/>
                                      </p:to>
                                    </p:set>
                                    <p:anim calcmode="lin" valueType="num">
                                      <p:cBhvr additive="base">
                                        <p:cTn id="64" dur="450" fill="hold"/>
                                        <p:tgtEl>
                                          <p:spTgt spid="17"/>
                                        </p:tgtEl>
                                        <p:attrNameLst>
                                          <p:attrName>ppt_w</p:attrName>
                                        </p:attrNameLst>
                                      </p:cBhvr>
                                      <p:tavLst>
                                        <p:tav tm="0">
                                          <p:val>
                                            <p:strVal val="0"/>
                                          </p:val>
                                        </p:tav>
                                        <p:tav tm="70000">
                                          <p:val>
                                            <p:strVal val="#ppt_w*1.08"/>
                                          </p:val>
                                        </p:tav>
                                        <p:tav tm="100000">
                                          <p:val>
                                            <p:strVal val="#ppt_w"/>
                                          </p:val>
                                        </p:tav>
                                      </p:tavLst>
                                    </p:anim>
                                    <p:anim calcmode="lin" valueType="num">
                                      <p:cBhvr additive="base">
                                        <p:cTn id="65" dur="450" fill="hold"/>
                                        <p:tgtEl>
                                          <p:spTgt spid="17"/>
                                        </p:tgtEl>
                                        <p:attrNameLst>
                                          <p:attrName>ppt_h</p:attrName>
                                        </p:attrNameLst>
                                      </p:cBhvr>
                                      <p:tavLst>
                                        <p:tav tm="0">
                                          <p:val>
                                            <p:strVal val="0"/>
                                          </p:val>
                                        </p:tav>
                                        <p:tav tm="70000">
                                          <p:val>
                                            <p:strVal val="#ppt_h*1.08"/>
                                          </p:val>
                                        </p:tav>
                                        <p:tav tm="100000">
                                          <p:val>
                                            <p:strVal val="#ppt_h"/>
                                          </p:val>
                                        </p:tav>
                                      </p:tavLst>
                                    </p:anim>
                                    <p:animEffect transition="in" filter="fade">
                                      <p:cBhvr>
                                        <p:cTn id="66" dur="270" fill="hold"/>
                                        <p:tgtEl>
                                          <p:spTgt spid="17"/>
                                        </p:tgtEl>
                                      </p:cBhvr>
                                    </p:animEffect>
                                  </p:childTnLst>
                                </p:cTn>
                              </p:par>
                              <p:par>
                                <p:cTn id="67" presetID="53" presetClass="entr" presetSubtype="16" decel="100000" fill="hold" grpId="0" nodeType="withEffect">
                                  <p:stCondLst>
                                    <p:cond delay="2520"/>
                                  </p:stCondLst>
                                  <p:childTnLst>
                                    <p:set>
                                      <p:cBhvr>
                                        <p:cTn id="68" dur="1" fill="hold">
                                          <p:stCondLst>
                                            <p:cond delay="0"/>
                                          </p:stCondLst>
                                        </p:cTn>
                                        <p:tgtEl>
                                          <p:spTgt spid="18"/>
                                        </p:tgtEl>
                                        <p:attrNameLst>
                                          <p:attrName>style.visibility</p:attrName>
                                        </p:attrNameLst>
                                      </p:cBhvr>
                                      <p:to>
                                        <p:strVal val="visible"/>
                                      </p:to>
                                    </p:set>
                                    <p:anim calcmode="lin" valueType="num">
                                      <p:cBhvr additive="base">
                                        <p:cTn id="69" dur="450" fill="hold"/>
                                        <p:tgtEl>
                                          <p:spTgt spid="18"/>
                                        </p:tgtEl>
                                        <p:attrNameLst>
                                          <p:attrName>ppt_w</p:attrName>
                                        </p:attrNameLst>
                                      </p:cBhvr>
                                      <p:tavLst>
                                        <p:tav tm="0">
                                          <p:val>
                                            <p:strVal val="0"/>
                                          </p:val>
                                        </p:tav>
                                        <p:tav tm="70000">
                                          <p:val>
                                            <p:strVal val="#ppt_w*1.08"/>
                                          </p:val>
                                        </p:tav>
                                        <p:tav tm="100000">
                                          <p:val>
                                            <p:strVal val="#ppt_w"/>
                                          </p:val>
                                        </p:tav>
                                      </p:tavLst>
                                    </p:anim>
                                    <p:anim calcmode="lin" valueType="num">
                                      <p:cBhvr additive="base">
                                        <p:cTn id="70" dur="450" fill="hold"/>
                                        <p:tgtEl>
                                          <p:spTgt spid="18"/>
                                        </p:tgtEl>
                                        <p:attrNameLst>
                                          <p:attrName>ppt_h</p:attrName>
                                        </p:attrNameLst>
                                      </p:cBhvr>
                                      <p:tavLst>
                                        <p:tav tm="0">
                                          <p:val>
                                            <p:strVal val="0"/>
                                          </p:val>
                                        </p:tav>
                                        <p:tav tm="70000">
                                          <p:val>
                                            <p:strVal val="#ppt_h*1.08"/>
                                          </p:val>
                                        </p:tav>
                                        <p:tav tm="100000">
                                          <p:val>
                                            <p:strVal val="#ppt_h"/>
                                          </p:val>
                                        </p:tav>
                                      </p:tavLst>
                                    </p:anim>
                                    <p:animEffect transition="in" filter="fade">
                                      <p:cBhvr>
                                        <p:cTn id="71" dur="270" fill="hold"/>
                                        <p:tgtEl>
                                          <p:spTgt spid="18"/>
                                        </p:tgtEl>
                                      </p:cBhvr>
                                    </p:animEffect>
                                  </p:childTnLst>
                                </p:cTn>
                              </p:par>
                              <p:par>
                                <p:cTn id="72" presetID="53" presetClass="entr" presetSubtype="16" decel="100000" fill="hold" grpId="0" nodeType="withEffect">
                                  <p:stCondLst>
                                    <p:cond delay="2640"/>
                                  </p:stCondLst>
                                  <p:childTnLst>
                                    <p:set>
                                      <p:cBhvr>
                                        <p:cTn id="73" dur="1" fill="hold">
                                          <p:stCondLst>
                                            <p:cond delay="0"/>
                                          </p:stCondLst>
                                        </p:cTn>
                                        <p:tgtEl>
                                          <p:spTgt spid="19"/>
                                        </p:tgtEl>
                                        <p:attrNameLst>
                                          <p:attrName>style.visibility</p:attrName>
                                        </p:attrNameLst>
                                      </p:cBhvr>
                                      <p:to>
                                        <p:strVal val="visible"/>
                                      </p:to>
                                    </p:set>
                                    <p:anim calcmode="lin" valueType="num">
                                      <p:cBhvr additive="base">
                                        <p:cTn id="74" dur="450" fill="hold"/>
                                        <p:tgtEl>
                                          <p:spTgt spid="19"/>
                                        </p:tgtEl>
                                        <p:attrNameLst>
                                          <p:attrName>ppt_w</p:attrName>
                                        </p:attrNameLst>
                                      </p:cBhvr>
                                      <p:tavLst>
                                        <p:tav tm="0">
                                          <p:val>
                                            <p:strVal val="0"/>
                                          </p:val>
                                        </p:tav>
                                        <p:tav tm="70000">
                                          <p:val>
                                            <p:strVal val="#ppt_w*1.08"/>
                                          </p:val>
                                        </p:tav>
                                        <p:tav tm="100000">
                                          <p:val>
                                            <p:strVal val="#ppt_w"/>
                                          </p:val>
                                        </p:tav>
                                      </p:tavLst>
                                    </p:anim>
                                    <p:anim calcmode="lin" valueType="num">
                                      <p:cBhvr additive="base">
                                        <p:cTn id="75" dur="450" fill="hold"/>
                                        <p:tgtEl>
                                          <p:spTgt spid="19"/>
                                        </p:tgtEl>
                                        <p:attrNameLst>
                                          <p:attrName>ppt_h</p:attrName>
                                        </p:attrNameLst>
                                      </p:cBhvr>
                                      <p:tavLst>
                                        <p:tav tm="0">
                                          <p:val>
                                            <p:strVal val="0"/>
                                          </p:val>
                                        </p:tav>
                                        <p:tav tm="70000">
                                          <p:val>
                                            <p:strVal val="#ppt_h*1.08"/>
                                          </p:val>
                                        </p:tav>
                                        <p:tav tm="100000">
                                          <p:val>
                                            <p:strVal val="#ppt_h"/>
                                          </p:val>
                                        </p:tav>
                                      </p:tavLst>
                                    </p:anim>
                                    <p:animEffect transition="in" filter="fade">
                                      <p:cBhvr>
                                        <p:cTn id="76" dur="270" fill="hold"/>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7" grpId="0" animBg="1"/>
      <p:bldP spid="18" grpId="0" animBg="1"/>
      <p:bldP spid="19" grpId="0" animBg="1"/>
    </p:bldLst>
  </p:timing>
</p:sld>
</file>

<file path=ppt/slides/slide73.xml><?xml version="1.0" encoding="utf-8"?>
<p:sld xmlns:a="http://schemas.openxmlformats.org/drawingml/2006/main" xmlns:r="http://schemas.openxmlformats.org/officeDocument/2006/relationships" xmlns:p="http://schemas.openxmlformats.org/presentationml/2006/main" show="0">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1F7FA8"/>
                </a:solidFill>
                <a:latin typeface="Segoe UI Semibold"/>
              </a:rPr>
              <a:t>VÍDEO  ·  MÓDULO 6</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5"/>
          <a:stretch>
            <a:fillRect/>
          </a:stretch>
        </p:blipFill>
        <p:spPr>
          <a:xfrm>
            <a:off x="11167567" y="6291072"/>
            <a:ext cx="585673" cy="384048"/>
          </a:xfrm>
          <a:prstGeom prst="rect">
            <a:avLst/>
          </a:prstGeom>
        </p:spPr>
      </p:pic>
      <p:sp>
        <p:nvSpPr>
          <p:cNvPr id="5" name="TextBox 4"/>
          <p:cNvSpPr txBox="1"/>
          <p:nvPr/>
        </p:nvSpPr>
        <p:spPr>
          <a:xfrm>
            <a:off x="548640" y="603504"/>
            <a:ext cx="8778240" cy="360099"/>
          </a:xfrm>
          <a:prstGeom prst="rect">
            <a:avLst/>
          </a:prstGeom>
          <a:noFill/>
        </p:spPr>
        <p:txBody>
          <a:bodyPr wrap="square" lIns="36576" tIns="18288" rIns="36576" bIns="18288" anchor="t">
            <a:spAutoFit/>
          </a:bodyPr>
          <a:lstStyle/>
          <a:p>
            <a:pPr algn="l"/>
            <a:r>
              <a:rPr lang="pt-BR" sz="2100" b="1" i="0" smtClean="0">
                <a:solidFill>
                  <a:srgbClr val="F2F2EC"/>
                </a:solidFill>
                <a:latin typeface="Segoe UI Semibold"/>
              </a:rPr>
              <a:t>Casos e Inovações: debate com Design Thinking</a:t>
            </a:r>
            <a:endParaRPr sz="2100" b="1" i="0">
              <a:solidFill>
                <a:srgbClr val="F2F2EC"/>
              </a:solidFill>
              <a:latin typeface="Segoe UI Semibold"/>
            </a:endParaRPr>
          </a:p>
        </p:txBody>
      </p:sp>
      <p:sp>
        <p:nvSpPr>
          <p:cNvPr id="10" name="Rounded Rectangle 9">
            <a:hlinkClick r:id="rId6" action="ppaction://hlinksldjump"/>
          </p:cNvPr>
          <p:cNvSpPr/>
          <p:nvPr/>
        </p:nvSpPr>
        <p:spPr>
          <a:xfrm>
            <a:off x="9448495" y="566928"/>
            <a:ext cx="2194560" cy="502920"/>
          </a:xfrm>
          <a:prstGeom prst="roundRect">
            <a:avLst>
              <a:gd name="adj" fmla="val 50000"/>
            </a:avLst>
          </a:prstGeom>
          <a:solidFill>
            <a:srgbClr val="2E343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400" b="1" i="0">
                <a:solidFill>
                  <a:srgbClr val="F2F2EC"/>
                </a:solidFill>
                <a:latin typeface="Segoe UI Semibold"/>
              </a:rPr>
              <a:t>↩  Voltar</a:t>
            </a:r>
          </a:p>
        </p:txBody>
      </p:sp>
      <p:pic>
        <p:nvPicPr>
          <p:cNvPr id="11" name="Vídeo MODELO_PITCH5MIN-01-MICRONECTAR">
            <a:hlinkClick r:id="" action="ppaction://media"/>
          </p:cNvPr>
          <p:cNvPicPr>
            <a:picLocks noChangeAspect="1"/>
          </p:cNvPicPr>
          <p:nvPr>
            <a:videoFile r:link="rId2"/>
            <p:extLst>
              <p:ext uri="{DAA4B4D4-6D71-4841-9C94-3DE7FCFB9230}">
                <p14:media xmlns:p14="http://schemas.microsoft.com/office/powerpoint/2010/main" r:link="rId1"/>
              </p:ext>
            </p:extLst>
          </p:nvPr>
        </p:nvPicPr>
        <p:blipFill>
          <a:blip r:embed="rId7"/>
          <a:stretch>
            <a:fillRect/>
          </a:stretch>
        </p:blipFill>
        <p:spPr>
          <a:xfrm>
            <a:off x="1706727" y="1325880"/>
            <a:ext cx="8778240" cy="4937760"/>
          </a:xfrm>
          <a:prstGeom prst="rect">
            <a:avLst/>
          </a:prstGeom>
        </p:spPr>
      </p:pic>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6560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11"/>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11"/>
                                        </p:tgtEl>
                                      </p:cBhvr>
                                    </p:cmd>
                                  </p:childTnLst>
                                </p:cTn>
                              </p:par>
                            </p:childTnLst>
                          </p:cTn>
                        </p:par>
                      </p:childTnLst>
                    </p:cTn>
                  </p:par>
                </p:childTnLst>
              </p:cTn>
              <p:nextCondLst>
                <p:cond evt="onClick" delay="0">
                  <p:tgtEl>
                    <p:spTgt spid="11"/>
                  </p:tgtEl>
                </p:cond>
              </p:nextCondLst>
            </p:seq>
            <p:video>
              <p:cMediaNode vol="80000">
                <p:cTn id="12" fill="hold" display="0">
                  <p:stCondLst>
                    <p:cond delay="indefinite"/>
                  </p:stCondLst>
                </p:cTn>
                <p:tgtEl>
                  <p:spTgt spid="11"/>
                </p:tgtEl>
              </p:cMediaNode>
            </p:video>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1F7FA8"/>
                </a:solidFill>
                <a:latin typeface="Segoe UI Semibold"/>
              </a:rPr>
              <a:t>MÓDULO 6  ·  ESTUDO DE CASO (ILUSTRATIVO)</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731520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Clínica Movimento: faltas nas sessões</a:t>
            </a:r>
          </a:p>
        </p:txBody>
      </p:sp>
      <p:sp>
        <p:nvSpPr>
          <p:cNvPr id="6" name="TextBox 5"/>
          <p:cNvSpPr txBox="1"/>
          <p:nvPr/>
        </p:nvSpPr>
        <p:spPr>
          <a:xfrm>
            <a:off x="548640" y="1645920"/>
            <a:ext cx="6766560" cy="3200400"/>
          </a:xfrm>
          <a:prstGeom prst="rect">
            <a:avLst/>
          </a:prstGeom>
          <a:noFill/>
        </p:spPr>
        <p:txBody>
          <a:bodyPr wrap="square" lIns="36576" tIns="18288" rIns="36576" bIns="18288" anchor="t">
            <a:spAutoFit/>
          </a:bodyPr>
          <a:lstStyle/>
          <a:p>
            <a:pPr algn="l">
              <a:lnSpc>
                <a:spcPct val="115000"/>
              </a:lnSpc>
            </a:pPr>
            <a:r>
              <a:rPr sz="1900" b="0" i="0">
                <a:solidFill>
                  <a:srgbClr val="B4B8B0"/>
                </a:solidFill>
                <a:latin typeface="Segoe UI"/>
              </a:rPr>
              <a:t>Clínica de fisioterapia de bairro, com 3 fisioterapeutas e 1 recepcionista. Em média, 28% das sessões agendadas não acontecem: o paciente falta sem avisar. Cada falta é um horário perdido e uma receita que não volta.</a:t>
            </a:r>
          </a:p>
        </p:txBody>
      </p:sp>
      <p:sp>
        <p:nvSpPr>
          <p:cNvPr id="7" name="Rounded Rectangle 6"/>
          <p:cNvSpPr/>
          <p:nvPr/>
        </p:nvSpPr>
        <p:spPr>
          <a:xfrm>
            <a:off x="7863840" y="1554480"/>
            <a:ext cx="3776472" cy="393192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138160" y="3657600"/>
            <a:ext cx="3200400" cy="731520"/>
          </a:xfrm>
          <a:prstGeom prst="rect">
            <a:avLst/>
          </a:prstGeom>
          <a:noFill/>
        </p:spPr>
        <p:txBody>
          <a:bodyPr wrap="square" lIns="36576" tIns="18288" rIns="36576" bIns="18288" anchor="t">
            <a:spAutoFit/>
          </a:bodyPr>
          <a:lstStyle/>
          <a:p>
            <a:pPr algn="ctr"/>
            <a:r>
              <a:rPr sz="1800" b="0" i="0">
                <a:solidFill>
                  <a:srgbClr val="B4B8B0"/>
                </a:solidFill>
                <a:latin typeface="Segoe UI"/>
              </a:rPr>
              <a:t>das sessões com falta</a:t>
            </a:r>
          </a:p>
        </p:txBody>
      </p:sp>
      <p:sp>
        <p:nvSpPr>
          <p:cNvPr id="9" name="TextBox 8"/>
          <p:cNvSpPr txBox="1"/>
          <p:nvPr/>
        </p:nvSpPr>
        <p:spPr>
          <a:xfrm>
            <a:off x="7863840" y="2103120"/>
            <a:ext cx="3776472" cy="1463040"/>
          </a:xfrm>
          <a:prstGeom prst="rect">
            <a:avLst/>
          </a:prstGeom>
          <a:noFill/>
        </p:spPr>
        <p:txBody>
          <a:bodyPr wrap="square" lIns="36576" tIns="18288" rIns="36576" bIns="18288" anchor="t">
            <a:spAutoFit/>
          </a:bodyPr>
          <a:lstStyle/>
          <a:p>
            <a:pPr algn="ctr"/>
            <a:r>
              <a:rPr sz="8800" b="1" i="0">
                <a:solidFill>
                  <a:srgbClr val="9CD848"/>
                </a:solidFill>
                <a:latin typeface="Segoe UI Semibold"/>
              </a:rPr>
              <a:t>28%</a:t>
            </a:r>
          </a:p>
        </p:txBody>
      </p:sp>
      <p:sp>
        <p:nvSpPr>
          <p:cNvPr id="10" name="TextBox 9"/>
          <p:cNvSpPr txBox="1"/>
          <p:nvPr/>
        </p:nvSpPr>
        <p:spPr>
          <a:xfrm>
            <a:off x="548640" y="5029200"/>
            <a:ext cx="6766560" cy="548640"/>
          </a:xfrm>
          <a:prstGeom prst="rect">
            <a:avLst/>
          </a:prstGeom>
          <a:noFill/>
        </p:spPr>
        <p:txBody>
          <a:bodyPr wrap="square" lIns="36576" tIns="18288" rIns="36576" bIns="18288" anchor="t">
            <a:spAutoFit/>
          </a:bodyPr>
          <a:lstStyle/>
          <a:p>
            <a:pPr algn="l"/>
            <a:r>
              <a:rPr sz="1800" b="1" i="0">
                <a:solidFill>
                  <a:srgbClr val="1F7FA8"/>
                </a:solidFill>
                <a:latin typeface="Segoe UI Semibold"/>
              </a:rPr>
              <a:t>Qual seria a primeira solução que você proporia?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fill="hold"/>
                                        <p:tgtEl>
                                          <p:spTgt spid="6"/>
                                        </p:tgtEl>
                                      </p:cBhvr>
                                    </p:animEffect>
                                  </p:childTnLst>
                                </p:cTn>
                              </p:par>
                              <p:par>
                                <p:cTn id="11" presetID="42" presetClass="entr" presetSubtype="0" decel="100000" fill="hold" grpId="0" nodeType="withEffect">
                                  <p:stCondLst>
                                    <p:cond delay="65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650" fill="hold"/>
                                        <p:tgtEl>
                                          <p:spTgt spid="7"/>
                                        </p:tgtEl>
                                      </p:cBhvr>
                                    </p:animEffect>
                                    <p:anim calcmode="lin" valueType="num">
                                      <p:cBhvr additive="base">
                                        <p:cTn id="14" dur="650" fill="hold"/>
                                        <p:tgtEl>
                                          <p:spTgt spid="7"/>
                                        </p:tgtEl>
                                        <p:attrNameLst>
                                          <p:attrName>ppt_x</p:attrName>
                                        </p:attrNameLst>
                                      </p:cBhvr>
                                      <p:tavLst>
                                        <p:tav tm="0">
                                          <p:val>
                                            <p:strVal val="#ppt_x"/>
                                          </p:val>
                                        </p:tav>
                                        <p:tav tm="100000">
                                          <p:val>
                                            <p:strVal val="#ppt_x"/>
                                          </p:val>
                                        </p:tav>
                                      </p:tavLst>
                                    </p:anim>
                                    <p:anim calcmode="lin" valueType="num">
                                      <p:cBhvr additive="base">
                                        <p:cTn id="15" dur="650" fill="hold"/>
                                        <p:tgtEl>
                                          <p:spTgt spid="7"/>
                                        </p:tgtEl>
                                        <p:attrNameLst>
                                          <p:attrName>ppt_y</p:attrName>
                                        </p:attrNameLst>
                                      </p:cBhvr>
                                      <p:tavLst>
                                        <p:tav tm="0">
                                          <p:val>
                                            <p:strVal val="#ppt_y+.06"/>
                                          </p:val>
                                        </p:tav>
                                        <p:tav tm="100000">
                                          <p:val>
                                            <p:strVal val="#ppt_y"/>
                                          </p:val>
                                        </p:tav>
                                      </p:tavLst>
                                    </p:anim>
                                  </p:childTnLst>
                                </p:cTn>
                              </p:par>
                              <p:par>
                                <p:cTn id="16" presetID="42" presetClass="entr" presetSubtype="0" decel="100000" fill="hold" grpId="0" nodeType="withEffect">
                                  <p:stCondLst>
                                    <p:cond delay="65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650" fill="hold"/>
                                        <p:tgtEl>
                                          <p:spTgt spid="8"/>
                                        </p:tgtEl>
                                      </p:cBhvr>
                                    </p:animEffect>
                                    <p:anim calcmode="lin" valueType="num">
                                      <p:cBhvr additive="base">
                                        <p:cTn id="19" dur="650" fill="hold"/>
                                        <p:tgtEl>
                                          <p:spTgt spid="8"/>
                                        </p:tgtEl>
                                        <p:attrNameLst>
                                          <p:attrName>ppt_x</p:attrName>
                                        </p:attrNameLst>
                                      </p:cBhvr>
                                      <p:tavLst>
                                        <p:tav tm="0">
                                          <p:val>
                                            <p:strVal val="#ppt_x"/>
                                          </p:val>
                                        </p:tav>
                                        <p:tav tm="100000">
                                          <p:val>
                                            <p:strVal val="#ppt_x"/>
                                          </p:val>
                                        </p:tav>
                                      </p:tavLst>
                                    </p:anim>
                                    <p:anim calcmode="lin" valueType="num">
                                      <p:cBhvr additive="base">
                                        <p:cTn id="20" dur="650" fill="hold"/>
                                        <p:tgtEl>
                                          <p:spTgt spid="8"/>
                                        </p:tgtEl>
                                        <p:attrNameLst>
                                          <p:attrName>ppt_y</p:attrName>
                                        </p:attrNameLst>
                                      </p:cBhvr>
                                      <p:tavLst>
                                        <p:tav tm="0">
                                          <p:val>
                                            <p:strVal val="#ppt_y+.06"/>
                                          </p:val>
                                        </p:tav>
                                        <p:tav tm="100000">
                                          <p:val>
                                            <p:strVal val="#ppt_y"/>
                                          </p:val>
                                        </p:tav>
                                      </p:tavLst>
                                    </p:anim>
                                  </p:childTnLst>
                                </p:cTn>
                              </p:par>
                              <p:par>
                                <p:cTn id="21" presetID="53" presetClass="entr" presetSubtype="16" decel="100000" fill="hold" grpId="0" nodeType="withEffect">
                                  <p:stCondLst>
                                    <p:cond delay="85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650" fill="hold"/>
                                        <p:tgtEl>
                                          <p:spTgt spid="9"/>
                                        </p:tgtEl>
                                        <p:attrNameLst>
                                          <p:attrName>ppt_w</p:attrName>
                                        </p:attrNameLst>
                                      </p:cBhvr>
                                      <p:tavLst>
                                        <p:tav tm="0">
                                          <p:val>
                                            <p:strVal val="0"/>
                                          </p:val>
                                        </p:tav>
                                        <p:tav tm="70000">
                                          <p:val>
                                            <p:strVal val="#ppt_w*1.08"/>
                                          </p:val>
                                        </p:tav>
                                        <p:tav tm="100000">
                                          <p:val>
                                            <p:strVal val="#ppt_w"/>
                                          </p:val>
                                        </p:tav>
                                      </p:tavLst>
                                    </p:anim>
                                    <p:anim calcmode="lin" valueType="num">
                                      <p:cBhvr additive="base">
                                        <p:cTn id="24" dur="650" fill="hold"/>
                                        <p:tgtEl>
                                          <p:spTgt spid="9"/>
                                        </p:tgtEl>
                                        <p:attrNameLst>
                                          <p:attrName>ppt_h</p:attrName>
                                        </p:attrNameLst>
                                      </p:cBhvr>
                                      <p:tavLst>
                                        <p:tav tm="0">
                                          <p:val>
                                            <p:strVal val="0"/>
                                          </p:val>
                                        </p:tav>
                                        <p:tav tm="70000">
                                          <p:val>
                                            <p:strVal val="#ppt_h*1.08"/>
                                          </p:val>
                                        </p:tav>
                                        <p:tav tm="100000">
                                          <p:val>
                                            <p:strVal val="#ppt_h"/>
                                          </p:val>
                                        </p:tav>
                                      </p:tavLst>
                                    </p:anim>
                                    <p:animEffect transition="in" filter="fade">
                                      <p:cBhvr>
                                        <p:cTn id="25" dur="390" fill="hold"/>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iterate type="wd">
                                    <p:tmPct val="30000"/>
                                  </p:iterate>
                                  <p:childTnLst>
                                    <p:set>
                                      <p:cBhvr>
                                        <p:cTn id="29" dur="1" fill="hold">
                                          <p:stCondLst>
                                            <p:cond delay="0"/>
                                          </p:stCondLst>
                                        </p:cTn>
                                        <p:tgtEl>
                                          <p:spTgt spid="10"/>
                                        </p:tgtEl>
                                        <p:attrNameLst>
                                          <p:attrName>style.visibility</p:attrName>
                                        </p:attrNameLst>
                                      </p:cBhvr>
                                      <p:to>
                                        <p:strVal val="visible"/>
                                      </p:to>
                                    </p:set>
                                    <p:animEffect transition="in" filter="fade">
                                      <p:cBhvr>
                                        <p:cTn id="30" dur="420" fill="hold"/>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9CD848"/>
                </a:solidFill>
                <a:latin typeface="Segoe UI Semibold"/>
              </a:rPr>
              <a:t>MÓDULO 6  ·  ESTUDO DE CASO (ILUSTRATIVO)</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Empatizar: o que a pesquisa revelou</a:t>
            </a:r>
          </a:p>
        </p:txBody>
      </p:sp>
      <p:sp>
        <p:nvSpPr>
          <p:cNvPr id="6" name="Rounded Rectangle 5"/>
          <p:cNvSpPr/>
          <p:nvPr/>
        </p:nvSpPr>
        <p:spPr>
          <a:xfrm>
            <a:off x="548640" y="1508760"/>
            <a:ext cx="11091672" cy="693115"/>
          </a:xfrm>
          <a:prstGeom prst="roundRect">
            <a:avLst>
              <a:gd name="adj" fmla="val 1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22960" y="1508760"/>
            <a:ext cx="2651760" cy="693115"/>
          </a:xfrm>
          <a:prstGeom prst="rect">
            <a:avLst/>
          </a:prstGeom>
          <a:noFill/>
        </p:spPr>
        <p:txBody>
          <a:bodyPr wrap="square" lIns="36576" tIns="18288" rIns="36576" bIns="18288" anchor="ctr">
            <a:spAutoFit/>
          </a:bodyPr>
          <a:lstStyle/>
          <a:p>
            <a:pPr algn="l"/>
            <a:r>
              <a:rPr sz="1500" b="1" i="0">
                <a:solidFill>
                  <a:srgbClr val="9CD848"/>
                </a:solidFill>
                <a:latin typeface="Segoe UI Semibold"/>
              </a:rPr>
              <a:t>Suposição inicial</a:t>
            </a:r>
          </a:p>
        </p:txBody>
      </p:sp>
      <p:sp>
        <p:nvSpPr>
          <p:cNvPr id="8" name="TextBox 7"/>
          <p:cNvSpPr txBox="1"/>
          <p:nvPr/>
        </p:nvSpPr>
        <p:spPr>
          <a:xfrm>
            <a:off x="3520440" y="1508760"/>
            <a:ext cx="7955279" cy="693115"/>
          </a:xfrm>
          <a:prstGeom prst="rect">
            <a:avLst/>
          </a:prstGeom>
          <a:noFill/>
        </p:spPr>
        <p:txBody>
          <a:bodyPr wrap="square" lIns="36576" tIns="18288" rIns="36576" bIns="18288" anchor="ctr">
            <a:spAutoFit/>
          </a:bodyPr>
          <a:lstStyle/>
          <a:p>
            <a:pPr algn="l"/>
            <a:r>
              <a:rPr sz="1600" b="0" i="0">
                <a:solidFill>
                  <a:srgbClr val="F2F2EC"/>
                </a:solidFill>
                <a:latin typeface="Segoe UI"/>
              </a:rPr>
              <a:t>'o paciente falta por descaso' (Matriz CSD)</a:t>
            </a:r>
          </a:p>
        </p:txBody>
      </p:sp>
      <p:sp>
        <p:nvSpPr>
          <p:cNvPr id="9" name="Rounded Rectangle 8"/>
          <p:cNvSpPr/>
          <p:nvPr/>
        </p:nvSpPr>
        <p:spPr>
          <a:xfrm>
            <a:off x="548640" y="2329891"/>
            <a:ext cx="11091672" cy="693115"/>
          </a:xfrm>
          <a:prstGeom prst="roundRect">
            <a:avLst>
              <a:gd name="adj" fmla="val 1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22960" y="2329891"/>
            <a:ext cx="2651760" cy="693115"/>
          </a:xfrm>
          <a:prstGeom prst="rect">
            <a:avLst/>
          </a:prstGeom>
          <a:noFill/>
        </p:spPr>
        <p:txBody>
          <a:bodyPr wrap="square" lIns="36576" tIns="18288" rIns="36576" bIns="18288" anchor="ctr">
            <a:spAutoFit/>
          </a:bodyPr>
          <a:lstStyle/>
          <a:p>
            <a:pPr algn="l"/>
            <a:r>
              <a:rPr sz="1500" b="1" i="0">
                <a:solidFill>
                  <a:srgbClr val="9CD848"/>
                </a:solidFill>
                <a:latin typeface="Segoe UI Semibold"/>
              </a:rPr>
              <a:t>Pesquisa</a:t>
            </a:r>
          </a:p>
        </p:txBody>
      </p:sp>
      <p:sp>
        <p:nvSpPr>
          <p:cNvPr id="11" name="TextBox 10"/>
          <p:cNvSpPr txBox="1"/>
          <p:nvPr/>
        </p:nvSpPr>
        <p:spPr>
          <a:xfrm>
            <a:off x="3520440" y="2329891"/>
            <a:ext cx="7955279" cy="693115"/>
          </a:xfrm>
          <a:prstGeom prst="rect">
            <a:avLst/>
          </a:prstGeom>
          <a:noFill/>
        </p:spPr>
        <p:txBody>
          <a:bodyPr wrap="square" lIns="36576" tIns="18288" rIns="36576" bIns="18288" anchor="ctr">
            <a:spAutoFit/>
          </a:bodyPr>
          <a:lstStyle/>
          <a:p>
            <a:pPr algn="l"/>
            <a:r>
              <a:rPr sz="1600" b="0" i="0">
                <a:solidFill>
                  <a:srgbClr val="F2F2EC"/>
                </a:solidFill>
                <a:latin typeface="Segoe UI"/>
              </a:rPr>
              <a:t>8 entrevistas com pacientes, 1 com a recepcionista e análise de 3 meses de agenda</a:t>
            </a:r>
          </a:p>
        </p:txBody>
      </p:sp>
      <p:sp>
        <p:nvSpPr>
          <p:cNvPr id="12" name="Rounded Rectangle 11"/>
          <p:cNvSpPr/>
          <p:nvPr/>
        </p:nvSpPr>
        <p:spPr>
          <a:xfrm>
            <a:off x="548640" y="3151022"/>
            <a:ext cx="11091672" cy="693115"/>
          </a:xfrm>
          <a:prstGeom prst="roundRect">
            <a:avLst>
              <a:gd name="adj" fmla="val 1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22960" y="3151022"/>
            <a:ext cx="2651760" cy="693115"/>
          </a:xfrm>
          <a:prstGeom prst="rect">
            <a:avLst/>
          </a:prstGeom>
          <a:noFill/>
        </p:spPr>
        <p:txBody>
          <a:bodyPr wrap="square" lIns="36576" tIns="18288" rIns="36576" bIns="18288" anchor="ctr">
            <a:spAutoFit/>
          </a:bodyPr>
          <a:lstStyle/>
          <a:p>
            <a:pPr algn="l"/>
            <a:r>
              <a:rPr sz="1500" b="1" i="0">
                <a:solidFill>
                  <a:srgbClr val="9CD848"/>
                </a:solidFill>
                <a:latin typeface="Segoe UI Semibold"/>
              </a:rPr>
              <a:t>Achado 1</a:t>
            </a:r>
          </a:p>
        </p:txBody>
      </p:sp>
      <p:sp>
        <p:nvSpPr>
          <p:cNvPr id="14" name="TextBox 13"/>
          <p:cNvSpPr txBox="1"/>
          <p:nvPr/>
        </p:nvSpPr>
        <p:spPr>
          <a:xfrm>
            <a:off x="3520440" y="3151022"/>
            <a:ext cx="7955279" cy="693115"/>
          </a:xfrm>
          <a:prstGeom prst="rect">
            <a:avLst/>
          </a:prstGeom>
          <a:noFill/>
        </p:spPr>
        <p:txBody>
          <a:bodyPr wrap="square" lIns="36576" tIns="18288" rIns="36576" bIns="18288" anchor="ctr">
            <a:spAutoFit/>
          </a:bodyPr>
          <a:lstStyle/>
          <a:p>
            <a:pPr algn="l"/>
            <a:r>
              <a:rPr sz="1600" b="0" i="0">
                <a:solidFill>
                  <a:srgbClr val="F2F2EC"/>
                </a:solidFill>
                <a:latin typeface="Segoe UI"/>
              </a:rPr>
              <a:t>lembretes por ligação não são atendidos: o paciente está trabalhando</a:t>
            </a:r>
          </a:p>
        </p:txBody>
      </p:sp>
      <p:sp>
        <p:nvSpPr>
          <p:cNvPr id="15" name="Rounded Rectangle 14"/>
          <p:cNvSpPr/>
          <p:nvPr/>
        </p:nvSpPr>
        <p:spPr>
          <a:xfrm>
            <a:off x="548640" y="3972153"/>
            <a:ext cx="11091672" cy="693115"/>
          </a:xfrm>
          <a:prstGeom prst="roundRect">
            <a:avLst>
              <a:gd name="adj" fmla="val 1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22960" y="3972153"/>
            <a:ext cx="2651760" cy="693115"/>
          </a:xfrm>
          <a:prstGeom prst="rect">
            <a:avLst/>
          </a:prstGeom>
          <a:noFill/>
        </p:spPr>
        <p:txBody>
          <a:bodyPr wrap="square" lIns="36576" tIns="18288" rIns="36576" bIns="18288" anchor="ctr">
            <a:spAutoFit/>
          </a:bodyPr>
          <a:lstStyle/>
          <a:p>
            <a:pPr algn="l"/>
            <a:r>
              <a:rPr sz="1500" b="1" i="0">
                <a:solidFill>
                  <a:srgbClr val="9CD848"/>
                </a:solidFill>
                <a:latin typeface="Segoe UI Semibold"/>
              </a:rPr>
              <a:t>Achado 2</a:t>
            </a:r>
          </a:p>
        </p:txBody>
      </p:sp>
      <p:sp>
        <p:nvSpPr>
          <p:cNvPr id="17" name="TextBox 16"/>
          <p:cNvSpPr txBox="1"/>
          <p:nvPr/>
        </p:nvSpPr>
        <p:spPr>
          <a:xfrm>
            <a:off x="3520440" y="3972153"/>
            <a:ext cx="7955279" cy="693115"/>
          </a:xfrm>
          <a:prstGeom prst="rect">
            <a:avLst/>
          </a:prstGeom>
          <a:noFill/>
        </p:spPr>
        <p:txBody>
          <a:bodyPr wrap="square" lIns="36576" tIns="18288" rIns="36576" bIns="18288" anchor="ctr">
            <a:spAutoFit/>
          </a:bodyPr>
          <a:lstStyle/>
          <a:p>
            <a:pPr algn="l"/>
            <a:r>
              <a:rPr sz="1600" b="0" i="0">
                <a:solidFill>
                  <a:srgbClr val="F2F2EC"/>
                </a:solidFill>
                <a:latin typeface="Segoe UI"/>
              </a:rPr>
              <a:t>remarcar exige ligar em horário comercial, então o paciente desiste e simplesmente falta</a:t>
            </a:r>
          </a:p>
        </p:txBody>
      </p:sp>
      <p:sp>
        <p:nvSpPr>
          <p:cNvPr id="18" name="Rounded Rectangle 17"/>
          <p:cNvSpPr/>
          <p:nvPr/>
        </p:nvSpPr>
        <p:spPr>
          <a:xfrm>
            <a:off x="548640" y="4793284"/>
            <a:ext cx="11091672" cy="693115"/>
          </a:xfrm>
          <a:prstGeom prst="roundRect">
            <a:avLst>
              <a:gd name="adj" fmla="val 1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22960" y="4793284"/>
            <a:ext cx="2651760" cy="693115"/>
          </a:xfrm>
          <a:prstGeom prst="rect">
            <a:avLst/>
          </a:prstGeom>
          <a:noFill/>
        </p:spPr>
        <p:txBody>
          <a:bodyPr wrap="square" lIns="36576" tIns="18288" rIns="36576" bIns="18288" anchor="ctr">
            <a:spAutoFit/>
          </a:bodyPr>
          <a:lstStyle/>
          <a:p>
            <a:pPr algn="l"/>
            <a:r>
              <a:rPr sz="1500" b="1" i="0">
                <a:solidFill>
                  <a:srgbClr val="9CD848"/>
                </a:solidFill>
                <a:latin typeface="Segoe UI Semibold"/>
              </a:rPr>
              <a:t>Achado 3</a:t>
            </a:r>
          </a:p>
        </p:txBody>
      </p:sp>
      <p:sp>
        <p:nvSpPr>
          <p:cNvPr id="20" name="TextBox 19"/>
          <p:cNvSpPr txBox="1"/>
          <p:nvPr/>
        </p:nvSpPr>
        <p:spPr>
          <a:xfrm>
            <a:off x="3520440" y="4793284"/>
            <a:ext cx="7955279" cy="693115"/>
          </a:xfrm>
          <a:prstGeom prst="rect">
            <a:avLst/>
          </a:prstGeom>
          <a:noFill/>
        </p:spPr>
        <p:txBody>
          <a:bodyPr wrap="square" lIns="36576" tIns="18288" rIns="36576" bIns="18288" anchor="ctr">
            <a:spAutoFit/>
          </a:bodyPr>
          <a:lstStyle/>
          <a:p>
            <a:pPr algn="l"/>
            <a:r>
              <a:rPr sz="1600" b="0" i="0">
                <a:solidFill>
                  <a:srgbClr val="F2F2EC"/>
                </a:solidFill>
                <a:latin typeface="Segoe UI"/>
              </a:rPr>
              <a:t>pacientes idosos dependem de carona de familiares</a:t>
            </a:r>
          </a:p>
        </p:txBody>
      </p:sp>
      <p:sp>
        <p:nvSpPr>
          <p:cNvPr id="21" name="Rounded Rectangle 20"/>
          <p:cNvSpPr/>
          <p:nvPr/>
        </p:nvSpPr>
        <p:spPr>
          <a:xfrm>
            <a:off x="548640" y="5760720"/>
            <a:ext cx="2159812" cy="310896"/>
          </a:xfrm>
          <a:prstGeom prst="roundRect">
            <a:avLst>
              <a:gd name="adj" fmla="val 50000"/>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000" b="1" i="0">
                <a:solidFill>
                  <a:srgbClr val="1A1A1A"/>
                </a:solidFill>
                <a:latin typeface="Segoe UI Semibold"/>
              </a:rPr>
              <a:t>Empatizar</a:t>
            </a:r>
          </a:p>
        </p:txBody>
      </p:sp>
      <p:sp>
        <p:nvSpPr>
          <p:cNvPr id="22" name="Rounded Rectangle 21"/>
          <p:cNvSpPr/>
          <p:nvPr/>
        </p:nvSpPr>
        <p:spPr>
          <a:xfrm>
            <a:off x="2781604" y="5760720"/>
            <a:ext cx="2159812" cy="310896"/>
          </a:xfrm>
          <a:prstGeom prst="roundRect">
            <a:avLst>
              <a:gd name="adj" fmla="val 50000"/>
            </a:avLst>
          </a:prstGeom>
          <a:solidFill>
            <a:srgbClr val="242826"/>
          </a:solidFill>
          <a:ln w="12700">
            <a:solidFill>
              <a:srgbClr val="3A413D"/>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000" b="0" i="0">
                <a:solidFill>
                  <a:srgbClr val="B4B8B0"/>
                </a:solidFill>
                <a:latin typeface="Segoe UI"/>
              </a:rPr>
              <a:t>Definir</a:t>
            </a:r>
          </a:p>
        </p:txBody>
      </p:sp>
      <p:sp>
        <p:nvSpPr>
          <p:cNvPr id="23" name="Rounded Rectangle 22"/>
          <p:cNvSpPr/>
          <p:nvPr/>
        </p:nvSpPr>
        <p:spPr>
          <a:xfrm>
            <a:off x="5014569" y="5760720"/>
            <a:ext cx="2159812" cy="310896"/>
          </a:xfrm>
          <a:prstGeom prst="roundRect">
            <a:avLst>
              <a:gd name="adj" fmla="val 50000"/>
            </a:avLst>
          </a:prstGeom>
          <a:solidFill>
            <a:srgbClr val="242826"/>
          </a:solidFill>
          <a:ln w="12700">
            <a:solidFill>
              <a:srgbClr val="3A413D"/>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000" b="0" i="0">
                <a:solidFill>
                  <a:srgbClr val="B4B8B0"/>
                </a:solidFill>
                <a:latin typeface="Segoe UI"/>
              </a:rPr>
              <a:t>Idear</a:t>
            </a:r>
          </a:p>
        </p:txBody>
      </p:sp>
      <p:sp>
        <p:nvSpPr>
          <p:cNvPr id="24" name="Rounded Rectangle 23"/>
          <p:cNvSpPr/>
          <p:nvPr/>
        </p:nvSpPr>
        <p:spPr>
          <a:xfrm>
            <a:off x="7247534" y="5760720"/>
            <a:ext cx="2159812" cy="310896"/>
          </a:xfrm>
          <a:prstGeom prst="roundRect">
            <a:avLst>
              <a:gd name="adj" fmla="val 50000"/>
            </a:avLst>
          </a:prstGeom>
          <a:solidFill>
            <a:srgbClr val="242826"/>
          </a:solidFill>
          <a:ln w="12700">
            <a:solidFill>
              <a:srgbClr val="3A413D"/>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000" b="0" i="0">
                <a:solidFill>
                  <a:srgbClr val="B4B8B0"/>
                </a:solidFill>
                <a:latin typeface="Segoe UI"/>
              </a:rPr>
              <a:t>Prototipar</a:t>
            </a:r>
          </a:p>
        </p:txBody>
      </p:sp>
      <p:sp>
        <p:nvSpPr>
          <p:cNvPr id="25" name="Rounded Rectangle 24"/>
          <p:cNvSpPr/>
          <p:nvPr/>
        </p:nvSpPr>
        <p:spPr>
          <a:xfrm>
            <a:off x="9480499" y="5760720"/>
            <a:ext cx="2159812" cy="310896"/>
          </a:xfrm>
          <a:prstGeom prst="roundRect">
            <a:avLst>
              <a:gd name="adj" fmla="val 50000"/>
            </a:avLst>
          </a:prstGeom>
          <a:solidFill>
            <a:srgbClr val="242826"/>
          </a:solidFill>
          <a:ln w="12700">
            <a:solidFill>
              <a:srgbClr val="3A413D"/>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000" b="0" i="0">
                <a:solidFill>
                  <a:srgbClr val="B4B8B0"/>
                </a:solidFill>
                <a:latin typeface="Segoe UI"/>
              </a:rPr>
              <a:t>Testar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50" fill="hold"/>
                                        <p:tgtEl>
                                          <p:spTgt spid="6"/>
                                        </p:tgtEl>
                                      </p:cBhvr>
                                    </p:animEffect>
                                    <p:anim calcmode="lin" valueType="num">
                                      <p:cBhvr additive="base">
                                        <p:cTn id="11" dur="650" fill="hold"/>
                                        <p:tgtEl>
                                          <p:spTgt spid="6"/>
                                        </p:tgtEl>
                                        <p:attrNameLst>
                                          <p:attrName>ppt_x</p:attrName>
                                        </p:attrNameLst>
                                      </p:cBhvr>
                                      <p:tavLst>
                                        <p:tav tm="0">
                                          <p:val>
                                            <p:strVal val="#ppt_x"/>
                                          </p:val>
                                        </p:tav>
                                        <p:tav tm="100000">
                                          <p:val>
                                            <p:strVal val="#ppt_x"/>
                                          </p:val>
                                        </p:tav>
                                      </p:tavLst>
                                    </p:anim>
                                    <p:anim calcmode="lin" valueType="num">
                                      <p:cBhvr additive="base">
                                        <p:cTn id="12" dur="650" fill="hold"/>
                                        <p:tgtEl>
                                          <p:spTgt spid="6"/>
                                        </p:tgtEl>
                                        <p:attrNameLst>
                                          <p:attrName>ppt_y</p:attrName>
                                        </p:attrNameLst>
                                      </p:cBhvr>
                                      <p:tavLst>
                                        <p:tav tm="0">
                                          <p:val>
                                            <p:strVal val="#ppt_y+.06"/>
                                          </p:val>
                                        </p:tav>
                                        <p:tav tm="100000">
                                          <p:val>
                                            <p:strVal val="#ppt_y"/>
                                          </p:val>
                                        </p:tav>
                                      </p:tavLst>
                                    </p:anim>
                                  </p:childTnLst>
                                </p:cTn>
                              </p:par>
                              <p:par>
                                <p:cTn id="13" presetID="42" presetClass="entr" presetSubtype="0" decel="100000" fill="hold" grpId="0" nodeType="withEffect">
                                  <p:stCondLst>
                                    <p:cond delay="25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fill="hold"/>
                                        <p:tgtEl>
                                          <p:spTgt spid="7"/>
                                        </p:tgtEl>
                                      </p:cBhvr>
                                    </p:animEffect>
                                    <p:anim calcmode="lin" valueType="num">
                                      <p:cBhvr additive="base">
                                        <p:cTn id="16" dur="650" fill="hold"/>
                                        <p:tgtEl>
                                          <p:spTgt spid="7"/>
                                        </p:tgtEl>
                                        <p:attrNameLst>
                                          <p:attrName>ppt_x</p:attrName>
                                        </p:attrNameLst>
                                      </p:cBhvr>
                                      <p:tavLst>
                                        <p:tav tm="0">
                                          <p:val>
                                            <p:strVal val="#ppt_x"/>
                                          </p:val>
                                        </p:tav>
                                        <p:tav tm="100000">
                                          <p:val>
                                            <p:strVal val="#ppt_x"/>
                                          </p:val>
                                        </p:tav>
                                      </p:tavLst>
                                    </p:anim>
                                    <p:anim calcmode="lin" valueType="num">
                                      <p:cBhvr additive="base">
                                        <p:cTn id="17" dur="650" fill="hold"/>
                                        <p:tgtEl>
                                          <p:spTgt spid="7"/>
                                        </p:tgtEl>
                                        <p:attrNameLst>
                                          <p:attrName>ppt_y</p:attrName>
                                        </p:attrNameLst>
                                      </p:cBhvr>
                                      <p:tavLst>
                                        <p:tav tm="0">
                                          <p:val>
                                            <p:strVal val="#ppt_y+.06"/>
                                          </p:val>
                                        </p:tav>
                                        <p:tav tm="100000">
                                          <p:val>
                                            <p:strVal val="#ppt_y"/>
                                          </p:val>
                                        </p:tav>
                                      </p:tavLst>
                                    </p:anim>
                                  </p:childTnLst>
                                </p:cTn>
                              </p:par>
                              <p:par>
                                <p:cTn id="18" presetID="42" presetClass="entr" presetSubtype="0" decel="100000" fill="hold" grpId="0" nodeType="withEffect">
                                  <p:stCondLst>
                                    <p:cond delay="25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650" fill="hold"/>
                                        <p:tgtEl>
                                          <p:spTgt spid="8"/>
                                        </p:tgtEl>
                                      </p:cBhvr>
                                    </p:animEffect>
                                    <p:anim calcmode="lin" valueType="num">
                                      <p:cBhvr additive="base">
                                        <p:cTn id="21" dur="650" fill="hold"/>
                                        <p:tgtEl>
                                          <p:spTgt spid="8"/>
                                        </p:tgtEl>
                                        <p:attrNameLst>
                                          <p:attrName>ppt_x</p:attrName>
                                        </p:attrNameLst>
                                      </p:cBhvr>
                                      <p:tavLst>
                                        <p:tav tm="0">
                                          <p:val>
                                            <p:strVal val="#ppt_x"/>
                                          </p:val>
                                        </p:tav>
                                        <p:tav tm="100000">
                                          <p:val>
                                            <p:strVal val="#ppt_x"/>
                                          </p:val>
                                        </p:tav>
                                      </p:tavLst>
                                    </p:anim>
                                    <p:anim calcmode="lin" valueType="num">
                                      <p:cBhvr additive="base">
                                        <p:cTn id="22" dur="650" fill="hold"/>
                                        <p:tgtEl>
                                          <p:spTgt spid="8"/>
                                        </p:tgtEl>
                                        <p:attrNameLst>
                                          <p:attrName>ppt_y</p:attrName>
                                        </p:attrNameLst>
                                      </p:cBhvr>
                                      <p:tavLst>
                                        <p:tav tm="0">
                                          <p:val>
                                            <p:strVal val="#ppt_y+.06"/>
                                          </p:val>
                                        </p:tav>
                                        <p:tav tm="100000">
                                          <p:val>
                                            <p:strVal val="#ppt_y"/>
                                          </p:val>
                                        </p:tav>
                                      </p:tavLst>
                                    </p:anim>
                                  </p:childTnLst>
                                </p:cTn>
                              </p:par>
                              <p:par>
                                <p:cTn id="23" presetID="42" presetClass="entr" presetSubtype="0" decel="100000" fill="hold" grpId="0" nodeType="withEffect">
                                  <p:stCondLst>
                                    <p:cond delay="55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650" fill="hold"/>
                                        <p:tgtEl>
                                          <p:spTgt spid="9"/>
                                        </p:tgtEl>
                                      </p:cBhvr>
                                    </p:animEffect>
                                    <p:anim calcmode="lin" valueType="num">
                                      <p:cBhvr additive="base">
                                        <p:cTn id="26" dur="650" fill="hold"/>
                                        <p:tgtEl>
                                          <p:spTgt spid="9"/>
                                        </p:tgtEl>
                                        <p:attrNameLst>
                                          <p:attrName>ppt_x</p:attrName>
                                        </p:attrNameLst>
                                      </p:cBhvr>
                                      <p:tavLst>
                                        <p:tav tm="0">
                                          <p:val>
                                            <p:strVal val="#ppt_x"/>
                                          </p:val>
                                        </p:tav>
                                        <p:tav tm="100000">
                                          <p:val>
                                            <p:strVal val="#ppt_x"/>
                                          </p:val>
                                        </p:tav>
                                      </p:tavLst>
                                    </p:anim>
                                    <p:anim calcmode="lin" valueType="num">
                                      <p:cBhvr additive="base">
                                        <p:cTn id="27" dur="650" fill="hold"/>
                                        <p:tgtEl>
                                          <p:spTgt spid="9"/>
                                        </p:tgtEl>
                                        <p:attrNameLst>
                                          <p:attrName>ppt_y</p:attrName>
                                        </p:attrNameLst>
                                      </p:cBhvr>
                                      <p:tavLst>
                                        <p:tav tm="0">
                                          <p:val>
                                            <p:strVal val="#ppt_y+.06"/>
                                          </p:val>
                                        </p:tav>
                                        <p:tav tm="100000">
                                          <p:val>
                                            <p:strVal val="#ppt_y"/>
                                          </p:val>
                                        </p:tav>
                                      </p:tavLst>
                                    </p:anim>
                                  </p:childTnLst>
                                </p:cTn>
                              </p:par>
                              <p:par>
                                <p:cTn id="28" presetID="42" presetClass="entr" presetSubtype="0" decel="100000" fill="hold" grpId="0" nodeType="withEffect">
                                  <p:stCondLst>
                                    <p:cond delay="55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650" fill="hold"/>
                                        <p:tgtEl>
                                          <p:spTgt spid="10"/>
                                        </p:tgtEl>
                                      </p:cBhvr>
                                    </p:animEffect>
                                    <p:anim calcmode="lin" valueType="num">
                                      <p:cBhvr additive="base">
                                        <p:cTn id="31" dur="650" fill="hold"/>
                                        <p:tgtEl>
                                          <p:spTgt spid="10"/>
                                        </p:tgtEl>
                                        <p:attrNameLst>
                                          <p:attrName>ppt_x</p:attrName>
                                        </p:attrNameLst>
                                      </p:cBhvr>
                                      <p:tavLst>
                                        <p:tav tm="0">
                                          <p:val>
                                            <p:strVal val="#ppt_x"/>
                                          </p:val>
                                        </p:tav>
                                        <p:tav tm="100000">
                                          <p:val>
                                            <p:strVal val="#ppt_x"/>
                                          </p:val>
                                        </p:tav>
                                      </p:tavLst>
                                    </p:anim>
                                    <p:anim calcmode="lin" valueType="num">
                                      <p:cBhvr additive="base">
                                        <p:cTn id="32" dur="650" fill="hold"/>
                                        <p:tgtEl>
                                          <p:spTgt spid="10"/>
                                        </p:tgtEl>
                                        <p:attrNameLst>
                                          <p:attrName>ppt_y</p:attrName>
                                        </p:attrNameLst>
                                      </p:cBhvr>
                                      <p:tavLst>
                                        <p:tav tm="0">
                                          <p:val>
                                            <p:strVal val="#ppt_y+.06"/>
                                          </p:val>
                                        </p:tav>
                                        <p:tav tm="100000">
                                          <p:val>
                                            <p:strVal val="#ppt_y"/>
                                          </p:val>
                                        </p:tav>
                                      </p:tavLst>
                                    </p:anim>
                                  </p:childTnLst>
                                </p:cTn>
                              </p:par>
                              <p:par>
                                <p:cTn id="33" presetID="42" presetClass="entr" presetSubtype="0" decel="100000" fill="hold" grpId="0" nodeType="withEffect">
                                  <p:stCondLst>
                                    <p:cond delay="55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650" fill="hold"/>
                                        <p:tgtEl>
                                          <p:spTgt spid="11"/>
                                        </p:tgtEl>
                                      </p:cBhvr>
                                    </p:animEffect>
                                    <p:anim calcmode="lin" valueType="num">
                                      <p:cBhvr additive="base">
                                        <p:cTn id="36" dur="650" fill="hold"/>
                                        <p:tgtEl>
                                          <p:spTgt spid="11"/>
                                        </p:tgtEl>
                                        <p:attrNameLst>
                                          <p:attrName>ppt_x</p:attrName>
                                        </p:attrNameLst>
                                      </p:cBhvr>
                                      <p:tavLst>
                                        <p:tav tm="0">
                                          <p:val>
                                            <p:strVal val="#ppt_x"/>
                                          </p:val>
                                        </p:tav>
                                        <p:tav tm="100000">
                                          <p:val>
                                            <p:strVal val="#ppt_x"/>
                                          </p:val>
                                        </p:tav>
                                      </p:tavLst>
                                    </p:anim>
                                    <p:anim calcmode="lin" valueType="num">
                                      <p:cBhvr additive="base">
                                        <p:cTn id="37" dur="650" fill="hold"/>
                                        <p:tgtEl>
                                          <p:spTgt spid="11"/>
                                        </p:tgtEl>
                                        <p:attrNameLst>
                                          <p:attrName>ppt_y</p:attrName>
                                        </p:attrNameLst>
                                      </p:cBhvr>
                                      <p:tavLst>
                                        <p:tav tm="0">
                                          <p:val>
                                            <p:strVal val="#ppt_y+.06"/>
                                          </p:val>
                                        </p:tav>
                                        <p:tav tm="100000">
                                          <p:val>
                                            <p:strVal val="#ppt_y"/>
                                          </p:val>
                                        </p:tav>
                                      </p:tavLst>
                                    </p:anim>
                                  </p:childTnLst>
                                </p:cTn>
                              </p:par>
                              <p:par>
                                <p:cTn id="38" presetID="42" presetClass="entr" presetSubtype="0" decel="100000" fill="hold" grpId="0" nodeType="withEffect">
                                  <p:stCondLst>
                                    <p:cond delay="85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650" fill="hold"/>
                                        <p:tgtEl>
                                          <p:spTgt spid="12"/>
                                        </p:tgtEl>
                                      </p:cBhvr>
                                    </p:animEffect>
                                    <p:anim calcmode="lin" valueType="num">
                                      <p:cBhvr additive="base">
                                        <p:cTn id="41" dur="650" fill="hold"/>
                                        <p:tgtEl>
                                          <p:spTgt spid="12"/>
                                        </p:tgtEl>
                                        <p:attrNameLst>
                                          <p:attrName>ppt_x</p:attrName>
                                        </p:attrNameLst>
                                      </p:cBhvr>
                                      <p:tavLst>
                                        <p:tav tm="0">
                                          <p:val>
                                            <p:strVal val="#ppt_x"/>
                                          </p:val>
                                        </p:tav>
                                        <p:tav tm="100000">
                                          <p:val>
                                            <p:strVal val="#ppt_x"/>
                                          </p:val>
                                        </p:tav>
                                      </p:tavLst>
                                    </p:anim>
                                    <p:anim calcmode="lin" valueType="num">
                                      <p:cBhvr additive="base">
                                        <p:cTn id="42" dur="650" fill="hold"/>
                                        <p:tgtEl>
                                          <p:spTgt spid="12"/>
                                        </p:tgtEl>
                                        <p:attrNameLst>
                                          <p:attrName>ppt_y</p:attrName>
                                        </p:attrNameLst>
                                      </p:cBhvr>
                                      <p:tavLst>
                                        <p:tav tm="0">
                                          <p:val>
                                            <p:strVal val="#ppt_y+.06"/>
                                          </p:val>
                                        </p:tav>
                                        <p:tav tm="100000">
                                          <p:val>
                                            <p:strVal val="#ppt_y"/>
                                          </p:val>
                                        </p:tav>
                                      </p:tavLst>
                                    </p:anim>
                                  </p:childTnLst>
                                </p:cTn>
                              </p:par>
                              <p:par>
                                <p:cTn id="43" presetID="42" presetClass="entr" presetSubtype="0" decel="100000" fill="hold" grpId="0" nodeType="withEffect">
                                  <p:stCondLst>
                                    <p:cond delay="85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650" fill="hold"/>
                                        <p:tgtEl>
                                          <p:spTgt spid="13"/>
                                        </p:tgtEl>
                                      </p:cBhvr>
                                    </p:animEffect>
                                    <p:anim calcmode="lin" valueType="num">
                                      <p:cBhvr additive="base">
                                        <p:cTn id="46" dur="650" fill="hold"/>
                                        <p:tgtEl>
                                          <p:spTgt spid="13"/>
                                        </p:tgtEl>
                                        <p:attrNameLst>
                                          <p:attrName>ppt_x</p:attrName>
                                        </p:attrNameLst>
                                      </p:cBhvr>
                                      <p:tavLst>
                                        <p:tav tm="0">
                                          <p:val>
                                            <p:strVal val="#ppt_x"/>
                                          </p:val>
                                        </p:tav>
                                        <p:tav tm="100000">
                                          <p:val>
                                            <p:strVal val="#ppt_x"/>
                                          </p:val>
                                        </p:tav>
                                      </p:tavLst>
                                    </p:anim>
                                    <p:anim calcmode="lin" valueType="num">
                                      <p:cBhvr additive="base">
                                        <p:cTn id="47" dur="650" fill="hold"/>
                                        <p:tgtEl>
                                          <p:spTgt spid="13"/>
                                        </p:tgtEl>
                                        <p:attrNameLst>
                                          <p:attrName>ppt_y</p:attrName>
                                        </p:attrNameLst>
                                      </p:cBhvr>
                                      <p:tavLst>
                                        <p:tav tm="0">
                                          <p:val>
                                            <p:strVal val="#ppt_y+.06"/>
                                          </p:val>
                                        </p:tav>
                                        <p:tav tm="100000">
                                          <p:val>
                                            <p:strVal val="#ppt_y"/>
                                          </p:val>
                                        </p:tav>
                                      </p:tavLst>
                                    </p:anim>
                                  </p:childTnLst>
                                </p:cTn>
                              </p:par>
                              <p:par>
                                <p:cTn id="48" presetID="42" presetClass="entr" presetSubtype="0" decel="100000" fill="hold" grpId="0" nodeType="withEffect">
                                  <p:stCondLst>
                                    <p:cond delay="85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650" fill="hold"/>
                                        <p:tgtEl>
                                          <p:spTgt spid="14"/>
                                        </p:tgtEl>
                                      </p:cBhvr>
                                    </p:animEffect>
                                    <p:anim calcmode="lin" valueType="num">
                                      <p:cBhvr additive="base">
                                        <p:cTn id="51" dur="650" fill="hold"/>
                                        <p:tgtEl>
                                          <p:spTgt spid="14"/>
                                        </p:tgtEl>
                                        <p:attrNameLst>
                                          <p:attrName>ppt_x</p:attrName>
                                        </p:attrNameLst>
                                      </p:cBhvr>
                                      <p:tavLst>
                                        <p:tav tm="0">
                                          <p:val>
                                            <p:strVal val="#ppt_x"/>
                                          </p:val>
                                        </p:tav>
                                        <p:tav tm="100000">
                                          <p:val>
                                            <p:strVal val="#ppt_x"/>
                                          </p:val>
                                        </p:tav>
                                      </p:tavLst>
                                    </p:anim>
                                    <p:anim calcmode="lin" valueType="num">
                                      <p:cBhvr additive="base">
                                        <p:cTn id="52" dur="650" fill="hold"/>
                                        <p:tgtEl>
                                          <p:spTgt spid="14"/>
                                        </p:tgtEl>
                                        <p:attrNameLst>
                                          <p:attrName>ppt_y</p:attrName>
                                        </p:attrNameLst>
                                      </p:cBhvr>
                                      <p:tavLst>
                                        <p:tav tm="0">
                                          <p:val>
                                            <p:strVal val="#ppt_y+.06"/>
                                          </p:val>
                                        </p:tav>
                                        <p:tav tm="100000">
                                          <p:val>
                                            <p:strVal val="#ppt_y"/>
                                          </p:val>
                                        </p:tav>
                                      </p:tavLst>
                                    </p:anim>
                                  </p:childTnLst>
                                </p:cTn>
                              </p:par>
                              <p:par>
                                <p:cTn id="53" presetID="42" presetClass="entr" presetSubtype="0" decel="100000" fill="hold" grpId="0" nodeType="withEffect">
                                  <p:stCondLst>
                                    <p:cond delay="115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650" fill="hold"/>
                                        <p:tgtEl>
                                          <p:spTgt spid="15"/>
                                        </p:tgtEl>
                                      </p:cBhvr>
                                    </p:animEffect>
                                    <p:anim calcmode="lin" valueType="num">
                                      <p:cBhvr additive="base">
                                        <p:cTn id="56" dur="650" fill="hold"/>
                                        <p:tgtEl>
                                          <p:spTgt spid="15"/>
                                        </p:tgtEl>
                                        <p:attrNameLst>
                                          <p:attrName>ppt_x</p:attrName>
                                        </p:attrNameLst>
                                      </p:cBhvr>
                                      <p:tavLst>
                                        <p:tav tm="0">
                                          <p:val>
                                            <p:strVal val="#ppt_x"/>
                                          </p:val>
                                        </p:tav>
                                        <p:tav tm="100000">
                                          <p:val>
                                            <p:strVal val="#ppt_x"/>
                                          </p:val>
                                        </p:tav>
                                      </p:tavLst>
                                    </p:anim>
                                    <p:anim calcmode="lin" valueType="num">
                                      <p:cBhvr additive="base">
                                        <p:cTn id="57" dur="650" fill="hold"/>
                                        <p:tgtEl>
                                          <p:spTgt spid="15"/>
                                        </p:tgtEl>
                                        <p:attrNameLst>
                                          <p:attrName>ppt_y</p:attrName>
                                        </p:attrNameLst>
                                      </p:cBhvr>
                                      <p:tavLst>
                                        <p:tav tm="0">
                                          <p:val>
                                            <p:strVal val="#ppt_y+.06"/>
                                          </p:val>
                                        </p:tav>
                                        <p:tav tm="100000">
                                          <p:val>
                                            <p:strVal val="#ppt_y"/>
                                          </p:val>
                                        </p:tav>
                                      </p:tavLst>
                                    </p:anim>
                                  </p:childTnLst>
                                </p:cTn>
                              </p:par>
                              <p:par>
                                <p:cTn id="58" presetID="42" presetClass="entr" presetSubtype="0" decel="100000" fill="hold" grpId="0" nodeType="withEffect">
                                  <p:stCondLst>
                                    <p:cond delay="115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650" fill="hold"/>
                                        <p:tgtEl>
                                          <p:spTgt spid="16"/>
                                        </p:tgtEl>
                                      </p:cBhvr>
                                    </p:animEffect>
                                    <p:anim calcmode="lin" valueType="num">
                                      <p:cBhvr additive="base">
                                        <p:cTn id="61" dur="650" fill="hold"/>
                                        <p:tgtEl>
                                          <p:spTgt spid="16"/>
                                        </p:tgtEl>
                                        <p:attrNameLst>
                                          <p:attrName>ppt_x</p:attrName>
                                        </p:attrNameLst>
                                      </p:cBhvr>
                                      <p:tavLst>
                                        <p:tav tm="0">
                                          <p:val>
                                            <p:strVal val="#ppt_x"/>
                                          </p:val>
                                        </p:tav>
                                        <p:tav tm="100000">
                                          <p:val>
                                            <p:strVal val="#ppt_x"/>
                                          </p:val>
                                        </p:tav>
                                      </p:tavLst>
                                    </p:anim>
                                    <p:anim calcmode="lin" valueType="num">
                                      <p:cBhvr additive="base">
                                        <p:cTn id="62" dur="650" fill="hold"/>
                                        <p:tgtEl>
                                          <p:spTgt spid="16"/>
                                        </p:tgtEl>
                                        <p:attrNameLst>
                                          <p:attrName>ppt_y</p:attrName>
                                        </p:attrNameLst>
                                      </p:cBhvr>
                                      <p:tavLst>
                                        <p:tav tm="0">
                                          <p:val>
                                            <p:strVal val="#ppt_y+.06"/>
                                          </p:val>
                                        </p:tav>
                                        <p:tav tm="100000">
                                          <p:val>
                                            <p:strVal val="#ppt_y"/>
                                          </p:val>
                                        </p:tav>
                                      </p:tavLst>
                                    </p:anim>
                                  </p:childTnLst>
                                </p:cTn>
                              </p:par>
                              <p:par>
                                <p:cTn id="63" presetID="42" presetClass="entr" presetSubtype="0" decel="100000" fill="hold" grpId="0" nodeType="withEffect">
                                  <p:stCondLst>
                                    <p:cond delay="1150"/>
                                  </p:stCondLst>
                                  <p:childTnLst>
                                    <p:set>
                                      <p:cBhvr>
                                        <p:cTn id="64" dur="1" fill="hold">
                                          <p:stCondLst>
                                            <p:cond delay="0"/>
                                          </p:stCondLst>
                                        </p:cTn>
                                        <p:tgtEl>
                                          <p:spTgt spid="17"/>
                                        </p:tgtEl>
                                        <p:attrNameLst>
                                          <p:attrName>style.visibility</p:attrName>
                                        </p:attrNameLst>
                                      </p:cBhvr>
                                      <p:to>
                                        <p:strVal val="visible"/>
                                      </p:to>
                                    </p:set>
                                    <p:animEffect transition="in" filter="fade">
                                      <p:cBhvr>
                                        <p:cTn id="65" dur="650" fill="hold"/>
                                        <p:tgtEl>
                                          <p:spTgt spid="17"/>
                                        </p:tgtEl>
                                      </p:cBhvr>
                                    </p:animEffect>
                                    <p:anim calcmode="lin" valueType="num">
                                      <p:cBhvr additive="base">
                                        <p:cTn id="66" dur="650" fill="hold"/>
                                        <p:tgtEl>
                                          <p:spTgt spid="17"/>
                                        </p:tgtEl>
                                        <p:attrNameLst>
                                          <p:attrName>ppt_x</p:attrName>
                                        </p:attrNameLst>
                                      </p:cBhvr>
                                      <p:tavLst>
                                        <p:tav tm="0">
                                          <p:val>
                                            <p:strVal val="#ppt_x"/>
                                          </p:val>
                                        </p:tav>
                                        <p:tav tm="100000">
                                          <p:val>
                                            <p:strVal val="#ppt_x"/>
                                          </p:val>
                                        </p:tav>
                                      </p:tavLst>
                                    </p:anim>
                                    <p:anim calcmode="lin" valueType="num">
                                      <p:cBhvr additive="base">
                                        <p:cTn id="67" dur="650" fill="hold"/>
                                        <p:tgtEl>
                                          <p:spTgt spid="17"/>
                                        </p:tgtEl>
                                        <p:attrNameLst>
                                          <p:attrName>ppt_y</p:attrName>
                                        </p:attrNameLst>
                                      </p:cBhvr>
                                      <p:tavLst>
                                        <p:tav tm="0">
                                          <p:val>
                                            <p:strVal val="#ppt_y+.06"/>
                                          </p:val>
                                        </p:tav>
                                        <p:tav tm="100000">
                                          <p:val>
                                            <p:strVal val="#ppt_y"/>
                                          </p:val>
                                        </p:tav>
                                      </p:tavLst>
                                    </p:anim>
                                  </p:childTnLst>
                                </p:cTn>
                              </p:par>
                              <p:par>
                                <p:cTn id="68" presetID="42" presetClass="entr" presetSubtype="0" decel="100000" fill="hold" grpId="0" nodeType="withEffect">
                                  <p:stCondLst>
                                    <p:cond delay="145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650" fill="hold"/>
                                        <p:tgtEl>
                                          <p:spTgt spid="18"/>
                                        </p:tgtEl>
                                      </p:cBhvr>
                                    </p:animEffect>
                                    <p:anim calcmode="lin" valueType="num">
                                      <p:cBhvr additive="base">
                                        <p:cTn id="71" dur="650" fill="hold"/>
                                        <p:tgtEl>
                                          <p:spTgt spid="18"/>
                                        </p:tgtEl>
                                        <p:attrNameLst>
                                          <p:attrName>ppt_x</p:attrName>
                                        </p:attrNameLst>
                                      </p:cBhvr>
                                      <p:tavLst>
                                        <p:tav tm="0">
                                          <p:val>
                                            <p:strVal val="#ppt_x"/>
                                          </p:val>
                                        </p:tav>
                                        <p:tav tm="100000">
                                          <p:val>
                                            <p:strVal val="#ppt_x"/>
                                          </p:val>
                                        </p:tav>
                                      </p:tavLst>
                                    </p:anim>
                                    <p:anim calcmode="lin" valueType="num">
                                      <p:cBhvr additive="base">
                                        <p:cTn id="72" dur="650" fill="hold"/>
                                        <p:tgtEl>
                                          <p:spTgt spid="18"/>
                                        </p:tgtEl>
                                        <p:attrNameLst>
                                          <p:attrName>ppt_y</p:attrName>
                                        </p:attrNameLst>
                                      </p:cBhvr>
                                      <p:tavLst>
                                        <p:tav tm="0">
                                          <p:val>
                                            <p:strVal val="#ppt_y+.06"/>
                                          </p:val>
                                        </p:tav>
                                        <p:tav tm="100000">
                                          <p:val>
                                            <p:strVal val="#ppt_y"/>
                                          </p:val>
                                        </p:tav>
                                      </p:tavLst>
                                    </p:anim>
                                  </p:childTnLst>
                                </p:cTn>
                              </p:par>
                              <p:par>
                                <p:cTn id="73" presetID="42" presetClass="entr" presetSubtype="0" decel="100000" fill="hold" grpId="0" nodeType="withEffect">
                                  <p:stCondLst>
                                    <p:cond delay="145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650" fill="hold"/>
                                        <p:tgtEl>
                                          <p:spTgt spid="19"/>
                                        </p:tgtEl>
                                      </p:cBhvr>
                                    </p:animEffect>
                                    <p:anim calcmode="lin" valueType="num">
                                      <p:cBhvr additive="base">
                                        <p:cTn id="76" dur="650" fill="hold"/>
                                        <p:tgtEl>
                                          <p:spTgt spid="19"/>
                                        </p:tgtEl>
                                        <p:attrNameLst>
                                          <p:attrName>ppt_x</p:attrName>
                                        </p:attrNameLst>
                                      </p:cBhvr>
                                      <p:tavLst>
                                        <p:tav tm="0">
                                          <p:val>
                                            <p:strVal val="#ppt_x"/>
                                          </p:val>
                                        </p:tav>
                                        <p:tav tm="100000">
                                          <p:val>
                                            <p:strVal val="#ppt_x"/>
                                          </p:val>
                                        </p:tav>
                                      </p:tavLst>
                                    </p:anim>
                                    <p:anim calcmode="lin" valueType="num">
                                      <p:cBhvr additive="base">
                                        <p:cTn id="77" dur="650" fill="hold"/>
                                        <p:tgtEl>
                                          <p:spTgt spid="19"/>
                                        </p:tgtEl>
                                        <p:attrNameLst>
                                          <p:attrName>ppt_y</p:attrName>
                                        </p:attrNameLst>
                                      </p:cBhvr>
                                      <p:tavLst>
                                        <p:tav tm="0">
                                          <p:val>
                                            <p:strVal val="#ppt_y+.06"/>
                                          </p:val>
                                        </p:tav>
                                        <p:tav tm="100000">
                                          <p:val>
                                            <p:strVal val="#ppt_y"/>
                                          </p:val>
                                        </p:tav>
                                      </p:tavLst>
                                    </p:anim>
                                  </p:childTnLst>
                                </p:cTn>
                              </p:par>
                              <p:par>
                                <p:cTn id="78" presetID="42" presetClass="entr" presetSubtype="0" decel="100000" fill="hold" grpId="0" nodeType="withEffect">
                                  <p:stCondLst>
                                    <p:cond delay="1450"/>
                                  </p:stCondLst>
                                  <p:childTnLst>
                                    <p:set>
                                      <p:cBhvr>
                                        <p:cTn id="79" dur="1" fill="hold">
                                          <p:stCondLst>
                                            <p:cond delay="0"/>
                                          </p:stCondLst>
                                        </p:cTn>
                                        <p:tgtEl>
                                          <p:spTgt spid="20"/>
                                        </p:tgtEl>
                                        <p:attrNameLst>
                                          <p:attrName>style.visibility</p:attrName>
                                        </p:attrNameLst>
                                      </p:cBhvr>
                                      <p:to>
                                        <p:strVal val="visible"/>
                                      </p:to>
                                    </p:set>
                                    <p:animEffect transition="in" filter="fade">
                                      <p:cBhvr>
                                        <p:cTn id="80" dur="650" fill="hold"/>
                                        <p:tgtEl>
                                          <p:spTgt spid="20"/>
                                        </p:tgtEl>
                                      </p:cBhvr>
                                    </p:animEffect>
                                    <p:anim calcmode="lin" valueType="num">
                                      <p:cBhvr additive="base">
                                        <p:cTn id="81" dur="650" fill="hold"/>
                                        <p:tgtEl>
                                          <p:spTgt spid="20"/>
                                        </p:tgtEl>
                                        <p:attrNameLst>
                                          <p:attrName>ppt_x</p:attrName>
                                        </p:attrNameLst>
                                      </p:cBhvr>
                                      <p:tavLst>
                                        <p:tav tm="0">
                                          <p:val>
                                            <p:strVal val="#ppt_x"/>
                                          </p:val>
                                        </p:tav>
                                        <p:tav tm="100000">
                                          <p:val>
                                            <p:strVal val="#ppt_x"/>
                                          </p:val>
                                        </p:tav>
                                      </p:tavLst>
                                    </p:anim>
                                    <p:anim calcmode="lin" valueType="num">
                                      <p:cBhvr additive="base">
                                        <p:cTn id="82" dur="650" fill="hold"/>
                                        <p:tgtEl>
                                          <p:spTgt spid="20"/>
                                        </p:tgtEl>
                                        <p:attrNameLst>
                                          <p:attrName>ppt_y</p:attrName>
                                        </p:attrNameLst>
                                      </p:cBhvr>
                                      <p:tavLst>
                                        <p:tav tm="0">
                                          <p:val>
                                            <p:strVal val="#ppt_y+.06"/>
                                          </p:val>
                                        </p:tav>
                                        <p:tav tm="100000">
                                          <p:val>
                                            <p:strVal val="#ppt_y"/>
                                          </p:val>
                                        </p:tav>
                                      </p:tavLst>
                                    </p:anim>
                                  </p:childTnLst>
                                </p:cTn>
                              </p:par>
                              <p:par>
                                <p:cTn id="83" presetID="22" presetClass="entr" presetSubtype="8" fill="hold" grpId="0" nodeType="withEffect">
                                  <p:stCondLst>
                                    <p:cond delay="1800"/>
                                  </p:stCondLst>
                                  <p:childTnLst>
                                    <p:set>
                                      <p:cBhvr>
                                        <p:cTn id="84" dur="1" fill="hold">
                                          <p:stCondLst>
                                            <p:cond delay="0"/>
                                          </p:stCondLst>
                                        </p:cTn>
                                        <p:tgtEl>
                                          <p:spTgt spid="21"/>
                                        </p:tgtEl>
                                        <p:attrNameLst>
                                          <p:attrName>style.visibility</p:attrName>
                                        </p:attrNameLst>
                                      </p:cBhvr>
                                      <p:to>
                                        <p:strVal val="visible"/>
                                      </p:to>
                                    </p:set>
                                    <p:animEffect transition="in" filter="wipe(left)">
                                      <p:cBhvr>
                                        <p:cTn id="85" dur="800" fill="hold"/>
                                        <p:tgtEl>
                                          <p:spTgt spid="21"/>
                                        </p:tgtEl>
                                      </p:cBhvr>
                                    </p:animEffect>
                                  </p:childTnLst>
                                </p:cTn>
                              </p:par>
                              <p:par>
                                <p:cTn id="86" presetID="22" presetClass="entr" presetSubtype="8" fill="hold" grpId="0" nodeType="withEffect">
                                  <p:stCondLst>
                                    <p:cond delay="1800"/>
                                  </p:stCondLst>
                                  <p:childTnLst>
                                    <p:set>
                                      <p:cBhvr>
                                        <p:cTn id="87" dur="1" fill="hold">
                                          <p:stCondLst>
                                            <p:cond delay="0"/>
                                          </p:stCondLst>
                                        </p:cTn>
                                        <p:tgtEl>
                                          <p:spTgt spid="22"/>
                                        </p:tgtEl>
                                        <p:attrNameLst>
                                          <p:attrName>style.visibility</p:attrName>
                                        </p:attrNameLst>
                                      </p:cBhvr>
                                      <p:to>
                                        <p:strVal val="visible"/>
                                      </p:to>
                                    </p:set>
                                    <p:animEffect transition="in" filter="wipe(left)">
                                      <p:cBhvr>
                                        <p:cTn id="88" dur="800" fill="hold"/>
                                        <p:tgtEl>
                                          <p:spTgt spid="22"/>
                                        </p:tgtEl>
                                      </p:cBhvr>
                                    </p:animEffect>
                                  </p:childTnLst>
                                </p:cTn>
                              </p:par>
                              <p:par>
                                <p:cTn id="89" presetID="22" presetClass="entr" presetSubtype="8" fill="hold" grpId="0" nodeType="withEffect">
                                  <p:stCondLst>
                                    <p:cond delay="1800"/>
                                  </p:stCondLst>
                                  <p:childTnLst>
                                    <p:set>
                                      <p:cBhvr>
                                        <p:cTn id="90" dur="1" fill="hold">
                                          <p:stCondLst>
                                            <p:cond delay="0"/>
                                          </p:stCondLst>
                                        </p:cTn>
                                        <p:tgtEl>
                                          <p:spTgt spid="23"/>
                                        </p:tgtEl>
                                        <p:attrNameLst>
                                          <p:attrName>style.visibility</p:attrName>
                                        </p:attrNameLst>
                                      </p:cBhvr>
                                      <p:to>
                                        <p:strVal val="visible"/>
                                      </p:to>
                                    </p:set>
                                    <p:animEffect transition="in" filter="wipe(left)">
                                      <p:cBhvr>
                                        <p:cTn id="91" dur="800" fill="hold"/>
                                        <p:tgtEl>
                                          <p:spTgt spid="23"/>
                                        </p:tgtEl>
                                      </p:cBhvr>
                                    </p:animEffect>
                                  </p:childTnLst>
                                </p:cTn>
                              </p:par>
                              <p:par>
                                <p:cTn id="92" presetID="22" presetClass="entr" presetSubtype="8" fill="hold" grpId="0" nodeType="withEffect">
                                  <p:stCondLst>
                                    <p:cond delay="1800"/>
                                  </p:stCondLst>
                                  <p:childTnLst>
                                    <p:set>
                                      <p:cBhvr>
                                        <p:cTn id="93" dur="1" fill="hold">
                                          <p:stCondLst>
                                            <p:cond delay="0"/>
                                          </p:stCondLst>
                                        </p:cTn>
                                        <p:tgtEl>
                                          <p:spTgt spid="24"/>
                                        </p:tgtEl>
                                        <p:attrNameLst>
                                          <p:attrName>style.visibility</p:attrName>
                                        </p:attrNameLst>
                                      </p:cBhvr>
                                      <p:to>
                                        <p:strVal val="visible"/>
                                      </p:to>
                                    </p:set>
                                    <p:animEffect transition="in" filter="wipe(left)">
                                      <p:cBhvr>
                                        <p:cTn id="94" dur="800" fill="hold"/>
                                        <p:tgtEl>
                                          <p:spTgt spid="24"/>
                                        </p:tgtEl>
                                      </p:cBhvr>
                                    </p:animEffect>
                                  </p:childTnLst>
                                </p:cTn>
                              </p:par>
                              <p:par>
                                <p:cTn id="95" presetID="22" presetClass="entr" presetSubtype="8" fill="hold" grpId="0" nodeType="withEffect">
                                  <p:stCondLst>
                                    <p:cond delay="1800"/>
                                  </p:stCondLst>
                                  <p:childTnLst>
                                    <p:set>
                                      <p:cBhvr>
                                        <p:cTn id="96" dur="1" fill="hold">
                                          <p:stCondLst>
                                            <p:cond delay="0"/>
                                          </p:stCondLst>
                                        </p:cTn>
                                        <p:tgtEl>
                                          <p:spTgt spid="25"/>
                                        </p:tgtEl>
                                        <p:attrNameLst>
                                          <p:attrName>style.visibility</p:attrName>
                                        </p:attrNameLst>
                                      </p:cBhvr>
                                      <p:to>
                                        <p:strVal val="visible"/>
                                      </p:to>
                                    </p:set>
                                    <p:animEffect transition="in" filter="wipe(left)">
                                      <p:cBhvr>
                                        <p:cTn id="97" dur="800" fill="hold"/>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1F7FA8"/>
                </a:solidFill>
                <a:latin typeface="Segoe UI Semibold"/>
              </a:rPr>
              <a:t>MÓDULO 6  ·  ESTUDO DE CASO (ILUSTRATIVO)</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Personas da Clínica Movimento</a:t>
            </a:r>
          </a:p>
        </p:txBody>
      </p:sp>
      <p:sp>
        <p:nvSpPr>
          <p:cNvPr id="6" name="Rounded Rectangle 5"/>
          <p:cNvSpPr/>
          <p:nvPr/>
        </p:nvSpPr>
        <p:spPr>
          <a:xfrm>
            <a:off x="548640" y="1554480"/>
            <a:ext cx="5440680" cy="429768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2377440" y="2103120"/>
            <a:ext cx="3383280" cy="548640"/>
          </a:xfrm>
          <a:prstGeom prst="rect">
            <a:avLst/>
          </a:prstGeom>
          <a:noFill/>
        </p:spPr>
        <p:txBody>
          <a:bodyPr wrap="square" lIns="36576" tIns="18288" rIns="36576" bIns="18288" anchor="t">
            <a:spAutoFit/>
          </a:bodyPr>
          <a:lstStyle/>
          <a:p>
            <a:pPr algn="l"/>
            <a:r>
              <a:rPr sz="2400" b="1" i="0">
                <a:solidFill>
                  <a:srgbClr val="F2F2EC"/>
                </a:solidFill>
                <a:latin typeface="Segoe UI Semibold"/>
              </a:rPr>
              <a:t>Rafael, 34</a:t>
            </a:r>
          </a:p>
        </p:txBody>
      </p:sp>
      <p:sp>
        <p:nvSpPr>
          <p:cNvPr id="8" name="TextBox 7"/>
          <p:cNvSpPr txBox="1"/>
          <p:nvPr/>
        </p:nvSpPr>
        <p:spPr>
          <a:xfrm>
            <a:off x="2377440" y="2651760"/>
            <a:ext cx="3383280" cy="731520"/>
          </a:xfrm>
          <a:prstGeom prst="rect">
            <a:avLst/>
          </a:prstGeom>
          <a:noFill/>
        </p:spPr>
        <p:txBody>
          <a:bodyPr wrap="square" lIns="36576" tIns="18288" rIns="36576" bIns="18288" anchor="t">
            <a:spAutoFit/>
          </a:bodyPr>
          <a:lstStyle/>
          <a:p>
            <a:pPr algn="l"/>
            <a:r>
              <a:rPr sz="1400" b="0" i="0">
                <a:solidFill>
                  <a:srgbClr val="B4B8B0"/>
                </a:solidFill>
                <a:latin typeface="Segoe UI"/>
              </a:rPr>
              <a:t>Analista, lesão no joelho jogando futebol</a:t>
            </a:r>
          </a:p>
        </p:txBody>
      </p:sp>
      <p:sp>
        <p:nvSpPr>
          <p:cNvPr id="9" name="Oval 8"/>
          <p:cNvSpPr/>
          <p:nvPr/>
        </p:nvSpPr>
        <p:spPr>
          <a:xfrm>
            <a:off x="937260" y="1897380"/>
            <a:ext cx="1234440" cy="1234440"/>
          </a:xfrm>
          <a:prstGeom prst="ellipse">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3000" b="1" i="0">
                <a:solidFill>
                  <a:srgbClr val="1A1A1A"/>
                </a:solidFill>
                <a:latin typeface="Segoe UI Semibold"/>
              </a:rPr>
              <a:t>R</a:t>
            </a:r>
          </a:p>
        </p:txBody>
      </p:sp>
      <p:sp>
        <p:nvSpPr>
          <p:cNvPr id="10" name="TextBox 9"/>
          <p:cNvSpPr txBox="1"/>
          <p:nvPr/>
        </p:nvSpPr>
        <p:spPr>
          <a:xfrm>
            <a:off x="960120" y="3657600"/>
            <a:ext cx="4572000" cy="365760"/>
          </a:xfrm>
          <a:prstGeom prst="rect">
            <a:avLst/>
          </a:prstGeom>
          <a:noFill/>
        </p:spPr>
        <p:txBody>
          <a:bodyPr wrap="square" lIns="36576" tIns="18288" rIns="36576" bIns="18288" anchor="t">
            <a:spAutoFit/>
          </a:bodyPr>
          <a:lstStyle/>
          <a:p>
            <a:pPr algn="l"/>
            <a:r>
              <a:rPr sz="1100" b="1" i="0" spc="150">
                <a:solidFill>
                  <a:srgbClr val="9CD848"/>
                </a:solidFill>
                <a:latin typeface="Segoe UI Semibold"/>
              </a:rPr>
              <a:t>NECESSIDADE</a:t>
            </a:r>
          </a:p>
        </p:txBody>
      </p:sp>
      <p:sp>
        <p:nvSpPr>
          <p:cNvPr id="11" name="TextBox 10"/>
          <p:cNvSpPr txBox="1"/>
          <p:nvPr/>
        </p:nvSpPr>
        <p:spPr>
          <a:xfrm>
            <a:off x="960120" y="4023360"/>
            <a:ext cx="4663440" cy="1645920"/>
          </a:xfrm>
          <a:prstGeom prst="rect">
            <a:avLst/>
          </a:prstGeom>
          <a:noFill/>
        </p:spPr>
        <p:txBody>
          <a:bodyPr wrap="square" lIns="36576" tIns="18288" rIns="36576" bIns="18288" anchor="t">
            <a:spAutoFit/>
          </a:bodyPr>
          <a:lstStyle/>
          <a:p>
            <a:pPr algn="l"/>
            <a:r>
              <a:rPr sz="1900" b="0" i="0">
                <a:solidFill>
                  <a:srgbClr val="F2F2EC"/>
                </a:solidFill>
                <a:latin typeface="Segoe UI"/>
              </a:rPr>
              <a:t>Agenda imprevisível. Quer remarcar sem precisar ligar.</a:t>
            </a:r>
          </a:p>
        </p:txBody>
      </p:sp>
      <p:sp>
        <p:nvSpPr>
          <p:cNvPr id="12" name="Rounded Rectangle 11"/>
          <p:cNvSpPr/>
          <p:nvPr/>
        </p:nvSpPr>
        <p:spPr>
          <a:xfrm>
            <a:off x="6172200" y="1554480"/>
            <a:ext cx="5440680" cy="429768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001000" y="2103120"/>
            <a:ext cx="3383280" cy="548640"/>
          </a:xfrm>
          <a:prstGeom prst="rect">
            <a:avLst/>
          </a:prstGeom>
          <a:noFill/>
        </p:spPr>
        <p:txBody>
          <a:bodyPr wrap="square" lIns="36576" tIns="18288" rIns="36576" bIns="18288" anchor="t">
            <a:spAutoFit/>
          </a:bodyPr>
          <a:lstStyle/>
          <a:p>
            <a:pPr algn="l"/>
            <a:r>
              <a:rPr sz="2400" b="1" i="0">
                <a:solidFill>
                  <a:srgbClr val="F2F2EC"/>
                </a:solidFill>
                <a:latin typeface="Segoe UI Semibold"/>
              </a:rPr>
              <a:t>Dona Célia, 67</a:t>
            </a:r>
          </a:p>
        </p:txBody>
      </p:sp>
      <p:sp>
        <p:nvSpPr>
          <p:cNvPr id="14" name="TextBox 13"/>
          <p:cNvSpPr txBox="1"/>
          <p:nvPr/>
        </p:nvSpPr>
        <p:spPr>
          <a:xfrm>
            <a:off x="8001000" y="2651760"/>
            <a:ext cx="3383280" cy="731520"/>
          </a:xfrm>
          <a:prstGeom prst="rect">
            <a:avLst/>
          </a:prstGeom>
          <a:noFill/>
        </p:spPr>
        <p:txBody>
          <a:bodyPr wrap="square" lIns="36576" tIns="18288" rIns="36576" bIns="18288" anchor="t">
            <a:spAutoFit/>
          </a:bodyPr>
          <a:lstStyle/>
          <a:p>
            <a:pPr algn="l"/>
            <a:r>
              <a:rPr sz="1400" b="0" i="0">
                <a:solidFill>
                  <a:srgbClr val="B4B8B0"/>
                </a:solidFill>
                <a:latin typeface="Segoe UI"/>
              </a:rPr>
              <a:t>Aposentada, pós-cirurgia de quadril</a:t>
            </a:r>
          </a:p>
        </p:txBody>
      </p:sp>
      <p:sp>
        <p:nvSpPr>
          <p:cNvPr id="15" name="Oval 14"/>
          <p:cNvSpPr/>
          <p:nvPr/>
        </p:nvSpPr>
        <p:spPr>
          <a:xfrm>
            <a:off x="6560820" y="1897380"/>
            <a:ext cx="1234440" cy="1234440"/>
          </a:xfrm>
          <a:prstGeom prst="ellipse">
            <a:avLst/>
          </a:prstGeom>
          <a:solidFill>
            <a:srgbClr val="2FA38A"/>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3000" b="1" i="0">
                <a:solidFill>
                  <a:srgbClr val="1A1A1A"/>
                </a:solidFill>
                <a:latin typeface="Segoe UI Semibold"/>
              </a:rPr>
              <a:t>DC</a:t>
            </a:r>
          </a:p>
        </p:txBody>
      </p:sp>
      <p:sp>
        <p:nvSpPr>
          <p:cNvPr id="16" name="TextBox 15"/>
          <p:cNvSpPr txBox="1"/>
          <p:nvPr/>
        </p:nvSpPr>
        <p:spPr>
          <a:xfrm>
            <a:off x="6583680" y="3657600"/>
            <a:ext cx="4572000" cy="365760"/>
          </a:xfrm>
          <a:prstGeom prst="rect">
            <a:avLst/>
          </a:prstGeom>
          <a:noFill/>
        </p:spPr>
        <p:txBody>
          <a:bodyPr wrap="square" lIns="36576" tIns="18288" rIns="36576" bIns="18288" anchor="t">
            <a:spAutoFit/>
          </a:bodyPr>
          <a:lstStyle/>
          <a:p>
            <a:pPr algn="l"/>
            <a:r>
              <a:rPr sz="1100" b="1" i="0" spc="150">
                <a:solidFill>
                  <a:srgbClr val="2FA38A"/>
                </a:solidFill>
                <a:latin typeface="Segoe UI Semibold"/>
              </a:rPr>
              <a:t>NECESSIDADE</a:t>
            </a:r>
          </a:p>
        </p:txBody>
      </p:sp>
      <p:sp>
        <p:nvSpPr>
          <p:cNvPr id="17" name="TextBox 16"/>
          <p:cNvSpPr txBox="1"/>
          <p:nvPr/>
        </p:nvSpPr>
        <p:spPr>
          <a:xfrm>
            <a:off x="6583680" y="4023360"/>
            <a:ext cx="4663440" cy="1645920"/>
          </a:xfrm>
          <a:prstGeom prst="rect">
            <a:avLst/>
          </a:prstGeom>
          <a:noFill/>
        </p:spPr>
        <p:txBody>
          <a:bodyPr wrap="square" lIns="36576" tIns="18288" rIns="36576" bIns="18288" anchor="t">
            <a:spAutoFit/>
          </a:bodyPr>
          <a:lstStyle/>
          <a:p>
            <a:pPr algn="l"/>
            <a:r>
              <a:rPr sz="1900" b="0" i="0">
                <a:solidFill>
                  <a:srgbClr val="F2F2EC"/>
                </a:solidFill>
                <a:latin typeface="Segoe UI"/>
              </a:rPr>
              <a:t>Depende da filha para ir. Prefere mensagens de áudio a textos.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50" fill="hold"/>
                                        <p:tgtEl>
                                          <p:spTgt spid="6"/>
                                        </p:tgtEl>
                                      </p:cBhvr>
                                    </p:animEffect>
                                    <p:anim calcmode="lin" valueType="num">
                                      <p:cBhvr additive="base">
                                        <p:cTn id="11" dur="650" fill="hold"/>
                                        <p:tgtEl>
                                          <p:spTgt spid="6"/>
                                        </p:tgtEl>
                                        <p:attrNameLst>
                                          <p:attrName>ppt_x</p:attrName>
                                        </p:attrNameLst>
                                      </p:cBhvr>
                                      <p:tavLst>
                                        <p:tav tm="0">
                                          <p:val>
                                            <p:strVal val="#ppt_x"/>
                                          </p:val>
                                        </p:tav>
                                        <p:tav tm="100000">
                                          <p:val>
                                            <p:strVal val="#ppt_x"/>
                                          </p:val>
                                        </p:tav>
                                      </p:tavLst>
                                    </p:anim>
                                    <p:anim calcmode="lin" valueType="num">
                                      <p:cBhvr additive="base">
                                        <p:cTn id="12" dur="650" fill="hold"/>
                                        <p:tgtEl>
                                          <p:spTgt spid="6"/>
                                        </p:tgtEl>
                                        <p:attrNameLst>
                                          <p:attrName>ppt_y</p:attrName>
                                        </p:attrNameLst>
                                      </p:cBhvr>
                                      <p:tavLst>
                                        <p:tav tm="0">
                                          <p:val>
                                            <p:strVal val="#ppt_y+.06"/>
                                          </p:val>
                                        </p:tav>
                                        <p:tav tm="100000">
                                          <p:val>
                                            <p:strVal val="#ppt_y"/>
                                          </p:val>
                                        </p:tav>
                                      </p:tavLst>
                                    </p:anim>
                                  </p:childTnLst>
                                </p:cTn>
                              </p:par>
                              <p:par>
                                <p:cTn id="13" presetID="42" presetClass="entr" presetSubtype="0" decel="100000" fill="hold" grpId="0" nodeType="withEffect">
                                  <p:stCondLst>
                                    <p:cond delay="25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fill="hold"/>
                                        <p:tgtEl>
                                          <p:spTgt spid="7"/>
                                        </p:tgtEl>
                                      </p:cBhvr>
                                    </p:animEffect>
                                    <p:anim calcmode="lin" valueType="num">
                                      <p:cBhvr additive="base">
                                        <p:cTn id="16" dur="650" fill="hold"/>
                                        <p:tgtEl>
                                          <p:spTgt spid="7"/>
                                        </p:tgtEl>
                                        <p:attrNameLst>
                                          <p:attrName>ppt_x</p:attrName>
                                        </p:attrNameLst>
                                      </p:cBhvr>
                                      <p:tavLst>
                                        <p:tav tm="0">
                                          <p:val>
                                            <p:strVal val="#ppt_x"/>
                                          </p:val>
                                        </p:tav>
                                        <p:tav tm="100000">
                                          <p:val>
                                            <p:strVal val="#ppt_x"/>
                                          </p:val>
                                        </p:tav>
                                      </p:tavLst>
                                    </p:anim>
                                    <p:anim calcmode="lin" valueType="num">
                                      <p:cBhvr additive="base">
                                        <p:cTn id="17" dur="650" fill="hold"/>
                                        <p:tgtEl>
                                          <p:spTgt spid="7"/>
                                        </p:tgtEl>
                                        <p:attrNameLst>
                                          <p:attrName>ppt_y</p:attrName>
                                        </p:attrNameLst>
                                      </p:cBhvr>
                                      <p:tavLst>
                                        <p:tav tm="0">
                                          <p:val>
                                            <p:strVal val="#ppt_y+.06"/>
                                          </p:val>
                                        </p:tav>
                                        <p:tav tm="100000">
                                          <p:val>
                                            <p:strVal val="#ppt_y"/>
                                          </p:val>
                                        </p:tav>
                                      </p:tavLst>
                                    </p:anim>
                                  </p:childTnLst>
                                </p:cTn>
                              </p:par>
                              <p:par>
                                <p:cTn id="18" presetID="42" presetClass="entr" presetSubtype="0" decel="100000" fill="hold" grpId="0" nodeType="withEffect">
                                  <p:stCondLst>
                                    <p:cond delay="25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650" fill="hold"/>
                                        <p:tgtEl>
                                          <p:spTgt spid="8"/>
                                        </p:tgtEl>
                                      </p:cBhvr>
                                    </p:animEffect>
                                    <p:anim calcmode="lin" valueType="num">
                                      <p:cBhvr additive="base">
                                        <p:cTn id="21" dur="650" fill="hold"/>
                                        <p:tgtEl>
                                          <p:spTgt spid="8"/>
                                        </p:tgtEl>
                                        <p:attrNameLst>
                                          <p:attrName>ppt_x</p:attrName>
                                        </p:attrNameLst>
                                      </p:cBhvr>
                                      <p:tavLst>
                                        <p:tav tm="0">
                                          <p:val>
                                            <p:strVal val="#ppt_x"/>
                                          </p:val>
                                        </p:tav>
                                        <p:tav tm="100000">
                                          <p:val>
                                            <p:strVal val="#ppt_x"/>
                                          </p:val>
                                        </p:tav>
                                      </p:tavLst>
                                    </p:anim>
                                    <p:anim calcmode="lin" valueType="num">
                                      <p:cBhvr additive="base">
                                        <p:cTn id="22" dur="650" fill="hold"/>
                                        <p:tgtEl>
                                          <p:spTgt spid="8"/>
                                        </p:tgtEl>
                                        <p:attrNameLst>
                                          <p:attrName>ppt_y</p:attrName>
                                        </p:attrNameLst>
                                      </p:cBhvr>
                                      <p:tavLst>
                                        <p:tav tm="0">
                                          <p:val>
                                            <p:strVal val="#ppt_y+.06"/>
                                          </p:val>
                                        </p:tav>
                                        <p:tav tm="100000">
                                          <p:val>
                                            <p:strVal val="#ppt_y"/>
                                          </p:val>
                                        </p:tav>
                                      </p:tavLst>
                                    </p:anim>
                                  </p:childTnLst>
                                </p:cTn>
                              </p:par>
                              <p:par>
                                <p:cTn id="23" presetID="53" presetClass="entr" presetSubtype="16" decel="100000" fill="hold" grpId="0" nodeType="withEffect">
                                  <p:stCondLst>
                                    <p:cond delay="40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50" fill="hold"/>
                                        <p:tgtEl>
                                          <p:spTgt spid="9"/>
                                        </p:tgtEl>
                                        <p:attrNameLst>
                                          <p:attrName>ppt_w</p:attrName>
                                        </p:attrNameLst>
                                      </p:cBhvr>
                                      <p:tavLst>
                                        <p:tav tm="0">
                                          <p:val>
                                            <p:strVal val="0"/>
                                          </p:val>
                                        </p:tav>
                                        <p:tav tm="70000">
                                          <p:val>
                                            <p:strVal val="#ppt_w*1.08"/>
                                          </p:val>
                                        </p:tav>
                                        <p:tav tm="100000">
                                          <p:val>
                                            <p:strVal val="#ppt_w"/>
                                          </p:val>
                                        </p:tav>
                                      </p:tavLst>
                                    </p:anim>
                                    <p:anim calcmode="lin" valueType="num">
                                      <p:cBhvr additive="base">
                                        <p:cTn id="26" dur="550" fill="hold"/>
                                        <p:tgtEl>
                                          <p:spTgt spid="9"/>
                                        </p:tgtEl>
                                        <p:attrNameLst>
                                          <p:attrName>ppt_h</p:attrName>
                                        </p:attrNameLst>
                                      </p:cBhvr>
                                      <p:tavLst>
                                        <p:tav tm="0">
                                          <p:val>
                                            <p:strVal val="0"/>
                                          </p:val>
                                        </p:tav>
                                        <p:tav tm="70000">
                                          <p:val>
                                            <p:strVal val="#ppt_h*1.08"/>
                                          </p:val>
                                        </p:tav>
                                        <p:tav tm="100000">
                                          <p:val>
                                            <p:strVal val="#ppt_h"/>
                                          </p:val>
                                        </p:tav>
                                      </p:tavLst>
                                    </p:anim>
                                    <p:animEffect transition="in" filter="fade">
                                      <p:cBhvr>
                                        <p:cTn id="27" dur="330" fill="hold"/>
                                        <p:tgtEl>
                                          <p:spTgt spid="9"/>
                                        </p:tgtEl>
                                      </p:cBhvr>
                                    </p:animEffect>
                                  </p:childTnLst>
                                </p:cTn>
                              </p:par>
                              <p:par>
                                <p:cTn id="28" presetID="10" presetClass="entr" presetSubtype="0" fill="hold" grpId="0" nodeType="withEffect">
                                  <p:stCondLst>
                                    <p:cond delay="70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fill="hold"/>
                                        <p:tgtEl>
                                          <p:spTgt spid="10"/>
                                        </p:tgtEl>
                                      </p:cBhvr>
                                    </p:animEffect>
                                  </p:childTnLst>
                                </p:cTn>
                              </p:par>
                              <p:par>
                                <p:cTn id="31" presetID="10" presetClass="entr" presetSubtype="0" fill="hold" grpId="0" nodeType="withEffect">
                                  <p:stCondLst>
                                    <p:cond delay="70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fill="hold"/>
                                        <p:tgtEl>
                                          <p:spTgt spid="11"/>
                                        </p:tgtEl>
                                      </p:cBhvr>
                                    </p:animEffect>
                                  </p:childTnLst>
                                </p:cTn>
                              </p:par>
                              <p:par>
                                <p:cTn id="34" presetID="42" presetClass="entr" presetSubtype="0" decel="100000" fill="hold" grpId="0" nodeType="withEffect">
                                  <p:stCondLst>
                                    <p:cond delay="120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650" fill="hold"/>
                                        <p:tgtEl>
                                          <p:spTgt spid="12"/>
                                        </p:tgtEl>
                                      </p:cBhvr>
                                    </p:animEffect>
                                    <p:anim calcmode="lin" valueType="num">
                                      <p:cBhvr additive="base">
                                        <p:cTn id="37" dur="650" fill="hold"/>
                                        <p:tgtEl>
                                          <p:spTgt spid="12"/>
                                        </p:tgtEl>
                                        <p:attrNameLst>
                                          <p:attrName>ppt_x</p:attrName>
                                        </p:attrNameLst>
                                      </p:cBhvr>
                                      <p:tavLst>
                                        <p:tav tm="0">
                                          <p:val>
                                            <p:strVal val="#ppt_x"/>
                                          </p:val>
                                        </p:tav>
                                        <p:tav tm="100000">
                                          <p:val>
                                            <p:strVal val="#ppt_x"/>
                                          </p:val>
                                        </p:tav>
                                      </p:tavLst>
                                    </p:anim>
                                    <p:anim calcmode="lin" valueType="num">
                                      <p:cBhvr additive="base">
                                        <p:cTn id="38" dur="650" fill="hold"/>
                                        <p:tgtEl>
                                          <p:spTgt spid="12"/>
                                        </p:tgtEl>
                                        <p:attrNameLst>
                                          <p:attrName>ppt_y</p:attrName>
                                        </p:attrNameLst>
                                      </p:cBhvr>
                                      <p:tavLst>
                                        <p:tav tm="0">
                                          <p:val>
                                            <p:strVal val="#ppt_y+.06"/>
                                          </p:val>
                                        </p:tav>
                                        <p:tav tm="100000">
                                          <p:val>
                                            <p:strVal val="#ppt_y"/>
                                          </p:val>
                                        </p:tav>
                                      </p:tavLst>
                                    </p:anim>
                                  </p:childTnLst>
                                </p:cTn>
                              </p:par>
                              <p:par>
                                <p:cTn id="39" presetID="42" presetClass="entr" presetSubtype="0" decel="100000" fill="hold" grpId="0" nodeType="withEffect">
                                  <p:stCondLst>
                                    <p:cond delay="120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650" fill="hold"/>
                                        <p:tgtEl>
                                          <p:spTgt spid="13"/>
                                        </p:tgtEl>
                                      </p:cBhvr>
                                    </p:animEffect>
                                    <p:anim calcmode="lin" valueType="num">
                                      <p:cBhvr additive="base">
                                        <p:cTn id="42" dur="650" fill="hold"/>
                                        <p:tgtEl>
                                          <p:spTgt spid="13"/>
                                        </p:tgtEl>
                                        <p:attrNameLst>
                                          <p:attrName>ppt_x</p:attrName>
                                        </p:attrNameLst>
                                      </p:cBhvr>
                                      <p:tavLst>
                                        <p:tav tm="0">
                                          <p:val>
                                            <p:strVal val="#ppt_x"/>
                                          </p:val>
                                        </p:tav>
                                        <p:tav tm="100000">
                                          <p:val>
                                            <p:strVal val="#ppt_x"/>
                                          </p:val>
                                        </p:tav>
                                      </p:tavLst>
                                    </p:anim>
                                    <p:anim calcmode="lin" valueType="num">
                                      <p:cBhvr additive="base">
                                        <p:cTn id="43" dur="650" fill="hold"/>
                                        <p:tgtEl>
                                          <p:spTgt spid="13"/>
                                        </p:tgtEl>
                                        <p:attrNameLst>
                                          <p:attrName>ppt_y</p:attrName>
                                        </p:attrNameLst>
                                      </p:cBhvr>
                                      <p:tavLst>
                                        <p:tav tm="0">
                                          <p:val>
                                            <p:strVal val="#ppt_y+.06"/>
                                          </p:val>
                                        </p:tav>
                                        <p:tav tm="100000">
                                          <p:val>
                                            <p:strVal val="#ppt_y"/>
                                          </p:val>
                                        </p:tav>
                                      </p:tavLst>
                                    </p:anim>
                                  </p:childTnLst>
                                </p:cTn>
                              </p:par>
                              <p:par>
                                <p:cTn id="44" presetID="42" presetClass="entr" presetSubtype="0" decel="100000" fill="hold" grpId="0" nodeType="withEffect">
                                  <p:stCondLst>
                                    <p:cond delay="120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650" fill="hold"/>
                                        <p:tgtEl>
                                          <p:spTgt spid="14"/>
                                        </p:tgtEl>
                                      </p:cBhvr>
                                    </p:animEffect>
                                    <p:anim calcmode="lin" valueType="num">
                                      <p:cBhvr additive="base">
                                        <p:cTn id="47" dur="650" fill="hold"/>
                                        <p:tgtEl>
                                          <p:spTgt spid="14"/>
                                        </p:tgtEl>
                                        <p:attrNameLst>
                                          <p:attrName>ppt_x</p:attrName>
                                        </p:attrNameLst>
                                      </p:cBhvr>
                                      <p:tavLst>
                                        <p:tav tm="0">
                                          <p:val>
                                            <p:strVal val="#ppt_x"/>
                                          </p:val>
                                        </p:tav>
                                        <p:tav tm="100000">
                                          <p:val>
                                            <p:strVal val="#ppt_x"/>
                                          </p:val>
                                        </p:tav>
                                      </p:tavLst>
                                    </p:anim>
                                    <p:anim calcmode="lin" valueType="num">
                                      <p:cBhvr additive="base">
                                        <p:cTn id="48" dur="650" fill="hold"/>
                                        <p:tgtEl>
                                          <p:spTgt spid="14"/>
                                        </p:tgtEl>
                                        <p:attrNameLst>
                                          <p:attrName>ppt_y</p:attrName>
                                        </p:attrNameLst>
                                      </p:cBhvr>
                                      <p:tavLst>
                                        <p:tav tm="0">
                                          <p:val>
                                            <p:strVal val="#ppt_y+.06"/>
                                          </p:val>
                                        </p:tav>
                                        <p:tav tm="100000">
                                          <p:val>
                                            <p:strVal val="#ppt_y"/>
                                          </p:val>
                                        </p:tav>
                                      </p:tavLst>
                                    </p:anim>
                                  </p:childTnLst>
                                </p:cTn>
                              </p:par>
                              <p:par>
                                <p:cTn id="49" presetID="53" presetClass="entr" presetSubtype="16" decel="100000" fill="hold" grpId="0" nodeType="withEffect">
                                  <p:stCondLst>
                                    <p:cond delay="1350"/>
                                  </p:stCondLst>
                                  <p:childTnLst>
                                    <p:set>
                                      <p:cBhvr>
                                        <p:cTn id="50" dur="1" fill="hold">
                                          <p:stCondLst>
                                            <p:cond delay="0"/>
                                          </p:stCondLst>
                                        </p:cTn>
                                        <p:tgtEl>
                                          <p:spTgt spid="15"/>
                                        </p:tgtEl>
                                        <p:attrNameLst>
                                          <p:attrName>style.visibility</p:attrName>
                                        </p:attrNameLst>
                                      </p:cBhvr>
                                      <p:to>
                                        <p:strVal val="visible"/>
                                      </p:to>
                                    </p:set>
                                    <p:anim calcmode="lin" valueType="num">
                                      <p:cBhvr additive="base">
                                        <p:cTn id="51" dur="550" fill="hold"/>
                                        <p:tgtEl>
                                          <p:spTgt spid="15"/>
                                        </p:tgtEl>
                                        <p:attrNameLst>
                                          <p:attrName>ppt_w</p:attrName>
                                        </p:attrNameLst>
                                      </p:cBhvr>
                                      <p:tavLst>
                                        <p:tav tm="0">
                                          <p:val>
                                            <p:strVal val="0"/>
                                          </p:val>
                                        </p:tav>
                                        <p:tav tm="70000">
                                          <p:val>
                                            <p:strVal val="#ppt_w*1.08"/>
                                          </p:val>
                                        </p:tav>
                                        <p:tav tm="100000">
                                          <p:val>
                                            <p:strVal val="#ppt_w"/>
                                          </p:val>
                                        </p:tav>
                                      </p:tavLst>
                                    </p:anim>
                                    <p:anim calcmode="lin" valueType="num">
                                      <p:cBhvr additive="base">
                                        <p:cTn id="52" dur="550" fill="hold"/>
                                        <p:tgtEl>
                                          <p:spTgt spid="15"/>
                                        </p:tgtEl>
                                        <p:attrNameLst>
                                          <p:attrName>ppt_h</p:attrName>
                                        </p:attrNameLst>
                                      </p:cBhvr>
                                      <p:tavLst>
                                        <p:tav tm="0">
                                          <p:val>
                                            <p:strVal val="0"/>
                                          </p:val>
                                        </p:tav>
                                        <p:tav tm="70000">
                                          <p:val>
                                            <p:strVal val="#ppt_h*1.08"/>
                                          </p:val>
                                        </p:tav>
                                        <p:tav tm="100000">
                                          <p:val>
                                            <p:strVal val="#ppt_h"/>
                                          </p:val>
                                        </p:tav>
                                      </p:tavLst>
                                    </p:anim>
                                    <p:animEffect transition="in" filter="fade">
                                      <p:cBhvr>
                                        <p:cTn id="53" dur="330" fill="hold"/>
                                        <p:tgtEl>
                                          <p:spTgt spid="15"/>
                                        </p:tgtEl>
                                      </p:cBhvr>
                                    </p:animEffect>
                                  </p:childTnLst>
                                </p:cTn>
                              </p:par>
                              <p:par>
                                <p:cTn id="54" presetID="10" presetClass="entr" presetSubtype="0" fill="hold" grpId="0" nodeType="withEffect">
                                  <p:stCondLst>
                                    <p:cond delay="1650"/>
                                  </p:stCondLst>
                                  <p:childTnLst>
                                    <p:set>
                                      <p:cBhvr>
                                        <p:cTn id="55" dur="1" fill="hold">
                                          <p:stCondLst>
                                            <p:cond delay="0"/>
                                          </p:stCondLst>
                                        </p:cTn>
                                        <p:tgtEl>
                                          <p:spTgt spid="16"/>
                                        </p:tgtEl>
                                        <p:attrNameLst>
                                          <p:attrName>style.visibility</p:attrName>
                                        </p:attrNameLst>
                                      </p:cBhvr>
                                      <p:to>
                                        <p:strVal val="visible"/>
                                      </p:to>
                                    </p:set>
                                    <p:animEffect transition="in" filter="fade">
                                      <p:cBhvr>
                                        <p:cTn id="56" dur="500" fill="hold"/>
                                        <p:tgtEl>
                                          <p:spTgt spid="16"/>
                                        </p:tgtEl>
                                      </p:cBhvr>
                                    </p:animEffect>
                                  </p:childTnLst>
                                </p:cTn>
                              </p:par>
                              <p:par>
                                <p:cTn id="57" presetID="10" presetClass="entr" presetSubtype="0" fill="hold" grpId="0" nodeType="withEffect">
                                  <p:stCondLst>
                                    <p:cond delay="1650"/>
                                  </p:stCondLst>
                                  <p:childTnLst>
                                    <p:set>
                                      <p:cBhvr>
                                        <p:cTn id="58" dur="1" fill="hold">
                                          <p:stCondLst>
                                            <p:cond delay="0"/>
                                          </p:stCondLst>
                                        </p:cTn>
                                        <p:tgtEl>
                                          <p:spTgt spid="17"/>
                                        </p:tgtEl>
                                        <p:attrNameLst>
                                          <p:attrName>style.visibility</p:attrName>
                                        </p:attrNameLst>
                                      </p:cBhvr>
                                      <p:to>
                                        <p:strVal val="visible"/>
                                      </p:to>
                                    </p:set>
                                    <p:animEffect transition="in" filter="fade">
                                      <p:cBhvr>
                                        <p:cTn id="59" dur="500" fill="hold"/>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4DB35A"/>
                </a:solidFill>
                <a:latin typeface="Segoe UI Semibold"/>
              </a:rPr>
              <a:t>MÓDULO 6  ·  ESTUDO DE CASO (ILUSTRATIVO)</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Definir: o problema certo</a:t>
            </a:r>
          </a:p>
        </p:txBody>
      </p:sp>
      <p:sp>
        <p:nvSpPr>
          <p:cNvPr id="6" name="Rounded Rectangle 5"/>
          <p:cNvSpPr/>
          <p:nvPr/>
        </p:nvSpPr>
        <p:spPr>
          <a:xfrm>
            <a:off x="548640" y="1508760"/>
            <a:ext cx="11091672" cy="1240535"/>
          </a:xfrm>
          <a:prstGeom prst="roundRect">
            <a:avLst>
              <a:gd name="adj" fmla="val 1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22960" y="1508760"/>
            <a:ext cx="2651760" cy="1240535"/>
          </a:xfrm>
          <a:prstGeom prst="rect">
            <a:avLst/>
          </a:prstGeom>
          <a:noFill/>
        </p:spPr>
        <p:txBody>
          <a:bodyPr wrap="square" lIns="36576" tIns="18288" rIns="36576" bIns="18288" anchor="ctr">
            <a:spAutoFit/>
          </a:bodyPr>
          <a:lstStyle/>
          <a:p>
            <a:pPr algn="l"/>
            <a:r>
              <a:rPr sz="1500" b="1" i="0">
                <a:solidFill>
                  <a:srgbClr val="4DB35A"/>
                </a:solidFill>
                <a:latin typeface="Segoe UI Semibold"/>
              </a:rPr>
              <a:t>Job Story</a:t>
            </a:r>
          </a:p>
        </p:txBody>
      </p:sp>
      <p:sp>
        <p:nvSpPr>
          <p:cNvPr id="8" name="TextBox 7"/>
          <p:cNvSpPr txBox="1"/>
          <p:nvPr/>
        </p:nvSpPr>
        <p:spPr>
          <a:xfrm>
            <a:off x="3520440" y="1508760"/>
            <a:ext cx="7955279" cy="1240535"/>
          </a:xfrm>
          <a:prstGeom prst="rect">
            <a:avLst/>
          </a:prstGeom>
          <a:noFill/>
        </p:spPr>
        <p:txBody>
          <a:bodyPr wrap="square" lIns="36576" tIns="18288" rIns="36576" bIns="18288" anchor="ctr">
            <a:spAutoFit/>
          </a:bodyPr>
          <a:lstStyle/>
          <a:p>
            <a:pPr algn="l"/>
            <a:r>
              <a:rPr sz="1600" b="0" i="0">
                <a:solidFill>
                  <a:srgbClr val="F2F2EC"/>
                </a:solidFill>
                <a:latin typeface="Segoe UI"/>
              </a:rPr>
              <a:t>Quando surge um imprevisto no trabalho, eu quero remarcar minha sessão em segundos, para não perder o tratamento nem o horário</a:t>
            </a:r>
          </a:p>
        </p:txBody>
      </p:sp>
      <p:sp>
        <p:nvSpPr>
          <p:cNvPr id="9" name="Rounded Rectangle 8"/>
          <p:cNvSpPr/>
          <p:nvPr/>
        </p:nvSpPr>
        <p:spPr>
          <a:xfrm>
            <a:off x="548640" y="2877312"/>
            <a:ext cx="11091672" cy="1240535"/>
          </a:xfrm>
          <a:prstGeom prst="roundRect">
            <a:avLst>
              <a:gd name="adj" fmla="val 1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22960" y="2877312"/>
            <a:ext cx="2651760" cy="1240535"/>
          </a:xfrm>
          <a:prstGeom prst="rect">
            <a:avLst/>
          </a:prstGeom>
          <a:noFill/>
        </p:spPr>
        <p:txBody>
          <a:bodyPr wrap="square" lIns="36576" tIns="18288" rIns="36576" bIns="18288" anchor="ctr">
            <a:spAutoFit/>
          </a:bodyPr>
          <a:lstStyle/>
          <a:p>
            <a:pPr algn="l"/>
            <a:r>
              <a:rPr sz="1500" b="1" i="0">
                <a:solidFill>
                  <a:srgbClr val="4DB35A"/>
                </a:solidFill>
                <a:latin typeface="Segoe UI Semibold"/>
              </a:rPr>
              <a:t>Problem Statement</a:t>
            </a:r>
          </a:p>
        </p:txBody>
      </p:sp>
      <p:sp>
        <p:nvSpPr>
          <p:cNvPr id="11" name="TextBox 10"/>
          <p:cNvSpPr txBox="1"/>
          <p:nvPr/>
        </p:nvSpPr>
        <p:spPr>
          <a:xfrm>
            <a:off x="3520440" y="2877312"/>
            <a:ext cx="7955279" cy="1240535"/>
          </a:xfrm>
          <a:prstGeom prst="rect">
            <a:avLst/>
          </a:prstGeom>
          <a:noFill/>
        </p:spPr>
        <p:txBody>
          <a:bodyPr wrap="square" lIns="36576" tIns="18288" rIns="36576" bIns="18288" anchor="ctr">
            <a:spAutoFit/>
          </a:bodyPr>
          <a:lstStyle/>
          <a:p>
            <a:pPr algn="l"/>
            <a:r>
              <a:rPr sz="1600" b="0" i="0">
                <a:solidFill>
                  <a:srgbClr val="F2F2EC"/>
                </a:solidFill>
                <a:latin typeface="Segoe UI"/>
              </a:rPr>
              <a:t>Pacientes com rotina corrida precisam avisar e remarcar sem ligar, porque o canal atual só funciona no horário comercial</a:t>
            </a:r>
          </a:p>
        </p:txBody>
      </p:sp>
      <p:sp>
        <p:nvSpPr>
          <p:cNvPr id="12" name="Rounded Rectangle 11"/>
          <p:cNvSpPr/>
          <p:nvPr/>
        </p:nvSpPr>
        <p:spPr>
          <a:xfrm>
            <a:off x="548640" y="4245863"/>
            <a:ext cx="11091672" cy="1240535"/>
          </a:xfrm>
          <a:prstGeom prst="roundRect">
            <a:avLst>
              <a:gd name="adj" fmla="val 1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22960" y="4245863"/>
            <a:ext cx="2651760" cy="1240535"/>
          </a:xfrm>
          <a:prstGeom prst="rect">
            <a:avLst/>
          </a:prstGeom>
          <a:noFill/>
        </p:spPr>
        <p:txBody>
          <a:bodyPr wrap="square" lIns="36576" tIns="18288" rIns="36576" bIns="18288" anchor="ctr">
            <a:spAutoFit/>
          </a:bodyPr>
          <a:lstStyle/>
          <a:p>
            <a:pPr algn="l"/>
            <a:r>
              <a:rPr sz="1500" b="1" i="0">
                <a:solidFill>
                  <a:srgbClr val="4DB35A"/>
                </a:solidFill>
                <a:latin typeface="Segoe UI Semibold"/>
              </a:rPr>
              <a:t>Como poderíamos…?</a:t>
            </a:r>
          </a:p>
        </p:txBody>
      </p:sp>
      <p:sp>
        <p:nvSpPr>
          <p:cNvPr id="14" name="TextBox 13"/>
          <p:cNvSpPr txBox="1"/>
          <p:nvPr/>
        </p:nvSpPr>
        <p:spPr>
          <a:xfrm>
            <a:off x="3520440" y="4245863"/>
            <a:ext cx="7955279" cy="1240535"/>
          </a:xfrm>
          <a:prstGeom prst="rect">
            <a:avLst/>
          </a:prstGeom>
          <a:noFill/>
        </p:spPr>
        <p:txBody>
          <a:bodyPr wrap="square" lIns="36576" tIns="18288" rIns="36576" bIns="18288" anchor="ctr">
            <a:spAutoFit/>
          </a:bodyPr>
          <a:lstStyle/>
          <a:p>
            <a:pPr algn="l"/>
            <a:r>
              <a:rPr sz="1600" b="0" i="0">
                <a:solidFill>
                  <a:srgbClr val="F2F2EC"/>
                </a:solidFill>
                <a:latin typeface="Segoe UI"/>
              </a:rPr>
              <a:t>tornar a confirmação e a remarcação tão fáceis quanto responder uma mensagem?</a:t>
            </a:r>
          </a:p>
        </p:txBody>
      </p:sp>
      <p:sp>
        <p:nvSpPr>
          <p:cNvPr id="15" name="Rounded Rectangle 14"/>
          <p:cNvSpPr/>
          <p:nvPr/>
        </p:nvSpPr>
        <p:spPr>
          <a:xfrm>
            <a:off x="548640" y="5760720"/>
            <a:ext cx="2159812" cy="310896"/>
          </a:xfrm>
          <a:prstGeom prst="roundRect">
            <a:avLst>
              <a:gd name="adj" fmla="val 50000"/>
            </a:avLst>
          </a:prstGeom>
          <a:solidFill>
            <a:srgbClr val="242826"/>
          </a:solidFill>
          <a:ln w="12700">
            <a:solidFill>
              <a:srgbClr val="3A413D"/>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000" b="0" i="0">
                <a:solidFill>
                  <a:srgbClr val="B4B8B0"/>
                </a:solidFill>
                <a:latin typeface="Segoe UI"/>
              </a:rPr>
              <a:t>Empatizar</a:t>
            </a:r>
          </a:p>
        </p:txBody>
      </p:sp>
      <p:sp>
        <p:nvSpPr>
          <p:cNvPr id="16" name="Rounded Rectangle 15"/>
          <p:cNvSpPr/>
          <p:nvPr/>
        </p:nvSpPr>
        <p:spPr>
          <a:xfrm>
            <a:off x="2781604" y="5760720"/>
            <a:ext cx="2159812" cy="310896"/>
          </a:xfrm>
          <a:prstGeom prst="roundRect">
            <a:avLst>
              <a:gd name="adj" fmla="val 50000"/>
            </a:avLst>
          </a:prstGeom>
          <a:solidFill>
            <a:srgbClr val="4DB35A"/>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000" b="1" i="0">
                <a:solidFill>
                  <a:srgbClr val="1A1A1A"/>
                </a:solidFill>
                <a:latin typeface="Segoe UI Semibold"/>
              </a:rPr>
              <a:t>Definir</a:t>
            </a:r>
          </a:p>
        </p:txBody>
      </p:sp>
      <p:sp>
        <p:nvSpPr>
          <p:cNvPr id="17" name="Rounded Rectangle 16"/>
          <p:cNvSpPr/>
          <p:nvPr/>
        </p:nvSpPr>
        <p:spPr>
          <a:xfrm>
            <a:off x="5014569" y="5760720"/>
            <a:ext cx="2159812" cy="310896"/>
          </a:xfrm>
          <a:prstGeom prst="roundRect">
            <a:avLst>
              <a:gd name="adj" fmla="val 50000"/>
            </a:avLst>
          </a:prstGeom>
          <a:solidFill>
            <a:srgbClr val="242826"/>
          </a:solidFill>
          <a:ln w="12700">
            <a:solidFill>
              <a:srgbClr val="3A413D"/>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000" b="0" i="0">
                <a:solidFill>
                  <a:srgbClr val="B4B8B0"/>
                </a:solidFill>
                <a:latin typeface="Segoe UI"/>
              </a:rPr>
              <a:t>Idear</a:t>
            </a:r>
          </a:p>
        </p:txBody>
      </p:sp>
      <p:sp>
        <p:nvSpPr>
          <p:cNvPr id="18" name="Rounded Rectangle 17"/>
          <p:cNvSpPr/>
          <p:nvPr/>
        </p:nvSpPr>
        <p:spPr>
          <a:xfrm>
            <a:off x="7247534" y="5760720"/>
            <a:ext cx="2159812" cy="310896"/>
          </a:xfrm>
          <a:prstGeom prst="roundRect">
            <a:avLst>
              <a:gd name="adj" fmla="val 50000"/>
            </a:avLst>
          </a:prstGeom>
          <a:solidFill>
            <a:srgbClr val="242826"/>
          </a:solidFill>
          <a:ln w="12700">
            <a:solidFill>
              <a:srgbClr val="3A413D"/>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000" b="0" i="0">
                <a:solidFill>
                  <a:srgbClr val="B4B8B0"/>
                </a:solidFill>
                <a:latin typeface="Segoe UI"/>
              </a:rPr>
              <a:t>Prototipar</a:t>
            </a:r>
          </a:p>
        </p:txBody>
      </p:sp>
      <p:sp>
        <p:nvSpPr>
          <p:cNvPr id="19" name="Rounded Rectangle 18"/>
          <p:cNvSpPr/>
          <p:nvPr/>
        </p:nvSpPr>
        <p:spPr>
          <a:xfrm>
            <a:off x="9480499" y="5760720"/>
            <a:ext cx="2159812" cy="310896"/>
          </a:xfrm>
          <a:prstGeom prst="roundRect">
            <a:avLst>
              <a:gd name="adj" fmla="val 50000"/>
            </a:avLst>
          </a:prstGeom>
          <a:solidFill>
            <a:srgbClr val="242826"/>
          </a:solidFill>
          <a:ln w="12700">
            <a:solidFill>
              <a:srgbClr val="3A413D"/>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000" b="0" i="0">
                <a:solidFill>
                  <a:srgbClr val="B4B8B0"/>
                </a:solidFill>
                <a:latin typeface="Segoe UI"/>
              </a:rPr>
              <a:t>Testar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50" fill="hold"/>
                                        <p:tgtEl>
                                          <p:spTgt spid="6"/>
                                        </p:tgtEl>
                                      </p:cBhvr>
                                    </p:animEffect>
                                    <p:anim calcmode="lin" valueType="num">
                                      <p:cBhvr additive="base">
                                        <p:cTn id="11" dur="650" fill="hold"/>
                                        <p:tgtEl>
                                          <p:spTgt spid="6"/>
                                        </p:tgtEl>
                                        <p:attrNameLst>
                                          <p:attrName>ppt_x</p:attrName>
                                        </p:attrNameLst>
                                      </p:cBhvr>
                                      <p:tavLst>
                                        <p:tav tm="0">
                                          <p:val>
                                            <p:strVal val="#ppt_x"/>
                                          </p:val>
                                        </p:tav>
                                        <p:tav tm="100000">
                                          <p:val>
                                            <p:strVal val="#ppt_x"/>
                                          </p:val>
                                        </p:tav>
                                      </p:tavLst>
                                    </p:anim>
                                    <p:anim calcmode="lin" valueType="num">
                                      <p:cBhvr additive="base">
                                        <p:cTn id="12" dur="650" fill="hold"/>
                                        <p:tgtEl>
                                          <p:spTgt spid="6"/>
                                        </p:tgtEl>
                                        <p:attrNameLst>
                                          <p:attrName>ppt_y</p:attrName>
                                        </p:attrNameLst>
                                      </p:cBhvr>
                                      <p:tavLst>
                                        <p:tav tm="0">
                                          <p:val>
                                            <p:strVal val="#ppt_y+.06"/>
                                          </p:val>
                                        </p:tav>
                                        <p:tav tm="100000">
                                          <p:val>
                                            <p:strVal val="#ppt_y"/>
                                          </p:val>
                                        </p:tav>
                                      </p:tavLst>
                                    </p:anim>
                                  </p:childTnLst>
                                </p:cTn>
                              </p:par>
                              <p:par>
                                <p:cTn id="13" presetID="42" presetClass="entr" presetSubtype="0" decel="100000" fill="hold" grpId="0" nodeType="withEffect">
                                  <p:stCondLst>
                                    <p:cond delay="25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fill="hold"/>
                                        <p:tgtEl>
                                          <p:spTgt spid="7"/>
                                        </p:tgtEl>
                                      </p:cBhvr>
                                    </p:animEffect>
                                    <p:anim calcmode="lin" valueType="num">
                                      <p:cBhvr additive="base">
                                        <p:cTn id="16" dur="650" fill="hold"/>
                                        <p:tgtEl>
                                          <p:spTgt spid="7"/>
                                        </p:tgtEl>
                                        <p:attrNameLst>
                                          <p:attrName>ppt_x</p:attrName>
                                        </p:attrNameLst>
                                      </p:cBhvr>
                                      <p:tavLst>
                                        <p:tav tm="0">
                                          <p:val>
                                            <p:strVal val="#ppt_x"/>
                                          </p:val>
                                        </p:tav>
                                        <p:tav tm="100000">
                                          <p:val>
                                            <p:strVal val="#ppt_x"/>
                                          </p:val>
                                        </p:tav>
                                      </p:tavLst>
                                    </p:anim>
                                    <p:anim calcmode="lin" valueType="num">
                                      <p:cBhvr additive="base">
                                        <p:cTn id="17" dur="650" fill="hold"/>
                                        <p:tgtEl>
                                          <p:spTgt spid="7"/>
                                        </p:tgtEl>
                                        <p:attrNameLst>
                                          <p:attrName>ppt_y</p:attrName>
                                        </p:attrNameLst>
                                      </p:cBhvr>
                                      <p:tavLst>
                                        <p:tav tm="0">
                                          <p:val>
                                            <p:strVal val="#ppt_y+.06"/>
                                          </p:val>
                                        </p:tav>
                                        <p:tav tm="100000">
                                          <p:val>
                                            <p:strVal val="#ppt_y"/>
                                          </p:val>
                                        </p:tav>
                                      </p:tavLst>
                                    </p:anim>
                                  </p:childTnLst>
                                </p:cTn>
                              </p:par>
                              <p:par>
                                <p:cTn id="18" presetID="42" presetClass="entr" presetSubtype="0" decel="100000" fill="hold" grpId="0" nodeType="withEffect">
                                  <p:stCondLst>
                                    <p:cond delay="25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650" fill="hold"/>
                                        <p:tgtEl>
                                          <p:spTgt spid="8"/>
                                        </p:tgtEl>
                                      </p:cBhvr>
                                    </p:animEffect>
                                    <p:anim calcmode="lin" valueType="num">
                                      <p:cBhvr additive="base">
                                        <p:cTn id="21" dur="650" fill="hold"/>
                                        <p:tgtEl>
                                          <p:spTgt spid="8"/>
                                        </p:tgtEl>
                                        <p:attrNameLst>
                                          <p:attrName>ppt_x</p:attrName>
                                        </p:attrNameLst>
                                      </p:cBhvr>
                                      <p:tavLst>
                                        <p:tav tm="0">
                                          <p:val>
                                            <p:strVal val="#ppt_x"/>
                                          </p:val>
                                        </p:tav>
                                        <p:tav tm="100000">
                                          <p:val>
                                            <p:strVal val="#ppt_x"/>
                                          </p:val>
                                        </p:tav>
                                      </p:tavLst>
                                    </p:anim>
                                    <p:anim calcmode="lin" valueType="num">
                                      <p:cBhvr additive="base">
                                        <p:cTn id="22" dur="650" fill="hold"/>
                                        <p:tgtEl>
                                          <p:spTgt spid="8"/>
                                        </p:tgtEl>
                                        <p:attrNameLst>
                                          <p:attrName>ppt_y</p:attrName>
                                        </p:attrNameLst>
                                      </p:cBhvr>
                                      <p:tavLst>
                                        <p:tav tm="0">
                                          <p:val>
                                            <p:strVal val="#ppt_y+.06"/>
                                          </p:val>
                                        </p:tav>
                                        <p:tav tm="100000">
                                          <p:val>
                                            <p:strVal val="#ppt_y"/>
                                          </p:val>
                                        </p:tav>
                                      </p:tavLst>
                                    </p:anim>
                                  </p:childTnLst>
                                </p:cTn>
                              </p:par>
                              <p:par>
                                <p:cTn id="23" presetID="42" presetClass="entr" presetSubtype="0" decel="100000" fill="hold" grpId="0" nodeType="withEffect">
                                  <p:stCondLst>
                                    <p:cond delay="55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650" fill="hold"/>
                                        <p:tgtEl>
                                          <p:spTgt spid="9"/>
                                        </p:tgtEl>
                                      </p:cBhvr>
                                    </p:animEffect>
                                    <p:anim calcmode="lin" valueType="num">
                                      <p:cBhvr additive="base">
                                        <p:cTn id="26" dur="650" fill="hold"/>
                                        <p:tgtEl>
                                          <p:spTgt spid="9"/>
                                        </p:tgtEl>
                                        <p:attrNameLst>
                                          <p:attrName>ppt_x</p:attrName>
                                        </p:attrNameLst>
                                      </p:cBhvr>
                                      <p:tavLst>
                                        <p:tav tm="0">
                                          <p:val>
                                            <p:strVal val="#ppt_x"/>
                                          </p:val>
                                        </p:tav>
                                        <p:tav tm="100000">
                                          <p:val>
                                            <p:strVal val="#ppt_x"/>
                                          </p:val>
                                        </p:tav>
                                      </p:tavLst>
                                    </p:anim>
                                    <p:anim calcmode="lin" valueType="num">
                                      <p:cBhvr additive="base">
                                        <p:cTn id="27" dur="650" fill="hold"/>
                                        <p:tgtEl>
                                          <p:spTgt spid="9"/>
                                        </p:tgtEl>
                                        <p:attrNameLst>
                                          <p:attrName>ppt_y</p:attrName>
                                        </p:attrNameLst>
                                      </p:cBhvr>
                                      <p:tavLst>
                                        <p:tav tm="0">
                                          <p:val>
                                            <p:strVal val="#ppt_y+.06"/>
                                          </p:val>
                                        </p:tav>
                                        <p:tav tm="100000">
                                          <p:val>
                                            <p:strVal val="#ppt_y"/>
                                          </p:val>
                                        </p:tav>
                                      </p:tavLst>
                                    </p:anim>
                                  </p:childTnLst>
                                </p:cTn>
                              </p:par>
                              <p:par>
                                <p:cTn id="28" presetID="42" presetClass="entr" presetSubtype="0" decel="100000" fill="hold" grpId="0" nodeType="withEffect">
                                  <p:stCondLst>
                                    <p:cond delay="55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650" fill="hold"/>
                                        <p:tgtEl>
                                          <p:spTgt spid="10"/>
                                        </p:tgtEl>
                                      </p:cBhvr>
                                    </p:animEffect>
                                    <p:anim calcmode="lin" valueType="num">
                                      <p:cBhvr additive="base">
                                        <p:cTn id="31" dur="650" fill="hold"/>
                                        <p:tgtEl>
                                          <p:spTgt spid="10"/>
                                        </p:tgtEl>
                                        <p:attrNameLst>
                                          <p:attrName>ppt_x</p:attrName>
                                        </p:attrNameLst>
                                      </p:cBhvr>
                                      <p:tavLst>
                                        <p:tav tm="0">
                                          <p:val>
                                            <p:strVal val="#ppt_x"/>
                                          </p:val>
                                        </p:tav>
                                        <p:tav tm="100000">
                                          <p:val>
                                            <p:strVal val="#ppt_x"/>
                                          </p:val>
                                        </p:tav>
                                      </p:tavLst>
                                    </p:anim>
                                    <p:anim calcmode="lin" valueType="num">
                                      <p:cBhvr additive="base">
                                        <p:cTn id="32" dur="650" fill="hold"/>
                                        <p:tgtEl>
                                          <p:spTgt spid="10"/>
                                        </p:tgtEl>
                                        <p:attrNameLst>
                                          <p:attrName>ppt_y</p:attrName>
                                        </p:attrNameLst>
                                      </p:cBhvr>
                                      <p:tavLst>
                                        <p:tav tm="0">
                                          <p:val>
                                            <p:strVal val="#ppt_y+.06"/>
                                          </p:val>
                                        </p:tav>
                                        <p:tav tm="100000">
                                          <p:val>
                                            <p:strVal val="#ppt_y"/>
                                          </p:val>
                                        </p:tav>
                                      </p:tavLst>
                                    </p:anim>
                                  </p:childTnLst>
                                </p:cTn>
                              </p:par>
                              <p:par>
                                <p:cTn id="33" presetID="42" presetClass="entr" presetSubtype="0" decel="100000" fill="hold" grpId="0" nodeType="withEffect">
                                  <p:stCondLst>
                                    <p:cond delay="55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650" fill="hold"/>
                                        <p:tgtEl>
                                          <p:spTgt spid="11"/>
                                        </p:tgtEl>
                                      </p:cBhvr>
                                    </p:animEffect>
                                    <p:anim calcmode="lin" valueType="num">
                                      <p:cBhvr additive="base">
                                        <p:cTn id="36" dur="650" fill="hold"/>
                                        <p:tgtEl>
                                          <p:spTgt spid="11"/>
                                        </p:tgtEl>
                                        <p:attrNameLst>
                                          <p:attrName>ppt_x</p:attrName>
                                        </p:attrNameLst>
                                      </p:cBhvr>
                                      <p:tavLst>
                                        <p:tav tm="0">
                                          <p:val>
                                            <p:strVal val="#ppt_x"/>
                                          </p:val>
                                        </p:tav>
                                        <p:tav tm="100000">
                                          <p:val>
                                            <p:strVal val="#ppt_x"/>
                                          </p:val>
                                        </p:tav>
                                      </p:tavLst>
                                    </p:anim>
                                    <p:anim calcmode="lin" valueType="num">
                                      <p:cBhvr additive="base">
                                        <p:cTn id="37" dur="650" fill="hold"/>
                                        <p:tgtEl>
                                          <p:spTgt spid="11"/>
                                        </p:tgtEl>
                                        <p:attrNameLst>
                                          <p:attrName>ppt_y</p:attrName>
                                        </p:attrNameLst>
                                      </p:cBhvr>
                                      <p:tavLst>
                                        <p:tav tm="0">
                                          <p:val>
                                            <p:strVal val="#ppt_y+.06"/>
                                          </p:val>
                                        </p:tav>
                                        <p:tav tm="100000">
                                          <p:val>
                                            <p:strVal val="#ppt_y"/>
                                          </p:val>
                                        </p:tav>
                                      </p:tavLst>
                                    </p:anim>
                                  </p:childTnLst>
                                </p:cTn>
                              </p:par>
                              <p:par>
                                <p:cTn id="38" presetID="42" presetClass="entr" presetSubtype="0" decel="100000" fill="hold" grpId="0" nodeType="withEffect">
                                  <p:stCondLst>
                                    <p:cond delay="85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650" fill="hold"/>
                                        <p:tgtEl>
                                          <p:spTgt spid="12"/>
                                        </p:tgtEl>
                                      </p:cBhvr>
                                    </p:animEffect>
                                    <p:anim calcmode="lin" valueType="num">
                                      <p:cBhvr additive="base">
                                        <p:cTn id="41" dur="650" fill="hold"/>
                                        <p:tgtEl>
                                          <p:spTgt spid="12"/>
                                        </p:tgtEl>
                                        <p:attrNameLst>
                                          <p:attrName>ppt_x</p:attrName>
                                        </p:attrNameLst>
                                      </p:cBhvr>
                                      <p:tavLst>
                                        <p:tav tm="0">
                                          <p:val>
                                            <p:strVal val="#ppt_x"/>
                                          </p:val>
                                        </p:tav>
                                        <p:tav tm="100000">
                                          <p:val>
                                            <p:strVal val="#ppt_x"/>
                                          </p:val>
                                        </p:tav>
                                      </p:tavLst>
                                    </p:anim>
                                    <p:anim calcmode="lin" valueType="num">
                                      <p:cBhvr additive="base">
                                        <p:cTn id="42" dur="650" fill="hold"/>
                                        <p:tgtEl>
                                          <p:spTgt spid="12"/>
                                        </p:tgtEl>
                                        <p:attrNameLst>
                                          <p:attrName>ppt_y</p:attrName>
                                        </p:attrNameLst>
                                      </p:cBhvr>
                                      <p:tavLst>
                                        <p:tav tm="0">
                                          <p:val>
                                            <p:strVal val="#ppt_y+.06"/>
                                          </p:val>
                                        </p:tav>
                                        <p:tav tm="100000">
                                          <p:val>
                                            <p:strVal val="#ppt_y"/>
                                          </p:val>
                                        </p:tav>
                                      </p:tavLst>
                                    </p:anim>
                                  </p:childTnLst>
                                </p:cTn>
                              </p:par>
                              <p:par>
                                <p:cTn id="43" presetID="42" presetClass="entr" presetSubtype="0" decel="100000" fill="hold" grpId="0" nodeType="withEffect">
                                  <p:stCondLst>
                                    <p:cond delay="85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650" fill="hold"/>
                                        <p:tgtEl>
                                          <p:spTgt spid="13"/>
                                        </p:tgtEl>
                                      </p:cBhvr>
                                    </p:animEffect>
                                    <p:anim calcmode="lin" valueType="num">
                                      <p:cBhvr additive="base">
                                        <p:cTn id="46" dur="650" fill="hold"/>
                                        <p:tgtEl>
                                          <p:spTgt spid="13"/>
                                        </p:tgtEl>
                                        <p:attrNameLst>
                                          <p:attrName>ppt_x</p:attrName>
                                        </p:attrNameLst>
                                      </p:cBhvr>
                                      <p:tavLst>
                                        <p:tav tm="0">
                                          <p:val>
                                            <p:strVal val="#ppt_x"/>
                                          </p:val>
                                        </p:tav>
                                        <p:tav tm="100000">
                                          <p:val>
                                            <p:strVal val="#ppt_x"/>
                                          </p:val>
                                        </p:tav>
                                      </p:tavLst>
                                    </p:anim>
                                    <p:anim calcmode="lin" valueType="num">
                                      <p:cBhvr additive="base">
                                        <p:cTn id="47" dur="650" fill="hold"/>
                                        <p:tgtEl>
                                          <p:spTgt spid="13"/>
                                        </p:tgtEl>
                                        <p:attrNameLst>
                                          <p:attrName>ppt_y</p:attrName>
                                        </p:attrNameLst>
                                      </p:cBhvr>
                                      <p:tavLst>
                                        <p:tav tm="0">
                                          <p:val>
                                            <p:strVal val="#ppt_y+.06"/>
                                          </p:val>
                                        </p:tav>
                                        <p:tav tm="100000">
                                          <p:val>
                                            <p:strVal val="#ppt_y"/>
                                          </p:val>
                                        </p:tav>
                                      </p:tavLst>
                                    </p:anim>
                                  </p:childTnLst>
                                </p:cTn>
                              </p:par>
                              <p:par>
                                <p:cTn id="48" presetID="42" presetClass="entr" presetSubtype="0" decel="100000" fill="hold" grpId="0" nodeType="withEffect">
                                  <p:stCondLst>
                                    <p:cond delay="85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650" fill="hold"/>
                                        <p:tgtEl>
                                          <p:spTgt spid="14"/>
                                        </p:tgtEl>
                                      </p:cBhvr>
                                    </p:animEffect>
                                    <p:anim calcmode="lin" valueType="num">
                                      <p:cBhvr additive="base">
                                        <p:cTn id="51" dur="650" fill="hold"/>
                                        <p:tgtEl>
                                          <p:spTgt spid="14"/>
                                        </p:tgtEl>
                                        <p:attrNameLst>
                                          <p:attrName>ppt_x</p:attrName>
                                        </p:attrNameLst>
                                      </p:cBhvr>
                                      <p:tavLst>
                                        <p:tav tm="0">
                                          <p:val>
                                            <p:strVal val="#ppt_x"/>
                                          </p:val>
                                        </p:tav>
                                        <p:tav tm="100000">
                                          <p:val>
                                            <p:strVal val="#ppt_x"/>
                                          </p:val>
                                        </p:tav>
                                      </p:tavLst>
                                    </p:anim>
                                    <p:anim calcmode="lin" valueType="num">
                                      <p:cBhvr additive="base">
                                        <p:cTn id="52" dur="650" fill="hold"/>
                                        <p:tgtEl>
                                          <p:spTgt spid="14"/>
                                        </p:tgtEl>
                                        <p:attrNameLst>
                                          <p:attrName>ppt_y</p:attrName>
                                        </p:attrNameLst>
                                      </p:cBhvr>
                                      <p:tavLst>
                                        <p:tav tm="0">
                                          <p:val>
                                            <p:strVal val="#ppt_y+.06"/>
                                          </p:val>
                                        </p:tav>
                                        <p:tav tm="100000">
                                          <p:val>
                                            <p:strVal val="#ppt_y"/>
                                          </p:val>
                                        </p:tav>
                                      </p:tavLst>
                                    </p:anim>
                                  </p:childTnLst>
                                </p:cTn>
                              </p:par>
                              <p:par>
                                <p:cTn id="53" presetID="22" presetClass="entr" presetSubtype="8" fill="hold" grpId="0" nodeType="withEffect">
                                  <p:stCondLst>
                                    <p:cond delay="1200"/>
                                  </p:stCondLst>
                                  <p:childTnLst>
                                    <p:set>
                                      <p:cBhvr>
                                        <p:cTn id="54" dur="1" fill="hold">
                                          <p:stCondLst>
                                            <p:cond delay="0"/>
                                          </p:stCondLst>
                                        </p:cTn>
                                        <p:tgtEl>
                                          <p:spTgt spid="15"/>
                                        </p:tgtEl>
                                        <p:attrNameLst>
                                          <p:attrName>style.visibility</p:attrName>
                                        </p:attrNameLst>
                                      </p:cBhvr>
                                      <p:to>
                                        <p:strVal val="visible"/>
                                      </p:to>
                                    </p:set>
                                    <p:animEffect transition="in" filter="wipe(left)">
                                      <p:cBhvr>
                                        <p:cTn id="55" dur="800" fill="hold"/>
                                        <p:tgtEl>
                                          <p:spTgt spid="15"/>
                                        </p:tgtEl>
                                      </p:cBhvr>
                                    </p:animEffect>
                                  </p:childTnLst>
                                </p:cTn>
                              </p:par>
                              <p:par>
                                <p:cTn id="56" presetID="22" presetClass="entr" presetSubtype="8" fill="hold" grpId="0" nodeType="withEffect">
                                  <p:stCondLst>
                                    <p:cond delay="1200"/>
                                  </p:stCondLst>
                                  <p:childTnLst>
                                    <p:set>
                                      <p:cBhvr>
                                        <p:cTn id="57" dur="1" fill="hold">
                                          <p:stCondLst>
                                            <p:cond delay="0"/>
                                          </p:stCondLst>
                                        </p:cTn>
                                        <p:tgtEl>
                                          <p:spTgt spid="16"/>
                                        </p:tgtEl>
                                        <p:attrNameLst>
                                          <p:attrName>style.visibility</p:attrName>
                                        </p:attrNameLst>
                                      </p:cBhvr>
                                      <p:to>
                                        <p:strVal val="visible"/>
                                      </p:to>
                                    </p:set>
                                    <p:animEffect transition="in" filter="wipe(left)">
                                      <p:cBhvr>
                                        <p:cTn id="58" dur="800" fill="hold"/>
                                        <p:tgtEl>
                                          <p:spTgt spid="16"/>
                                        </p:tgtEl>
                                      </p:cBhvr>
                                    </p:animEffect>
                                  </p:childTnLst>
                                </p:cTn>
                              </p:par>
                              <p:par>
                                <p:cTn id="59" presetID="22" presetClass="entr" presetSubtype="8" fill="hold" grpId="0" nodeType="withEffect">
                                  <p:stCondLst>
                                    <p:cond delay="1200"/>
                                  </p:stCondLst>
                                  <p:childTnLst>
                                    <p:set>
                                      <p:cBhvr>
                                        <p:cTn id="60" dur="1" fill="hold">
                                          <p:stCondLst>
                                            <p:cond delay="0"/>
                                          </p:stCondLst>
                                        </p:cTn>
                                        <p:tgtEl>
                                          <p:spTgt spid="17"/>
                                        </p:tgtEl>
                                        <p:attrNameLst>
                                          <p:attrName>style.visibility</p:attrName>
                                        </p:attrNameLst>
                                      </p:cBhvr>
                                      <p:to>
                                        <p:strVal val="visible"/>
                                      </p:to>
                                    </p:set>
                                    <p:animEffect transition="in" filter="wipe(left)">
                                      <p:cBhvr>
                                        <p:cTn id="61" dur="800" fill="hold"/>
                                        <p:tgtEl>
                                          <p:spTgt spid="17"/>
                                        </p:tgtEl>
                                      </p:cBhvr>
                                    </p:animEffect>
                                  </p:childTnLst>
                                </p:cTn>
                              </p:par>
                              <p:par>
                                <p:cTn id="62" presetID="22" presetClass="entr" presetSubtype="8" fill="hold" grpId="0" nodeType="withEffect">
                                  <p:stCondLst>
                                    <p:cond delay="1200"/>
                                  </p:stCondLst>
                                  <p:childTnLst>
                                    <p:set>
                                      <p:cBhvr>
                                        <p:cTn id="63" dur="1" fill="hold">
                                          <p:stCondLst>
                                            <p:cond delay="0"/>
                                          </p:stCondLst>
                                        </p:cTn>
                                        <p:tgtEl>
                                          <p:spTgt spid="18"/>
                                        </p:tgtEl>
                                        <p:attrNameLst>
                                          <p:attrName>style.visibility</p:attrName>
                                        </p:attrNameLst>
                                      </p:cBhvr>
                                      <p:to>
                                        <p:strVal val="visible"/>
                                      </p:to>
                                    </p:set>
                                    <p:animEffect transition="in" filter="wipe(left)">
                                      <p:cBhvr>
                                        <p:cTn id="64" dur="800" fill="hold"/>
                                        <p:tgtEl>
                                          <p:spTgt spid="18"/>
                                        </p:tgtEl>
                                      </p:cBhvr>
                                    </p:animEffect>
                                  </p:childTnLst>
                                </p:cTn>
                              </p:par>
                              <p:par>
                                <p:cTn id="65" presetID="22" presetClass="entr" presetSubtype="8" fill="hold" grpId="0" nodeType="withEffect">
                                  <p:stCondLst>
                                    <p:cond delay="1200"/>
                                  </p:stCondLst>
                                  <p:childTnLst>
                                    <p:set>
                                      <p:cBhvr>
                                        <p:cTn id="66" dur="1" fill="hold">
                                          <p:stCondLst>
                                            <p:cond delay="0"/>
                                          </p:stCondLst>
                                        </p:cTn>
                                        <p:tgtEl>
                                          <p:spTgt spid="19"/>
                                        </p:tgtEl>
                                        <p:attrNameLst>
                                          <p:attrName>style.visibility</p:attrName>
                                        </p:attrNameLst>
                                      </p:cBhvr>
                                      <p:to>
                                        <p:strVal val="visible"/>
                                      </p:to>
                                    </p:set>
                                    <p:animEffect transition="in" filter="wipe(left)">
                                      <p:cBhvr>
                                        <p:cTn id="67" dur="800" fill="hold"/>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2FA38A"/>
                </a:solidFill>
                <a:latin typeface="Segoe UI Semibold"/>
              </a:rPr>
              <a:t>MÓDULO 6  ·  ESTUDO DE CASO (ILUSTRATIVO)</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Idear: 24 ideias, 1 aposta</a:t>
            </a:r>
          </a:p>
        </p:txBody>
      </p:sp>
      <p:sp>
        <p:nvSpPr>
          <p:cNvPr id="6" name="Rounded Rectangle 5"/>
          <p:cNvSpPr/>
          <p:nvPr/>
        </p:nvSpPr>
        <p:spPr>
          <a:xfrm>
            <a:off x="548640" y="1554480"/>
            <a:ext cx="3474720" cy="429768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22959" y="1737360"/>
            <a:ext cx="2926080" cy="457200"/>
          </a:xfrm>
          <a:prstGeom prst="rect">
            <a:avLst/>
          </a:prstGeom>
          <a:noFill/>
        </p:spPr>
        <p:txBody>
          <a:bodyPr wrap="square" lIns="36576" tIns="18288" rIns="36576" bIns="18288" anchor="t">
            <a:spAutoFit/>
          </a:bodyPr>
          <a:lstStyle/>
          <a:p>
            <a:pPr algn="l"/>
            <a:r>
              <a:rPr sz="2000" b="1" i="0">
                <a:solidFill>
                  <a:srgbClr val="9CD848"/>
                </a:solidFill>
                <a:latin typeface="Segoe UI Semibold"/>
              </a:rPr>
              <a:t>Vitórias rápidas</a:t>
            </a:r>
          </a:p>
        </p:txBody>
      </p:sp>
      <p:sp>
        <p:nvSpPr>
          <p:cNvPr id="8" name="TextBox 7"/>
          <p:cNvSpPr txBox="1"/>
          <p:nvPr/>
        </p:nvSpPr>
        <p:spPr>
          <a:xfrm>
            <a:off x="822959" y="2194560"/>
            <a:ext cx="2926080" cy="365760"/>
          </a:xfrm>
          <a:prstGeom prst="rect">
            <a:avLst/>
          </a:prstGeom>
          <a:noFill/>
        </p:spPr>
        <p:txBody>
          <a:bodyPr wrap="square" lIns="36576" tIns="18288" rIns="36576" bIns="18288" anchor="t">
            <a:spAutoFit/>
          </a:bodyPr>
          <a:lstStyle/>
          <a:p>
            <a:pPr algn="l"/>
            <a:r>
              <a:rPr sz="1200" b="0" i="0">
                <a:solidFill>
                  <a:srgbClr val="7D827B"/>
                </a:solidFill>
                <a:latin typeface="Segoe UI"/>
              </a:rPr>
              <a:t>Prototipar já</a:t>
            </a:r>
          </a:p>
        </p:txBody>
      </p:sp>
      <p:sp>
        <p:nvSpPr>
          <p:cNvPr id="9" name="Rounded Rectangle 8"/>
          <p:cNvSpPr/>
          <p:nvPr/>
        </p:nvSpPr>
        <p:spPr>
          <a:xfrm>
            <a:off x="4297679" y="1554480"/>
            <a:ext cx="3474720" cy="429768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571999" y="1737360"/>
            <a:ext cx="2926080" cy="457200"/>
          </a:xfrm>
          <a:prstGeom prst="rect">
            <a:avLst/>
          </a:prstGeom>
          <a:noFill/>
        </p:spPr>
        <p:txBody>
          <a:bodyPr wrap="square" lIns="36576" tIns="18288" rIns="36576" bIns="18288" anchor="t">
            <a:spAutoFit/>
          </a:bodyPr>
          <a:lstStyle/>
          <a:p>
            <a:pPr algn="l"/>
            <a:r>
              <a:rPr sz="2000" b="1" i="0">
                <a:solidFill>
                  <a:srgbClr val="2A9FC0"/>
                </a:solidFill>
                <a:latin typeface="Segoe UI Semibold"/>
              </a:rPr>
              <a:t>Grandes apostas</a:t>
            </a:r>
          </a:p>
        </p:txBody>
      </p:sp>
      <p:sp>
        <p:nvSpPr>
          <p:cNvPr id="11" name="TextBox 10"/>
          <p:cNvSpPr txBox="1"/>
          <p:nvPr/>
        </p:nvSpPr>
        <p:spPr>
          <a:xfrm>
            <a:off x="4571999" y="2194560"/>
            <a:ext cx="2926080" cy="365760"/>
          </a:xfrm>
          <a:prstGeom prst="rect">
            <a:avLst/>
          </a:prstGeom>
          <a:noFill/>
        </p:spPr>
        <p:txBody>
          <a:bodyPr wrap="square" lIns="36576" tIns="18288" rIns="36576" bIns="18288" anchor="t">
            <a:spAutoFit/>
          </a:bodyPr>
          <a:lstStyle/>
          <a:p>
            <a:pPr algn="l"/>
            <a:r>
              <a:rPr sz="1200" b="0" i="0">
                <a:solidFill>
                  <a:srgbClr val="7D827B"/>
                </a:solidFill>
                <a:latin typeface="Segoe UI"/>
              </a:rPr>
              <a:t>Depois do piloto</a:t>
            </a:r>
          </a:p>
        </p:txBody>
      </p:sp>
      <p:sp>
        <p:nvSpPr>
          <p:cNvPr id="12" name="Rounded Rectangle 11"/>
          <p:cNvSpPr/>
          <p:nvPr/>
        </p:nvSpPr>
        <p:spPr>
          <a:xfrm>
            <a:off x="8046719" y="1554480"/>
            <a:ext cx="3474720" cy="4297680"/>
          </a:xfrm>
          <a:prstGeom prst="roundRect">
            <a:avLst>
              <a:gd name="adj" fmla="val 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321040" y="1737360"/>
            <a:ext cx="2926080" cy="457200"/>
          </a:xfrm>
          <a:prstGeom prst="rect">
            <a:avLst/>
          </a:prstGeom>
          <a:noFill/>
        </p:spPr>
        <p:txBody>
          <a:bodyPr wrap="square" lIns="36576" tIns="18288" rIns="36576" bIns="18288" anchor="t">
            <a:spAutoFit/>
          </a:bodyPr>
          <a:lstStyle/>
          <a:p>
            <a:pPr algn="l"/>
            <a:r>
              <a:rPr sz="2000" b="1" i="0">
                <a:solidFill>
                  <a:srgbClr val="C0584F"/>
                </a:solidFill>
                <a:latin typeface="Segoe UI Semibold"/>
              </a:rPr>
              <a:t>Evitar</a:t>
            </a:r>
          </a:p>
        </p:txBody>
      </p:sp>
      <p:sp>
        <p:nvSpPr>
          <p:cNvPr id="14" name="TextBox 13"/>
          <p:cNvSpPr txBox="1"/>
          <p:nvPr/>
        </p:nvSpPr>
        <p:spPr>
          <a:xfrm>
            <a:off x="8321040" y="2194560"/>
            <a:ext cx="2926080" cy="365760"/>
          </a:xfrm>
          <a:prstGeom prst="rect">
            <a:avLst/>
          </a:prstGeom>
          <a:noFill/>
        </p:spPr>
        <p:txBody>
          <a:bodyPr wrap="square" lIns="36576" tIns="18288" rIns="36576" bIns="18288" anchor="t">
            <a:spAutoFit/>
          </a:bodyPr>
          <a:lstStyle/>
          <a:p>
            <a:pPr algn="l"/>
            <a:r>
              <a:rPr sz="1200" b="0" i="0">
                <a:solidFill>
                  <a:srgbClr val="7D827B"/>
                </a:solidFill>
                <a:latin typeface="Segoe UI"/>
              </a:rPr>
              <a:t>Descartadas</a:t>
            </a:r>
          </a:p>
        </p:txBody>
      </p:sp>
      <p:sp>
        <p:nvSpPr>
          <p:cNvPr id="15" name="Rounded Rectangle 14"/>
          <p:cNvSpPr/>
          <p:nvPr/>
        </p:nvSpPr>
        <p:spPr>
          <a:xfrm>
            <a:off x="822959" y="2743200"/>
            <a:ext cx="2926080" cy="1097280"/>
          </a:xfrm>
          <a:prstGeom prst="roundRect">
            <a:avLst>
              <a:gd name="adj" fmla="val 12000"/>
            </a:avLst>
          </a:prstGeom>
          <a:solidFill>
            <a:srgbClr val="2E3431"/>
          </a:solidFill>
          <a:ln w="15875">
            <a:solidFill>
              <a:srgbClr val="9CD848"/>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500" b="1" i="0">
                <a:solidFill>
                  <a:srgbClr val="F2F2EC"/>
                </a:solidFill>
                <a:latin typeface="Segoe UI Semibold"/>
              </a:rPr>
              <a:t>Lembrete no WhatsApp com botões Confirmar / Remarcar</a:t>
            </a:r>
          </a:p>
        </p:txBody>
      </p:sp>
      <p:sp>
        <p:nvSpPr>
          <p:cNvPr id="16" name="Rounded Rectangle 15"/>
          <p:cNvSpPr/>
          <p:nvPr/>
        </p:nvSpPr>
        <p:spPr>
          <a:xfrm>
            <a:off x="822959" y="4023360"/>
            <a:ext cx="2926080" cy="1097280"/>
          </a:xfrm>
          <a:prstGeom prst="roundRect">
            <a:avLst>
              <a:gd name="adj" fmla="val 12000"/>
            </a:avLst>
          </a:prstGeom>
          <a:solidFill>
            <a:srgbClr val="2E3431"/>
          </a:solidFill>
          <a:ln w="15875">
            <a:solidFill>
              <a:srgbClr val="9CD848"/>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500" b="1" i="0">
                <a:solidFill>
                  <a:srgbClr val="F2F2EC"/>
                </a:solidFill>
                <a:latin typeface="Segoe UI Semibold"/>
              </a:rPr>
              <a:t>Link de remarcação self-service</a:t>
            </a:r>
          </a:p>
        </p:txBody>
      </p:sp>
      <p:sp>
        <p:nvSpPr>
          <p:cNvPr id="17" name="Rounded Rectangle 16"/>
          <p:cNvSpPr/>
          <p:nvPr/>
        </p:nvSpPr>
        <p:spPr>
          <a:xfrm>
            <a:off x="4571999" y="2743200"/>
            <a:ext cx="2926080" cy="1097280"/>
          </a:xfrm>
          <a:prstGeom prst="roundRect">
            <a:avLst>
              <a:gd name="adj" fmla="val 12000"/>
            </a:avLst>
          </a:prstGeom>
          <a:solidFill>
            <a:srgbClr val="2E3431"/>
          </a:solidFill>
          <a:ln w="15875">
            <a:solidFill>
              <a:srgbClr val="2A9FC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500" b="1" i="0">
                <a:solidFill>
                  <a:srgbClr val="F2F2EC"/>
                </a:solidFill>
                <a:latin typeface="Segoe UI Semibold"/>
              </a:rPr>
              <a:t>Lista de espera para encaixes</a:t>
            </a:r>
          </a:p>
        </p:txBody>
      </p:sp>
      <p:sp>
        <p:nvSpPr>
          <p:cNvPr id="18" name="Rounded Rectangle 17"/>
          <p:cNvSpPr/>
          <p:nvPr/>
        </p:nvSpPr>
        <p:spPr>
          <a:xfrm>
            <a:off x="4571999" y="4023360"/>
            <a:ext cx="2926080" cy="1097280"/>
          </a:xfrm>
          <a:prstGeom prst="roundRect">
            <a:avLst>
              <a:gd name="adj" fmla="val 12000"/>
            </a:avLst>
          </a:prstGeom>
          <a:solidFill>
            <a:srgbClr val="2E3431"/>
          </a:solidFill>
          <a:ln w="15875">
            <a:solidFill>
              <a:srgbClr val="2A9FC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500" b="1" i="0">
                <a:solidFill>
                  <a:srgbClr val="F2F2EC"/>
                </a:solidFill>
                <a:latin typeface="Segoe UI Semibold"/>
              </a:rPr>
              <a:t>Horários noturnos</a:t>
            </a:r>
          </a:p>
        </p:txBody>
      </p:sp>
      <p:sp>
        <p:nvSpPr>
          <p:cNvPr id="19" name="Rounded Rectangle 18"/>
          <p:cNvSpPr/>
          <p:nvPr/>
        </p:nvSpPr>
        <p:spPr>
          <a:xfrm>
            <a:off x="8321040" y="2743200"/>
            <a:ext cx="2926080" cy="1097280"/>
          </a:xfrm>
          <a:prstGeom prst="roundRect">
            <a:avLst>
              <a:gd name="adj" fmla="val 12000"/>
            </a:avLst>
          </a:prstGeom>
          <a:solidFill>
            <a:srgbClr val="2E3431"/>
          </a:solidFill>
          <a:ln w="15875">
            <a:solidFill>
              <a:srgbClr val="C0584F"/>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500" b="1" i="0">
                <a:solidFill>
                  <a:srgbClr val="F2F2EC"/>
                </a:solidFill>
                <a:latin typeface="Segoe UI Semibold"/>
              </a:rPr>
              <a:t>Taxa por falta</a:t>
            </a:r>
          </a:p>
        </p:txBody>
      </p:sp>
      <p:sp>
        <p:nvSpPr>
          <p:cNvPr id="20" name="Rounded Rectangle 19"/>
          <p:cNvSpPr/>
          <p:nvPr/>
        </p:nvSpPr>
        <p:spPr>
          <a:xfrm>
            <a:off x="8321040" y="4023360"/>
            <a:ext cx="2926080" cy="1097280"/>
          </a:xfrm>
          <a:prstGeom prst="roundRect">
            <a:avLst>
              <a:gd name="adj" fmla="val 12000"/>
            </a:avLst>
          </a:prstGeom>
          <a:solidFill>
            <a:srgbClr val="2E3431"/>
          </a:solidFill>
          <a:ln w="15875">
            <a:solidFill>
              <a:srgbClr val="C0584F"/>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500" b="1" i="0">
                <a:solidFill>
                  <a:srgbClr val="F2F2EC"/>
                </a:solidFill>
                <a:latin typeface="Segoe UI Semibold"/>
              </a:rPr>
              <a:t>App próprio da clínica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42" presetClass="entr" presetSubtype="0" decel="100000" fill="hold" grpId="0" nodeType="withEffect">
                                  <p:stCondLst>
                                    <p:cond delay="2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50" fill="hold"/>
                                        <p:tgtEl>
                                          <p:spTgt spid="6"/>
                                        </p:tgtEl>
                                      </p:cBhvr>
                                    </p:animEffect>
                                    <p:anim calcmode="lin" valueType="num">
                                      <p:cBhvr additive="base">
                                        <p:cTn id="11" dur="650" fill="hold"/>
                                        <p:tgtEl>
                                          <p:spTgt spid="6"/>
                                        </p:tgtEl>
                                        <p:attrNameLst>
                                          <p:attrName>ppt_x</p:attrName>
                                        </p:attrNameLst>
                                      </p:cBhvr>
                                      <p:tavLst>
                                        <p:tav tm="0">
                                          <p:val>
                                            <p:strVal val="#ppt_x"/>
                                          </p:val>
                                        </p:tav>
                                        <p:tav tm="100000">
                                          <p:val>
                                            <p:strVal val="#ppt_x"/>
                                          </p:val>
                                        </p:tav>
                                      </p:tavLst>
                                    </p:anim>
                                    <p:anim calcmode="lin" valueType="num">
                                      <p:cBhvr additive="base">
                                        <p:cTn id="12" dur="650" fill="hold"/>
                                        <p:tgtEl>
                                          <p:spTgt spid="6"/>
                                        </p:tgtEl>
                                        <p:attrNameLst>
                                          <p:attrName>ppt_y</p:attrName>
                                        </p:attrNameLst>
                                      </p:cBhvr>
                                      <p:tavLst>
                                        <p:tav tm="0">
                                          <p:val>
                                            <p:strVal val="#ppt_y+.06"/>
                                          </p:val>
                                        </p:tav>
                                        <p:tav tm="100000">
                                          <p:val>
                                            <p:strVal val="#ppt_y"/>
                                          </p:val>
                                        </p:tav>
                                      </p:tavLst>
                                    </p:anim>
                                  </p:childTnLst>
                                </p:cTn>
                              </p:par>
                              <p:par>
                                <p:cTn id="13" presetID="42" presetClass="entr" presetSubtype="0" decel="100000" fill="hold" grpId="0" nodeType="withEffect">
                                  <p:stCondLst>
                                    <p:cond delay="20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fill="hold"/>
                                        <p:tgtEl>
                                          <p:spTgt spid="7"/>
                                        </p:tgtEl>
                                      </p:cBhvr>
                                    </p:animEffect>
                                    <p:anim calcmode="lin" valueType="num">
                                      <p:cBhvr additive="base">
                                        <p:cTn id="16" dur="650" fill="hold"/>
                                        <p:tgtEl>
                                          <p:spTgt spid="7"/>
                                        </p:tgtEl>
                                        <p:attrNameLst>
                                          <p:attrName>ppt_x</p:attrName>
                                        </p:attrNameLst>
                                      </p:cBhvr>
                                      <p:tavLst>
                                        <p:tav tm="0">
                                          <p:val>
                                            <p:strVal val="#ppt_x"/>
                                          </p:val>
                                        </p:tav>
                                        <p:tav tm="100000">
                                          <p:val>
                                            <p:strVal val="#ppt_x"/>
                                          </p:val>
                                        </p:tav>
                                      </p:tavLst>
                                    </p:anim>
                                    <p:anim calcmode="lin" valueType="num">
                                      <p:cBhvr additive="base">
                                        <p:cTn id="17" dur="650" fill="hold"/>
                                        <p:tgtEl>
                                          <p:spTgt spid="7"/>
                                        </p:tgtEl>
                                        <p:attrNameLst>
                                          <p:attrName>ppt_y</p:attrName>
                                        </p:attrNameLst>
                                      </p:cBhvr>
                                      <p:tavLst>
                                        <p:tav tm="0">
                                          <p:val>
                                            <p:strVal val="#ppt_y+.06"/>
                                          </p:val>
                                        </p:tav>
                                        <p:tav tm="100000">
                                          <p:val>
                                            <p:strVal val="#ppt_y"/>
                                          </p:val>
                                        </p:tav>
                                      </p:tavLst>
                                    </p:anim>
                                  </p:childTnLst>
                                </p:cTn>
                              </p:par>
                              <p:par>
                                <p:cTn id="18" presetID="42" presetClass="entr" presetSubtype="0" decel="100000" fill="hold" grpId="0" nodeType="withEffect">
                                  <p:stCondLst>
                                    <p:cond delay="20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650" fill="hold"/>
                                        <p:tgtEl>
                                          <p:spTgt spid="8"/>
                                        </p:tgtEl>
                                      </p:cBhvr>
                                    </p:animEffect>
                                    <p:anim calcmode="lin" valueType="num">
                                      <p:cBhvr additive="base">
                                        <p:cTn id="21" dur="650" fill="hold"/>
                                        <p:tgtEl>
                                          <p:spTgt spid="8"/>
                                        </p:tgtEl>
                                        <p:attrNameLst>
                                          <p:attrName>ppt_x</p:attrName>
                                        </p:attrNameLst>
                                      </p:cBhvr>
                                      <p:tavLst>
                                        <p:tav tm="0">
                                          <p:val>
                                            <p:strVal val="#ppt_x"/>
                                          </p:val>
                                        </p:tav>
                                        <p:tav tm="100000">
                                          <p:val>
                                            <p:strVal val="#ppt_x"/>
                                          </p:val>
                                        </p:tav>
                                      </p:tavLst>
                                    </p:anim>
                                    <p:anim calcmode="lin" valueType="num">
                                      <p:cBhvr additive="base">
                                        <p:cTn id="22" dur="650" fill="hold"/>
                                        <p:tgtEl>
                                          <p:spTgt spid="8"/>
                                        </p:tgtEl>
                                        <p:attrNameLst>
                                          <p:attrName>ppt_y</p:attrName>
                                        </p:attrNameLst>
                                      </p:cBhvr>
                                      <p:tavLst>
                                        <p:tav tm="0">
                                          <p:val>
                                            <p:strVal val="#ppt_y+.06"/>
                                          </p:val>
                                        </p:tav>
                                        <p:tav tm="100000">
                                          <p:val>
                                            <p:strVal val="#ppt_y"/>
                                          </p:val>
                                        </p:tav>
                                      </p:tavLst>
                                    </p:anim>
                                  </p:childTnLst>
                                </p:cTn>
                              </p:par>
                              <p:par>
                                <p:cTn id="23" presetID="42" presetClass="entr" presetSubtype="0" decel="100000" fill="hold" grpId="0" nodeType="withEffect">
                                  <p:stCondLst>
                                    <p:cond delay="4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650" fill="hold"/>
                                        <p:tgtEl>
                                          <p:spTgt spid="9"/>
                                        </p:tgtEl>
                                      </p:cBhvr>
                                    </p:animEffect>
                                    <p:anim calcmode="lin" valueType="num">
                                      <p:cBhvr additive="base">
                                        <p:cTn id="26" dur="650" fill="hold"/>
                                        <p:tgtEl>
                                          <p:spTgt spid="9"/>
                                        </p:tgtEl>
                                        <p:attrNameLst>
                                          <p:attrName>ppt_x</p:attrName>
                                        </p:attrNameLst>
                                      </p:cBhvr>
                                      <p:tavLst>
                                        <p:tav tm="0">
                                          <p:val>
                                            <p:strVal val="#ppt_x"/>
                                          </p:val>
                                        </p:tav>
                                        <p:tav tm="100000">
                                          <p:val>
                                            <p:strVal val="#ppt_x"/>
                                          </p:val>
                                        </p:tav>
                                      </p:tavLst>
                                    </p:anim>
                                    <p:anim calcmode="lin" valueType="num">
                                      <p:cBhvr additive="base">
                                        <p:cTn id="27" dur="650" fill="hold"/>
                                        <p:tgtEl>
                                          <p:spTgt spid="9"/>
                                        </p:tgtEl>
                                        <p:attrNameLst>
                                          <p:attrName>ppt_y</p:attrName>
                                        </p:attrNameLst>
                                      </p:cBhvr>
                                      <p:tavLst>
                                        <p:tav tm="0">
                                          <p:val>
                                            <p:strVal val="#ppt_y+.06"/>
                                          </p:val>
                                        </p:tav>
                                        <p:tav tm="100000">
                                          <p:val>
                                            <p:strVal val="#ppt_y"/>
                                          </p:val>
                                        </p:tav>
                                      </p:tavLst>
                                    </p:anim>
                                  </p:childTnLst>
                                </p:cTn>
                              </p:par>
                              <p:par>
                                <p:cTn id="28" presetID="42" presetClass="entr" presetSubtype="0" decel="100000" fill="hold" grpId="0" nodeType="withEffect">
                                  <p:stCondLst>
                                    <p:cond delay="40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650" fill="hold"/>
                                        <p:tgtEl>
                                          <p:spTgt spid="10"/>
                                        </p:tgtEl>
                                      </p:cBhvr>
                                    </p:animEffect>
                                    <p:anim calcmode="lin" valueType="num">
                                      <p:cBhvr additive="base">
                                        <p:cTn id="31" dur="650" fill="hold"/>
                                        <p:tgtEl>
                                          <p:spTgt spid="10"/>
                                        </p:tgtEl>
                                        <p:attrNameLst>
                                          <p:attrName>ppt_x</p:attrName>
                                        </p:attrNameLst>
                                      </p:cBhvr>
                                      <p:tavLst>
                                        <p:tav tm="0">
                                          <p:val>
                                            <p:strVal val="#ppt_x"/>
                                          </p:val>
                                        </p:tav>
                                        <p:tav tm="100000">
                                          <p:val>
                                            <p:strVal val="#ppt_x"/>
                                          </p:val>
                                        </p:tav>
                                      </p:tavLst>
                                    </p:anim>
                                    <p:anim calcmode="lin" valueType="num">
                                      <p:cBhvr additive="base">
                                        <p:cTn id="32" dur="650" fill="hold"/>
                                        <p:tgtEl>
                                          <p:spTgt spid="10"/>
                                        </p:tgtEl>
                                        <p:attrNameLst>
                                          <p:attrName>ppt_y</p:attrName>
                                        </p:attrNameLst>
                                      </p:cBhvr>
                                      <p:tavLst>
                                        <p:tav tm="0">
                                          <p:val>
                                            <p:strVal val="#ppt_y+.06"/>
                                          </p:val>
                                        </p:tav>
                                        <p:tav tm="100000">
                                          <p:val>
                                            <p:strVal val="#ppt_y"/>
                                          </p:val>
                                        </p:tav>
                                      </p:tavLst>
                                    </p:anim>
                                  </p:childTnLst>
                                </p:cTn>
                              </p:par>
                              <p:par>
                                <p:cTn id="33" presetID="42" presetClass="entr" presetSubtype="0" decel="100000" fill="hold" grpId="0" nodeType="withEffect">
                                  <p:stCondLst>
                                    <p:cond delay="40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650" fill="hold"/>
                                        <p:tgtEl>
                                          <p:spTgt spid="11"/>
                                        </p:tgtEl>
                                      </p:cBhvr>
                                    </p:animEffect>
                                    <p:anim calcmode="lin" valueType="num">
                                      <p:cBhvr additive="base">
                                        <p:cTn id="36" dur="650" fill="hold"/>
                                        <p:tgtEl>
                                          <p:spTgt spid="11"/>
                                        </p:tgtEl>
                                        <p:attrNameLst>
                                          <p:attrName>ppt_x</p:attrName>
                                        </p:attrNameLst>
                                      </p:cBhvr>
                                      <p:tavLst>
                                        <p:tav tm="0">
                                          <p:val>
                                            <p:strVal val="#ppt_x"/>
                                          </p:val>
                                        </p:tav>
                                        <p:tav tm="100000">
                                          <p:val>
                                            <p:strVal val="#ppt_x"/>
                                          </p:val>
                                        </p:tav>
                                      </p:tavLst>
                                    </p:anim>
                                    <p:anim calcmode="lin" valueType="num">
                                      <p:cBhvr additive="base">
                                        <p:cTn id="37" dur="650" fill="hold"/>
                                        <p:tgtEl>
                                          <p:spTgt spid="11"/>
                                        </p:tgtEl>
                                        <p:attrNameLst>
                                          <p:attrName>ppt_y</p:attrName>
                                        </p:attrNameLst>
                                      </p:cBhvr>
                                      <p:tavLst>
                                        <p:tav tm="0">
                                          <p:val>
                                            <p:strVal val="#ppt_y+.06"/>
                                          </p:val>
                                        </p:tav>
                                        <p:tav tm="100000">
                                          <p:val>
                                            <p:strVal val="#ppt_y"/>
                                          </p:val>
                                        </p:tav>
                                      </p:tavLst>
                                    </p:anim>
                                  </p:childTnLst>
                                </p:cTn>
                              </p:par>
                              <p:par>
                                <p:cTn id="38" presetID="42" presetClass="entr" presetSubtype="0" decel="100000" fill="hold" grpId="0" nodeType="withEffect">
                                  <p:stCondLst>
                                    <p:cond delay="60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650" fill="hold"/>
                                        <p:tgtEl>
                                          <p:spTgt spid="12"/>
                                        </p:tgtEl>
                                      </p:cBhvr>
                                    </p:animEffect>
                                    <p:anim calcmode="lin" valueType="num">
                                      <p:cBhvr additive="base">
                                        <p:cTn id="41" dur="650" fill="hold"/>
                                        <p:tgtEl>
                                          <p:spTgt spid="12"/>
                                        </p:tgtEl>
                                        <p:attrNameLst>
                                          <p:attrName>ppt_x</p:attrName>
                                        </p:attrNameLst>
                                      </p:cBhvr>
                                      <p:tavLst>
                                        <p:tav tm="0">
                                          <p:val>
                                            <p:strVal val="#ppt_x"/>
                                          </p:val>
                                        </p:tav>
                                        <p:tav tm="100000">
                                          <p:val>
                                            <p:strVal val="#ppt_x"/>
                                          </p:val>
                                        </p:tav>
                                      </p:tavLst>
                                    </p:anim>
                                    <p:anim calcmode="lin" valueType="num">
                                      <p:cBhvr additive="base">
                                        <p:cTn id="42" dur="650" fill="hold"/>
                                        <p:tgtEl>
                                          <p:spTgt spid="12"/>
                                        </p:tgtEl>
                                        <p:attrNameLst>
                                          <p:attrName>ppt_y</p:attrName>
                                        </p:attrNameLst>
                                      </p:cBhvr>
                                      <p:tavLst>
                                        <p:tav tm="0">
                                          <p:val>
                                            <p:strVal val="#ppt_y+.06"/>
                                          </p:val>
                                        </p:tav>
                                        <p:tav tm="100000">
                                          <p:val>
                                            <p:strVal val="#ppt_y"/>
                                          </p:val>
                                        </p:tav>
                                      </p:tavLst>
                                    </p:anim>
                                  </p:childTnLst>
                                </p:cTn>
                              </p:par>
                              <p:par>
                                <p:cTn id="43" presetID="42" presetClass="entr" presetSubtype="0" decel="100000" fill="hold" grpId="0" nodeType="withEffect">
                                  <p:stCondLst>
                                    <p:cond delay="60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650" fill="hold"/>
                                        <p:tgtEl>
                                          <p:spTgt spid="13"/>
                                        </p:tgtEl>
                                      </p:cBhvr>
                                    </p:animEffect>
                                    <p:anim calcmode="lin" valueType="num">
                                      <p:cBhvr additive="base">
                                        <p:cTn id="46" dur="650" fill="hold"/>
                                        <p:tgtEl>
                                          <p:spTgt spid="13"/>
                                        </p:tgtEl>
                                        <p:attrNameLst>
                                          <p:attrName>ppt_x</p:attrName>
                                        </p:attrNameLst>
                                      </p:cBhvr>
                                      <p:tavLst>
                                        <p:tav tm="0">
                                          <p:val>
                                            <p:strVal val="#ppt_x"/>
                                          </p:val>
                                        </p:tav>
                                        <p:tav tm="100000">
                                          <p:val>
                                            <p:strVal val="#ppt_x"/>
                                          </p:val>
                                        </p:tav>
                                      </p:tavLst>
                                    </p:anim>
                                    <p:anim calcmode="lin" valueType="num">
                                      <p:cBhvr additive="base">
                                        <p:cTn id="47" dur="650" fill="hold"/>
                                        <p:tgtEl>
                                          <p:spTgt spid="13"/>
                                        </p:tgtEl>
                                        <p:attrNameLst>
                                          <p:attrName>ppt_y</p:attrName>
                                        </p:attrNameLst>
                                      </p:cBhvr>
                                      <p:tavLst>
                                        <p:tav tm="0">
                                          <p:val>
                                            <p:strVal val="#ppt_y+.06"/>
                                          </p:val>
                                        </p:tav>
                                        <p:tav tm="100000">
                                          <p:val>
                                            <p:strVal val="#ppt_y"/>
                                          </p:val>
                                        </p:tav>
                                      </p:tavLst>
                                    </p:anim>
                                  </p:childTnLst>
                                </p:cTn>
                              </p:par>
                              <p:par>
                                <p:cTn id="48" presetID="42" presetClass="entr" presetSubtype="0" decel="100000" fill="hold" grpId="0" nodeType="withEffect">
                                  <p:stCondLst>
                                    <p:cond delay="60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650" fill="hold"/>
                                        <p:tgtEl>
                                          <p:spTgt spid="14"/>
                                        </p:tgtEl>
                                      </p:cBhvr>
                                    </p:animEffect>
                                    <p:anim calcmode="lin" valueType="num">
                                      <p:cBhvr additive="base">
                                        <p:cTn id="51" dur="650" fill="hold"/>
                                        <p:tgtEl>
                                          <p:spTgt spid="14"/>
                                        </p:tgtEl>
                                        <p:attrNameLst>
                                          <p:attrName>ppt_x</p:attrName>
                                        </p:attrNameLst>
                                      </p:cBhvr>
                                      <p:tavLst>
                                        <p:tav tm="0">
                                          <p:val>
                                            <p:strVal val="#ppt_x"/>
                                          </p:val>
                                        </p:tav>
                                        <p:tav tm="100000">
                                          <p:val>
                                            <p:strVal val="#ppt_x"/>
                                          </p:val>
                                        </p:tav>
                                      </p:tavLst>
                                    </p:anim>
                                    <p:anim calcmode="lin" valueType="num">
                                      <p:cBhvr additive="base">
                                        <p:cTn id="52" dur="650" fill="hold"/>
                                        <p:tgtEl>
                                          <p:spTgt spid="14"/>
                                        </p:tgtEl>
                                        <p:attrNameLst>
                                          <p:attrName>ppt_y</p:attrName>
                                        </p:attrNameLst>
                                      </p:cBhvr>
                                      <p:tavLst>
                                        <p:tav tm="0">
                                          <p:val>
                                            <p:strVal val="#ppt_y+.06"/>
                                          </p:val>
                                        </p:tav>
                                        <p:tav tm="100000">
                                          <p:val>
                                            <p:strVal val="#ppt_y"/>
                                          </p:val>
                                        </p:tav>
                                      </p:tavLst>
                                    </p:anim>
                                  </p:childTnLst>
                                </p:cTn>
                              </p:par>
                              <p:par>
                                <p:cTn id="53" presetID="53" presetClass="entr" presetSubtype="16" decel="100000" fill="hold" grpId="0" nodeType="withEffect">
                                  <p:stCondLst>
                                    <p:cond delay="850"/>
                                  </p:stCondLst>
                                  <p:childTnLst>
                                    <p:set>
                                      <p:cBhvr>
                                        <p:cTn id="54" dur="1" fill="hold">
                                          <p:stCondLst>
                                            <p:cond delay="0"/>
                                          </p:stCondLst>
                                        </p:cTn>
                                        <p:tgtEl>
                                          <p:spTgt spid="15"/>
                                        </p:tgtEl>
                                        <p:attrNameLst>
                                          <p:attrName>style.visibility</p:attrName>
                                        </p:attrNameLst>
                                      </p:cBhvr>
                                      <p:to>
                                        <p:strVal val="visible"/>
                                      </p:to>
                                    </p:set>
                                    <p:anim calcmode="lin" valueType="num">
                                      <p:cBhvr additive="base">
                                        <p:cTn id="55" dur="450" fill="hold"/>
                                        <p:tgtEl>
                                          <p:spTgt spid="15"/>
                                        </p:tgtEl>
                                        <p:attrNameLst>
                                          <p:attrName>ppt_w</p:attrName>
                                        </p:attrNameLst>
                                      </p:cBhvr>
                                      <p:tavLst>
                                        <p:tav tm="0">
                                          <p:val>
                                            <p:strVal val="0"/>
                                          </p:val>
                                        </p:tav>
                                        <p:tav tm="70000">
                                          <p:val>
                                            <p:strVal val="#ppt_w*1.08"/>
                                          </p:val>
                                        </p:tav>
                                        <p:tav tm="100000">
                                          <p:val>
                                            <p:strVal val="#ppt_w"/>
                                          </p:val>
                                        </p:tav>
                                      </p:tavLst>
                                    </p:anim>
                                    <p:anim calcmode="lin" valueType="num">
                                      <p:cBhvr additive="base">
                                        <p:cTn id="56" dur="450" fill="hold"/>
                                        <p:tgtEl>
                                          <p:spTgt spid="15"/>
                                        </p:tgtEl>
                                        <p:attrNameLst>
                                          <p:attrName>ppt_h</p:attrName>
                                        </p:attrNameLst>
                                      </p:cBhvr>
                                      <p:tavLst>
                                        <p:tav tm="0">
                                          <p:val>
                                            <p:strVal val="0"/>
                                          </p:val>
                                        </p:tav>
                                        <p:tav tm="70000">
                                          <p:val>
                                            <p:strVal val="#ppt_h*1.08"/>
                                          </p:val>
                                        </p:tav>
                                        <p:tav tm="100000">
                                          <p:val>
                                            <p:strVal val="#ppt_h"/>
                                          </p:val>
                                        </p:tav>
                                      </p:tavLst>
                                    </p:anim>
                                    <p:animEffect transition="in" filter="fade">
                                      <p:cBhvr>
                                        <p:cTn id="57" dur="270" fill="hold"/>
                                        <p:tgtEl>
                                          <p:spTgt spid="15"/>
                                        </p:tgtEl>
                                      </p:cBhvr>
                                    </p:animEffect>
                                  </p:childTnLst>
                                </p:cTn>
                              </p:par>
                              <p:par>
                                <p:cTn id="58" presetID="53" presetClass="entr" presetSubtype="16" decel="100000" fill="hold" grpId="0" nodeType="withEffect">
                                  <p:stCondLst>
                                    <p:cond delay="1100"/>
                                  </p:stCondLst>
                                  <p:childTnLst>
                                    <p:set>
                                      <p:cBhvr>
                                        <p:cTn id="59" dur="1" fill="hold">
                                          <p:stCondLst>
                                            <p:cond delay="0"/>
                                          </p:stCondLst>
                                        </p:cTn>
                                        <p:tgtEl>
                                          <p:spTgt spid="16"/>
                                        </p:tgtEl>
                                        <p:attrNameLst>
                                          <p:attrName>style.visibility</p:attrName>
                                        </p:attrNameLst>
                                      </p:cBhvr>
                                      <p:to>
                                        <p:strVal val="visible"/>
                                      </p:to>
                                    </p:set>
                                    <p:anim calcmode="lin" valueType="num">
                                      <p:cBhvr additive="base">
                                        <p:cTn id="60" dur="450" fill="hold"/>
                                        <p:tgtEl>
                                          <p:spTgt spid="16"/>
                                        </p:tgtEl>
                                        <p:attrNameLst>
                                          <p:attrName>ppt_w</p:attrName>
                                        </p:attrNameLst>
                                      </p:cBhvr>
                                      <p:tavLst>
                                        <p:tav tm="0">
                                          <p:val>
                                            <p:strVal val="0"/>
                                          </p:val>
                                        </p:tav>
                                        <p:tav tm="70000">
                                          <p:val>
                                            <p:strVal val="#ppt_w*1.08"/>
                                          </p:val>
                                        </p:tav>
                                        <p:tav tm="100000">
                                          <p:val>
                                            <p:strVal val="#ppt_w"/>
                                          </p:val>
                                        </p:tav>
                                      </p:tavLst>
                                    </p:anim>
                                    <p:anim calcmode="lin" valueType="num">
                                      <p:cBhvr additive="base">
                                        <p:cTn id="61" dur="450" fill="hold"/>
                                        <p:tgtEl>
                                          <p:spTgt spid="16"/>
                                        </p:tgtEl>
                                        <p:attrNameLst>
                                          <p:attrName>ppt_h</p:attrName>
                                        </p:attrNameLst>
                                      </p:cBhvr>
                                      <p:tavLst>
                                        <p:tav tm="0">
                                          <p:val>
                                            <p:strVal val="0"/>
                                          </p:val>
                                        </p:tav>
                                        <p:tav tm="70000">
                                          <p:val>
                                            <p:strVal val="#ppt_h*1.08"/>
                                          </p:val>
                                        </p:tav>
                                        <p:tav tm="100000">
                                          <p:val>
                                            <p:strVal val="#ppt_h"/>
                                          </p:val>
                                        </p:tav>
                                      </p:tavLst>
                                    </p:anim>
                                    <p:animEffect transition="in" filter="fade">
                                      <p:cBhvr>
                                        <p:cTn id="62" dur="270" fill="hold"/>
                                        <p:tgtEl>
                                          <p:spTgt spid="16"/>
                                        </p:tgtEl>
                                      </p:cBhvr>
                                    </p:animEffect>
                                  </p:childTnLst>
                                </p:cTn>
                              </p:par>
                              <p:par>
                                <p:cTn id="63" presetID="53" presetClass="entr" presetSubtype="16" decel="100000" fill="hold" grpId="0" nodeType="withEffect">
                                  <p:stCondLst>
                                    <p:cond delay="1350"/>
                                  </p:stCondLst>
                                  <p:childTnLst>
                                    <p:set>
                                      <p:cBhvr>
                                        <p:cTn id="64" dur="1" fill="hold">
                                          <p:stCondLst>
                                            <p:cond delay="0"/>
                                          </p:stCondLst>
                                        </p:cTn>
                                        <p:tgtEl>
                                          <p:spTgt spid="17"/>
                                        </p:tgtEl>
                                        <p:attrNameLst>
                                          <p:attrName>style.visibility</p:attrName>
                                        </p:attrNameLst>
                                      </p:cBhvr>
                                      <p:to>
                                        <p:strVal val="visible"/>
                                      </p:to>
                                    </p:set>
                                    <p:anim calcmode="lin" valueType="num">
                                      <p:cBhvr additive="base">
                                        <p:cTn id="65" dur="450" fill="hold"/>
                                        <p:tgtEl>
                                          <p:spTgt spid="17"/>
                                        </p:tgtEl>
                                        <p:attrNameLst>
                                          <p:attrName>ppt_w</p:attrName>
                                        </p:attrNameLst>
                                      </p:cBhvr>
                                      <p:tavLst>
                                        <p:tav tm="0">
                                          <p:val>
                                            <p:strVal val="0"/>
                                          </p:val>
                                        </p:tav>
                                        <p:tav tm="70000">
                                          <p:val>
                                            <p:strVal val="#ppt_w*1.08"/>
                                          </p:val>
                                        </p:tav>
                                        <p:tav tm="100000">
                                          <p:val>
                                            <p:strVal val="#ppt_w"/>
                                          </p:val>
                                        </p:tav>
                                      </p:tavLst>
                                    </p:anim>
                                    <p:anim calcmode="lin" valueType="num">
                                      <p:cBhvr additive="base">
                                        <p:cTn id="66" dur="450" fill="hold"/>
                                        <p:tgtEl>
                                          <p:spTgt spid="17"/>
                                        </p:tgtEl>
                                        <p:attrNameLst>
                                          <p:attrName>ppt_h</p:attrName>
                                        </p:attrNameLst>
                                      </p:cBhvr>
                                      <p:tavLst>
                                        <p:tav tm="0">
                                          <p:val>
                                            <p:strVal val="0"/>
                                          </p:val>
                                        </p:tav>
                                        <p:tav tm="70000">
                                          <p:val>
                                            <p:strVal val="#ppt_h*1.08"/>
                                          </p:val>
                                        </p:tav>
                                        <p:tav tm="100000">
                                          <p:val>
                                            <p:strVal val="#ppt_h"/>
                                          </p:val>
                                        </p:tav>
                                      </p:tavLst>
                                    </p:anim>
                                    <p:animEffect transition="in" filter="fade">
                                      <p:cBhvr>
                                        <p:cTn id="67" dur="270" fill="hold"/>
                                        <p:tgtEl>
                                          <p:spTgt spid="17"/>
                                        </p:tgtEl>
                                      </p:cBhvr>
                                    </p:animEffect>
                                  </p:childTnLst>
                                </p:cTn>
                              </p:par>
                              <p:par>
                                <p:cTn id="68" presetID="53" presetClass="entr" presetSubtype="16" decel="100000" fill="hold" grpId="0" nodeType="withEffect">
                                  <p:stCondLst>
                                    <p:cond delay="1600"/>
                                  </p:stCondLst>
                                  <p:childTnLst>
                                    <p:set>
                                      <p:cBhvr>
                                        <p:cTn id="69" dur="1" fill="hold">
                                          <p:stCondLst>
                                            <p:cond delay="0"/>
                                          </p:stCondLst>
                                        </p:cTn>
                                        <p:tgtEl>
                                          <p:spTgt spid="18"/>
                                        </p:tgtEl>
                                        <p:attrNameLst>
                                          <p:attrName>style.visibility</p:attrName>
                                        </p:attrNameLst>
                                      </p:cBhvr>
                                      <p:to>
                                        <p:strVal val="visible"/>
                                      </p:to>
                                    </p:set>
                                    <p:anim calcmode="lin" valueType="num">
                                      <p:cBhvr additive="base">
                                        <p:cTn id="70" dur="450" fill="hold"/>
                                        <p:tgtEl>
                                          <p:spTgt spid="18"/>
                                        </p:tgtEl>
                                        <p:attrNameLst>
                                          <p:attrName>ppt_w</p:attrName>
                                        </p:attrNameLst>
                                      </p:cBhvr>
                                      <p:tavLst>
                                        <p:tav tm="0">
                                          <p:val>
                                            <p:strVal val="0"/>
                                          </p:val>
                                        </p:tav>
                                        <p:tav tm="70000">
                                          <p:val>
                                            <p:strVal val="#ppt_w*1.08"/>
                                          </p:val>
                                        </p:tav>
                                        <p:tav tm="100000">
                                          <p:val>
                                            <p:strVal val="#ppt_w"/>
                                          </p:val>
                                        </p:tav>
                                      </p:tavLst>
                                    </p:anim>
                                    <p:anim calcmode="lin" valueType="num">
                                      <p:cBhvr additive="base">
                                        <p:cTn id="71" dur="450" fill="hold"/>
                                        <p:tgtEl>
                                          <p:spTgt spid="18"/>
                                        </p:tgtEl>
                                        <p:attrNameLst>
                                          <p:attrName>ppt_h</p:attrName>
                                        </p:attrNameLst>
                                      </p:cBhvr>
                                      <p:tavLst>
                                        <p:tav tm="0">
                                          <p:val>
                                            <p:strVal val="0"/>
                                          </p:val>
                                        </p:tav>
                                        <p:tav tm="70000">
                                          <p:val>
                                            <p:strVal val="#ppt_h*1.08"/>
                                          </p:val>
                                        </p:tav>
                                        <p:tav tm="100000">
                                          <p:val>
                                            <p:strVal val="#ppt_h"/>
                                          </p:val>
                                        </p:tav>
                                      </p:tavLst>
                                    </p:anim>
                                    <p:animEffect transition="in" filter="fade">
                                      <p:cBhvr>
                                        <p:cTn id="72" dur="270" fill="hold"/>
                                        <p:tgtEl>
                                          <p:spTgt spid="18"/>
                                        </p:tgtEl>
                                      </p:cBhvr>
                                    </p:animEffect>
                                  </p:childTnLst>
                                </p:cTn>
                              </p:par>
                              <p:par>
                                <p:cTn id="73" presetID="53" presetClass="entr" presetSubtype="16" decel="100000" fill="hold" grpId="0" nodeType="withEffect">
                                  <p:stCondLst>
                                    <p:cond delay="1850"/>
                                  </p:stCondLst>
                                  <p:childTnLst>
                                    <p:set>
                                      <p:cBhvr>
                                        <p:cTn id="74" dur="1" fill="hold">
                                          <p:stCondLst>
                                            <p:cond delay="0"/>
                                          </p:stCondLst>
                                        </p:cTn>
                                        <p:tgtEl>
                                          <p:spTgt spid="19"/>
                                        </p:tgtEl>
                                        <p:attrNameLst>
                                          <p:attrName>style.visibility</p:attrName>
                                        </p:attrNameLst>
                                      </p:cBhvr>
                                      <p:to>
                                        <p:strVal val="visible"/>
                                      </p:to>
                                    </p:set>
                                    <p:anim calcmode="lin" valueType="num">
                                      <p:cBhvr additive="base">
                                        <p:cTn id="75" dur="450" fill="hold"/>
                                        <p:tgtEl>
                                          <p:spTgt spid="19"/>
                                        </p:tgtEl>
                                        <p:attrNameLst>
                                          <p:attrName>ppt_w</p:attrName>
                                        </p:attrNameLst>
                                      </p:cBhvr>
                                      <p:tavLst>
                                        <p:tav tm="0">
                                          <p:val>
                                            <p:strVal val="0"/>
                                          </p:val>
                                        </p:tav>
                                        <p:tav tm="70000">
                                          <p:val>
                                            <p:strVal val="#ppt_w*1.08"/>
                                          </p:val>
                                        </p:tav>
                                        <p:tav tm="100000">
                                          <p:val>
                                            <p:strVal val="#ppt_w"/>
                                          </p:val>
                                        </p:tav>
                                      </p:tavLst>
                                    </p:anim>
                                    <p:anim calcmode="lin" valueType="num">
                                      <p:cBhvr additive="base">
                                        <p:cTn id="76" dur="450" fill="hold"/>
                                        <p:tgtEl>
                                          <p:spTgt spid="19"/>
                                        </p:tgtEl>
                                        <p:attrNameLst>
                                          <p:attrName>ppt_h</p:attrName>
                                        </p:attrNameLst>
                                      </p:cBhvr>
                                      <p:tavLst>
                                        <p:tav tm="0">
                                          <p:val>
                                            <p:strVal val="0"/>
                                          </p:val>
                                        </p:tav>
                                        <p:tav tm="70000">
                                          <p:val>
                                            <p:strVal val="#ppt_h*1.08"/>
                                          </p:val>
                                        </p:tav>
                                        <p:tav tm="100000">
                                          <p:val>
                                            <p:strVal val="#ppt_h"/>
                                          </p:val>
                                        </p:tav>
                                      </p:tavLst>
                                    </p:anim>
                                    <p:animEffect transition="in" filter="fade">
                                      <p:cBhvr>
                                        <p:cTn id="77" dur="270" fill="hold"/>
                                        <p:tgtEl>
                                          <p:spTgt spid="19"/>
                                        </p:tgtEl>
                                      </p:cBhvr>
                                    </p:animEffect>
                                  </p:childTnLst>
                                </p:cTn>
                              </p:par>
                              <p:par>
                                <p:cTn id="78" presetID="53" presetClass="entr" presetSubtype="16" decel="100000" fill="hold" grpId="0" nodeType="withEffect">
                                  <p:stCondLst>
                                    <p:cond delay="2100"/>
                                  </p:stCondLst>
                                  <p:childTnLst>
                                    <p:set>
                                      <p:cBhvr>
                                        <p:cTn id="79" dur="1" fill="hold">
                                          <p:stCondLst>
                                            <p:cond delay="0"/>
                                          </p:stCondLst>
                                        </p:cTn>
                                        <p:tgtEl>
                                          <p:spTgt spid="20"/>
                                        </p:tgtEl>
                                        <p:attrNameLst>
                                          <p:attrName>style.visibility</p:attrName>
                                        </p:attrNameLst>
                                      </p:cBhvr>
                                      <p:to>
                                        <p:strVal val="visible"/>
                                      </p:to>
                                    </p:set>
                                    <p:anim calcmode="lin" valueType="num">
                                      <p:cBhvr additive="base">
                                        <p:cTn id="80" dur="450" fill="hold"/>
                                        <p:tgtEl>
                                          <p:spTgt spid="20"/>
                                        </p:tgtEl>
                                        <p:attrNameLst>
                                          <p:attrName>ppt_w</p:attrName>
                                        </p:attrNameLst>
                                      </p:cBhvr>
                                      <p:tavLst>
                                        <p:tav tm="0">
                                          <p:val>
                                            <p:strVal val="0"/>
                                          </p:val>
                                        </p:tav>
                                        <p:tav tm="70000">
                                          <p:val>
                                            <p:strVal val="#ppt_w*1.08"/>
                                          </p:val>
                                        </p:tav>
                                        <p:tav tm="100000">
                                          <p:val>
                                            <p:strVal val="#ppt_w"/>
                                          </p:val>
                                        </p:tav>
                                      </p:tavLst>
                                    </p:anim>
                                    <p:anim calcmode="lin" valueType="num">
                                      <p:cBhvr additive="base">
                                        <p:cTn id="81" dur="450" fill="hold"/>
                                        <p:tgtEl>
                                          <p:spTgt spid="20"/>
                                        </p:tgtEl>
                                        <p:attrNameLst>
                                          <p:attrName>ppt_h</p:attrName>
                                        </p:attrNameLst>
                                      </p:cBhvr>
                                      <p:tavLst>
                                        <p:tav tm="0">
                                          <p:val>
                                            <p:strVal val="0"/>
                                          </p:val>
                                        </p:tav>
                                        <p:tav tm="70000">
                                          <p:val>
                                            <p:strVal val="#ppt_h*1.08"/>
                                          </p:val>
                                        </p:tav>
                                        <p:tav tm="100000">
                                          <p:val>
                                            <p:strVal val="#ppt_h"/>
                                          </p:val>
                                        </p:tav>
                                      </p:tavLst>
                                    </p:anim>
                                    <p:animEffect transition="in" filter="fade">
                                      <p:cBhvr>
                                        <p:cTn id="82" dur="270" fill="hold"/>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2A9FC0"/>
                </a:solidFill>
                <a:latin typeface="Segoe UI Semibold"/>
              </a:rPr>
              <a:t>MÓDULO 6  ·  ESTUDO DE CASO (ILUSTRATIVO)</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Prototipar e testar</a:t>
            </a:r>
          </a:p>
        </p:txBody>
      </p:sp>
      <p:sp>
        <p:nvSpPr>
          <p:cNvPr id="6" name="Rounded Rectangle 5"/>
          <p:cNvSpPr/>
          <p:nvPr/>
        </p:nvSpPr>
        <p:spPr>
          <a:xfrm>
            <a:off x="548640" y="1508760"/>
            <a:ext cx="11091672" cy="693115"/>
          </a:xfrm>
          <a:prstGeom prst="roundRect">
            <a:avLst>
              <a:gd name="adj" fmla="val 1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22960" y="1508760"/>
            <a:ext cx="2651760" cy="693115"/>
          </a:xfrm>
          <a:prstGeom prst="rect">
            <a:avLst/>
          </a:prstGeom>
          <a:noFill/>
        </p:spPr>
        <p:txBody>
          <a:bodyPr wrap="square" lIns="36576" tIns="18288" rIns="36576" bIns="18288" anchor="ctr">
            <a:spAutoFit/>
          </a:bodyPr>
          <a:lstStyle/>
          <a:p>
            <a:pPr algn="l"/>
            <a:r>
              <a:rPr sz="1500" b="1" i="0">
                <a:solidFill>
                  <a:srgbClr val="2A9FC0"/>
                </a:solidFill>
                <a:latin typeface="Segoe UI Semibold"/>
              </a:rPr>
              <a:t>Protótipo</a:t>
            </a:r>
          </a:p>
        </p:txBody>
      </p:sp>
      <p:sp>
        <p:nvSpPr>
          <p:cNvPr id="8" name="TextBox 7"/>
          <p:cNvSpPr txBox="1"/>
          <p:nvPr/>
        </p:nvSpPr>
        <p:spPr>
          <a:xfrm>
            <a:off x="3520440" y="1508760"/>
            <a:ext cx="7955279" cy="693115"/>
          </a:xfrm>
          <a:prstGeom prst="rect">
            <a:avLst/>
          </a:prstGeom>
          <a:noFill/>
        </p:spPr>
        <p:txBody>
          <a:bodyPr wrap="square" lIns="36576" tIns="18288" rIns="36576" bIns="18288" anchor="ctr">
            <a:spAutoFit/>
          </a:bodyPr>
          <a:lstStyle/>
          <a:p>
            <a:pPr algn="l"/>
            <a:r>
              <a:rPr sz="1600" b="0" i="0">
                <a:solidFill>
                  <a:srgbClr val="F2F2EC"/>
                </a:solidFill>
                <a:latin typeface="Segoe UI"/>
              </a:rPr>
              <a:t>'Mágico de Oz': a recepcionista enviava manualmente, pelo WhatsApp, lembretes com as opções 1-Confirmar e 2-Remarcar</a:t>
            </a:r>
          </a:p>
        </p:txBody>
      </p:sp>
      <p:sp>
        <p:nvSpPr>
          <p:cNvPr id="9" name="Rounded Rectangle 8"/>
          <p:cNvSpPr/>
          <p:nvPr/>
        </p:nvSpPr>
        <p:spPr>
          <a:xfrm>
            <a:off x="548640" y="2329891"/>
            <a:ext cx="11091672" cy="693115"/>
          </a:xfrm>
          <a:prstGeom prst="roundRect">
            <a:avLst>
              <a:gd name="adj" fmla="val 1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22960" y="2329891"/>
            <a:ext cx="2651760" cy="693115"/>
          </a:xfrm>
          <a:prstGeom prst="rect">
            <a:avLst/>
          </a:prstGeom>
          <a:noFill/>
        </p:spPr>
        <p:txBody>
          <a:bodyPr wrap="square" lIns="36576" tIns="18288" rIns="36576" bIns="18288" anchor="ctr">
            <a:spAutoFit/>
          </a:bodyPr>
          <a:lstStyle/>
          <a:p>
            <a:pPr algn="l"/>
            <a:r>
              <a:rPr sz="1500" b="1" i="0">
                <a:solidFill>
                  <a:srgbClr val="2A9FC0"/>
                </a:solidFill>
                <a:latin typeface="Segoe UI Semibold"/>
              </a:rPr>
              <a:t>Piloto</a:t>
            </a:r>
          </a:p>
        </p:txBody>
      </p:sp>
      <p:sp>
        <p:nvSpPr>
          <p:cNvPr id="11" name="TextBox 10"/>
          <p:cNvSpPr txBox="1"/>
          <p:nvPr/>
        </p:nvSpPr>
        <p:spPr>
          <a:xfrm>
            <a:off x="3520440" y="2329891"/>
            <a:ext cx="7955279" cy="693115"/>
          </a:xfrm>
          <a:prstGeom prst="rect">
            <a:avLst/>
          </a:prstGeom>
          <a:noFill/>
        </p:spPr>
        <p:txBody>
          <a:bodyPr wrap="square" lIns="36576" tIns="18288" rIns="36576" bIns="18288" anchor="ctr">
            <a:spAutoFit/>
          </a:bodyPr>
          <a:lstStyle/>
          <a:p>
            <a:pPr algn="l"/>
            <a:r>
              <a:rPr sz="1600" b="0" i="0">
                <a:solidFill>
                  <a:srgbClr val="F2F2EC"/>
                </a:solidFill>
                <a:latin typeface="Segoe UI"/>
              </a:rPr>
              <a:t>2 semanas com 40 pacientes, sem nenhum sistema novo</a:t>
            </a:r>
          </a:p>
        </p:txBody>
      </p:sp>
      <p:sp>
        <p:nvSpPr>
          <p:cNvPr id="12" name="Rounded Rectangle 11"/>
          <p:cNvSpPr/>
          <p:nvPr/>
        </p:nvSpPr>
        <p:spPr>
          <a:xfrm>
            <a:off x="548640" y="3151022"/>
            <a:ext cx="11091672" cy="693115"/>
          </a:xfrm>
          <a:prstGeom prst="roundRect">
            <a:avLst>
              <a:gd name="adj" fmla="val 1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22960" y="3151022"/>
            <a:ext cx="2651760" cy="693115"/>
          </a:xfrm>
          <a:prstGeom prst="rect">
            <a:avLst/>
          </a:prstGeom>
          <a:noFill/>
        </p:spPr>
        <p:txBody>
          <a:bodyPr wrap="square" lIns="36576" tIns="18288" rIns="36576" bIns="18288" anchor="ctr">
            <a:spAutoFit/>
          </a:bodyPr>
          <a:lstStyle/>
          <a:p>
            <a:pPr algn="l"/>
            <a:r>
              <a:rPr sz="1500" b="1" i="0">
                <a:solidFill>
                  <a:srgbClr val="2A9FC0"/>
                </a:solidFill>
                <a:latin typeface="Segoe UI Semibold"/>
              </a:rPr>
              <a:t>Aprendizado</a:t>
            </a:r>
          </a:p>
        </p:txBody>
      </p:sp>
      <p:sp>
        <p:nvSpPr>
          <p:cNvPr id="14" name="TextBox 13"/>
          <p:cNvSpPr txBox="1"/>
          <p:nvPr/>
        </p:nvSpPr>
        <p:spPr>
          <a:xfrm>
            <a:off x="3520440" y="3151022"/>
            <a:ext cx="7955279" cy="693115"/>
          </a:xfrm>
          <a:prstGeom prst="rect">
            <a:avLst/>
          </a:prstGeom>
          <a:noFill/>
        </p:spPr>
        <p:txBody>
          <a:bodyPr wrap="square" lIns="36576" tIns="18288" rIns="36576" bIns="18288" anchor="ctr">
            <a:spAutoFit/>
          </a:bodyPr>
          <a:lstStyle/>
          <a:p>
            <a:pPr algn="l"/>
            <a:r>
              <a:rPr sz="1600" b="0" i="0">
                <a:solidFill>
                  <a:srgbClr val="F2F2EC"/>
                </a:solidFill>
                <a:latin typeface="Segoe UI"/>
              </a:rPr>
              <a:t>o lembrete funciona melhor às 18h do dia anterior</a:t>
            </a:r>
          </a:p>
        </p:txBody>
      </p:sp>
      <p:sp>
        <p:nvSpPr>
          <p:cNvPr id="15" name="Rounded Rectangle 14"/>
          <p:cNvSpPr/>
          <p:nvPr/>
        </p:nvSpPr>
        <p:spPr>
          <a:xfrm>
            <a:off x="548640" y="3972153"/>
            <a:ext cx="11091672" cy="693115"/>
          </a:xfrm>
          <a:prstGeom prst="roundRect">
            <a:avLst>
              <a:gd name="adj" fmla="val 1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22960" y="3972153"/>
            <a:ext cx="2651760" cy="693115"/>
          </a:xfrm>
          <a:prstGeom prst="rect">
            <a:avLst/>
          </a:prstGeom>
          <a:noFill/>
        </p:spPr>
        <p:txBody>
          <a:bodyPr wrap="square" lIns="36576" tIns="18288" rIns="36576" bIns="18288" anchor="ctr">
            <a:spAutoFit/>
          </a:bodyPr>
          <a:lstStyle/>
          <a:p>
            <a:pPr algn="l"/>
            <a:r>
              <a:rPr sz="1500" b="1" i="0">
                <a:solidFill>
                  <a:srgbClr val="2A9FC0"/>
                </a:solidFill>
                <a:latin typeface="Segoe UI Semibold"/>
              </a:rPr>
              <a:t>Aprendizado</a:t>
            </a:r>
          </a:p>
        </p:txBody>
      </p:sp>
      <p:sp>
        <p:nvSpPr>
          <p:cNvPr id="17" name="TextBox 16"/>
          <p:cNvSpPr txBox="1"/>
          <p:nvPr/>
        </p:nvSpPr>
        <p:spPr>
          <a:xfrm>
            <a:off x="3520440" y="3972153"/>
            <a:ext cx="7955279" cy="693115"/>
          </a:xfrm>
          <a:prstGeom prst="rect">
            <a:avLst/>
          </a:prstGeom>
          <a:noFill/>
        </p:spPr>
        <p:txBody>
          <a:bodyPr wrap="square" lIns="36576" tIns="18288" rIns="36576" bIns="18288" anchor="ctr">
            <a:spAutoFit/>
          </a:bodyPr>
          <a:lstStyle/>
          <a:p>
            <a:pPr algn="l"/>
            <a:r>
              <a:rPr sz="1600" b="0" i="0">
                <a:solidFill>
                  <a:srgbClr val="F2F2EC"/>
                </a:solidFill>
                <a:latin typeface="Segoe UI"/>
              </a:rPr>
              <a:t>pacientes idosos responderam mais quando havia um áudio curto</a:t>
            </a:r>
          </a:p>
        </p:txBody>
      </p:sp>
      <p:sp>
        <p:nvSpPr>
          <p:cNvPr id="18" name="Rounded Rectangle 17"/>
          <p:cNvSpPr/>
          <p:nvPr/>
        </p:nvSpPr>
        <p:spPr>
          <a:xfrm>
            <a:off x="548640" y="4793284"/>
            <a:ext cx="11091672" cy="693115"/>
          </a:xfrm>
          <a:prstGeom prst="roundRect">
            <a:avLst>
              <a:gd name="adj" fmla="val 15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22960" y="4793284"/>
            <a:ext cx="2651760" cy="693115"/>
          </a:xfrm>
          <a:prstGeom prst="rect">
            <a:avLst/>
          </a:prstGeom>
          <a:noFill/>
        </p:spPr>
        <p:txBody>
          <a:bodyPr wrap="square" lIns="36576" tIns="18288" rIns="36576" bIns="18288" anchor="ctr">
            <a:spAutoFit/>
          </a:bodyPr>
          <a:lstStyle/>
          <a:p>
            <a:pPr algn="l"/>
            <a:r>
              <a:rPr sz="1500" b="1" i="0">
                <a:solidFill>
                  <a:srgbClr val="2A9FC0"/>
                </a:solidFill>
                <a:latin typeface="Segoe UI Semibold"/>
              </a:rPr>
              <a:t>Ajuste</a:t>
            </a:r>
          </a:p>
        </p:txBody>
      </p:sp>
      <p:sp>
        <p:nvSpPr>
          <p:cNvPr id="20" name="TextBox 19"/>
          <p:cNvSpPr txBox="1"/>
          <p:nvPr/>
        </p:nvSpPr>
        <p:spPr>
          <a:xfrm>
            <a:off x="3520440" y="4793284"/>
            <a:ext cx="7955279" cy="693115"/>
          </a:xfrm>
          <a:prstGeom prst="rect">
            <a:avLst/>
          </a:prstGeom>
          <a:noFill/>
        </p:spPr>
        <p:txBody>
          <a:bodyPr wrap="square" lIns="36576" tIns="18288" rIns="36576" bIns="18288" anchor="ctr">
            <a:spAutoFit/>
          </a:bodyPr>
          <a:lstStyle/>
          <a:p>
            <a:pPr algn="l"/>
            <a:r>
              <a:rPr sz="1600" b="0" i="0">
                <a:solidFill>
                  <a:srgbClr val="F2F2EC"/>
                </a:solidFill>
                <a:latin typeface="Segoe UI"/>
              </a:rPr>
              <a:t>lista de espera para encaixar pacientes nas vagas liberadas</a:t>
            </a:r>
          </a:p>
        </p:txBody>
      </p:sp>
      <p:sp>
        <p:nvSpPr>
          <p:cNvPr id="21" name="Rounded Rectangle 20"/>
          <p:cNvSpPr/>
          <p:nvPr/>
        </p:nvSpPr>
        <p:spPr>
          <a:xfrm>
            <a:off x="548640" y="5760720"/>
            <a:ext cx="2159812" cy="310896"/>
          </a:xfrm>
          <a:prstGeom prst="roundRect">
            <a:avLst>
              <a:gd name="adj" fmla="val 50000"/>
            </a:avLst>
          </a:prstGeom>
          <a:solidFill>
            <a:srgbClr val="242826"/>
          </a:solidFill>
          <a:ln w="12700">
            <a:solidFill>
              <a:srgbClr val="3A413D"/>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000" b="0" i="0">
                <a:solidFill>
                  <a:srgbClr val="B4B8B0"/>
                </a:solidFill>
                <a:latin typeface="Segoe UI"/>
              </a:rPr>
              <a:t>Empatizar</a:t>
            </a:r>
          </a:p>
        </p:txBody>
      </p:sp>
      <p:sp>
        <p:nvSpPr>
          <p:cNvPr id="22" name="Rounded Rectangle 21"/>
          <p:cNvSpPr/>
          <p:nvPr/>
        </p:nvSpPr>
        <p:spPr>
          <a:xfrm>
            <a:off x="2781604" y="5760720"/>
            <a:ext cx="2159812" cy="310896"/>
          </a:xfrm>
          <a:prstGeom prst="roundRect">
            <a:avLst>
              <a:gd name="adj" fmla="val 50000"/>
            </a:avLst>
          </a:prstGeom>
          <a:solidFill>
            <a:srgbClr val="242826"/>
          </a:solidFill>
          <a:ln w="12700">
            <a:solidFill>
              <a:srgbClr val="3A413D"/>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000" b="0" i="0">
                <a:solidFill>
                  <a:srgbClr val="B4B8B0"/>
                </a:solidFill>
                <a:latin typeface="Segoe UI"/>
              </a:rPr>
              <a:t>Definir</a:t>
            </a:r>
          </a:p>
        </p:txBody>
      </p:sp>
      <p:sp>
        <p:nvSpPr>
          <p:cNvPr id="23" name="Rounded Rectangle 22"/>
          <p:cNvSpPr/>
          <p:nvPr/>
        </p:nvSpPr>
        <p:spPr>
          <a:xfrm>
            <a:off x="5014569" y="5760720"/>
            <a:ext cx="2159812" cy="310896"/>
          </a:xfrm>
          <a:prstGeom prst="roundRect">
            <a:avLst>
              <a:gd name="adj" fmla="val 50000"/>
            </a:avLst>
          </a:prstGeom>
          <a:solidFill>
            <a:srgbClr val="242826"/>
          </a:solidFill>
          <a:ln w="12700">
            <a:solidFill>
              <a:srgbClr val="3A413D"/>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000" b="0" i="0">
                <a:solidFill>
                  <a:srgbClr val="B4B8B0"/>
                </a:solidFill>
                <a:latin typeface="Segoe UI"/>
              </a:rPr>
              <a:t>Idear</a:t>
            </a:r>
          </a:p>
        </p:txBody>
      </p:sp>
      <p:sp>
        <p:nvSpPr>
          <p:cNvPr id="24" name="Rounded Rectangle 23"/>
          <p:cNvSpPr/>
          <p:nvPr/>
        </p:nvSpPr>
        <p:spPr>
          <a:xfrm>
            <a:off x="7247534" y="5760720"/>
            <a:ext cx="2159812" cy="310896"/>
          </a:xfrm>
          <a:prstGeom prst="roundRect">
            <a:avLst>
              <a:gd name="adj" fmla="val 50000"/>
            </a:avLst>
          </a:prstGeom>
          <a:solidFill>
            <a:srgbClr val="2A9FC0"/>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000" b="1" i="0">
                <a:solidFill>
                  <a:srgbClr val="1A1A1A"/>
                </a:solidFill>
                <a:latin typeface="Segoe UI Semibold"/>
              </a:rPr>
              <a:t>Prototipar</a:t>
            </a:r>
          </a:p>
        </p:txBody>
      </p:sp>
      <p:sp>
        <p:nvSpPr>
          <p:cNvPr id="25" name="Rounded Rectangle 24"/>
          <p:cNvSpPr/>
          <p:nvPr/>
        </p:nvSpPr>
        <p:spPr>
          <a:xfrm>
            <a:off x="9480499" y="5760720"/>
            <a:ext cx="2159812" cy="310896"/>
          </a:xfrm>
          <a:prstGeom prst="roundRect">
            <a:avLst>
              <a:gd name="adj" fmla="val 50000"/>
            </a:avLst>
          </a:prstGeom>
          <a:solidFill>
            <a:srgbClr val="242826"/>
          </a:solidFill>
          <a:ln w="12700">
            <a:solidFill>
              <a:srgbClr val="3A413D"/>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000" b="0" i="0">
                <a:solidFill>
                  <a:srgbClr val="B4B8B0"/>
                </a:solidFill>
                <a:latin typeface="Segoe UI"/>
              </a:rPr>
              <a:t>Testar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50" fill="hold"/>
                                        <p:tgtEl>
                                          <p:spTgt spid="6"/>
                                        </p:tgtEl>
                                      </p:cBhvr>
                                    </p:animEffect>
                                    <p:anim calcmode="lin" valueType="num">
                                      <p:cBhvr additive="base">
                                        <p:cTn id="11" dur="650" fill="hold"/>
                                        <p:tgtEl>
                                          <p:spTgt spid="6"/>
                                        </p:tgtEl>
                                        <p:attrNameLst>
                                          <p:attrName>ppt_x</p:attrName>
                                        </p:attrNameLst>
                                      </p:cBhvr>
                                      <p:tavLst>
                                        <p:tav tm="0">
                                          <p:val>
                                            <p:strVal val="#ppt_x"/>
                                          </p:val>
                                        </p:tav>
                                        <p:tav tm="100000">
                                          <p:val>
                                            <p:strVal val="#ppt_x"/>
                                          </p:val>
                                        </p:tav>
                                      </p:tavLst>
                                    </p:anim>
                                    <p:anim calcmode="lin" valueType="num">
                                      <p:cBhvr additive="base">
                                        <p:cTn id="12" dur="650" fill="hold"/>
                                        <p:tgtEl>
                                          <p:spTgt spid="6"/>
                                        </p:tgtEl>
                                        <p:attrNameLst>
                                          <p:attrName>ppt_y</p:attrName>
                                        </p:attrNameLst>
                                      </p:cBhvr>
                                      <p:tavLst>
                                        <p:tav tm="0">
                                          <p:val>
                                            <p:strVal val="#ppt_y+.06"/>
                                          </p:val>
                                        </p:tav>
                                        <p:tav tm="100000">
                                          <p:val>
                                            <p:strVal val="#ppt_y"/>
                                          </p:val>
                                        </p:tav>
                                      </p:tavLst>
                                    </p:anim>
                                  </p:childTnLst>
                                </p:cTn>
                              </p:par>
                              <p:par>
                                <p:cTn id="13" presetID="42" presetClass="entr" presetSubtype="0" decel="100000" fill="hold" grpId="0" nodeType="withEffect">
                                  <p:stCondLst>
                                    <p:cond delay="25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fill="hold"/>
                                        <p:tgtEl>
                                          <p:spTgt spid="7"/>
                                        </p:tgtEl>
                                      </p:cBhvr>
                                    </p:animEffect>
                                    <p:anim calcmode="lin" valueType="num">
                                      <p:cBhvr additive="base">
                                        <p:cTn id="16" dur="650" fill="hold"/>
                                        <p:tgtEl>
                                          <p:spTgt spid="7"/>
                                        </p:tgtEl>
                                        <p:attrNameLst>
                                          <p:attrName>ppt_x</p:attrName>
                                        </p:attrNameLst>
                                      </p:cBhvr>
                                      <p:tavLst>
                                        <p:tav tm="0">
                                          <p:val>
                                            <p:strVal val="#ppt_x"/>
                                          </p:val>
                                        </p:tav>
                                        <p:tav tm="100000">
                                          <p:val>
                                            <p:strVal val="#ppt_x"/>
                                          </p:val>
                                        </p:tav>
                                      </p:tavLst>
                                    </p:anim>
                                    <p:anim calcmode="lin" valueType="num">
                                      <p:cBhvr additive="base">
                                        <p:cTn id="17" dur="650" fill="hold"/>
                                        <p:tgtEl>
                                          <p:spTgt spid="7"/>
                                        </p:tgtEl>
                                        <p:attrNameLst>
                                          <p:attrName>ppt_y</p:attrName>
                                        </p:attrNameLst>
                                      </p:cBhvr>
                                      <p:tavLst>
                                        <p:tav tm="0">
                                          <p:val>
                                            <p:strVal val="#ppt_y+.06"/>
                                          </p:val>
                                        </p:tav>
                                        <p:tav tm="100000">
                                          <p:val>
                                            <p:strVal val="#ppt_y"/>
                                          </p:val>
                                        </p:tav>
                                      </p:tavLst>
                                    </p:anim>
                                  </p:childTnLst>
                                </p:cTn>
                              </p:par>
                              <p:par>
                                <p:cTn id="18" presetID="42" presetClass="entr" presetSubtype="0" decel="100000" fill="hold" grpId="0" nodeType="withEffect">
                                  <p:stCondLst>
                                    <p:cond delay="25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650" fill="hold"/>
                                        <p:tgtEl>
                                          <p:spTgt spid="8"/>
                                        </p:tgtEl>
                                      </p:cBhvr>
                                    </p:animEffect>
                                    <p:anim calcmode="lin" valueType="num">
                                      <p:cBhvr additive="base">
                                        <p:cTn id="21" dur="650" fill="hold"/>
                                        <p:tgtEl>
                                          <p:spTgt spid="8"/>
                                        </p:tgtEl>
                                        <p:attrNameLst>
                                          <p:attrName>ppt_x</p:attrName>
                                        </p:attrNameLst>
                                      </p:cBhvr>
                                      <p:tavLst>
                                        <p:tav tm="0">
                                          <p:val>
                                            <p:strVal val="#ppt_x"/>
                                          </p:val>
                                        </p:tav>
                                        <p:tav tm="100000">
                                          <p:val>
                                            <p:strVal val="#ppt_x"/>
                                          </p:val>
                                        </p:tav>
                                      </p:tavLst>
                                    </p:anim>
                                    <p:anim calcmode="lin" valueType="num">
                                      <p:cBhvr additive="base">
                                        <p:cTn id="22" dur="650" fill="hold"/>
                                        <p:tgtEl>
                                          <p:spTgt spid="8"/>
                                        </p:tgtEl>
                                        <p:attrNameLst>
                                          <p:attrName>ppt_y</p:attrName>
                                        </p:attrNameLst>
                                      </p:cBhvr>
                                      <p:tavLst>
                                        <p:tav tm="0">
                                          <p:val>
                                            <p:strVal val="#ppt_y+.06"/>
                                          </p:val>
                                        </p:tav>
                                        <p:tav tm="100000">
                                          <p:val>
                                            <p:strVal val="#ppt_y"/>
                                          </p:val>
                                        </p:tav>
                                      </p:tavLst>
                                    </p:anim>
                                  </p:childTnLst>
                                </p:cTn>
                              </p:par>
                              <p:par>
                                <p:cTn id="23" presetID="42" presetClass="entr" presetSubtype="0" decel="100000" fill="hold" grpId="0" nodeType="withEffect">
                                  <p:stCondLst>
                                    <p:cond delay="55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650" fill="hold"/>
                                        <p:tgtEl>
                                          <p:spTgt spid="9"/>
                                        </p:tgtEl>
                                      </p:cBhvr>
                                    </p:animEffect>
                                    <p:anim calcmode="lin" valueType="num">
                                      <p:cBhvr additive="base">
                                        <p:cTn id="26" dur="650" fill="hold"/>
                                        <p:tgtEl>
                                          <p:spTgt spid="9"/>
                                        </p:tgtEl>
                                        <p:attrNameLst>
                                          <p:attrName>ppt_x</p:attrName>
                                        </p:attrNameLst>
                                      </p:cBhvr>
                                      <p:tavLst>
                                        <p:tav tm="0">
                                          <p:val>
                                            <p:strVal val="#ppt_x"/>
                                          </p:val>
                                        </p:tav>
                                        <p:tav tm="100000">
                                          <p:val>
                                            <p:strVal val="#ppt_x"/>
                                          </p:val>
                                        </p:tav>
                                      </p:tavLst>
                                    </p:anim>
                                    <p:anim calcmode="lin" valueType="num">
                                      <p:cBhvr additive="base">
                                        <p:cTn id="27" dur="650" fill="hold"/>
                                        <p:tgtEl>
                                          <p:spTgt spid="9"/>
                                        </p:tgtEl>
                                        <p:attrNameLst>
                                          <p:attrName>ppt_y</p:attrName>
                                        </p:attrNameLst>
                                      </p:cBhvr>
                                      <p:tavLst>
                                        <p:tav tm="0">
                                          <p:val>
                                            <p:strVal val="#ppt_y+.06"/>
                                          </p:val>
                                        </p:tav>
                                        <p:tav tm="100000">
                                          <p:val>
                                            <p:strVal val="#ppt_y"/>
                                          </p:val>
                                        </p:tav>
                                      </p:tavLst>
                                    </p:anim>
                                  </p:childTnLst>
                                </p:cTn>
                              </p:par>
                              <p:par>
                                <p:cTn id="28" presetID="42" presetClass="entr" presetSubtype="0" decel="100000" fill="hold" grpId="0" nodeType="withEffect">
                                  <p:stCondLst>
                                    <p:cond delay="55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650" fill="hold"/>
                                        <p:tgtEl>
                                          <p:spTgt spid="10"/>
                                        </p:tgtEl>
                                      </p:cBhvr>
                                    </p:animEffect>
                                    <p:anim calcmode="lin" valueType="num">
                                      <p:cBhvr additive="base">
                                        <p:cTn id="31" dur="650" fill="hold"/>
                                        <p:tgtEl>
                                          <p:spTgt spid="10"/>
                                        </p:tgtEl>
                                        <p:attrNameLst>
                                          <p:attrName>ppt_x</p:attrName>
                                        </p:attrNameLst>
                                      </p:cBhvr>
                                      <p:tavLst>
                                        <p:tav tm="0">
                                          <p:val>
                                            <p:strVal val="#ppt_x"/>
                                          </p:val>
                                        </p:tav>
                                        <p:tav tm="100000">
                                          <p:val>
                                            <p:strVal val="#ppt_x"/>
                                          </p:val>
                                        </p:tav>
                                      </p:tavLst>
                                    </p:anim>
                                    <p:anim calcmode="lin" valueType="num">
                                      <p:cBhvr additive="base">
                                        <p:cTn id="32" dur="650" fill="hold"/>
                                        <p:tgtEl>
                                          <p:spTgt spid="10"/>
                                        </p:tgtEl>
                                        <p:attrNameLst>
                                          <p:attrName>ppt_y</p:attrName>
                                        </p:attrNameLst>
                                      </p:cBhvr>
                                      <p:tavLst>
                                        <p:tav tm="0">
                                          <p:val>
                                            <p:strVal val="#ppt_y+.06"/>
                                          </p:val>
                                        </p:tav>
                                        <p:tav tm="100000">
                                          <p:val>
                                            <p:strVal val="#ppt_y"/>
                                          </p:val>
                                        </p:tav>
                                      </p:tavLst>
                                    </p:anim>
                                  </p:childTnLst>
                                </p:cTn>
                              </p:par>
                              <p:par>
                                <p:cTn id="33" presetID="42" presetClass="entr" presetSubtype="0" decel="100000" fill="hold" grpId="0" nodeType="withEffect">
                                  <p:stCondLst>
                                    <p:cond delay="55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650" fill="hold"/>
                                        <p:tgtEl>
                                          <p:spTgt spid="11"/>
                                        </p:tgtEl>
                                      </p:cBhvr>
                                    </p:animEffect>
                                    <p:anim calcmode="lin" valueType="num">
                                      <p:cBhvr additive="base">
                                        <p:cTn id="36" dur="650" fill="hold"/>
                                        <p:tgtEl>
                                          <p:spTgt spid="11"/>
                                        </p:tgtEl>
                                        <p:attrNameLst>
                                          <p:attrName>ppt_x</p:attrName>
                                        </p:attrNameLst>
                                      </p:cBhvr>
                                      <p:tavLst>
                                        <p:tav tm="0">
                                          <p:val>
                                            <p:strVal val="#ppt_x"/>
                                          </p:val>
                                        </p:tav>
                                        <p:tav tm="100000">
                                          <p:val>
                                            <p:strVal val="#ppt_x"/>
                                          </p:val>
                                        </p:tav>
                                      </p:tavLst>
                                    </p:anim>
                                    <p:anim calcmode="lin" valueType="num">
                                      <p:cBhvr additive="base">
                                        <p:cTn id="37" dur="650" fill="hold"/>
                                        <p:tgtEl>
                                          <p:spTgt spid="11"/>
                                        </p:tgtEl>
                                        <p:attrNameLst>
                                          <p:attrName>ppt_y</p:attrName>
                                        </p:attrNameLst>
                                      </p:cBhvr>
                                      <p:tavLst>
                                        <p:tav tm="0">
                                          <p:val>
                                            <p:strVal val="#ppt_y+.06"/>
                                          </p:val>
                                        </p:tav>
                                        <p:tav tm="100000">
                                          <p:val>
                                            <p:strVal val="#ppt_y"/>
                                          </p:val>
                                        </p:tav>
                                      </p:tavLst>
                                    </p:anim>
                                  </p:childTnLst>
                                </p:cTn>
                              </p:par>
                              <p:par>
                                <p:cTn id="38" presetID="42" presetClass="entr" presetSubtype="0" decel="100000" fill="hold" grpId="0" nodeType="withEffect">
                                  <p:stCondLst>
                                    <p:cond delay="85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650" fill="hold"/>
                                        <p:tgtEl>
                                          <p:spTgt spid="12"/>
                                        </p:tgtEl>
                                      </p:cBhvr>
                                    </p:animEffect>
                                    <p:anim calcmode="lin" valueType="num">
                                      <p:cBhvr additive="base">
                                        <p:cTn id="41" dur="650" fill="hold"/>
                                        <p:tgtEl>
                                          <p:spTgt spid="12"/>
                                        </p:tgtEl>
                                        <p:attrNameLst>
                                          <p:attrName>ppt_x</p:attrName>
                                        </p:attrNameLst>
                                      </p:cBhvr>
                                      <p:tavLst>
                                        <p:tav tm="0">
                                          <p:val>
                                            <p:strVal val="#ppt_x"/>
                                          </p:val>
                                        </p:tav>
                                        <p:tav tm="100000">
                                          <p:val>
                                            <p:strVal val="#ppt_x"/>
                                          </p:val>
                                        </p:tav>
                                      </p:tavLst>
                                    </p:anim>
                                    <p:anim calcmode="lin" valueType="num">
                                      <p:cBhvr additive="base">
                                        <p:cTn id="42" dur="650" fill="hold"/>
                                        <p:tgtEl>
                                          <p:spTgt spid="12"/>
                                        </p:tgtEl>
                                        <p:attrNameLst>
                                          <p:attrName>ppt_y</p:attrName>
                                        </p:attrNameLst>
                                      </p:cBhvr>
                                      <p:tavLst>
                                        <p:tav tm="0">
                                          <p:val>
                                            <p:strVal val="#ppt_y+.06"/>
                                          </p:val>
                                        </p:tav>
                                        <p:tav tm="100000">
                                          <p:val>
                                            <p:strVal val="#ppt_y"/>
                                          </p:val>
                                        </p:tav>
                                      </p:tavLst>
                                    </p:anim>
                                  </p:childTnLst>
                                </p:cTn>
                              </p:par>
                              <p:par>
                                <p:cTn id="43" presetID="42" presetClass="entr" presetSubtype="0" decel="100000" fill="hold" grpId="0" nodeType="withEffect">
                                  <p:stCondLst>
                                    <p:cond delay="85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650" fill="hold"/>
                                        <p:tgtEl>
                                          <p:spTgt spid="13"/>
                                        </p:tgtEl>
                                      </p:cBhvr>
                                    </p:animEffect>
                                    <p:anim calcmode="lin" valueType="num">
                                      <p:cBhvr additive="base">
                                        <p:cTn id="46" dur="650" fill="hold"/>
                                        <p:tgtEl>
                                          <p:spTgt spid="13"/>
                                        </p:tgtEl>
                                        <p:attrNameLst>
                                          <p:attrName>ppt_x</p:attrName>
                                        </p:attrNameLst>
                                      </p:cBhvr>
                                      <p:tavLst>
                                        <p:tav tm="0">
                                          <p:val>
                                            <p:strVal val="#ppt_x"/>
                                          </p:val>
                                        </p:tav>
                                        <p:tav tm="100000">
                                          <p:val>
                                            <p:strVal val="#ppt_x"/>
                                          </p:val>
                                        </p:tav>
                                      </p:tavLst>
                                    </p:anim>
                                    <p:anim calcmode="lin" valueType="num">
                                      <p:cBhvr additive="base">
                                        <p:cTn id="47" dur="650" fill="hold"/>
                                        <p:tgtEl>
                                          <p:spTgt spid="13"/>
                                        </p:tgtEl>
                                        <p:attrNameLst>
                                          <p:attrName>ppt_y</p:attrName>
                                        </p:attrNameLst>
                                      </p:cBhvr>
                                      <p:tavLst>
                                        <p:tav tm="0">
                                          <p:val>
                                            <p:strVal val="#ppt_y+.06"/>
                                          </p:val>
                                        </p:tav>
                                        <p:tav tm="100000">
                                          <p:val>
                                            <p:strVal val="#ppt_y"/>
                                          </p:val>
                                        </p:tav>
                                      </p:tavLst>
                                    </p:anim>
                                  </p:childTnLst>
                                </p:cTn>
                              </p:par>
                              <p:par>
                                <p:cTn id="48" presetID="42" presetClass="entr" presetSubtype="0" decel="100000" fill="hold" grpId="0" nodeType="withEffect">
                                  <p:stCondLst>
                                    <p:cond delay="85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650" fill="hold"/>
                                        <p:tgtEl>
                                          <p:spTgt spid="14"/>
                                        </p:tgtEl>
                                      </p:cBhvr>
                                    </p:animEffect>
                                    <p:anim calcmode="lin" valueType="num">
                                      <p:cBhvr additive="base">
                                        <p:cTn id="51" dur="650" fill="hold"/>
                                        <p:tgtEl>
                                          <p:spTgt spid="14"/>
                                        </p:tgtEl>
                                        <p:attrNameLst>
                                          <p:attrName>ppt_x</p:attrName>
                                        </p:attrNameLst>
                                      </p:cBhvr>
                                      <p:tavLst>
                                        <p:tav tm="0">
                                          <p:val>
                                            <p:strVal val="#ppt_x"/>
                                          </p:val>
                                        </p:tav>
                                        <p:tav tm="100000">
                                          <p:val>
                                            <p:strVal val="#ppt_x"/>
                                          </p:val>
                                        </p:tav>
                                      </p:tavLst>
                                    </p:anim>
                                    <p:anim calcmode="lin" valueType="num">
                                      <p:cBhvr additive="base">
                                        <p:cTn id="52" dur="650" fill="hold"/>
                                        <p:tgtEl>
                                          <p:spTgt spid="14"/>
                                        </p:tgtEl>
                                        <p:attrNameLst>
                                          <p:attrName>ppt_y</p:attrName>
                                        </p:attrNameLst>
                                      </p:cBhvr>
                                      <p:tavLst>
                                        <p:tav tm="0">
                                          <p:val>
                                            <p:strVal val="#ppt_y+.06"/>
                                          </p:val>
                                        </p:tav>
                                        <p:tav tm="100000">
                                          <p:val>
                                            <p:strVal val="#ppt_y"/>
                                          </p:val>
                                        </p:tav>
                                      </p:tavLst>
                                    </p:anim>
                                  </p:childTnLst>
                                </p:cTn>
                              </p:par>
                              <p:par>
                                <p:cTn id="53" presetID="42" presetClass="entr" presetSubtype="0" decel="100000" fill="hold" grpId="0" nodeType="withEffect">
                                  <p:stCondLst>
                                    <p:cond delay="115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650" fill="hold"/>
                                        <p:tgtEl>
                                          <p:spTgt spid="15"/>
                                        </p:tgtEl>
                                      </p:cBhvr>
                                    </p:animEffect>
                                    <p:anim calcmode="lin" valueType="num">
                                      <p:cBhvr additive="base">
                                        <p:cTn id="56" dur="650" fill="hold"/>
                                        <p:tgtEl>
                                          <p:spTgt spid="15"/>
                                        </p:tgtEl>
                                        <p:attrNameLst>
                                          <p:attrName>ppt_x</p:attrName>
                                        </p:attrNameLst>
                                      </p:cBhvr>
                                      <p:tavLst>
                                        <p:tav tm="0">
                                          <p:val>
                                            <p:strVal val="#ppt_x"/>
                                          </p:val>
                                        </p:tav>
                                        <p:tav tm="100000">
                                          <p:val>
                                            <p:strVal val="#ppt_x"/>
                                          </p:val>
                                        </p:tav>
                                      </p:tavLst>
                                    </p:anim>
                                    <p:anim calcmode="lin" valueType="num">
                                      <p:cBhvr additive="base">
                                        <p:cTn id="57" dur="650" fill="hold"/>
                                        <p:tgtEl>
                                          <p:spTgt spid="15"/>
                                        </p:tgtEl>
                                        <p:attrNameLst>
                                          <p:attrName>ppt_y</p:attrName>
                                        </p:attrNameLst>
                                      </p:cBhvr>
                                      <p:tavLst>
                                        <p:tav tm="0">
                                          <p:val>
                                            <p:strVal val="#ppt_y+.06"/>
                                          </p:val>
                                        </p:tav>
                                        <p:tav tm="100000">
                                          <p:val>
                                            <p:strVal val="#ppt_y"/>
                                          </p:val>
                                        </p:tav>
                                      </p:tavLst>
                                    </p:anim>
                                  </p:childTnLst>
                                </p:cTn>
                              </p:par>
                              <p:par>
                                <p:cTn id="58" presetID="42" presetClass="entr" presetSubtype="0" decel="100000" fill="hold" grpId="0" nodeType="withEffect">
                                  <p:stCondLst>
                                    <p:cond delay="115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650" fill="hold"/>
                                        <p:tgtEl>
                                          <p:spTgt spid="16"/>
                                        </p:tgtEl>
                                      </p:cBhvr>
                                    </p:animEffect>
                                    <p:anim calcmode="lin" valueType="num">
                                      <p:cBhvr additive="base">
                                        <p:cTn id="61" dur="650" fill="hold"/>
                                        <p:tgtEl>
                                          <p:spTgt spid="16"/>
                                        </p:tgtEl>
                                        <p:attrNameLst>
                                          <p:attrName>ppt_x</p:attrName>
                                        </p:attrNameLst>
                                      </p:cBhvr>
                                      <p:tavLst>
                                        <p:tav tm="0">
                                          <p:val>
                                            <p:strVal val="#ppt_x"/>
                                          </p:val>
                                        </p:tav>
                                        <p:tav tm="100000">
                                          <p:val>
                                            <p:strVal val="#ppt_x"/>
                                          </p:val>
                                        </p:tav>
                                      </p:tavLst>
                                    </p:anim>
                                    <p:anim calcmode="lin" valueType="num">
                                      <p:cBhvr additive="base">
                                        <p:cTn id="62" dur="650" fill="hold"/>
                                        <p:tgtEl>
                                          <p:spTgt spid="16"/>
                                        </p:tgtEl>
                                        <p:attrNameLst>
                                          <p:attrName>ppt_y</p:attrName>
                                        </p:attrNameLst>
                                      </p:cBhvr>
                                      <p:tavLst>
                                        <p:tav tm="0">
                                          <p:val>
                                            <p:strVal val="#ppt_y+.06"/>
                                          </p:val>
                                        </p:tav>
                                        <p:tav tm="100000">
                                          <p:val>
                                            <p:strVal val="#ppt_y"/>
                                          </p:val>
                                        </p:tav>
                                      </p:tavLst>
                                    </p:anim>
                                  </p:childTnLst>
                                </p:cTn>
                              </p:par>
                              <p:par>
                                <p:cTn id="63" presetID="42" presetClass="entr" presetSubtype="0" decel="100000" fill="hold" grpId="0" nodeType="withEffect">
                                  <p:stCondLst>
                                    <p:cond delay="1150"/>
                                  </p:stCondLst>
                                  <p:childTnLst>
                                    <p:set>
                                      <p:cBhvr>
                                        <p:cTn id="64" dur="1" fill="hold">
                                          <p:stCondLst>
                                            <p:cond delay="0"/>
                                          </p:stCondLst>
                                        </p:cTn>
                                        <p:tgtEl>
                                          <p:spTgt spid="17"/>
                                        </p:tgtEl>
                                        <p:attrNameLst>
                                          <p:attrName>style.visibility</p:attrName>
                                        </p:attrNameLst>
                                      </p:cBhvr>
                                      <p:to>
                                        <p:strVal val="visible"/>
                                      </p:to>
                                    </p:set>
                                    <p:animEffect transition="in" filter="fade">
                                      <p:cBhvr>
                                        <p:cTn id="65" dur="650" fill="hold"/>
                                        <p:tgtEl>
                                          <p:spTgt spid="17"/>
                                        </p:tgtEl>
                                      </p:cBhvr>
                                    </p:animEffect>
                                    <p:anim calcmode="lin" valueType="num">
                                      <p:cBhvr additive="base">
                                        <p:cTn id="66" dur="650" fill="hold"/>
                                        <p:tgtEl>
                                          <p:spTgt spid="17"/>
                                        </p:tgtEl>
                                        <p:attrNameLst>
                                          <p:attrName>ppt_x</p:attrName>
                                        </p:attrNameLst>
                                      </p:cBhvr>
                                      <p:tavLst>
                                        <p:tav tm="0">
                                          <p:val>
                                            <p:strVal val="#ppt_x"/>
                                          </p:val>
                                        </p:tav>
                                        <p:tav tm="100000">
                                          <p:val>
                                            <p:strVal val="#ppt_x"/>
                                          </p:val>
                                        </p:tav>
                                      </p:tavLst>
                                    </p:anim>
                                    <p:anim calcmode="lin" valueType="num">
                                      <p:cBhvr additive="base">
                                        <p:cTn id="67" dur="650" fill="hold"/>
                                        <p:tgtEl>
                                          <p:spTgt spid="17"/>
                                        </p:tgtEl>
                                        <p:attrNameLst>
                                          <p:attrName>ppt_y</p:attrName>
                                        </p:attrNameLst>
                                      </p:cBhvr>
                                      <p:tavLst>
                                        <p:tav tm="0">
                                          <p:val>
                                            <p:strVal val="#ppt_y+.06"/>
                                          </p:val>
                                        </p:tav>
                                        <p:tav tm="100000">
                                          <p:val>
                                            <p:strVal val="#ppt_y"/>
                                          </p:val>
                                        </p:tav>
                                      </p:tavLst>
                                    </p:anim>
                                  </p:childTnLst>
                                </p:cTn>
                              </p:par>
                              <p:par>
                                <p:cTn id="68" presetID="42" presetClass="entr" presetSubtype="0" decel="100000" fill="hold" grpId="0" nodeType="withEffect">
                                  <p:stCondLst>
                                    <p:cond delay="145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650" fill="hold"/>
                                        <p:tgtEl>
                                          <p:spTgt spid="18"/>
                                        </p:tgtEl>
                                      </p:cBhvr>
                                    </p:animEffect>
                                    <p:anim calcmode="lin" valueType="num">
                                      <p:cBhvr additive="base">
                                        <p:cTn id="71" dur="650" fill="hold"/>
                                        <p:tgtEl>
                                          <p:spTgt spid="18"/>
                                        </p:tgtEl>
                                        <p:attrNameLst>
                                          <p:attrName>ppt_x</p:attrName>
                                        </p:attrNameLst>
                                      </p:cBhvr>
                                      <p:tavLst>
                                        <p:tav tm="0">
                                          <p:val>
                                            <p:strVal val="#ppt_x"/>
                                          </p:val>
                                        </p:tav>
                                        <p:tav tm="100000">
                                          <p:val>
                                            <p:strVal val="#ppt_x"/>
                                          </p:val>
                                        </p:tav>
                                      </p:tavLst>
                                    </p:anim>
                                    <p:anim calcmode="lin" valueType="num">
                                      <p:cBhvr additive="base">
                                        <p:cTn id="72" dur="650" fill="hold"/>
                                        <p:tgtEl>
                                          <p:spTgt spid="18"/>
                                        </p:tgtEl>
                                        <p:attrNameLst>
                                          <p:attrName>ppt_y</p:attrName>
                                        </p:attrNameLst>
                                      </p:cBhvr>
                                      <p:tavLst>
                                        <p:tav tm="0">
                                          <p:val>
                                            <p:strVal val="#ppt_y+.06"/>
                                          </p:val>
                                        </p:tav>
                                        <p:tav tm="100000">
                                          <p:val>
                                            <p:strVal val="#ppt_y"/>
                                          </p:val>
                                        </p:tav>
                                      </p:tavLst>
                                    </p:anim>
                                  </p:childTnLst>
                                </p:cTn>
                              </p:par>
                              <p:par>
                                <p:cTn id="73" presetID="42" presetClass="entr" presetSubtype="0" decel="100000" fill="hold" grpId="0" nodeType="withEffect">
                                  <p:stCondLst>
                                    <p:cond delay="145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650" fill="hold"/>
                                        <p:tgtEl>
                                          <p:spTgt spid="19"/>
                                        </p:tgtEl>
                                      </p:cBhvr>
                                    </p:animEffect>
                                    <p:anim calcmode="lin" valueType="num">
                                      <p:cBhvr additive="base">
                                        <p:cTn id="76" dur="650" fill="hold"/>
                                        <p:tgtEl>
                                          <p:spTgt spid="19"/>
                                        </p:tgtEl>
                                        <p:attrNameLst>
                                          <p:attrName>ppt_x</p:attrName>
                                        </p:attrNameLst>
                                      </p:cBhvr>
                                      <p:tavLst>
                                        <p:tav tm="0">
                                          <p:val>
                                            <p:strVal val="#ppt_x"/>
                                          </p:val>
                                        </p:tav>
                                        <p:tav tm="100000">
                                          <p:val>
                                            <p:strVal val="#ppt_x"/>
                                          </p:val>
                                        </p:tav>
                                      </p:tavLst>
                                    </p:anim>
                                    <p:anim calcmode="lin" valueType="num">
                                      <p:cBhvr additive="base">
                                        <p:cTn id="77" dur="650" fill="hold"/>
                                        <p:tgtEl>
                                          <p:spTgt spid="19"/>
                                        </p:tgtEl>
                                        <p:attrNameLst>
                                          <p:attrName>ppt_y</p:attrName>
                                        </p:attrNameLst>
                                      </p:cBhvr>
                                      <p:tavLst>
                                        <p:tav tm="0">
                                          <p:val>
                                            <p:strVal val="#ppt_y+.06"/>
                                          </p:val>
                                        </p:tav>
                                        <p:tav tm="100000">
                                          <p:val>
                                            <p:strVal val="#ppt_y"/>
                                          </p:val>
                                        </p:tav>
                                      </p:tavLst>
                                    </p:anim>
                                  </p:childTnLst>
                                </p:cTn>
                              </p:par>
                              <p:par>
                                <p:cTn id="78" presetID="42" presetClass="entr" presetSubtype="0" decel="100000" fill="hold" grpId="0" nodeType="withEffect">
                                  <p:stCondLst>
                                    <p:cond delay="1450"/>
                                  </p:stCondLst>
                                  <p:childTnLst>
                                    <p:set>
                                      <p:cBhvr>
                                        <p:cTn id="79" dur="1" fill="hold">
                                          <p:stCondLst>
                                            <p:cond delay="0"/>
                                          </p:stCondLst>
                                        </p:cTn>
                                        <p:tgtEl>
                                          <p:spTgt spid="20"/>
                                        </p:tgtEl>
                                        <p:attrNameLst>
                                          <p:attrName>style.visibility</p:attrName>
                                        </p:attrNameLst>
                                      </p:cBhvr>
                                      <p:to>
                                        <p:strVal val="visible"/>
                                      </p:to>
                                    </p:set>
                                    <p:animEffect transition="in" filter="fade">
                                      <p:cBhvr>
                                        <p:cTn id="80" dur="650" fill="hold"/>
                                        <p:tgtEl>
                                          <p:spTgt spid="20"/>
                                        </p:tgtEl>
                                      </p:cBhvr>
                                    </p:animEffect>
                                    <p:anim calcmode="lin" valueType="num">
                                      <p:cBhvr additive="base">
                                        <p:cTn id="81" dur="650" fill="hold"/>
                                        <p:tgtEl>
                                          <p:spTgt spid="20"/>
                                        </p:tgtEl>
                                        <p:attrNameLst>
                                          <p:attrName>ppt_x</p:attrName>
                                        </p:attrNameLst>
                                      </p:cBhvr>
                                      <p:tavLst>
                                        <p:tav tm="0">
                                          <p:val>
                                            <p:strVal val="#ppt_x"/>
                                          </p:val>
                                        </p:tav>
                                        <p:tav tm="100000">
                                          <p:val>
                                            <p:strVal val="#ppt_x"/>
                                          </p:val>
                                        </p:tav>
                                      </p:tavLst>
                                    </p:anim>
                                    <p:anim calcmode="lin" valueType="num">
                                      <p:cBhvr additive="base">
                                        <p:cTn id="82" dur="650" fill="hold"/>
                                        <p:tgtEl>
                                          <p:spTgt spid="20"/>
                                        </p:tgtEl>
                                        <p:attrNameLst>
                                          <p:attrName>ppt_y</p:attrName>
                                        </p:attrNameLst>
                                      </p:cBhvr>
                                      <p:tavLst>
                                        <p:tav tm="0">
                                          <p:val>
                                            <p:strVal val="#ppt_y+.06"/>
                                          </p:val>
                                        </p:tav>
                                        <p:tav tm="100000">
                                          <p:val>
                                            <p:strVal val="#ppt_y"/>
                                          </p:val>
                                        </p:tav>
                                      </p:tavLst>
                                    </p:anim>
                                  </p:childTnLst>
                                </p:cTn>
                              </p:par>
                              <p:par>
                                <p:cTn id="83" presetID="22" presetClass="entr" presetSubtype="8" fill="hold" grpId="0" nodeType="withEffect">
                                  <p:stCondLst>
                                    <p:cond delay="1800"/>
                                  </p:stCondLst>
                                  <p:childTnLst>
                                    <p:set>
                                      <p:cBhvr>
                                        <p:cTn id="84" dur="1" fill="hold">
                                          <p:stCondLst>
                                            <p:cond delay="0"/>
                                          </p:stCondLst>
                                        </p:cTn>
                                        <p:tgtEl>
                                          <p:spTgt spid="21"/>
                                        </p:tgtEl>
                                        <p:attrNameLst>
                                          <p:attrName>style.visibility</p:attrName>
                                        </p:attrNameLst>
                                      </p:cBhvr>
                                      <p:to>
                                        <p:strVal val="visible"/>
                                      </p:to>
                                    </p:set>
                                    <p:animEffect transition="in" filter="wipe(left)">
                                      <p:cBhvr>
                                        <p:cTn id="85" dur="800" fill="hold"/>
                                        <p:tgtEl>
                                          <p:spTgt spid="21"/>
                                        </p:tgtEl>
                                      </p:cBhvr>
                                    </p:animEffect>
                                  </p:childTnLst>
                                </p:cTn>
                              </p:par>
                              <p:par>
                                <p:cTn id="86" presetID="22" presetClass="entr" presetSubtype="8" fill="hold" grpId="0" nodeType="withEffect">
                                  <p:stCondLst>
                                    <p:cond delay="1800"/>
                                  </p:stCondLst>
                                  <p:childTnLst>
                                    <p:set>
                                      <p:cBhvr>
                                        <p:cTn id="87" dur="1" fill="hold">
                                          <p:stCondLst>
                                            <p:cond delay="0"/>
                                          </p:stCondLst>
                                        </p:cTn>
                                        <p:tgtEl>
                                          <p:spTgt spid="22"/>
                                        </p:tgtEl>
                                        <p:attrNameLst>
                                          <p:attrName>style.visibility</p:attrName>
                                        </p:attrNameLst>
                                      </p:cBhvr>
                                      <p:to>
                                        <p:strVal val="visible"/>
                                      </p:to>
                                    </p:set>
                                    <p:animEffect transition="in" filter="wipe(left)">
                                      <p:cBhvr>
                                        <p:cTn id="88" dur="800" fill="hold"/>
                                        <p:tgtEl>
                                          <p:spTgt spid="22"/>
                                        </p:tgtEl>
                                      </p:cBhvr>
                                    </p:animEffect>
                                  </p:childTnLst>
                                </p:cTn>
                              </p:par>
                              <p:par>
                                <p:cTn id="89" presetID="22" presetClass="entr" presetSubtype="8" fill="hold" grpId="0" nodeType="withEffect">
                                  <p:stCondLst>
                                    <p:cond delay="1800"/>
                                  </p:stCondLst>
                                  <p:childTnLst>
                                    <p:set>
                                      <p:cBhvr>
                                        <p:cTn id="90" dur="1" fill="hold">
                                          <p:stCondLst>
                                            <p:cond delay="0"/>
                                          </p:stCondLst>
                                        </p:cTn>
                                        <p:tgtEl>
                                          <p:spTgt spid="23"/>
                                        </p:tgtEl>
                                        <p:attrNameLst>
                                          <p:attrName>style.visibility</p:attrName>
                                        </p:attrNameLst>
                                      </p:cBhvr>
                                      <p:to>
                                        <p:strVal val="visible"/>
                                      </p:to>
                                    </p:set>
                                    <p:animEffect transition="in" filter="wipe(left)">
                                      <p:cBhvr>
                                        <p:cTn id="91" dur="800" fill="hold"/>
                                        <p:tgtEl>
                                          <p:spTgt spid="23"/>
                                        </p:tgtEl>
                                      </p:cBhvr>
                                    </p:animEffect>
                                  </p:childTnLst>
                                </p:cTn>
                              </p:par>
                              <p:par>
                                <p:cTn id="92" presetID="22" presetClass="entr" presetSubtype="8" fill="hold" grpId="0" nodeType="withEffect">
                                  <p:stCondLst>
                                    <p:cond delay="1800"/>
                                  </p:stCondLst>
                                  <p:childTnLst>
                                    <p:set>
                                      <p:cBhvr>
                                        <p:cTn id="93" dur="1" fill="hold">
                                          <p:stCondLst>
                                            <p:cond delay="0"/>
                                          </p:stCondLst>
                                        </p:cTn>
                                        <p:tgtEl>
                                          <p:spTgt spid="24"/>
                                        </p:tgtEl>
                                        <p:attrNameLst>
                                          <p:attrName>style.visibility</p:attrName>
                                        </p:attrNameLst>
                                      </p:cBhvr>
                                      <p:to>
                                        <p:strVal val="visible"/>
                                      </p:to>
                                    </p:set>
                                    <p:animEffect transition="in" filter="wipe(left)">
                                      <p:cBhvr>
                                        <p:cTn id="94" dur="800" fill="hold"/>
                                        <p:tgtEl>
                                          <p:spTgt spid="24"/>
                                        </p:tgtEl>
                                      </p:cBhvr>
                                    </p:animEffect>
                                  </p:childTnLst>
                                </p:cTn>
                              </p:par>
                              <p:par>
                                <p:cTn id="95" presetID="22" presetClass="entr" presetSubtype="8" fill="hold" grpId="0" nodeType="withEffect">
                                  <p:stCondLst>
                                    <p:cond delay="1800"/>
                                  </p:stCondLst>
                                  <p:childTnLst>
                                    <p:set>
                                      <p:cBhvr>
                                        <p:cTn id="96" dur="1" fill="hold">
                                          <p:stCondLst>
                                            <p:cond delay="0"/>
                                          </p:stCondLst>
                                        </p:cTn>
                                        <p:tgtEl>
                                          <p:spTgt spid="25"/>
                                        </p:tgtEl>
                                        <p:attrNameLst>
                                          <p:attrName>style.visibility</p:attrName>
                                        </p:attrNameLst>
                                      </p:cBhvr>
                                      <p:to>
                                        <p:strVal val="visible"/>
                                      </p:to>
                                    </p:set>
                                    <p:animEffect transition="in" filter="wipe(left)">
                                      <p:cBhvr>
                                        <p:cTn id="97" dur="800" fill="hold"/>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2A9FC0"/>
                </a:solidFill>
                <a:latin typeface="Segoe UI Semibold"/>
              </a:rPr>
              <a:t>MÓDULO 6  ·  ESTUDO DE CASO (ILUSTRATIVO)</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Implementar e medir</a:t>
            </a:r>
          </a:p>
        </p:txBody>
      </p:sp>
      <p:sp>
        <p:nvSpPr>
          <p:cNvPr id="6" name="Rounded Rectangle 5"/>
          <p:cNvSpPr/>
          <p:nvPr/>
        </p:nvSpPr>
        <p:spPr>
          <a:xfrm>
            <a:off x="548640" y="1600200"/>
            <a:ext cx="3474720" cy="256032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22959" y="3108960"/>
            <a:ext cx="2926080" cy="914400"/>
          </a:xfrm>
          <a:prstGeom prst="rect">
            <a:avLst/>
          </a:prstGeom>
          <a:noFill/>
        </p:spPr>
        <p:txBody>
          <a:bodyPr wrap="square" lIns="36576" tIns="18288" rIns="36576" bIns="18288" anchor="t">
            <a:spAutoFit/>
          </a:bodyPr>
          <a:lstStyle/>
          <a:p>
            <a:pPr algn="ctr"/>
            <a:r>
              <a:rPr sz="1500" b="0" i="0">
                <a:solidFill>
                  <a:srgbClr val="B4B8B0"/>
                </a:solidFill>
                <a:latin typeface="Segoe UI"/>
              </a:rPr>
              <a:t>taxa de faltas no piloto</a:t>
            </a:r>
          </a:p>
        </p:txBody>
      </p:sp>
      <p:sp>
        <p:nvSpPr>
          <p:cNvPr id="8" name="TextBox 7"/>
          <p:cNvSpPr txBox="1"/>
          <p:nvPr/>
        </p:nvSpPr>
        <p:spPr>
          <a:xfrm>
            <a:off x="548640" y="1920240"/>
            <a:ext cx="3474720" cy="1097280"/>
          </a:xfrm>
          <a:prstGeom prst="rect">
            <a:avLst/>
          </a:prstGeom>
          <a:noFill/>
        </p:spPr>
        <p:txBody>
          <a:bodyPr wrap="square" lIns="36576" tIns="18288" rIns="36576" bIns="18288" anchor="t">
            <a:spAutoFit/>
          </a:bodyPr>
          <a:lstStyle/>
          <a:p>
            <a:pPr algn="ctr"/>
            <a:r>
              <a:rPr sz="4600" b="1" i="0">
                <a:solidFill>
                  <a:srgbClr val="9CD848"/>
                </a:solidFill>
                <a:latin typeface="Segoe UI Semibold"/>
              </a:rPr>
              <a:t>28% → 12%</a:t>
            </a:r>
          </a:p>
        </p:txBody>
      </p:sp>
      <p:sp>
        <p:nvSpPr>
          <p:cNvPr id="9" name="Rounded Rectangle 8"/>
          <p:cNvSpPr/>
          <p:nvPr/>
        </p:nvSpPr>
        <p:spPr>
          <a:xfrm>
            <a:off x="4297679" y="1600200"/>
            <a:ext cx="3474720" cy="256032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571999" y="3108960"/>
            <a:ext cx="2926080" cy="914400"/>
          </a:xfrm>
          <a:prstGeom prst="rect">
            <a:avLst/>
          </a:prstGeom>
          <a:noFill/>
        </p:spPr>
        <p:txBody>
          <a:bodyPr wrap="square" lIns="36576" tIns="18288" rIns="36576" bIns="18288" anchor="t">
            <a:spAutoFit/>
          </a:bodyPr>
          <a:lstStyle/>
          <a:p>
            <a:pPr algn="ctr"/>
            <a:r>
              <a:rPr sz="1500" b="0" i="0">
                <a:solidFill>
                  <a:srgbClr val="B4B8B0"/>
                </a:solidFill>
                <a:latin typeface="Segoe UI"/>
              </a:rPr>
              <a:t>das vagas liberadas foram reocupadas</a:t>
            </a:r>
          </a:p>
        </p:txBody>
      </p:sp>
      <p:sp>
        <p:nvSpPr>
          <p:cNvPr id="11" name="TextBox 10"/>
          <p:cNvSpPr txBox="1"/>
          <p:nvPr/>
        </p:nvSpPr>
        <p:spPr>
          <a:xfrm>
            <a:off x="4297679" y="1920240"/>
            <a:ext cx="3474720" cy="1097280"/>
          </a:xfrm>
          <a:prstGeom prst="rect">
            <a:avLst/>
          </a:prstGeom>
          <a:noFill/>
        </p:spPr>
        <p:txBody>
          <a:bodyPr wrap="square" lIns="36576" tIns="18288" rIns="36576" bIns="18288" anchor="t">
            <a:spAutoFit/>
          </a:bodyPr>
          <a:lstStyle/>
          <a:p>
            <a:pPr algn="ctr"/>
            <a:r>
              <a:rPr sz="4600" b="1" i="0">
                <a:solidFill>
                  <a:srgbClr val="2FA38A"/>
                </a:solidFill>
                <a:latin typeface="Segoe UI Semibold"/>
              </a:rPr>
              <a:t>65%</a:t>
            </a:r>
          </a:p>
        </p:txBody>
      </p:sp>
      <p:sp>
        <p:nvSpPr>
          <p:cNvPr id="12" name="Rounded Rectangle 11"/>
          <p:cNvSpPr/>
          <p:nvPr/>
        </p:nvSpPr>
        <p:spPr>
          <a:xfrm>
            <a:off x="8046719" y="1600200"/>
            <a:ext cx="3474720" cy="256032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321040" y="3108960"/>
            <a:ext cx="2926080" cy="914400"/>
          </a:xfrm>
          <a:prstGeom prst="rect">
            <a:avLst/>
          </a:prstGeom>
          <a:noFill/>
        </p:spPr>
        <p:txBody>
          <a:bodyPr wrap="square" lIns="36576" tIns="18288" rIns="36576" bIns="18288" anchor="t">
            <a:spAutoFit/>
          </a:bodyPr>
          <a:lstStyle/>
          <a:p>
            <a:pPr algn="ctr"/>
            <a:r>
              <a:rPr sz="1500" b="0" i="0">
                <a:solidFill>
                  <a:srgbClr val="B4B8B0"/>
                </a:solidFill>
                <a:latin typeface="Segoe UI"/>
              </a:rPr>
              <a:t>gasto em tecnologia para validar</a:t>
            </a:r>
          </a:p>
        </p:txBody>
      </p:sp>
      <p:sp>
        <p:nvSpPr>
          <p:cNvPr id="14" name="TextBox 13"/>
          <p:cNvSpPr txBox="1"/>
          <p:nvPr/>
        </p:nvSpPr>
        <p:spPr>
          <a:xfrm>
            <a:off x="8046719" y="1920240"/>
            <a:ext cx="3474720" cy="1097280"/>
          </a:xfrm>
          <a:prstGeom prst="rect">
            <a:avLst/>
          </a:prstGeom>
          <a:noFill/>
        </p:spPr>
        <p:txBody>
          <a:bodyPr wrap="square" lIns="36576" tIns="18288" rIns="36576" bIns="18288" anchor="t">
            <a:spAutoFit/>
          </a:bodyPr>
          <a:lstStyle/>
          <a:p>
            <a:pPr algn="ctr"/>
            <a:r>
              <a:rPr sz="4600" b="1" i="0">
                <a:solidFill>
                  <a:srgbClr val="2A9FC0"/>
                </a:solidFill>
                <a:latin typeface="Segoe UI Semibold"/>
              </a:rPr>
              <a:t>R$ 0</a:t>
            </a:r>
          </a:p>
        </p:txBody>
      </p:sp>
      <p:sp>
        <p:nvSpPr>
          <p:cNvPr id="15" name="TextBox 14"/>
          <p:cNvSpPr txBox="1"/>
          <p:nvPr/>
        </p:nvSpPr>
        <p:spPr>
          <a:xfrm>
            <a:off x="548640" y="4480560"/>
            <a:ext cx="11064240" cy="914400"/>
          </a:xfrm>
          <a:prstGeom prst="rect">
            <a:avLst/>
          </a:prstGeom>
          <a:noFill/>
        </p:spPr>
        <p:txBody>
          <a:bodyPr wrap="square" lIns="36576" tIns="18288" rIns="36576" bIns="18288" anchor="t">
            <a:spAutoFit/>
          </a:bodyPr>
          <a:lstStyle/>
          <a:p>
            <a:pPr algn="l"/>
            <a:r>
              <a:rPr sz="1700" b="0" i="0">
                <a:solidFill>
                  <a:srgbClr val="B4B8B0"/>
                </a:solidFill>
                <a:latin typeface="Segoe UI"/>
              </a:rPr>
              <a:t>Com a solução validada, a clínica automatizou os lembretes e passou a acompanhar mensalmente: taxa de faltas, remarcações e ocupação da agenda.</a:t>
            </a:r>
          </a:p>
        </p:txBody>
      </p:sp>
      <p:sp>
        <p:nvSpPr>
          <p:cNvPr id="16" name="TextBox 15"/>
          <p:cNvSpPr txBox="1"/>
          <p:nvPr/>
        </p:nvSpPr>
        <p:spPr>
          <a:xfrm>
            <a:off x="548640" y="5532120"/>
            <a:ext cx="11064240" cy="365760"/>
          </a:xfrm>
          <a:prstGeom prst="rect">
            <a:avLst/>
          </a:prstGeom>
          <a:noFill/>
        </p:spPr>
        <p:txBody>
          <a:bodyPr wrap="square" lIns="36576" tIns="18288" rIns="36576" bIns="18288" anchor="t">
            <a:spAutoFit/>
          </a:bodyPr>
          <a:lstStyle/>
          <a:p>
            <a:pPr algn="l"/>
            <a:r>
              <a:rPr sz="1100" b="0" i="1">
                <a:solidFill>
                  <a:srgbClr val="7D827B"/>
                </a:solidFill>
                <a:latin typeface="Segoe UI"/>
              </a:rPr>
              <a:t>Números ilustrativos, para fins didáticos.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50" fill="hold"/>
                                        <p:tgtEl>
                                          <p:spTgt spid="6"/>
                                        </p:tgtEl>
                                      </p:cBhvr>
                                    </p:animEffect>
                                    <p:anim calcmode="lin" valueType="num">
                                      <p:cBhvr additive="base">
                                        <p:cTn id="11" dur="650" fill="hold"/>
                                        <p:tgtEl>
                                          <p:spTgt spid="6"/>
                                        </p:tgtEl>
                                        <p:attrNameLst>
                                          <p:attrName>ppt_x</p:attrName>
                                        </p:attrNameLst>
                                      </p:cBhvr>
                                      <p:tavLst>
                                        <p:tav tm="0">
                                          <p:val>
                                            <p:strVal val="#ppt_x"/>
                                          </p:val>
                                        </p:tav>
                                        <p:tav tm="100000">
                                          <p:val>
                                            <p:strVal val="#ppt_x"/>
                                          </p:val>
                                        </p:tav>
                                      </p:tavLst>
                                    </p:anim>
                                    <p:anim calcmode="lin" valueType="num">
                                      <p:cBhvr additive="base">
                                        <p:cTn id="12" dur="650" fill="hold"/>
                                        <p:tgtEl>
                                          <p:spTgt spid="6"/>
                                        </p:tgtEl>
                                        <p:attrNameLst>
                                          <p:attrName>ppt_y</p:attrName>
                                        </p:attrNameLst>
                                      </p:cBhvr>
                                      <p:tavLst>
                                        <p:tav tm="0">
                                          <p:val>
                                            <p:strVal val="#ppt_y+.06"/>
                                          </p:val>
                                        </p:tav>
                                        <p:tav tm="100000">
                                          <p:val>
                                            <p:strVal val="#ppt_y"/>
                                          </p:val>
                                        </p:tav>
                                      </p:tavLst>
                                    </p:anim>
                                  </p:childTnLst>
                                </p:cTn>
                              </p:par>
                              <p:par>
                                <p:cTn id="13" presetID="42" presetClass="entr" presetSubtype="0" decel="100000" fill="hold" grpId="0" nodeType="withEffect">
                                  <p:stCondLst>
                                    <p:cond delay="25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fill="hold"/>
                                        <p:tgtEl>
                                          <p:spTgt spid="7"/>
                                        </p:tgtEl>
                                      </p:cBhvr>
                                    </p:animEffect>
                                    <p:anim calcmode="lin" valueType="num">
                                      <p:cBhvr additive="base">
                                        <p:cTn id="16" dur="650" fill="hold"/>
                                        <p:tgtEl>
                                          <p:spTgt spid="7"/>
                                        </p:tgtEl>
                                        <p:attrNameLst>
                                          <p:attrName>ppt_x</p:attrName>
                                        </p:attrNameLst>
                                      </p:cBhvr>
                                      <p:tavLst>
                                        <p:tav tm="0">
                                          <p:val>
                                            <p:strVal val="#ppt_x"/>
                                          </p:val>
                                        </p:tav>
                                        <p:tav tm="100000">
                                          <p:val>
                                            <p:strVal val="#ppt_x"/>
                                          </p:val>
                                        </p:tav>
                                      </p:tavLst>
                                    </p:anim>
                                    <p:anim calcmode="lin" valueType="num">
                                      <p:cBhvr additive="base">
                                        <p:cTn id="17" dur="650" fill="hold"/>
                                        <p:tgtEl>
                                          <p:spTgt spid="7"/>
                                        </p:tgtEl>
                                        <p:attrNameLst>
                                          <p:attrName>ppt_y</p:attrName>
                                        </p:attrNameLst>
                                      </p:cBhvr>
                                      <p:tavLst>
                                        <p:tav tm="0">
                                          <p:val>
                                            <p:strVal val="#ppt_y+.06"/>
                                          </p:val>
                                        </p:tav>
                                        <p:tav tm="100000">
                                          <p:val>
                                            <p:strVal val="#ppt_y"/>
                                          </p:val>
                                        </p:tav>
                                      </p:tavLst>
                                    </p:anim>
                                  </p:childTnLst>
                                </p:cTn>
                              </p:par>
                              <p:par>
                                <p:cTn id="18" presetID="53" presetClass="entr" presetSubtype="16" decel="100000" fill="hold" grpId="0" nodeType="withEffect">
                                  <p:stCondLst>
                                    <p:cond delay="40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50" fill="hold"/>
                                        <p:tgtEl>
                                          <p:spTgt spid="8"/>
                                        </p:tgtEl>
                                        <p:attrNameLst>
                                          <p:attrName>ppt_w</p:attrName>
                                        </p:attrNameLst>
                                      </p:cBhvr>
                                      <p:tavLst>
                                        <p:tav tm="0">
                                          <p:val>
                                            <p:strVal val="0"/>
                                          </p:val>
                                        </p:tav>
                                        <p:tav tm="70000">
                                          <p:val>
                                            <p:strVal val="#ppt_w*1.08"/>
                                          </p:val>
                                        </p:tav>
                                        <p:tav tm="100000">
                                          <p:val>
                                            <p:strVal val="#ppt_w"/>
                                          </p:val>
                                        </p:tav>
                                      </p:tavLst>
                                    </p:anim>
                                    <p:anim calcmode="lin" valueType="num">
                                      <p:cBhvr additive="base">
                                        <p:cTn id="21" dur="550" fill="hold"/>
                                        <p:tgtEl>
                                          <p:spTgt spid="8"/>
                                        </p:tgtEl>
                                        <p:attrNameLst>
                                          <p:attrName>ppt_h</p:attrName>
                                        </p:attrNameLst>
                                      </p:cBhvr>
                                      <p:tavLst>
                                        <p:tav tm="0">
                                          <p:val>
                                            <p:strVal val="0"/>
                                          </p:val>
                                        </p:tav>
                                        <p:tav tm="70000">
                                          <p:val>
                                            <p:strVal val="#ppt_h*1.08"/>
                                          </p:val>
                                        </p:tav>
                                        <p:tav tm="100000">
                                          <p:val>
                                            <p:strVal val="#ppt_h"/>
                                          </p:val>
                                        </p:tav>
                                      </p:tavLst>
                                    </p:anim>
                                    <p:animEffect transition="in" filter="fade">
                                      <p:cBhvr>
                                        <p:cTn id="22" dur="330" fill="hold"/>
                                        <p:tgtEl>
                                          <p:spTgt spid="8"/>
                                        </p:tgtEl>
                                      </p:cBhvr>
                                    </p:animEffect>
                                  </p:childTnLst>
                                </p:cTn>
                              </p:par>
                              <p:par>
                                <p:cTn id="23" presetID="42" presetClass="entr" presetSubtype="0" decel="100000" fill="hold" grpId="0" nodeType="withEffect">
                                  <p:stCondLst>
                                    <p:cond delay="75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650" fill="hold"/>
                                        <p:tgtEl>
                                          <p:spTgt spid="9"/>
                                        </p:tgtEl>
                                      </p:cBhvr>
                                    </p:animEffect>
                                    <p:anim calcmode="lin" valueType="num">
                                      <p:cBhvr additive="base">
                                        <p:cTn id="26" dur="650" fill="hold"/>
                                        <p:tgtEl>
                                          <p:spTgt spid="9"/>
                                        </p:tgtEl>
                                        <p:attrNameLst>
                                          <p:attrName>ppt_x</p:attrName>
                                        </p:attrNameLst>
                                      </p:cBhvr>
                                      <p:tavLst>
                                        <p:tav tm="0">
                                          <p:val>
                                            <p:strVal val="#ppt_x"/>
                                          </p:val>
                                        </p:tav>
                                        <p:tav tm="100000">
                                          <p:val>
                                            <p:strVal val="#ppt_x"/>
                                          </p:val>
                                        </p:tav>
                                      </p:tavLst>
                                    </p:anim>
                                    <p:anim calcmode="lin" valueType="num">
                                      <p:cBhvr additive="base">
                                        <p:cTn id="27" dur="650" fill="hold"/>
                                        <p:tgtEl>
                                          <p:spTgt spid="9"/>
                                        </p:tgtEl>
                                        <p:attrNameLst>
                                          <p:attrName>ppt_y</p:attrName>
                                        </p:attrNameLst>
                                      </p:cBhvr>
                                      <p:tavLst>
                                        <p:tav tm="0">
                                          <p:val>
                                            <p:strVal val="#ppt_y+.06"/>
                                          </p:val>
                                        </p:tav>
                                        <p:tav tm="100000">
                                          <p:val>
                                            <p:strVal val="#ppt_y"/>
                                          </p:val>
                                        </p:tav>
                                      </p:tavLst>
                                    </p:anim>
                                  </p:childTnLst>
                                </p:cTn>
                              </p:par>
                              <p:par>
                                <p:cTn id="28" presetID="42" presetClass="entr" presetSubtype="0" decel="100000" fill="hold" grpId="0" nodeType="withEffect">
                                  <p:stCondLst>
                                    <p:cond delay="75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650" fill="hold"/>
                                        <p:tgtEl>
                                          <p:spTgt spid="10"/>
                                        </p:tgtEl>
                                      </p:cBhvr>
                                    </p:animEffect>
                                    <p:anim calcmode="lin" valueType="num">
                                      <p:cBhvr additive="base">
                                        <p:cTn id="31" dur="650" fill="hold"/>
                                        <p:tgtEl>
                                          <p:spTgt spid="10"/>
                                        </p:tgtEl>
                                        <p:attrNameLst>
                                          <p:attrName>ppt_x</p:attrName>
                                        </p:attrNameLst>
                                      </p:cBhvr>
                                      <p:tavLst>
                                        <p:tav tm="0">
                                          <p:val>
                                            <p:strVal val="#ppt_x"/>
                                          </p:val>
                                        </p:tav>
                                        <p:tav tm="100000">
                                          <p:val>
                                            <p:strVal val="#ppt_x"/>
                                          </p:val>
                                        </p:tav>
                                      </p:tavLst>
                                    </p:anim>
                                    <p:anim calcmode="lin" valueType="num">
                                      <p:cBhvr additive="base">
                                        <p:cTn id="32" dur="650" fill="hold"/>
                                        <p:tgtEl>
                                          <p:spTgt spid="10"/>
                                        </p:tgtEl>
                                        <p:attrNameLst>
                                          <p:attrName>ppt_y</p:attrName>
                                        </p:attrNameLst>
                                      </p:cBhvr>
                                      <p:tavLst>
                                        <p:tav tm="0">
                                          <p:val>
                                            <p:strVal val="#ppt_y+.06"/>
                                          </p:val>
                                        </p:tav>
                                        <p:tav tm="100000">
                                          <p:val>
                                            <p:strVal val="#ppt_y"/>
                                          </p:val>
                                        </p:tav>
                                      </p:tavLst>
                                    </p:anim>
                                  </p:childTnLst>
                                </p:cTn>
                              </p:par>
                              <p:par>
                                <p:cTn id="33" presetID="53" presetClass="entr" presetSubtype="16" decel="100000" fill="hold" grpId="0" nodeType="withEffect">
                                  <p:stCondLst>
                                    <p:cond delay="90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550" fill="hold"/>
                                        <p:tgtEl>
                                          <p:spTgt spid="11"/>
                                        </p:tgtEl>
                                        <p:attrNameLst>
                                          <p:attrName>ppt_w</p:attrName>
                                        </p:attrNameLst>
                                      </p:cBhvr>
                                      <p:tavLst>
                                        <p:tav tm="0">
                                          <p:val>
                                            <p:strVal val="0"/>
                                          </p:val>
                                        </p:tav>
                                        <p:tav tm="70000">
                                          <p:val>
                                            <p:strVal val="#ppt_w*1.08"/>
                                          </p:val>
                                        </p:tav>
                                        <p:tav tm="100000">
                                          <p:val>
                                            <p:strVal val="#ppt_w"/>
                                          </p:val>
                                        </p:tav>
                                      </p:tavLst>
                                    </p:anim>
                                    <p:anim calcmode="lin" valueType="num">
                                      <p:cBhvr additive="base">
                                        <p:cTn id="36" dur="550" fill="hold"/>
                                        <p:tgtEl>
                                          <p:spTgt spid="11"/>
                                        </p:tgtEl>
                                        <p:attrNameLst>
                                          <p:attrName>ppt_h</p:attrName>
                                        </p:attrNameLst>
                                      </p:cBhvr>
                                      <p:tavLst>
                                        <p:tav tm="0">
                                          <p:val>
                                            <p:strVal val="0"/>
                                          </p:val>
                                        </p:tav>
                                        <p:tav tm="70000">
                                          <p:val>
                                            <p:strVal val="#ppt_h*1.08"/>
                                          </p:val>
                                        </p:tav>
                                        <p:tav tm="100000">
                                          <p:val>
                                            <p:strVal val="#ppt_h"/>
                                          </p:val>
                                        </p:tav>
                                      </p:tavLst>
                                    </p:anim>
                                    <p:animEffect transition="in" filter="fade">
                                      <p:cBhvr>
                                        <p:cTn id="37" dur="330" fill="hold"/>
                                        <p:tgtEl>
                                          <p:spTgt spid="11"/>
                                        </p:tgtEl>
                                      </p:cBhvr>
                                    </p:animEffect>
                                  </p:childTnLst>
                                </p:cTn>
                              </p:par>
                              <p:par>
                                <p:cTn id="38" presetID="42" presetClass="entr" presetSubtype="0" decel="100000" fill="hold" grpId="0" nodeType="withEffect">
                                  <p:stCondLst>
                                    <p:cond delay="125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650" fill="hold"/>
                                        <p:tgtEl>
                                          <p:spTgt spid="12"/>
                                        </p:tgtEl>
                                      </p:cBhvr>
                                    </p:animEffect>
                                    <p:anim calcmode="lin" valueType="num">
                                      <p:cBhvr additive="base">
                                        <p:cTn id="41" dur="650" fill="hold"/>
                                        <p:tgtEl>
                                          <p:spTgt spid="12"/>
                                        </p:tgtEl>
                                        <p:attrNameLst>
                                          <p:attrName>ppt_x</p:attrName>
                                        </p:attrNameLst>
                                      </p:cBhvr>
                                      <p:tavLst>
                                        <p:tav tm="0">
                                          <p:val>
                                            <p:strVal val="#ppt_x"/>
                                          </p:val>
                                        </p:tav>
                                        <p:tav tm="100000">
                                          <p:val>
                                            <p:strVal val="#ppt_x"/>
                                          </p:val>
                                        </p:tav>
                                      </p:tavLst>
                                    </p:anim>
                                    <p:anim calcmode="lin" valueType="num">
                                      <p:cBhvr additive="base">
                                        <p:cTn id="42" dur="650" fill="hold"/>
                                        <p:tgtEl>
                                          <p:spTgt spid="12"/>
                                        </p:tgtEl>
                                        <p:attrNameLst>
                                          <p:attrName>ppt_y</p:attrName>
                                        </p:attrNameLst>
                                      </p:cBhvr>
                                      <p:tavLst>
                                        <p:tav tm="0">
                                          <p:val>
                                            <p:strVal val="#ppt_y+.06"/>
                                          </p:val>
                                        </p:tav>
                                        <p:tav tm="100000">
                                          <p:val>
                                            <p:strVal val="#ppt_y"/>
                                          </p:val>
                                        </p:tav>
                                      </p:tavLst>
                                    </p:anim>
                                  </p:childTnLst>
                                </p:cTn>
                              </p:par>
                              <p:par>
                                <p:cTn id="43" presetID="42" presetClass="entr" presetSubtype="0" decel="100000" fill="hold" grpId="0" nodeType="withEffect">
                                  <p:stCondLst>
                                    <p:cond delay="125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650" fill="hold"/>
                                        <p:tgtEl>
                                          <p:spTgt spid="13"/>
                                        </p:tgtEl>
                                      </p:cBhvr>
                                    </p:animEffect>
                                    <p:anim calcmode="lin" valueType="num">
                                      <p:cBhvr additive="base">
                                        <p:cTn id="46" dur="650" fill="hold"/>
                                        <p:tgtEl>
                                          <p:spTgt spid="13"/>
                                        </p:tgtEl>
                                        <p:attrNameLst>
                                          <p:attrName>ppt_x</p:attrName>
                                        </p:attrNameLst>
                                      </p:cBhvr>
                                      <p:tavLst>
                                        <p:tav tm="0">
                                          <p:val>
                                            <p:strVal val="#ppt_x"/>
                                          </p:val>
                                        </p:tav>
                                        <p:tav tm="100000">
                                          <p:val>
                                            <p:strVal val="#ppt_x"/>
                                          </p:val>
                                        </p:tav>
                                      </p:tavLst>
                                    </p:anim>
                                    <p:anim calcmode="lin" valueType="num">
                                      <p:cBhvr additive="base">
                                        <p:cTn id="47" dur="650" fill="hold"/>
                                        <p:tgtEl>
                                          <p:spTgt spid="13"/>
                                        </p:tgtEl>
                                        <p:attrNameLst>
                                          <p:attrName>ppt_y</p:attrName>
                                        </p:attrNameLst>
                                      </p:cBhvr>
                                      <p:tavLst>
                                        <p:tav tm="0">
                                          <p:val>
                                            <p:strVal val="#ppt_y+.06"/>
                                          </p:val>
                                        </p:tav>
                                        <p:tav tm="100000">
                                          <p:val>
                                            <p:strVal val="#ppt_y"/>
                                          </p:val>
                                        </p:tav>
                                      </p:tavLst>
                                    </p:anim>
                                  </p:childTnLst>
                                </p:cTn>
                              </p:par>
                              <p:par>
                                <p:cTn id="48" presetID="53" presetClass="entr" presetSubtype="16" decel="100000" fill="hold" grpId="0" nodeType="withEffect">
                                  <p:stCondLst>
                                    <p:cond delay="1400"/>
                                  </p:stCondLst>
                                  <p:childTnLst>
                                    <p:set>
                                      <p:cBhvr>
                                        <p:cTn id="49" dur="1" fill="hold">
                                          <p:stCondLst>
                                            <p:cond delay="0"/>
                                          </p:stCondLst>
                                        </p:cTn>
                                        <p:tgtEl>
                                          <p:spTgt spid="14"/>
                                        </p:tgtEl>
                                        <p:attrNameLst>
                                          <p:attrName>style.visibility</p:attrName>
                                        </p:attrNameLst>
                                      </p:cBhvr>
                                      <p:to>
                                        <p:strVal val="visible"/>
                                      </p:to>
                                    </p:set>
                                    <p:anim calcmode="lin" valueType="num">
                                      <p:cBhvr additive="base">
                                        <p:cTn id="50" dur="550" fill="hold"/>
                                        <p:tgtEl>
                                          <p:spTgt spid="14"/>
                                        </p:tgtEl>
                                        <p:attrNameLst>
                                          <p:attrName>ppt_w</p:attrName>
                                        </p:attrNameLst>
                                      </p:cBhvr>
                                      <p:tavLst>
                                        <p:tav tm="0">
                                          <p:val>
                                            <p:strVal val="0"/>
                                          </p:val>
                                        </p:tav>
                                        <p:tav tm="70000">
                                          <p:val>
                                            <p:strVal val="#ppt_w*1.08"/>
                                          </p:val>
                                        </p:tav>
                                        <p:tav tm="100000">
                                          <p:val>
                                            <p:strVal val="#ppt_w"/>
                                          </p:val>
                                        </p:tav>
                                      </p:tavLst>
                                    </p:anim>
                                    <p:anim calcmode="lin" valueType="num">
                                      <p:cBhvr additive="base">
                                        <p:cTn id="51" dur="550" fill="hold"/>
                                        <p:tgtEl>
                                          <p:spTgt spid="14"/>
                                        </p:tgtEl>
                                        <p:attrNameLst>
                                          <p:attrName>ppt_h</p:attrName>
                                        </p:attrNameLst>
                                      </p:cBhvr>
                                      <p:tavLst>
                                        <p:tav tm="0">
                                          <p:val>
                                            <p:strVal val="0"/>
                                          </p:val>
                                        </p:tav>
                                        <p:tav tm="70000">
                                          <p:val>
                                            <p:strVal val="#ppt_h*1.08"/>
                                          </p:val>
                                        </p:tav>
                                        <p:tav tm="100000">
                                          <p:val>
                                            <p:strVal val="#ppt_h"/>
                                          </p:val>
                                        </p:tav>
                                      </p:tavLst>
                                    </p:anim>
                                    <p:animEffect transition="in" filter="fade">
                                      <p:cBhvr>
                                        <p:cTn id="52" dur="330" fill="hold"/>
                                        <p:tgtEl>
                                          <p:spTgt spid="14"/>
                                        </p:tgtEl>
                                      </p:cBhvr>
                                    </p:animEffect>
                                  </p:childTnLst>
                                </p:cTn>
                              </p:par>
                              <p:par>
                                <p:cTn id="53" presetID="10" presetClass="entr" presetSubtype="0" fill="hold" grpId="0" nodeType="withEffect">
                                  <p:stCondLst>
                                    <p:cond delay="180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500" fill="hold"/>
                                        <p:tgtEl>
                                          <p:spTgt spid="15"/>
                                        </p:tgtEl>
                                      </p:cBhvr>
                                    </p:animEffect>
                                  </p:childTnLst>
                                </p:cTn>
                              </p:par>
                              <p:par>
                                <p:cTn id="56" presetID="10" presetClass="entr" presetSubtype="0" fill="hold" grpId="0" nodeType="withEffect">
                                  <p:stCondLst>
                                    <p:cond delay="180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00" fill="hold"/>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6035040" y="-320040"/>
            <a:ext cx="5852160" cy="5486400"/>
          </a:xfrm>
          <a:prstGeom prst="rect">
            <a:avLst/>
          </a:prstGeom>
          <a:noFill/>
        </p:spPr>
        <p:txBody>
          <a:bodyPr wrap="square" lIns="36576" tIns="18288" rIns="36576" bIns="18288" anchor="t">
            <a:spAutoFit/>
          </a:bodyPr>
          <a:lstStyle/>
          <a:p>
            <a:pPr algn="r"/>
            <a:r>
              <a:rPr sz="33000" b="1" i="0">
                <a:solidFill>
                  <a:srgbClr val="242826"/>
                </a:solidFill>
                <a:latin typeface="Segoe UI Semibold"/>
              </a:rPr>
              <a:t>06</a:t>
            </a:r>
          </a:p>
        </p:txBody>
      </p:sp>
      <p:sp>
        <p:nvSpPr>
          <p:cNvPr id="3" name="Rectangle 2"/>
          <p:cNvSpPr/>
          <p:nvPr/>
        </p:nvSpPr>
        <p:spPr>
          <a:xfrm>
            <a:off x="822960" y="2331720"/>
            <a:ext cx="82296" cy="1417320"/>
          </a:xfrm>
          <a:prstGeom prst="rect">
            <a:avLst/>
          </a:prstGeom>
          <a:solidFill>
            <a:srgbClr val="1F7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188720" y="1783080"/>
            <a:ext cx="8229600" cy="365760"/>
          </a:xfrm>
          <a:prstGeom prst="rect">
            <a:avLst/>
          </a:prstGeom>
          <a:noFill/>
        </p:spPr>
        <p:txBody>
          <a:bodyPr wrap="square" lIns="36576" tIns="18288" rIns="36576" bIns="18288" anchor="t">
            <a:spAutoFit/>
          </a:bodyPr>
          <a:lstStyle/>
          <a:p>
            <a:pPr algn="l"/>
            <a:r>
              <a:rPr sz="1200" b="1" i="0" spc="300">
                <a:solidFill>
                  <a:srgbClr val="1F7FA8"/>
                </a:solidFill>
                <a:latin typeface="Segoe UI Semibold"/>
              </a:rPr>
              <a:t>PARA LEVAR  ·  MÓDULO 6</a:t>
            </a:r>
          </a:p>
        </p:txBody>
      </p:sp>
      <p:sp>
        <p:nvSpPr>
          <p:cNvPr id="5" name="TextBox 4"/>
          <p:cNvSpPr txBox="1"/>
          <p:nvPr/>
        </p:nvSpPr>
        <p:spPr>
          <a:xfrm>
            <a:off x="1188720" y="2240280"/>
            <a:ext cx="10241280" cy="1645920"/>
          </a:xfrm>
          <a:prstGeom prst="rect">
            <a:avLst/>
          </a:prstGeom>
          <a:noFill/>
        </p:spPr>
        <p:txBody>
          <a:bodyPr wrap="square" lIns="36576" tIns="18288" rIns="36576" bIns="18288" anchor="t">
            <a:spAutoFit/>
          </a:bodyPr>
          <a:lstStyle/>
          <a:p>
            <a:pPr algn="l">
              <a:lnSpc>
                <a:spcPct val="105000"/>
              </a:lnSpc>
            </a:pPr>
            <a:r>
              <a:rPr sz="4800" b="1" i="0">
                <a:solidFill>
                  <a:srgbClr val="F2F2EC"/>
                </a:solidFill>
                <a:latin typeface="Segoe UI Semibold"/>
              </a:rPr>
              <a:t>O problema certo vale mais</a:t>
            </a:r>
          </a:p>
          <a:p>
            <a:pPr algn="l">
              <a:lnSpc>
                <a:spcPct val="105000"/>
              </a:lnSpc>
            </a:pPr>
            <a:r>
              <a:rPr sz="4800" b="1" i="0">
                <a:solidFill>
                  <a:srgbClr val="F2F2EC"/>
                </a:solidFill>
                <a:latin typeface="Segoe UI Semibold"/>
              </a:rPr>
              <a:t>que a </a:t>
            </a:r>
            <a:r>
              <a:rPr sz="4800" b="1" i="0">
                <a:solidFill>
                  <a:srgbClr val="1F7FA8"/>
                </a:solidFill>
                <a:latin typeface="Segoe UI Semibold"/>
              </a:rPr>
              <a:t>solução perfeita</a:t>
            </a:r>
            <a:r>
              <a:rPr sz="4800" b="1" i="0">
                <a:solidFill>
                  <a:srgbClr val="F2F2EC"/>
                </a:solidFill>
                <a:latin typeface="Segoe UI Semibold"/>
              </a:rPr>
              <a:t>.</a:t>
            </a:r>
          </a:p>
        </p:txBody>
      </p:sp>
      <p:sp>
        <p:nvSpPr>
          <p:cNvPr id="6" name="Rectangle 5"/>
          <p:cNvSpPr/>
          <p:nvPr/>
        </p:nvSpPr>
        <p:spPr>
          <a:xfrm>
            <a:off x="1188720" y="4160520"/>
            <a:ext cx="2377440" cy="54864"/>
          </a:xfrm>
          <a:prstGeom prst="rect">
            <a:avLst/>
          </a:prstGeom>
          <a:solidFill>
            <a:srgbClr val="1F7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188720" y="4389120"/>
            <a:ext cx="9875520" cy="731520"/>
          </a:xfrm>
          <a:prstGeom prst="rect">
            <a:avLst/>
          </a:prstGeom>
          <a:noFill/>
        </p:spPr>
        <p:txBody>
          <a:bodyPr wrap="square" lIns="36576" tIns="18288" rIns="36576" bIns="18288" anchor="t">
            <a:spAutoFit/>
          </a:bodyPr>
          <a:lstStyle/>
          <a:p>
            <a:pPr algn="l"/>
            <a:r>
              <a:rPr sz="1800" b="0" i="0">
                <a:solidFill>
                  <a:srgbClr val="B4B8B0"/>
                </a:solidFill>
                <a:latin typeface="Segoe UI"/>
              </a:rPr>
              <a:t>A primeira hipótese era descaso do paciente. A pesquisa contou outra história.</a:t>
            </a:r>
          </a:p>
        </p:txBody>
      </p:sp>
      <p:sp>
        <p:nvSpPr>
          <p:cNvPr id="8" name="TextBox 7"/>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400" fill="hold"/>
                                        <p:tgtEl>
                                          <p:spTgt spid="2"/>
                                        </p:tgtEl>
                                      </p:cBhvr>
                                    </p:animEffect>
                                  </p:childTnLst>
                                </p:cTn>
                              </p:par>
                              <p:par>
                                <p:cTn id="8" presetID="22" presetClass="entr" presetSubtype="4" fill="hold" grpId="0" nodeType="withEffect">
                                  <p:stCondLst>
                                    <p:cond delay="300"/>
                                  </p:stCondLst>
                                  <p:childTnLst>
                                    <p:set>
                                      <p:cBhvr>
                                        <p:cTn id="9" dur="1" fill="hold">
                                          <p:stCondLst>
                                            <p:cond delay="0"/>
                                          </p:stCondLst>
                                        </p:cTn>
                                        <p:tgtEl>
                                          <p:spTgt spid="3"/>
                                        </p:tgtEl>
                                        <p:attrNameLst>
                                          <p:attrName>style.visibility</p:attrName>
                                        </p:attrNameLst>
                                      </p:cBhvr>
                                      <p:to>
                                        <p:strVal val="visible"/>
                                      </p:to>
                                    </p:set>
                                    <p:animEffect transition="in" filter="wipe(down)">
                                      <p:cBhvr>
                                        <p:cTn id="10" dur="700" fill="hold"/>
                                        <p:tgtEl>
                                          <p:spTgt spid="3"/>
                                        </p:tgtEl>
                                      </p:cBhvr>
                                    </p:animEffect>
                                  </p:childTnLst>
                                </p:cTn>
                              </p:par>
                              <p:par>
                                <p:cTn id="11" presetID="10" presetClass="entr" presetSubtype="0" fill="hold" grpId="0" nodeType="withEffect">
                                  <p:stCondLst>
                                    <p:cond delay="65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fill="hold"/>
                                        <p:tgtEl>
                                          <p:spTgt spid="4"/>
                                        </p:tgtEl>
                                      </p:cBhvr>
                                    </p:animEffect>
                                  </p:childTnLst>
                                </p:cTn>
                              </p:par>
                              <p:par>
                                <p:cTn id="14" presetID="10" presetClass="entr" presetSubtype="0" fill="hold" grpId="0" nodeType="withEffect">
                                  <p:stCondLst>
                                    <p:cond delay="950"/>
                                  </p:stCondLst>
                                  <p:iterate type="wd">
                                    <p:tmPct val="45000"/>
                                  </p:iterate>
                                  <p:childTnLst>
                                    <p:set>
                                      <p:cBhvr>
                                        <p:cTn id="15" dur="1" fill="hold">
                                          <p:stCondLst>
                                            <p:cond delay="0"/>
                                          </p:stCondLst>
                                        </p:cTn>
                                        <p:tgtEl>
                                          <p:spTgt spid="5"/>
                                        </p:tgtEl>
                                        <p:attrNameLst>
                                          <p:attrName>style.visibility</p:attrName>
                                        </p:attrNameLst>
                                      </p:cBhvr>
                                      <p:to>
                                        <p:strVal val="visible"/>
                                      </p:to>
                                    </p:set>
                                    <p:animEffect transition="in" filter="fade">
                                      <p:cBhvr>
                                        <p:cTn id="16" dur="500" fill="hold"/>
                                        <p:tgtEl>
                                          <p:spTgt spid="5"/>
                                        </p:tgtEl>
                                      </p:cBhvr>
                                    </p:animEffect>
                                  </p:childTnLst>
                                </p:cTn>
                              </p:par>
                              <p:par>
                                <p:cTn id="17" presetID="22" presetClass="entr" presetSubtype="8" fill="hold" grpId="0" nodeType="withEffect">
                                  <p:stCondLst>
                                    <p:cond delay="3650"/>
                                  </p:stCondLst>
                                  <p:childTnLst>
                                    <p:set>
                                      <p:cBhvr>
                                        <p:cTn id="18" dur="1" fill="hold">
                                          <p:stCondLst>
                                            <p:cond delay="0"/>
                                          </p:stCondLst>
                                        </p:cTn>
                                        <p:tgtEl>
                                          <p:spTgt spid="6"/>
                                        </p:tgtEl>
                                        <p:attrNameLst>
                                          <p:attrName>style.visibility</p:attrName>
                                        </p:attrNameLst>
                                      </p:cBhvr>
                                      <p:to>
                                        <p:strVal val="visible"/>
                                      </p:to>
                                    </p:set>
                                    <p:animEffect transition="in" filter="wipe(left)">
                                      <p:cBhvr>
                                        <p:cTn id="19" dur="800" fill="hold"/>
                                        <p:tgtEl>
                                          <p:spTgt spid="6"/>
                                        </p:tgtEl>
                                      </p:cBhvr>
                                    </p:animEffect>
                                  </p:childTnLst>
                                </p:cTn>
                              </p:par>
                              <p:par>
                                <p:cTn id="20" presetID="42" presetClass="entr" presetSubtype="0" decel="100000" fill="hold" grpId="0" nodeType="withEffect">
                                  <p:stCondLst>
                                    <p:cond delay="395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650" fill="hold"/>
                                        <p:tgtEl>
                                          <p:spTgt spid="7"/>
                                        </p:tgtEl>
                                      </p:cBhvr>
                                    </p:animEffect>
                                    <p:anim calcmode="lin" valueType="num">
                                      <p:cBhvr additive="base">
                                        <p:cTn id="23" dur="650" fill="hold"/>
                                        <p:tgtEl>
                                          <p:spTgt spid="7"/>
                                        </p:tgtEl>
                                        <p:attrNameLst>
                                          <p:attrName>ppt_x</p:attrName>
                                        </p:attrNameLst>
                                      </p:cBhvr>
                                      <p:tavLst>
                                        <p:tav tm="0">
                                          <p:val>
                                            <p:strVal val="#ppt_x"/>
                                          </p:val>
                                        </p:tav>
                                        <p:tav tm="100000">
                                          <p:val>
                                            <p:strVal val="#ppt_x"/>
                                          </p:val>
                                        </p:tav>
                                      </p:tavLst>
                                    </p:anim>
                                    <p:anim calcmode="lin" valueType="num">
                                      <p:cBhvr additive="base">
                                        <p:cTn id="24" dur="650" fill="hold"/>
                                        <p:tgtEl>
                                          <p:spTgt spid="7"/>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011680"/>
            <a:ext cx="7315200" cy="365760"/>
          </a:xfrm>
          <a:prstGeom prst="rect">
            <a:avLst/>
          </a:prstGeom>
          <a:noFill/>
        </p:spPr>
        <p:txBody>
          <a:bodyPr wrap="square" lIns="36576" tIns="18288" rIns="36576" bIns="18288" anchor="t">
            <a:spAutoFit/>
          </a:bodyPr>
          <a:lstStyle/>
          <a:p>
            <a:pPr algn="l"/>
            <a:r>
              <a:rPr sz="1300" b="1" i="0" spc="250">
                <a:solidFill>
                  <a:srgbClr val="9CD848"/>
                </a:solidFill>
                <a:latin typeface="Segoe UI Semibold"/>
              </a:rPr>
              <a:t>ENCONTRO 3  ·  DESAFIO FINAL</a:t>
            </a:r>
          </a:p>
        </p:txBody>
      </p:sp>
      <p:sp>
        <p:nvSpPr>
          <p:cNvPr id="3" name="TextBox 2"/>
          <p:cNvSpPr txBox="1"/>
          <p:nvPr/>
        </p:nvSpPr>
        <p:spPr>
          <a:xfrm>
            <a:off x="548640" y="2468880"/>
            <a:ext cx="10058400" cy="1280160"/>
          </a:xfrm>
          <a:prstGeom prst="rect">
            <a:avLst/>
          </a:prstGeom>
          <a:noFill/>
        </p:spPr>
        <p:txBody>
          <a:bodyPr wrap="square" lIns="36576" tIns="18288" rIns="36576" bIns="18288" anchor="t">
            <a:spAutoFit/>
          </a:bodyPr>
          <a:lstStyle/>
          <a:p>
            <a:pPr algn="l"/>
            <a:r>
              <a:rPr sz="5400" b="1" i="0">
                <a:solidFill>
                  <a:srgbClr val="F2F2EC"/>
                </a:solidFill>
                <a:latin typeface="Segoe UI Semibold"/>
              </a:rPr>
              <a:t>Mão na massa</a:t>
            </a:r>
          </a:p>
        </p:txBody>
      </p:sp>
      <p:sp>
        <p:nvSpPr>
          <p:cNvPr id="4" name="TextBox 3"/>
          <p:cNvSpPr txBox="1"/>
          <p:nvPr/>
        </p:nvSpPr>
        <p:spPr>
          <a:xfrm>
            <a:off x="548640" y="3703320"/>
            <a:ext cx="9144000" cy="914400"/>
          </a:xfrm>
          <a:prstGeom prst="rect">
            <a:avLst/>
          </a:prstGeom>
          <a:noFill/>
        </p:spPr>
        <p:txBody>
          <a:bodyPr wrap="square" lIns="36576" tIns="18288" rIns="36576" bIns="18288" anchor="t">
            <a:spAutoFit/>
          </a:bodyPr>
          <a:lstStyle/>
          <a:p>
            <a:pPr algn="l"/>
            <a:r>
              <a:rPr sz="2000" b="0" i="0">
                <a:solidFill>
                  <a:srgbClr val="B4B8B0"/>
                </a:solidFill>
                <a:latin typeface="Segoe UI"/>
              </a:rPr>
              <a:t>Aplique as 5 etapas em um problema real da sua empresa.</a:t>
            </a:r>
          </a:p>
        </p:txBody>
      </p:sp>
      <p:cxnSp>
        <p:nvCxnSpPr>
          <p:cNvPr id="5" name="Connector 4"/>
          <p:cNvCxnSpPr/>
          <p:nvPr/>
        </p:nvCxnSpPr>
        <p:spPr>
          <a:xfrm>
            <a:off x="9418320" y="640080"/>
            <a:ext cx="1609344" cy="0"/>
          </a:xfrm>
          <a:prstGeom prst="line">
            <a:avLst/>
          </a:prstGeom>
          <a:ln w="30734">
            <a:solidFill>
              <a:srgbClr val="9CD848"/>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9418320" y="1092708"/>
            <a:ext cx="1106424" cy="0"/>
          </a:xfrm>
          <a:prstGeom prst="line">
            <a:avLst/>
          </a:prstGeom>
          <a:ln w="30734">
            <a:solidFill>
              <a:srgbClr val="9CD84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524744" y="1092708"/>
            <a:ext cx="352044" cy="352044"/>
          </a:xfrm>
          <a:prstGeom prst="line">
            <a:avLst/>
          </a:prstGeom>
          <a:ln w="30734">
            <a:solidFill>
              <a:srgbClr val="9CD84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876788" y="1444752"/>
            <a:ext cx="854964" cy="0"/>
          </a:xfrm>
          <a:prstGeom prst="line">
            <a:avLst/>
          </a:prstGeom>
          <a:ln w="30734">
            <a:solidFill>
              <a:srgbClr val="9CD84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9418320" y="1545336"/>
            <a:ext cx="603504" cy="0"/>
          </a:xfrm>
          <a:prstGeom prst="line">
            <a:avLst/>
          </a:prstGeom>
          <a:ln w="30734">
            <a:solidFill>
              <a:srgbClr val="9CD84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0021824" y="1545336"/>
            <a:ext cx="301752" cy="352044"/>
          </a:xfrm>
          <a:prstGeom prst="line">
            <a:avLst/>
          </a:prstGeom>
          <a:ln w="30734">
            <a:solidFill>
              <a:srgbClr val="9CD84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0323576" y="1897380"/>
            <a:ext cx="1005840" cy="0"/>
          </a:xfrm>
          <a:prstGeom prst="line">
            <a:avLst/>
          </a:prstGeom>
          <a:ln w="30734">
            <a:solidFill>
              <a:srgbClr val="9CD848"/>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1027664" y="529437"/>
            <a:ext cx="221284" cy="221284"/>
          </a:xfrm>
          <a:prstGeom prst="ellipse">
            <a:avLst/>
          </a:prstGeom>
          <a:solidFill>
            <a:srgbClr val="1A1A1A"/>
          </a:solidFill>
          <a:ln w="30734">
            <a:solidFill>
              <a:srgbClr val="9CD84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11731752" y="1334109"/>
            <a:ext cx="221284" cy="221284"/>
          </a:xfrm>
          <a:prstGeom prst="ellipse">
            <a:avLst/>
          </a:prstGeom>
          <a:solidFill>
            <a:srgbClr val="1A1A1A"/>
          </a:solidFill>
          <a:ln w="30734">
            <a:solidFill>
              <a:srgbClr val="9CD84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11329416" y="1786737"/>
            <a:ext cx="221284" cy="221284"/>
          </a:xfrm>
          <a:prstGeom prst="ellipse">
            <a:avLst/>
          </a:prstGeom>
          <a:solidFill>
            <a:srgbClr val="1A1A1A"/>
          </a:solidFill>
          <a:ln w="30734">
            <a:solidFill>
              <a:srgbClr val="9CD84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grpSp>
        <p:nvGrpSpPr>
          <p:cNvPr id="16" name="Card Brinde Hayai WBS"/>
          <p:cNvGrpSpPr/>
          <p:nvPr/>
        </p:nvGrpSpPr>
        <p:grpSpPr>
          <a:xfrm>
            <a:off x="548640" y="4892040"/>
            <a:ext cx="8595360" cy="1051560"/>
            <a:chOff x="548640" y="4892040"/>
            <a:chExt cx="8595360" cy="1051560"/>
          </a:xfrm>
        </p:grpSpPr>
        <p:sp>
          <p:nvSpPr>
            <p:cNvPr id="17" name="Fundo do card"/>
            <p:cNvSpPr/>
            <p:nvPr/>
          </p:nvSpPr>
          <p:spPr>
            <a:xfrm>
              <a:off x="548640" y="4892040"/>
              <a:ext cx="8595360" cy="1051560"/>
            </a:xfrm>
            <a:prstGeom prst="roundRect">
              <a:avLst>
                <a:gd name="adj" fmla="val 9000"/>
              </a:avLst>
            </a:prstGeom>
            <a:solidFill>
              <a:srgbClr val="242826"/>
            </a:solidFill>
            <a:ln w="19050">
              <a:solidFill>
                <a:srgbClr val="9CD848"/>
              </a:solidFill>
            </a:ln>
            <a:effectLst/>
          </p:spPr>
        </p:sp>
        <p:sp>
          <p:nvSpPr>
            <p:cNvPr id="18" name="Pílula Brinde"/>
            <p:cNvSpPr/>
            <p:nvPr/>
          </p:nvSpPr>
          <p:spPr>
            <a:xfrm>
              <a:off x="749808" y="5074920"/>
              <a:ext cx="868680" cy="246888"/>
            </a:xfrm>
            <a:prstGeom prst="roundRect">
              <a:avLst>
                <a:gd name="adj" fmla="val 50000"/>
              </a:avLst>
            </a:prstGeom>
            <a:solidFill>
              <a:srgbClr val="9CD848"/>
            </a:solidFill>
            <a:ln>
              <a:noFill/>
            </a:ln>
            <a:effectLst/>
          </p:spPr>
          <p:txBody>
            <a:bodyPr wrap="square" lIns="0" tIns="0" rIns="0" bIns="0" anchor="ctr">
              <a:noAutofit/>
            </a:bodyPr>
            <a:lstStyle/>
            <a:p>
              <a:pPr algn="ctr"/>
              <a:r>
                <a:rPr lang="pt-BR" sz="900" spc="200" dirty="0">
                  <a:solidFill>
                    <a:srgbClr val="1A1A1A"/>
                  </a:solidFill>
                  <a:latin typeface="Segoe UI Semibold"/>
                </a:rPr>
                <a:t>BRINDE</a:t>
              </a:r>
            </a:p>
          </p:txBody>
        </p:sp>
        <p:sp>
          <p:nvSpPr>
            <p:cNvPr id="19" name="Título do brinde"/>
            <p:cNvSpPr txBox="1"/>
            <p:nvPr/>
          </p:nvSpPr>
          <p:spPr>
            <a:xfrm>
              <a:off x="1801368" y="5029200"/>
              <a:ext cx="7178040" cy="329184"/>
            </a:xfrm>
            <a:prstGeom prst="rect">
              <a:avLst/>
            </a:prstGeom>
            <a:noFill/>
            <a:ln>
              <a:noFill/>
            </a:ln>
            <a:effectLst/>
          </p:spPr>
          <p:txBody>
            <a:bodyPr wrap="square" lIns="0" tIns="0" rIns="0" bIns="0" anchor="ctr">
              <a:noAutofit/>
            </a:bodyPr>
            <a:lstStyle/>
            <a:p>
              <a:r>
                <a:rPr lang="pt-BR" sz="1600" dirty="0">
                  <a:solidFill>
                    <a:srgbClr val="F2F2EC"/>
                  </a:solidFill>
                  <a:latin typeface="Segoe UI Semibold"/>
                </a:rPr>
                <a:t>Hayai WBS  ·  do protótipo ao plano de projeto</a:t>
              </a:r>
            </a:p>
          </p:txBody>
        </p:sp>
        <p:sp>
          <p:nvSpPr>
            <p:cNvPr id="20" name="Descrição"/>
            <p:cNvSpPr txBox="1"/>
            <p:nvPr/>
          </p:nvSpPr>
          <p:spPr>
            <a:xfrm>
              <a:off x="749808" y="5385816"/>
              <a:ext cx="8229600" cy="228600"/>
            </a:xfrm>
            <a:prstGeom prst="rect">
              <a:avLst/>
            </a:prstGeom>
            <a:noFill/>
            <a:ln>
              <a:noFill/>
            </a:ln>
            <a:effectLst/>
          </p:spPr>
          <p:txBody>
            <a:bodyPr wrap="square" lIns="0" tIns="0" rIns="0" bIns="0" anchor="t">
              <a:noAutofit/>
            </a:bodyPr>
            <a:lstStyle/>
            <a:p>
              <a:r>
                <a:rPr lang="pt-BR" sz="1200" dirty="0">
                  <a:solidFill>
                    <a:srgbClr val="B4B8B0"/>
                  </a:solidFill>
                  <a:latin typeface="Segoe UI"/>
                </a:rPr>
                <a:t>Monte a EAP/WBS da solução da equipe: pacotes de trabalho, prazos, custos e responsáveis.</a:t>
              </a:r>
            </a:p>
          </p:txBody>
        </p:sp>
        <p:sp>
          <p:nvSpPr>
            <p:cNvPr id="21" name="Link Hayai WBS">
              <a:hlinkClick r:id="rId3"/>
            </p:cNvPr>
            <p:cNvSpPr txBox="1"/>
            <p:nvPr/>
          </p:nvSpPr>
          <p:spPr>
            <a:xfrm>
              <a:off x="749808" y="5623560"/>
              <a:ext cx="5669280" cy="219456"/>
            </a:xfrm>
            <a:prstGeom prst="rect">
              <a:avLst/>
            </a:prstGeom>
            <a:noFill/>
            <a:ln>
              <a:noFill/>
            </a:ln>
            <a:effectLst/>
          </p:spPr>
          <p:txBody>
            <a:bodyPr wrap="square" lIns="0" tIns="0" rIns="0" bIns="0" anchor="t">
              <a:noAutofit/>
            </a:bodyPr>
            <a:lstStyle/>
            <a:p>
              <a:r>
                <a:rPr lang="pt-BR" sz="1200" u="sng" dirty="0">
                  <a:solidFill>
                    <a:srgbClr val="2A9FC0"/>
                  </a:solidFill>
                  <a:latin typeface="Segoe UI"/>
                </a:rPr>
                <a:t>github.com/MiltonCarlosRibeiro/mat-extra-brinde-hayai-wbs-creator</a:t>
              </a:r>
            </a:p>
          </p:txBody>
        </p:sp>
      </p:gr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fill="hold"/>
                                        <p:tgtEl>
                                          <p:spTgt spid="2"/>
                                        </p:tgtEl>
                                      </p:cBhvr>
                                    </p:animEffect>
                                  </p:childTnLst>
                                </p:cTn>
                              </p:par>
                              <p:par>
                                <p:cTn id="8" presetID="10" presetClass="entr" presetSubtype="0" fill="hold" grpId="0" nodeType="withEffect">
                                  <p:stCondLst>
                                    <p:cond delay="250"/>
                                  </p:stCondLst>
                                  <p:iterate type="wd">
                                    <p:tmPct val="60000"/>
                                  </p:iterate>
                                  <p:childTnLst>
                                    <p:set>
                                      <p:cBhvr>
                                        <p:cTn id="9" dur="1" fill="hold">
                                          <p:stCondLst>
                                            <p:cond delay="0"/>
                                          </p:stCondLst>
                                        </p:cTn>
                                        <p:tgtEl>
                                          <p:spTgt spid="3"/>
                                        </p:tgtEl>
                                        <p:attrNameLst>
                                          <p:attrName>style.visibility</p:attrName>
                                        </p:attrNameLst>
                                      </p:cBhvr>
                                      <p:to>
                                        <p:strVal val="visible"/>
                                      </p:to>
                                    </p:set>
                                    <p:animEffect transition="in" filter="fade">
                                      <p:cBhvr>
                                        <p:cTn id="10" dur="500" fill="hold"/>
                                        <p:tgtEl>
                                          <p:spTgt spid="3"/>
                                        </p:tgtEl>
                                      </p:cBhvr>
                                    </p:animEffect>
                                  </p:childTnLst>
                                </p:cTn>
                              </p:par>
                              <p:par>
                                <p:cTn id="11" presetID="42" presetClass="entr" presetSubtype="0" decel="100000" fill="hold" grpId="0" nodeType="withEffect">
                                  <p:stCondLst>
                                    <p:cond delay="165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650" fill="hold"/>
                                        <p:tgtEl>
                                          <p:spTgt spid="4"/>
                                        </p:tgtEl>
                                      </p:cBhvr>
                                    </p:animEffect>
                                    <p:anim calcmode="lin" valueType="num">
                                      <p:cBhvr additive="base">
                                        <p:cTn id="14" dur="650" fill="hold"/>
                                        <p:tgtEl>
                                          <p:spTgt spid="4"/>
                                        </p:tgtEl>
                                        <p:attrNameLst>
                                          <p:attrName>ppt_x</p:attrName>
                                        </p:attrNameLst>
                                      </p:cBhvr>
                                      <p:tavLst>
                                        <p:tav tm="0">
                                          <p:val>
                                            <p:strVal val="#ppt_x"/>
                                          </p:val>
                                        </p:tav>
                                        <p:tav tm="100000">
                                          <p:val>
                                            <p:strVal val="#ppt_x"/>
                                          </p:val>
                                        </p:tav>
                                      </p:tavLst>
                                    </p:anim>
                                    <p:anim calcmode="lin" valueType="num">
                                      <p:cBhvr additive="base">
                                        <p:cTn id="15" dur="650" fill="hold"/>
                                        <p:tgtEl>
                                          <p:spTgt spid="4"/>
                                        </p:tgtEl>
                                        <p:attrNameLst>
                                          <p:attrName>ppt_y</p:attrName>
                                        </p:attrNameLst>
                                      </p:cBhvr>
                                      <p:tavLst>
                                        <p:tav tm="0">
                                          <p:val>
                                            <p:strVal val="#ppt_y+.06"/>
                                          </p:val>
                                        </p:tav>
                                        <p:tav tm="100000">
                                          <p:val>
                                            <p:strVal val="#ppt_y"/>
                                          </p:val>
                                        </p:tav>
                                      </p:tavLst>
                                    </p:anim>
                                  </p:childTnLst>
                                </p:cTn>
                              </p:par>
                              <p:par>
                                <p:cTn id="16" presetID="42" presetClass="entr" presetSubtype="0" decel="100000" fill="hold" nodeType="withEffect">
                                  <p:stCondLst>
                                    <p:cond delay="210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650" fill="hold"/>
                                        <p:tgtEl>
                                          <p:spTgt spid="16"/>
                                        </p:tgtEl>
                                      </p:cBhvr>
                                    </p:animEffect>
                                    <p:anim calcmode="lin" valueType="num">
                                      <p:cBhvr additive="base">
                                        <p:cTn id="19" dur="650" fill="hold"/>
                                        <p:tgtEl>
                                          <p:spTgt spid="16"/>
                                        </p:tgtEl>
                                        <p:attrNameLst>
                                          <p:attrName>ppt_x</p:attrName>
                                        </p:attrNameLst>
                                      </p:cBhvr>
                                      <p:tavLst>
                                        <p:tav tm="0">
                                          <p:val>
                                            <p:strVal val="#ppt_x"/>
                                          </p:val>
                                        </p:tav>
                                        <p:tav tm="100000">
                                          <p:val>
                                            <p:strVal val="#ppt_x"/>
                                          </p:val>
                                        </p:tav>
                                      </p:tavLst>
                                    </p:anim>
                                    <p:anim calcmode="lin" valueType="num">
                                      <p:cBhvr additive="base">
                                        <p:cTn id="20" dur="650" fill="hold"/>
                                        <p:tgtEl>
                                          <p:spTgt spid="16"/>
                                        </p:tgtEl>
                                        <p:attrNameLst>
                                          <p:attrName>ppt_y</p:attrName>
                                        </p:attrNameLst>
                                      </p:cBhvr>
                                      <p:tavLst>
                                        <p:tav tm="0">
                                          <p:val>
                                            <p:strVal val="#ppt_y+.06"/>
                                          </p:val>
                                        </p:tav>
                                        <p:tav tm="100000">
                                          <p:val>
                                            <p:strVal val="#ppt_y"/>
                                          </p:val>
                                        </p:tav>
                                      </p:tavLst>
                                    </p:anim>
                                  </p:childTnLst>
                                </p:cTn>
                              </p:par>
                              <p:par>
                                <p:cTn id="21" presetID="22" presetClass="entr" presetSubtype="8" fill="hold" nodeType="withEffect">
                                  <p:stCondLst>
                                    <p:cond delay="1800"/>
                                  </p:stCondLst>
                                  <p:childTnLst>
                                    <p:set>
                                      <p:cBhvr>
                                        <p:cTn id="22" dur="1" fill="hold">
                                          <p:stCondLst>
                                            <p:cond delay="0"/>
                                          </p:stCondLst>
                                        </p:cTn>
                                        <p:tgtEl>
                                          <p:spTgt spid="5"/>
                                        </p:tgtEl>
                                        <p:attrNameLst>
                                          <p:attrName>style.visibility</p:attrName>
                                        </p:attrNameLst>
                                      </p:cBhvr>
                                      <p:to>
                                        <p:strVal val="visible"/>
                                      </p:to>
                                    </p:set>
                                    <p:animEffect transition="in" filter="wipe(left)">
                                      <p:cBhvr>
                                        <p:cTn id="23" dur="900" fill="hold"/>
                                        <p:tgtEl>
                                          <p:spTgt spid="5"/>
                                        </p:tgtEl>
                                      </p:cBhvr>
                                    </p:animEffect>
                                  </p:childTnLst>
                                </p:cTn>
                              </p:par>
                              <p:par>
                                <p:cTn id="24" presetID="22" presetClass="entr" presetSubtype="8" fill="hold" nodeType="withEffect">
                                  <p:stCondLst>
                                    <p:cond delay="1800"/>
                                  </p:stCondLst>
                                  <p:childTnLst>
                                    <p:set>
                                      <p:cBhvr>
                                        <p:cTn id="25" dur="1" fill="hold">
                                          <p:stCondLst>
                                            <p:cond delay="0"/>
                                          </p:stCondLst>
                                        </p:cTn>
                                        <p:tgtEl>
                                          <p:spTgt spid="6"/>
                                        </p:tgtEl>
                                        <p:attrNameLst>
                                          <p:attrName>style.visibility</p:attrName>
                                        </p:attrNameLst>
                                      </p:cBhvr>
                                      <p:to>
                                        <p:strVal val="visible"/>
                                      </p:to>
                                    </p:set>
                                    <p:animEffect transition="in" filter="wipe(left)">
                                      <p:cBhvr>
                                        <p:cTn id="26" dur="900" fill="hold"/>
                                        <p:tgtEl>
                                          <p:spTgt spid="6"/>
                                        </p:tgtEl>
                                      </p:cBhvr>
                                    </p:animEffect>
                                  </p:childTnLst>
                                </p:cTn>
                              </p:par>
                              <p:par>
                                <p:cTn id="27" presetID="22" presetClass="entr" presetSubtype="8" fill="hold" nodeType="withEffect">
                                  <p:stCondLst>
                                    <p:cond delay="1800"/>
                                  </p:stCondLst>
                                  <p:childTnLst>
                                    <p:set>
                                      <p:cBhvr>
                                        <p:cTn id="28" dur="1" fill="hold">
                                          <p:stCondLst>
                                            <p:cond delay="0"/>
                                          </p:stCondLst>
                                        </p:cTn>
                                        <p:tgtEl>
                                          <p:spTgt spid="7"/>
                                        </p:tgtEl>
                                        <p:attrNameLst>
                                          <p:attrName>style.visibility</p:attrName>
                                        </p:attrNameLst>
                                      </p:cBhvr>
                                      <p:to>
                                        <p:strVal val="visible"/>
                                      </p:to>
                                    </p:set>
                                    <p:animEffect transition="in" filter="wipe(left)">
                                      <p:cBhvr>
                                        <p:cTn id="29" dur="900" fill="hold"/>
                                        <p:tgtEl>
                                          <p:spTgt spid="7"/>
                                        </p:tgtEl>
                                      </p:cBhvr>
                                    </p:animEffect>
                                  </p:childTnLst>
                                </p:cTn>
                              </p:par>
                              <p:par>
                                <p:cTn id="30" presetID="22" presetClass="entr" presetSubtype="8" fill="hold" nodeType="withEffect">
                                  <p:stCondLst>
                                    <p:cond delay="180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900" fill="hold"/>
                                        <p:tgtEl>
                                          <p:spTgt spid="8"/>
                                        </p:tgtEl>
                                      </p:cBhvr>
                                    </p:animEffect>
                                  </p:childTnLst>
                                </p:cTn>
                              </p:par>
                              <p:par>
                                <p:cTn id="33" presetID="22" presetClass="entr" presetSubtype="8" fill="hold" nodeType="withEffect">
                                  <p:stCondLst>
                                    <p:cond delay="1800"/>
                                  </p:stCondLst>
                                  <p:childTnLst>
                                    <p:set>
                                      <p:cBhvr>
                                        <p:cTn id="34" dur="1" fill="hold">
                                          <p:stCondLst>
                                            <p:cond delay="0"/>
                                          </p:stCondLst>
                                        </p:cTn>
                                        <p:tgtEl>
                                          <p:spTgt spid="9"/>
                                        </p:tgtEl>
                                        <p:attrNameLst>
                                          <p:attrName>style.visibility</p:attrName>
                                        </p:attrNameLst>
                                      </p:cBhvr>
                                      <p:to>
                                        <p:strVal val="visible"/>
                                      </p:to>
                                    </p:set>
                                    <p:animEffect transition="in" filter="wipe(left)">
                                      <p:cBhvr>
                                        <p:cTn id="35" dur="900" fill="hold"/>
                                        <p:tgtEl>
                                          <p:spTgt spid="9"/>
                                        </p:tgtEl>
                                      </p:cBhvr>
                                    </p:animEffect>
                                  </p:childTnLst>
                                </p:cTn>
                              </p:par>
                              <p:par>
                                <p:cTn id="36" presetID="22" presetClass="entr" presetSubtype="8" fill="hold" nodeType="withEffect">
                                  <p:stCondLst>
                                    <p:cond delay="1800"/>
                                  </p:stCondLst>
                                  <p:childTnLst>
                                    <p:set>
                                      <p:cBhvr>
                                        <p:cTn id="37" dur="1" fill="hold">
                                          <p:stCondLst>
                                            <p:cond delay="0"/>
                                          </p:stCondLst>
                                        </p:cTn>
                                        <p:tgtEl>
                                          <p:spTgt spid="10"/>
                                        </p:tgtEl>
                                        <p:attrNameLst>
                                          <p:attrName>style.visibility</p:attrName>
                                        </p:attrNameLst>
                                      </p:cBhvr>
                                      <p:to>
                                        <p:strVal val="visible"/>
                                      </p:to>
                                    </p:set>
                                    <p:animEffect transition="in" filter="wipe(left)">
                                      <p:cBhvr>
                                        <p:cTn id="38" dur="900" fill="hold"/>
                                        <p:tgtEl>
                                          <p:spTgt spid="10"/>
                                        </p:tgtEl>
                                      </p:cBhvr>
                                    </p:animEffect>
                                  </p:childTnLst>
                                </p:cTn>
                              </p:par>
                              <p:par>
                                <p:cTn id="39" presetID="22" presetClass="entr" presetSubtype="8" fill="hold" nodeType="withEffect">
                                  <p:stCondLst>
                                    <p:cond delay="1800"/>
                                  </p:stCondLst>
                                  <p:childTnLst>
                                    <p:set>
                                      <p:cBhvr>
                                        <p:cTn id="40" dur="1" fill="hold">
                                          <p:stCondLst>
                                            <p:cond delay="0"/>
                                          </p:stCondLst>
                                        </p:cTn>
                                        <p:tgtEl>
                                          <p:spTgt spid="11"/>
                                        </p:tgtEl>
                                        <p:attrNameLst>
                                          <p:attrName>style.visibility</p:attrName>
                                        </p:attrNameLst>
                                      </p:cBhvr>
                                      <p:to>
                                        <p:strVal val="visible"/>
                                      </p:to>
                                    </p:set>
                                    <p:animEffect transition="in" filter="wipe(left)">
                                      <p:cBhvr>
                                        <p:cTn id="41" dur="900" fill="hold"/>
                                        <p:tgtEl>
                                          <p:spTgt spid="11"/>
                                        </p:tgtEl>
                                      </p:cBhvr>
                                    </p:animEffect>
                                  </p:childTnLst>
                                </p:cTn>
                              </p:par>
                              <p:par>
                                <p:cTn id="42" presetID="53" presetClass="entr" presetSubtype="16" decel="100000" fill="hold" grpId="0" nodeType="withEffect">
                                  <p:stCondLst>
                                    <p:cond delay="2550"/>
                                  </p:stCondLst>
                                  <p:childTnLst>
                                    <p:set>
                                      <p:cBhvr>
                                        <p:cTn id="43" dur="1" fill="hold">
                                          <p:stCondLst>
                                            <p:cond delay="0"/>
                                          </p:stCondLst>
                                        </p:cTn>
                                        <p:tgtEl>
                                          <p:spTgt spid="12"/>
                                        </p:tgtEl>
                                        <p:attrNameLst>
                                          <p:attrName>style.visibility</p:attrName>
                                        </p:attrNameLst>
                                      </p:cBhvr>
                                      <p:to>
                                        <p:strVal val="visible"/>
                                      </p:to>
                                    </p:set>
                                    <p:anim calcmode="lin" valueType="num">
                                      <p:cBhvr additive="base">
                                        <p:cTn id="44" dur="450" fill="hold"/>
                                        <p:tgtEl>
                                          <p:spTgt spid="12"/>
                                        </p:tgtEl>
                                        <p:attrNameLst>
                                          <p:attrName>ppt_w</p:attrName>
                                        </p:attrNameLst>
                                      </p:cBhvr>
                                      <p:tavLst>
                                        <p:tav tm="0">
                                          <p:val>
                                            <p:strVal val="0"/>
                                          </p:val>
                                        </p:tav>
                                        <p:tav tm="70000">
                                          <p:val>
                                            <p:strVal val="#ppt_w*1.08"/>
                                          </p:val>
                                        </p:tav>
                                        <p:tav tm="100000">
                                          <p:val>
                                            <p:strVal val="#ppt_w"/>
                                          </p:val>
                                        </p:tav>
                                      </p:tavLst>
                                    </p:anim>
                                    <p:anim calcmode="lin" valueType="num">
                                      <p:cBhvr additive="base">
                                        <p:cTn id="45" dur="450" fill="hold"/>
                                        <p:tgtEl>
                                          <p:spTgt spid="12"/>
                                        </p:tgtEl>
                                        <p:attrNameLst>
                                          <p:attrName>ppt_h</p:attrName>
                                        </p:attrNameLst>
                                      </p:cBhvr>
                                      <p:tavLst>
                                        <p:tav tm="0">
                                          <p:val>
                                            <p:strVal val="0"/>
                                          </p:val>
                                        </p:tav>
                                        <p:tav tm="70000">
                                          <p:val>
                                            <p:strVal val="#ppt_h*1.08"/>
                                          </p:val>
                                        </p:tav>
                                        <p:tav tm="100000">
                                          <p:val>
                                            <p:strVal val="#ppt_h"/>
                                          </p:val>
                                        </p:tav>
                                      </p:tavLst>
                                    </p:anim>
                                    <p:animEffect transition="in" filter="fade">
                                      <p:cBhvr>
                                        <p:cTn id="46" dur="270" fill="hold"/>
                                        <p:tgtEl>
                                          <p:spTgt spid="12"/>
                                        </p:tgtEl>
                                      </p:cBhvr>
                                    </p:animEffect>
                                  </p:childTnLst>
                                </p:cTn>
                              </p:par>
                              <p:par>
                                <p:cTn id="47" presetID="53" presetClass="entr" presetSubtype="16" decel="100000" fill="hold" grpId="0" nodeType="withEffect">
                                  <p:stCondLst>
                                    <p:cond delay="2670"/>
                                  </p:stCondLst>
                                  <p:childTnLst>
                                    <p:set>
                                      <p:cBhvr>
                                        <p:cTn id="48" dur="1" fill="hold">
                                          <p:stCondLst>
                                            <p:cond delay="0"/>
                                          </p:stCondLst>
                                        </p:cTn>
                                        <p:tgtEl>
                                          <p:spTgt spid="13"/>
                                        </p:tgtEl>
                                        <p:attrNameLst>
                                          <p:attrName>style.visibility</p:attrName>
                                        </p:attrNameLst>
                                      </p:cBhvr>
                                      <p:to>
                                        <p:strVal val="visible"/>
                                      </p:to>
                                    </p:set>
                                    <p:anim calcmode="lin" valueType="num">
                                      <p:cBhvr additive="base">
                                        <p:cTn id="49" dur="450" fill="hold"/>
                                        <p:tgtEl>
                                          <p:spTgt spid="13"/>
                                        </p:tgtEl>
                                        <p:attrNameLst>
                                          <p:attrName>ppt_w</p:attrName>
                                        </p:attrNameLst>
                                      </p:cBhvr>
                                      <p:tavLst>
                                        <p:tav tm="0">
                                          <p:val>
                                            <p:strVal val="0"/>
                                          </p:val>
                                        </p:tav>
                                        <p:tav tm="70000">
                                          <p:val>
                                            <p:strVal val="#ppt_w*1.08"/>
                                          </p:val>
                                        </p:tav>
                                        <p:tav tm="100000">
                                          <p:val>
                                            <p:strVal val="#ppt_w"/>
                                          </p:val>
                                        </p:tav>
                                      </p:tavLst>
                                    </p:anim>
                                    <p:anim calcmode="lin" valueType="num">
                                      <p:cBhvr additive="base">
                                        <p:cTn id="50" dur="450" fill="hold"/>
                                        <p:tgtEl>
                                          <p:spTgt spid="13"/>
                                        </p:tgtEl>
                                        <p:attrNameLst>
                                          <p:attrName>ppt_h</p:attrName>
                                        </p:attrNameLst>
                                      </p:cBhvr>
                                      <p:tavLst>
                                        <p:tav tm="0">
                                          <p:val>
                                            <p:strVal val="0"/>
                                          </p:val>
                                        </p:tav>
                                        <p:tav tm="70000">
                                          <p:val>
                                            <p:strVal val="#ppt_h*1.08"/>
                                          </p:val>
                                        </p:tav>
                                        <p:tav tm="100000">
                                          <p:val>
                                            <p:strVal val="#ppt_h"/>
                                          </p:val>
                                        </p:tav>
                                      </p:tavLst>
                                    </p:anim>
                                    <p:animEffect transition="in" filter="fade">
                                      <p:cBhvr>
                                        <p:cTn id="51" dur="270" fill="hold"/>
                                        <p:tgtEl>
                                          <p:spTgt spid="13"/>
                                        </p:tgtEl>
                                      </p:cBhvr>
                                    </p:animEffect>
                                  </p:childTnLst>
                                </p:cTn>
                              </p:par>
                              <p:par>
                                <p:cTn id="52" presetID="53" presetClass="entr" presetSubtype="16" decel="100000" fill="hold" grpId="0" nodeType="withEffect">
                                  <p:stCondLst>
                                    <p:cond delay="2790"/>
                                  </p:stCondLst>
                                  <p:childTnLst>
                                    <p:set>
                                      <p:cBhvr>
                                        <p:cTn id="53" dur="1" fill="hold">
                                          <p:stCondLst>
                                            <p:cond delay="0"/>
                                          </p:stCondLst>
                                        </p:cTn>
                                        <p:tgtEl>
                                          <p:spTgt spid="14"/>
                                        </p:tgtEl>
                                        <p:attrNameLst>
                                          <p:attrName>style.visibility</p:attrName>
                                        </p:attrNameLst>
                                      </p:cBhvr>
                                      <p:to>
                                        <p:strVal val="visible"/>
                                      </p:to>
                                    </p:set>
                                    <p:anim calcmode="lin" valueType="num">
                                      <p:cBhvr additive="base">
                                        <p:cTn id="54" dur="450" fill="hold"/>
                                        <p:tgtEl>
                                          <p:spTgt spid="14"/>
                                        </p:tgtEl>
                                        <p:attrNameLst>
                                          <p:attrName>ppt_w</p:attrName>
                                        </p:attrNameLst>
                                      </p:cBhvr>
                                      <p:tavLst>
                                        <p:tav tm="0">
                                          <p:val>
                                            <p:strVal val="0"/>
                                          </p:val>
                                        </p:tav>
                                        <p:tav tm="70000">
                                          <p:val>
                                            <p:strVal val="#ppt_w*1.08"/>
                                          </p:val>
                                        </p:tav>
                                        <p:tav tm="100000">
                                          <p:val>
                                            <p:strVal val="#ppt_w"/>
                                          </p:val>
                                        </p:tav>
                                      </p:tavLst>
                                    </p:anim>
                                    <p:anim calcmode="lin" valueType="num">
                                      <p:cBhvr additive="base">
                                        <p:cTn id="55" dur="450" fill="hold"/>
                                        <p:tgtEl>
                                          <p:spTgt spid="14"/>
                                        </p:tgtEl>
                                        <p:attrNameLst>
                                          <p:attrName>ppt_h</p:attrName>
                                        </p:attrNameLst>
                                      </p:cBhvr>
                                      <p:tavLst>
                                        <p:tav tm="0">
                                          <p:val>
                                            <p:strVal val="0"/>
                                          </p:val>
                                        </p:tav>
                                        <p:tav tm="70000">
                                          <p:val>
                                            <p:strVal val="#ppt_h*1.08"/>
                                          </p:val>
                                        </p:tav>
                                        <p:tav tm="100000">
                                          <p:val>
                                            <p:strVal val="#ppt_h"/>
                                          </p:val>
                                        </p:tav>
                                      </p:tavLst>
                                    </p:anim>
                                    <p:animEffect transition="in" filter="fade">
                                      <p:cBhvr>
                                        <p:cTn id="56" dur="270" fill="hold"/>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12" grpId="0" animBg="1"/>
      <p:bldP spid="13" grpId="0" animBg="1"/>
      <p:bldP spid="14"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9CD848"/>
                </a:solidFill>
                <a:latin typeface="Segoe UI Semibold"/>
              </a:rPr>
              <a:t>DESAFIO FINAL</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O desafio</a:t>
            </a:r>
          </a:p>
        </p:txBody>
      </p:sp>
      <p:sp>
        <p:nvSpPr>
          <p:cNvPr id="6" name="TextBox 5"/>
          <p:cNvSpPr txBox="1"/>
          <p:nvPr/>
        </p:nvSpPr>
        <p:spPr>
          <a:xfrm>
            <a:off x="548640" y="1463040"/>
            <a:ext cx="6675120" cy="2743200"/>
          </a:xfrm>
          <a:prstGeom prst="rect">
            <a:avLst/>
          </a:prstGeom>
          <a:noFill/>
        </p:spPr>
        <p:txBody>
          <a:bodyPr wrap="square" lIns="36576" tIns="18288" rIns="36576" bIns="18288" anchor="t">
            <a:spAutoFit/>
          </a:bodyPr>
          <a:lstStyle/>
          <a:p>
            <a:pPr algn="l">
              <a:lnSpc>
                <a:spcPct val="115000"/>
              </a:lnSpc>
            </a:pPr>
            <a:r>
              <a:rPr sz="1900" b="0" i="0">
                <a:solidFill>
                  <a:srgbClr val="B4B8B0"/>
                </a:solidFill>
                <a:latin typeface="Segoe UI"/>
              </a:rPr>
              <a:t>Em equipes de 4 a 6 pessoas, apliquem o processo completo de Design Thinking a um problema real da empresa, preferencialmente o mesmo trabalhado nas dinâmicas dos encontros anteriores. Ao final, cada equipe apresenta um pitch de 5 minutos.</a:t>
            </a:r>
          </a:p>
        </p:txBody>
      </p:sp>
      <p:sp>
        <p:nvSpPr>
          <p:cNvPr id="7" name="Rounded Rectangle 6"/>
          <p:cNvSpPr/>
          <p:nvPr/>
        </p:nvSpPr>
        <p:spPr>
          <a:xfrm>
            <a:off x="7680960" y="1554480"/>
            <a:ext cx="3959352" cy="2926080"/>
          </a:xfrm>
          <a:prstGeom prst="roundRect">
            <a:avLst>
              <a:gd name="adj" fmla="val 6000"/>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955279" y="1783080"/>
            <a:ext cx="3474720" cy="365760"/>
          </a:xfrm>
          <a:prstGeom prst="rect">
            <a:avLst/>
          </a:prstGeom>
          <a:noFill/>
        </p:spPr>
        <p:txBody>
          <a:bodyPr wrap="square" lIns="36576" tIns="18288" rIns="36576" bIns="18288" anchor="t">
            <a:spAutoFit/>
          </a:bodyPr>
          <a:lstStyle/>
          <a:p>
            <a:pPr algn="l"/>
            <a:r>
              <a:rPr sz="1100" b="1" i="0" spc="200">
                <a:solidFill>
                  <a:srgbClr val="1A1A1A"/>
                </a:solidFill>
                <a:latin typeface="Segoe UI Semibold"/>
              </a:rPr>
              <a:t>TEMPO</a:t>
            </a:r>
          </a:p>
        </p:txBody>
      </p:sp>
      <p:sp>
        <p:nvSpPr>
          <p:cNvPr id="9" name="TextBox 8"/>
          <p:cNvSpPr txBox="1"/>
          <p:nvPr/>
        </p:nvSpPr>
        <p:spPr>
          <a:xfrm>
            <a:off x="7955279" y="3154680"/>
            <a:ext cx="3474720" cy="1097280"/>
          </a:xfrm>
          <a:prstGeom prst="rect">
            <a:avLst/>
          </a:prstGeom>
          <a:noFill/>
        </p:spPr>
        <p:txBody>
          <a:bodyPr wrap="square" lIns="36576" tIns="18288" rIns="36576" bIns="18288" anchor="t">
            <a:spAutoFit/>
          </a:bodyPr>
          <a:lstStyle/>
          <a:p>
            <a:pPr algn="l"/>
            <a:r>
              <a:rPr sz="1700" b="0" i="0">
                <a:solidFill>
                  <a:srgbClr val="1A1A1A"/>
                </a:solidFill>
                <a:latin typeface="Segoe UI"/>
              </a:rPr>
              <a:t>+ pitch de 5 minutos por equipe</a:t>
            </a:r>
          </a:p>
        </p:txBody>
      </p:sp>
      <p:sp>
        <p:nvSpPr>
          <p:cNvPr id="10" name="TextBox 9"/>
          <p:cNvSpPr txBox="1"/>
          <p:nvPr/>
        </p:nvSpPr>
        <p:spPr>
          <a:xfrm>
            <a:off x="7955279" y="2103120"/>
            <a:ext cx="3474720" cy="914400"/>
          </a:xfrm>
          <a:prstGeom prst="rect">
            <a:avLst/>
          </a:prstGeom>
          <a:noFill/>
        </p:spPr>
        <p:txBody>
          <a:bodyPr wrap="square" lIns="36576" tIns="18288" rIns="36576" bIns="18288" anchor="t">
            <a:spAutoFit/>
          </a:bodyPr>
          <a:lstStyle/>
          <a:p>
            <a:pPr algn="l"/>
            <a:r>
              <a:rPr sz="5200" b="1" i="0">
                <a:solidFill>
                  <a:srgbClr val="1A1A1A"/>
                </a:solidFill>
                <a:latin typeface="Segoe UI Semibold"/>
              </a:rPr>
              <a:t>90 min</a:t>
            </a:r>
          </a:p>
        </p:txBody>
      </p:sp>
      <p:sp>
        <p:nvSpPr>
          <p:cNvPr id="11" name="TextBox 10"/>
          <p:cNvSpPr txBox="1"/>
          <p:nvPr/>
        </p:nvSpPr>
        <p:spPr>
          <a:xfrm>
            <a:off x="548640" y="4754880"/>
            <a:ext cx="10972800" cy="365760"/>
          </a:xfrm>
          <a:prstGeom prst="rect">
            <a:avLst/>
          </a:prstGeom>
          <a:noFill/>
        </p:spPr>
        <p:txBody>
          <a:bodyPr wrap="square" lIns="36576" tIns="18288" rIns="36576" bIns="18288" anchor="t">
            <a:spAutoFit/>
          </a:bodyPr>
          <a:lstStyle/>
          <a:p>
            <a:pPr algn="l"/>
            <a:r>
              <a:rPr sz="1100" b="1" i="0" spc="200">
                <a:solidFill>
                  <a:srgbClr val="9CD848"/>
                </a:solidFill>
                <a:latin typeface="Segoe UI Semibold"/>
              </a:rPr>
              <a:t>CRONOGRAMA</a:t>
            </a:r>
          </a:p>
        </p:txBody>
      </p:sp>
      <p:sp>
        <p:nvSpPr>
          <p:cNvPr id="12" name="Rounded Rectangle 11"/>
          <p:cNvSpPr/>
          <p:nvPr/>
        </p:nvSpPr>
        <p:spPr>
          <a:xfrm>
            <a:off x="585216" y="5120640"/>
            <a:ext cx="1775460" cy="1005840"/>
          </a:xfrm>
          <a:prstGeom prst="roundRect">
            <a:avLst>
              <a:gd name="adj" fmla="val 10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58368" y="5157216"/>
            <a:ext cx="1629156" cy="320040"/>
          </a:xfrm>
          <a:prstGeom prst="rect">
            <a:avLst/>
          </a:prstGeom>
          <a:noFill/>
        </p:spPr>
        <p:txBody>
          <a:bodyPr wrap="square" lIns="36576" tIns="18288" rIns="36576" bIns="18288" anchor="t">
            <a:spAutoFit/>
          </a:bodyPr>
          <a:lstStyle/>
          <a:p>
            <a:pPr algn="l"/>
            <a:r>
              <a:rPr sz="1100" b="1" i="0">
                <a:solidFill>
                  <a:srgbClr val="9CD848"/>
                </a:solidFill>
                <a:latin typeface="Segoe UI Semibold"/>
              </a:rPr>
              <a:t>0–15 min</a:t>
            </a:r>
          </a:p>
        </p:txBody>
      </p:sp>
      <p:sp>
        <p:nvSpPr>
          <p:cNvPr id="14" name="TextBox 13"/>
          <p:cNvSpPr txBox="1"/>
          <p:nvPr/>
        </p:nvSpPr>
        <p:spPr>
          <a:xfrm>
            <a:off x="658368" y="5440680"/>
            <a:ext cx="1629156" cy="658368"/>
          </a:xfrm>
          <a:prstGeom prst="rect">
            <a:avLst/>
          </a:prstGeom>
          <a:noFill/>
        </p:spPr>
        <p:txBody>
          <a:bodyPr wrap="square" lIns="36576" tIns="18288" rIns="36576" bIns="18288" anchor="t">
            <a:spAutoFit/>
          </a:bodyPr>
          <a:lstStyle/>
          <a:p>
            <a:pPr algn="l"/>
            <a:r>
              <a:rPr sz="1050" b="0" i="0">
                <a:solidFill>
                  <a:srgbClr val="B4B8B0"/>
                </a:solidFill>
                <a:latin typeface="Segoe UI"/>
              </a:rPr>
              <a:t>Revisar CSD e insights; atualizar a persona</a:t>
            </a:r>
          </a:p>
        </p:txBody>
      </p:sp>
      <p:sp>
        <p:nvSpPr>
          <p:cNvPr id="15" name="Rounded Rectangle 14"/>
          <p:cNvSpPr/>
          <p:nvPr/>
        </p:nvSpPr>
        <p:spPr>
          <a:xfrm>
            <a:off x="2433828" y="5120640"/>
            <a:ext cx="1775460" cy="1005840"/>
          </a:xfrm>
          <a:prstGeom prst="roundRect">
            <a:avLst>
              <a:gd name="adj" fmla="val 10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2506980" y="5157216"/>
            <a:ext cx="1629156" cy="320040"/>
          </a:xfrm>
          <a:prstGeom prst="rect">
            <a:avLst/>
          </a:prstGeom>
          <a:noFill/>
        </p:spPr>
        <p:txBody>
          <a:bodyPr wrap="square" lIns="36576" tIns="18288" rIns="36576" bIns="18288" anchor="t">
            <a:spAutoFit/>
          </a:bodyPr>
          <a:lstStyle/>
          <a:p>
            <a:pPr algn="l"/>
            <a:r>
              <a:rPr sz="1100" b="1" i="0">
                <a:solidFill>
                  <a:srgbClr val="4DB35A"/>
                </a:solidFill>
                <a:latin typeface="Segoe UI Semibold"/>
              </a:rPr>
              <a:t>15–30 min</a:t>
            </a:r>
          </a:p>
        </p:txBody>
      </p:sp>
      <p:sp>
        <p:nvSpPr>
          <p:cNvPr id="17" name="TextBox 16"/>
          <p:cNvSpPr txBox="1"/>
          <p:nvPr/>
        </p:nvSpPr>
        <p:spPr>
          <a:xfrm>
            <a:off x="2506980" y="5440680"/>
            <a:ext cx="1629156" cy="658368"/>
          </a:xfrm>
          <a:prstGeom prst="rect">
            <a:avLst/>
          </a:prstGeom>
          <a:noFill/>
        </p:spPr>
        <p:txBody>
          <a:bodyPr wrap="square" lIns="36576" tIns="18288" rIns="36576" bIns="18288" anchor="t">
            <a:spAutoFit/>
          </a:bodyPr>
          <a:lstStyle/>
          <a:p>
            <a:pPr algn="l"/>
            <a:r>
              <a:rPr sz="1050" b="0" i="0">
                <a:solidFill>
                  <a:srgbClr val="B4B8B0"/>
                </a:solidFill>
                <a:latin typeface="Segoe UI"/>
              </a:rPr>
              <a:t>Problem Statement e 'Como poderíamos…?'</a:t>
            </a:r>
          </a:p>
        </p:txBody>
      </p:sp>
      <p:sp>
        <p:nvSpPr>
          <p:cNvPr id="18" name="Rounded Rectangle 17"/>
          <p:cNvSpPr/>
          <p:nvPr/>
        </p:nvSpPr>
        <p:spPr>
          <a:xfrm>
            <a:off x="4282440" y="5120640"/>
            <a:ext cx="1775460" cy="1005840"/>
          </a:xfrm>
          <a:prstGeom prst="roundRect">
            <a:avLst>
              <a:gd name="adj" fmla="val 10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4355592" y="5157216"/>
            <a:ext cx="1629156" cy="320040"/>
          </a:xfrm>
          <a:prstGeom prst="rect">
            <a:avLst/>
          </a:prstGeom>
          <a:noFill/>
        </p:spPr>
        <p:txBody>
          <a:bodyPr wrap="square" lIns="36576" tIns="18288" rIns="36576" bIns="18288" anchor="t">
            <a:spAutoFit/>
          </a:bodyPr>
          <a:lstStyle/>
          <a:p>
            <a:pPr algn="l"/>
            <a:r>
              <a:rPr sz="1100" b="1" i="0">
                <a:solidFill>
                  <a:srgbClr val="2FA38A"/>
                </a:solidFill>
                <a:latin typeface="Segoe UI Semibold"/>
              </a:rPr>
              <a:t>30–50 min</a:t>
            </a:r>
          </a:p>
        </p:txBody>
      </p:sp>
      <p:sp>
        <p:nvSpPr>
          <p:cNvPr id="20" name="TextBox 19"/>
          <p:cNvSpPr txBox="1"/>
          <p:nvPr/>
        </p:nvSpPr>
        <p:spPr>
          <a:xfrm>
            <a:off x="4355592" y="5440680"/>
            <a:ext cx="1629156" cy="658368"/>
          </a:xfrm>
          <a:prstGeom prst="rect">
            <a:avLst/>
          </a:prstGeom>
          <a:noFill/>
        </p:spPr>
        <p:txBody>
          <a:bodyPr wrap="square" lIns="36576" tIns="18288" rIns="36576" bIns="18288" anchor="t">
            <a:spAutoFit/>
          </a:bodyPr>
          <a:lstStyle/>
          <a:p>
            <a:pPr algn="l"/>
            <a:r>
              <a:rPr sz="1050" b="0" i="0">
                <a:solidFill>
                  <a:srgbClr val="B4B8B0"/>
                </a:solidFill>
                <a:latin typeface="Segoe UI"/>
              </a:rPr>
              <a:t>Ideação e priorização</a:t>
            </a:r>
          </a:p>
        </p:txBody>
      </p:sp>
      <p:sp>
        <p:nvSpPr>
          <p:cNvPr id="21" name="Rounded Rectangle 20"/>
          <p:cNvSpPr/>
          <p:nvPr/>
        </p:nvSpPr>
        <p:spPr>
          <a:xfrm>
            <a:off x="6131052" y="5120640"/>
            <a:ext cx="1775460" cy="1005840"/>
          </a:xfrm>
          <a:prstGeom prst="roundRect">
            <a:avLst>
              <a:gd name="adj" fmla="val 10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204204" y="5157216"/>
            <a:ext cx="1629156" cy="320040"/>
          </a:xfrm>
          <a:prstGeom prst="rect">
            <a:avLst/>
          </a:prstGeom>
          <a:noFill/>
        </p:spPr>
        <p:txBody>
          <a:bodyPr wrap="square" lIns="36576" tIns="18288" rIns="36576" bIns="18288" anchor="t">
            <a:spAutoFit/>
          </a:bodyPr>
          <a:lstStyle/>
          <a:p>
            <a:pPr algn="l"/>
            <a:r>
              <a:rPr sz="1100" b="1" i="0">
                <a:solidFill>
                  <a:srgbClr val="2A9FC0"/>
                </a:solidFill>
                <a:latin typeface="Segoe UI Semibold"/>
              </a:rPr>
              <a:t>50–70 min</a:t>
            </a:r>
          </a:p>
        </p:txBody>
      </p:sp>
      <p:sp>
        <p:nvSpPr>
          <p:cNvPr id="23" name="TextBox 22"/>
          <p:cNvSpPr txBox="1"/>
          <p:nvPr/>
        </p:nvSpPr>
        <p:spPr>
          <a:xfrm>
            <a:off x="6204204" y="5440680"/>
            <a:ext cx="1629156" cy="658368"/>
          </a:xfrm>
          <a:prstGeom prst="rect">
            <a:avLst/>
          </a:prstGeom>
          <a:noFill/>
        </p:spPr>
        <p:txBody>
          <a:bodyPr wrap="square" lIns="36576" tIns="18288" rIns="36576" bIns="18288" anchor="t">
            <a:spAutoFit/>
          </a:bodyPr>
          <a:lstStyle/>
          <a:p>
            <a:pPr algn="l"/>
            <a:r>
              <a:rPr sz="1050" b="0" i="0">
                <a:solidFill>
                  <a:srgbClr val="B4B8B0"/>
                </a:solidFill>
                <a:latin typeface="Segoe UI"/>
              </a:rPr>
              <a:t>Construção do protótipo</a:t>
            </a:r>
          </a:p>
        </p:txBody>
      </p:sp>
      <p:sp>
        <p:nvSpPr>
          <p:cNvPr id="24" name="Rounded Rectangle 23"/>
          <p:cNvSpPr/>
          <p:nvPr/>
        </p:nvSpPr>
        <p:spPr>
          <a:xfrm>
            <a:off x="7979664" y="5120640"/>
            <a:ext cx="1775460" cy="1005840"/>
          </a:xfrm>
          <a:prstGeom prst="roundRect">
            <a:avLst>
              <a:gd name="adj" fmla="val 10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052816" y="5157216"/>
            <a:ext cx="1629156" cy="320040"/>
          </a:xfrm>
          <a:prstGeom prst="rect">
            <a:avLst/>
          </a:prstGeom>
          <a:noFill/>
        </p:spPr>
        <p:txBody>
          <a:bodyPr wrap="square" lIns="36576" tIns="18288" rIns="36576" bIns="18288" anchor="t">
            <a:spAutoFit/>
          </a:bodyPr>
          <a:lstStyle/>
          <a:p>
            <a:pPr algn="l"/>
            <a:r>
              <a:rPr sz="1100" b="1" i="0">
                <a:solidFill>
                  <a:srgbClr val="1F7FA8"/>
                </a:solidFill>
                <a:latin typeface="Segoe UI Semibold"/>
              </a:rPr>
              <a:t>70–85 min</a:t>
            </a:r>
          </a:p>
        </p:txBody>
      </p:sp>
      <p:sp>
        <p:nvSpPr>
          <p:cNvPr id="26" name="TextBox 25"/>
          <p:cNvSpPr txBox="1"/>
          <p:nvPr/>
        </p:nvSpPr>
        <p:spPr>
          <a:xfrm>
            <a:off x="8052816" y="5440680"/>
            <a:ext cx="1629156" cy="658368"/>
          </a:xfrm>
          <a:prstGeom prst="rect">
            <a:avLst/>
          </a:prstGeom>
          <a:noFill/>
        </p:spPr>
        <p:txBody>
          <a:bodyPr wrap="square" lIns="36576" tIns="18288" rIns="36576" bIns="18288" anchor="t">
            <a:spAutoFit/>
          </a:bodyPr>
          <a:lstStyle/>
          <a:p>
            <a:pPr algn="l"/>
            <a:r>
              <a:rPr sz="1050" b="0" i="0">
                <a:solidFill>
                  <a:srgbClr val="B4B8B0"/>
                </a:solidFill>
                <a:latin typeface="Segoe UI"/>
              </a:rPr>
              <a:t>Teste cruzado com outra equipe</a:t>
            </a:r>
          </a:p>
        </p:txBody>
      </p:sp>
      <p:sp>
        <p:nvSpPr>
          <p:cNvPr id="27" name="Rounded Rectangle 26"/>
          <p:cNvSpPr/>
          <p:nvPr/>
        </p:nvSpPr>
        <p:spPr>
          <a:xfrm>
            <a:off x="9828276" y="5120640"/>
            <a:ext cx="1775460" cy="1005840"/>
          </a:xfrm>
          <a:prstGeom prst="roundRect">
            <a:avLst>
              <a:gd name="adj" fmla="val 10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9901428" y="5157216"/>
            <a:ext cx="1629156" cy="320040"/>
          </a:xfrm>
          <a:prstGeom prst="rect">
            <a:avLst/>
          </a:prstGeom>
          <a:noFill/>
        </p:spPr>
        <p:txBody>
          <a:bodyPr wrap="square" lIns="36576" tIns="18288" rIns="36576" bIns="18288" anchor="t">
            <a:spAutoFit/>
          </a:bodyPr>
          <a:lstStyle/>
          <a:p>
            <a:pPr algn="l"/>
            <a:r>
              <a:rPr sz="1100" b="1" i="0">
                <a:solidFill>
                  <a:srgbClr val="B4B8B0"/>
                </a:solidFill>
                <a:latin typeface="Segoe UI Semibold"/>
              </a:rPr>
              <a:t>85–90 min</a:t>
            </a:r>
          </a:p>
        </p:txBody>
      </p:sp>
      <p:sp>
        <p:nvSpPr>
          <p:cNvPr id="29" name="TextBox 28"/>
          <p:cNvSpPr txBox="1"/>
          <p:nvPr/>
        </p:nvSpPr>
        <p:spPr>
          <a:xfrm>
            <a:off x="9901428" y="5440680"/>
            <a:ext cx="1629156" cy="658368"/>
          </a:xfrm>
          <a:prstGeom prst="rect">
            <a:avLst/>
          </a:prstGeom>
          <a:noFill/>
        </p:spPr>
        <p:txBody>
          <a:bodyPr wrap="square" lIns="36576" tIns="18288" rIns="36576" bIns="18288" anchor="t">
            <a:spAutoFit/>
          </a:bodyPr>
          <a:lstStyle/>
          <a:p>
            <a:pPr algn="l"/>
            <a:r>
              <a:rPr sz="1050" b="0" i="0">
                <a:solidFill>
                  <a:srgbClr val="B4B8B0"/>
                </a:solidFill>
                <a:latin typeface="Segoe UI"/>
              </a:rPr>
              <a:t>Preparar o pitch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fill="hold"/>
                                        <p:tgtEl>
                                          <p:spTgt spid="6"/>
                                        </p:tgtEl>
                                      </p:cBhvr>
                                    </p:animEffect>
                                  </p:childTnLst>
                                </p:cTn>
                              </p:par>
                              <p:par>
                                <p:cTn id="11" presetID="42" presetClass="entr" presetSubtype="0" decel="100000" fill="hold" grpId="0" nodeType="withEffect">
                                  <p:stCondLst>
                                    <p:cond delay="55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650" fill="hold"/>
                                        <p:tgtEl>
                                          <p:spTgt spid="7"/>
                                        </p:tgtEl>
                                      </p:cBhvr>
                                    </p:animEffect>
                                    <p:anim calcmode="lin" valueType="num">
                                      <p:cBhvr additive="base">
                                        <p:cTn id="14" dur="650" fill="hold"/>
                                        <p:tgtEl>
                                          <p:spTgt spid="7"/>
                                        </p:tgtEl>
                                        <p:attrNameLst>
                                          <p:attrName>ppt_x</p:attrName>
                                        </p:attrNameLst>
                                      </p:cBhvr>
                                      <p:tavLst>
                                        <p:tav tm="0">
                                          <p:val>
                                            <p:strVal val="#ppt_x"/>
                                          </p:val>
                                        </p:tav>
                                        <p:tav tm="100000">
                                          <p:val>
                                            <p:strVal val="#ppt_x"/>
                                          </p:val>
                                        </p:tav>
                                      </p:tavLst>
                                    </p:anim>
                                    <p:anim calcmode="lin" valueType="num">
                                      <p:cBhvr additive="base">
                                        <p:cTn id="15" dur="650" fill="hold"/>
                                        <p:tgtEl>
                                          <p:spTgt spid="7"/>
                                        </p:tgtEl>
                                        <p:attrNameLst>
                                          <p:attrName>ppt_y</p:attrName>
                                        </p:attrNameLst>
                                      </p:cBhvr>
                                      <p:tavLst>
                                        <p:tav tm="0">
                                          <p:val>
                                            <p:strVal val="#ppt_y+.06"/>
                                          </p:val>
                                        </p:tav>
                                        <p:tav tm="100000">
                                          <p:val>
                                            <p:strVal val="#ppt_y"/>
                                          </p:val>
                                        </p:tav>
                                      </p:tavLst>
                                    </p:anim>
                                  </p:childTnLst>
                                </p:cTn>
                              </p:par>
                              <p:par>
                                <p:cTn id="16" presetID="42" presetClass="entr" presetSubtype="0" decel="100000" fill="hold" grpId="0" nodeType="withEffect">
                                  <p:stCondLst>
                                    <p:cond delay="55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650" fill="hold"/>
                                        <p:tgtEl>
                                          <p:spTgt spid="8"/>
                                        </p:tgtEl>
                                      </p:cBhvr>
                                    </p:animEffect>
                                    <p:anim calcmode="lin" valueType="num">
                                      <p:cBhvr additive="base">
                                        <p:cTn id="19" dur="650" fill="hold"/>
                                        <p:tgtEl>
                                          <p:spTgt spid="8"/>
                                        </p:tgtEl>
                                        <p:attrNameLst>
                                          <p:attrName>ppt_x</p:attrName>
                                        </p:attrNameLst>
                                      </p:cBhvr>
                                      <p:tavLst>
                                        <p:tav tm="0">
                                          <p:val>
                                            <p:strVal val="#ppt_x"/>
                                          </p:val>
                                        </p:tav>
                                        <p:tav tm="100000">
                                          <p:val>
                                            <p:strVal val="#ppt_x"/>
                                          </p:val>
                                        </p:tav>
                                      </p:tavLst>
                                    </p:anim>
                                    <p:anim calcmode="lin" valueType="num">
                                      <p:cBhvr additive="base">
                                        <p:cTn id="20" dur="650" fill="hold"/>
                                        <p:tgtEl>
                                          <p:spTgt spid="8"/>
                                        </p:tgtEl>
                                        <p:attrNameLst>
                                          <p:attrName>ppt_y</p:attrName>
                                        </p:attrNameLst>
                                      </p:cBhvr>
                                      <p:tavLst>
                                        <p:tav tm="0">
                                          <p:val>
                                            <p:strVal val="#ppt_y+.06"/>
                                          </p:val>
                                        </p:tav>
                                        <p:tav tm="100000">
                                          <p:val>
                                            <p:strVal val="#ppt_y"/>
                                          </p:val>
                                        </p:tav>
                                      </p:tavLst>
                                    </p:anim>
                                  </p:childTnLst>
                                </p:cTn>
                              </p:par>
                              <p:par>
                                <p:cTn id="21" presetID="42" presetClass="entr" presetSubtype="0" decel="100000" fill="hold" grpId="0" nodeType="withEffect">
                                  <p:stCondLst>
                                    <p:cond delay="55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650" fill="hold"/>
                                        <p:tgtEl>
                                          <p:spTgt spid="9"/>
                                        </p:tgtEl>
                                      </p:cBhvr>
                                    </p:animEffect>
                                    <p:anim calcmode="lin" valueType="num">
                                      <p:cBhvr additive="base">
                                        <p:cTn id="24" dur="650" fill="hold"/>
                                        <p:tgtEl>
                                          <p:spTgt spid="9"/>
                                        </p:tgtEl>
                                        <p:attrNameLst>
                                          <p:attrName>ppt_x</p:attrName>
                                        </p:attrNameLst>
                                      </p:cBhvr>
                                      <p:tavLst>
                                        <p:tav tm="0">
                                          <p:val>
                                            <p:strVal val="#ppt_x"/>
                                          </p:val>
                                        </p:tav>
                                        <p:tav tm="100000">
                                          <p:val>
                                            <p:strVal val="#ppt_x"/>
                                          </p:val>
                                        </p:tav>
                                      </p:tavLst>
                                    </p:anim>
                                    <p:anim calcmode="lin" valueType="num">
                                      <p:cBhvr additive="base">
                                        <p:cTn id="25" dur="650" fill="hold"/>
                                        <p:tgtEl>
                                          <p:spTgt spid="9"/>
                                        </p:tgtEl>
                                        <p:attrNameLst>
                                          <p:attrName>ppt_y</p:attrName>
                                        </p:attrNameLst>
                                      </p:cBhvr>
                                      <p:tavLst>
                                        <p:tav tm="0">
                                          <p:val>
                                            <p:strVal val="#ppt_y+.06"/>
                                          </p:val>
                                        </p:tav>
                                        <p:tav tm="100000">
                                          <p:val>
                                            <p:strVal val="#ppt_y"/>
                                          </p:val>
                                        </p:tav>
                                      </p:tavLst>
                                    </p:anim>
                                  </p:childTnLst>
                                </p:cTn>
                              </p:par>
                              <p:par>
                                <p:cTn id="26" presetID="53" presetClass="entr" presetSubtype="16" decel="100000" fill="hold" grpId="0" nodeType="withEffect">
                                  <p:stCondLst>
                                    <p:cond delay="750"/>
                                  </p:stCondLst>
                                  <p:childTnLst>
                                    <p:set>
                                      <p:cBhvr>
                                        <p:cTn id="27" dur="1" fill="hold">
                                          <p:stCondLst>
                                            <p:cond delay="0"/>
                                          </p:stCondLst>
                                        </p:cTn>
                                        <p:tgtEl>
                                          <p:spTgt spid="10"/>
                                        </p:tgtEl>
                                        <p:attrNameLst>
                                          <p:attrName>style.visibility</p:attrName>
                                        </p:attrNameLst>
                                      </p:cBhvr>
                                      <p:to>
                                        <p:strVal val="visible"/>
                                      </p:to>
                                    </p:set>
                                    <p:anim calcmode="lin" valueType="num">
                                      <p:cBhvr additive="base">
                                        <p:cTn id="28" dur="600" fill="hold"/>
                                        <p:tgtEl>
                                          <p:spTgt spid="10"/>
                                        </p:tgtEl>
                                        <p:attrNameLst>
                                          <p:attrName>ppt_w</p:attrName>
                                        </p:attrNameLst>
                                      </p:cBhvr>
                                      <p:tavLst>
                                        <p:tav tm="0">
                                          <p:val>
                                            <p:strVal val="0"/>
                                          </p:val>
                                        </p:tav>
                                        <p:tav tm="70000">
                                          <p:val>
                                            <p:strVal val="#ppt_w*1.08"/>
                                          </p:val>
                                        </p:tav>
                                        <p:tav tm="100000">
                                          <p:val>
                                            <p:strVal val="#ppt_w"/>
                                          </p:val>
                                        </p:tav>
                                      </p:tavLst>
                                    </p:anim>
                                    <p:anim calcmode="lin" valueType="num">
                                      <p:cBhvr additive="base">
                                        <p:cTn id="29" dur="600" fill="hold"/>
                                        <p:tgtEl>
                                          <p:spTgt spid="10"/>
                                        </p:tgtEl>
                                        <p:attrNameLst>
                                          <p:attrName>ppt_h</p:attrName>
                                        </p:attrNameLst>
                                      </p:cBhvr>
                                      <p:tavLst>
                                        <p:tav tm="0">
                                          <p:val>
                                            <p:strVal val="0"/>
                                          </p:val>
                                        </p:tav>
                                        <p:tav tm="70000">
                                          <p:val>
                                            <p:strVal val="#ppt_h*1.08"/>
                                          </p:val>
                                        </p:tav>
                                        <p:tav tm="100000">
                                          <p:val>
                                            <p:strVal val="#ppt_h"/>
                                          </p:val>
                                        </p:tav>
                                      </p:tavLst>
                                    </p:anim>
                                    <p:animEffect transition="in" filter="fade">
                                      <p:cBhvr>
                                        <p:cTn id="30" dur="360" fill="hold"/>
                                        <p:tgtEl>
                                          <p:spTgt spid="10"/>
                                        </p:tgtEl>
                                      </p:cBhvr>
                                    </p:animEffect>
                                  </p:childTnLst>
                                </p:cTn>
                              </p:par>
                              <p:par>
                                <p:cTn id="31" presetID="10" presetClass="entr" presetSubtype="0" fill="hold" grpId="0" nodeType="withEffect">
                                  <p:stCondLst>
                                    <p:cond delay="110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fill="hold"/>
                                        <p:tgtEl>
                                          <p:spTgt spid="11"/>
                                        </p:tgtEl>
                                      </p:cBhvr>
                                    </p:animEffect>
                                  </p:childTnLst>
                                </p:cTn>
                              </p:par>
                              <p:par>
                                <p:cTn id="34" presetID="42" presetClass="entr" presetSubtype="0" decel="100000" fill="hold" grpId="0" nodeType="withEffect">
                                  <p:stCondLst>
                                    <p:cond delay="125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650" fill="hold"/>
                                        <p:tgtEl>
                                          <p:spTgt spid="12"/>
                                        </p:tgtEl>
                                      </p:cBhvr>
                                    </p:animEffect>
                                    <p:anim calcmode="lin" valueType="num">
                                      <p:cBhvr additive="base">
                                        <p:cTn id="37" dur="650" fill="hold"/>
                                        <p:tgtEl>
                                          <p:spTgt spid="12"/>
                                        </p:tgtEl>
                                        <p:attrNameLst>
                                          <p:attrName>ppt_x</p:attrName>
                                        </p:attrNameLst>
                                      </p:cBhvr>
                                      <p:tavLst>
                                        <p:tav tm="0">
                                          <p:val>
                                            <p:strVal val="#ppt_x"/>
                                          </p:val>
                                        </p:tav>
                                        <p:tav tm="100000">
                                          <p:val>
                                            <p:strVal val="#ppt_x"/>
                                          </p:val>
                                        </p:tav>
                                      </p:tavLst>
                                    </p:anim>
                                    <p:anim calcmode="lin" valueType="num">
                                      <p:cBhvr additive="base">
                                        <p:cTn id="38" dur="650" fill="hold"/>
                                        <p:tgtEl>
                                          <p:spTgt spid="12"/>
                                        </p:tgtEl>
                                        <p:attrNameLst>
                                          <p:attrName>ppt_y</p:attrName>
                                        </p:attrNameLst>
                                      </p:cBhvr>
                                      <p:tavLst>
                                        <p:tav tm="0">
                                          <p:val>
                                            <p:strVal val="#ppt_y+.06"/>
                                          </p:val>
                                        </p:tav>
                                        <p:tav tm="100000">
                                          <p:val>
                                            <p:strVal val="#ppt_y"/>
                                          </p:val>
                                        </p:tav>
                                      </p:tavLst>
                                    </p:anim>
                                  </p:childTnLst>
                                </p:cTn>
                              </p:par>
                              <p:par>
                                <p:cTn id="39" presetID="42" presetClass="entr" presetSubtype="0" decel="100000" fill="hold" grpId="0" nodeType="withEffect">
                                  <p:stCondLst>
                                    <p:cond delay="125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650" fill="hold"/>
                                        <p:tgtEl>
                                          <p:spTgt spid="13"/>
                                        </p:tgtEl>
                                      </p:cBhvr>
                                    </p:animEffect>
                                    <p:anim calcmode="lin" valueType="num">
                                      <p:cBhvr additive="base">
                                        <p:cTn id="42" dur="650" fill="hold"/>
                                        <p:tgtEl>
                                          <p:spTgt spid="13"/>
                                        </p:tgtEl>
                                        <p:attrNameLst>
                                          <p:attrName>ppt_x</p:attrName>
                                        </p:attrNameLst>
                                      </p:cBhvr>
                                      <p:tavLst>
                                        <p:tav tm="0">
                                          <p:val>
                                            <p:strVal val="#ppt_x"/>
                                          </p:val>
                                        </p:tav>
                                        <p:tav tm="100000">
                                          <p:val>
                                            <p:strVal val="#ppt_x"/>
                                          </p:val>
                                        </p:tav>
                                      </p:tavLst>
                                    </p:anim>
                                    <p:anim calcmode="lin" valueType="num">
                                      <p:cBhvr additive="base">
                                        <p:cTn id="43" dur="650" fill="hold"/>
                                        <p:tgtEl>
                                          <p:spTgt spid="13"/>
                                        </p:tgtEl>
                                        <p:attrNameLst>
                                          <p:attrName>ppt_y</p:attrName>
                                        </p:attrNameLst>
                                      </p:cBhvr>
                                      <p:tavLst>
                                        <p:tav tm="0">
                                          <p:val>
                                            <p:strVal val="#ppt_y+.06"/>
                                          </p:val>
                                        </p:tav>
                                        <p:tav tm="100000">
                                          <p:val>
                                            <p:strVal val="#ppt_y"/>
                                          </p:val>
                                        </p:tav>
                                      </p:tavLst>
                                    </p:anim>
                                  </p:childTnLst>
                                </p:cTn>
                              </p:par>
                              <p:par>
                                <p:cTn id="44" presetID="42" presetClass="entr" presetSubtype="0" decel="100000" fill="hold" grpId="0" nodeType="withEffect">
                                  <p:stCondLst>
                                    <p:cond delay="125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650" fill="hold"/>
                                        <p:tgtEl>
                                          <p:spTgt spid="14"/>
                                        </p:tgtEl>
                                      </p:cBhvr>
                                    </p:animEffect>
                                    <p:anim calcmode="lin" valueType="num">
                                      <p:cBhvr additive="base">
                                        <p:cTn id="47" dur="650" fill="hold"/>
                                        <p:tgtEl>
                                          <p:spTgt spid="14"/>
                                        </p:tgtEl>
                                        <p:attrNameLst>
                                          <p:attrName>ppt_x</p:attrName>
                                        </p:attrNameLst>
                                      </p:cBhvr>
                                      <p:tavLst>
                                        <p:tav tm="0">
                                          <p:val>
                                            <p:strVal val="#ppt_x"/>
                                          </p:val>
                                        </p:tav>
                                        <p:tav tm="100000">
                                          <p:val>
                                            <p:strVal val="#ppt_x"/>
                                          </p:val>
                                        </p:tav>
                                      </p:tavLst>
                                    </p:anim>
                                    <p:anim calcmode="lin" valueType="num">
                                      <p:cBhvr additive="base">
                                        <p:cTn id="48" dur="650" fill="hold"/>
                                        <p:tgtEl>
                                          <p:spTgt spid="14"/>
                                        </p:tgtEl>
                                        <p:attrNameLst>
                                          <p:attrName>ppt_y</p:attrName>
                                        </p:attrNameLst>
                                      </p:cBhvr>
                                      <p:tavLst>
                                        <p:tav tm="0">
                                          <p:val>
                                            <p:strVal val="#ppt_y+.06"/>
                                          </p:val>
                                        </p:tav>
                                        <p:tav tm="100000">
                                          <p:val>
                                            <p:strVal val="#ppt_y"/>
                                          </p:val>
                                        </p:tav>
                                      </p:tavLst>
                                    </p:anim>
                                  </p:childTnLst>
                                </p:cTn>
                              </p:par>
                              <p:par>
                                <p:cTn id="49" presetID="42" presetClass="entr" presetSubtype="0" decel="100000" fill="hold" grpId="0" nodeType="withEffect">
                                  <p:stCondLst>
                                    <p:cond delay="1400"/>
                                  </p:stCondLst>
                                  <p:childTnLst>
                                    <p:set>
                                      <p:cBhvr>
                                        <p:cTn id="50" dur="1" fill="hold">
                                          <p:stCondLst>
                                            <p:cond delay="0"/>
                                          </p:stCondLst>
                                        </p:cTn>
                                        <p:tgtEl>
                                          <p:spTgt spid="15"/>
                                        </p:tgtEl>
                                        <p:attrNameLst>
                                          <p:attrName>style.visibility</p:attrName>
                                        </p:attrNameLst>
                                      </p:cBhvr>
                                      <p:to>
                                        <p:strVal val="visible"/>
                                      </p:to>
                                    </p:set>
                                    <p:animEffect transition="in" filter="fade">
                                      <p:cBhvr>
                                        <p:cTn id="51" dur="650" fill="hold"/>
                                        <p:tgtEl>
                                          <p:spTgt spid="15"/>
                                        </p:tgtEl>
                                      </p:cBhvr>
                                    </p:animEffect>
                                    <p:anim calcmode="lin" valueType="num">
                                      <p:cBhvr additive="base">
                                        <p:cTn id="52" dur="650" fill="hold"/>
                                        <p:tgtEl>
                                          <p:spTgt spid="15"/>
                                        </p:tgtEl>
                                        <p:attrNameLst>
                                          <p:attrName>ppt_x</p:attrName>
                                        </p:attrNameLst>
                                      </p:cBhvr>
                                      <p:tavLst>
                                        <p:tav tm="0">
                                          <p:val>
                                            <p:strVal val="#ppt_x"/>
                                          </p:val>
                                        </p:tav>
                                        <p:tav tm="100000">
                                          <p:val>
                                            <p:strVal val="#ppt_x"/>
                                          </p:val>
                                        </p:tav>
                                      </p:tavLst>
                                    </p:anim>
                                    <p:anim calcmode="lin" valueType="num">
                                      <p:cBhvr additive="base">
                                        <p:cTn id="53" dur="650" fill="hold"/>
                                        <p:tgtEl>
                                          <p:spTgt spid="15"/>
                                        </p:tgtEl>
                                        <p:attrNameLst>
                                          <p:attrName>ppt_y</p:attrName>
                                        </p:attrNameLst>
                                      </p:cBhvr>
                                      <p:tavLst>
                                        <p:tav tm="0">
                                          <p:val>
                                            <p:strVal val="#ppt_y+.06"/>
                                          </p:val>
                                        </p:tav>
                                        <p:tav tm="100000">
                                          <p:val>
                                            <p:strVal val="#ppt_y"/>
                                          </p:val>
                                        </p:tav>
                                      </p:tavLst>
                                    </p:anim>
                                  </p:childTnLst>
                                </p:cTn>
                              </p:par>
                              <p:par>
                                <p:cTn id="54" presetID="42" presetClass="entr" presetSubtype="0" decel="100000" fill="hold" grpId="0" nodeType="withEffect">
                                  <p:stCondLst>
                                    <p:cond delay="1400"/>
                                  </p:stCondLst>
                                  <p:childTnLst>
                                    <p:set>
                                      <p:cBhvr>
                                        <p:cTn id="55" dur="1" fill="hold">
                                          <p:stCondLst>
                                            <p:cond delay="0"/>
                                          </p:stCondLst>
                                        </p:cTn>
                                        <p:tgtEl>
                                          <p:spTgt spid="16"/>
                                        </p:tgtEl>
                                        <p:attrNameLst>
                                          <p:attrName>style.visibility</p:attrName>
                                        </p:attrNameLst>
                                      </p:cBhvr>
                                      <p:to>
                                        <p:strVal val="visible"/>
                                      </p:to>
                                    </p:set>
                                    <p:animEffect transition="in" filter="fade">
                                      <p:cBhvr>
                                        <p:cTn id="56" dur="650" fill="hold"/>
                                        <p:tgtEl>
                                          <p:spTgt spid="16"/>
                                        </p:tgtEl>
                                      </p:cBhvr>
                                    </p:animEffect>
                                    <p:anim calcmode="lin" valueType="num">
                                      <p:cBhvr additive="base">
                                        <p:cTn id="57" dur="650" fill="hold"/>
                                        <p:tgtEl>
                                          <p:spTgt spid="16"/>
                                        </p:tgtEl>
                                        <p:attrNameLst>
                                          <p:attrName>ppt_x</p:attrName>
                                        </p:attrNameLst>
                                      </p:cBhvr>
                                      <p:tavLst>
                                        <p:tav tm="0">
                                          <p:val>
                                            <p:strVal val="#ppt_x"/>
                                          </p:val>
                                        </p:tav>
                                        <p:tav tm="100000">
                                          <p:val>
                                            <p:strVal val="#ppt_x"/>
                                          </p:val>
                                        </p:tav>
                                      </p:tavLst>
                                    </p:anim>
                                    <p:anim calcmode="lin" valueType="num">
                                      <p:cBhvr additive="base">
                                        <p:cTn id="58" dur="650" fill="hold"/>
                                        <p:tgtEl>
                                          <p:spTgt spid="16"/>
                                        </p:tgtEl>
                                        <p:attrNameLst>
                                          <p:attrName>ppt_y</p:attrName>
                                        </p:attrNameLst>
                                      </p:cBhvr>
                                      <p:tavLst>
                                        <p:tav tm="0">
                                          <p:val>
                                            <p:strVal val="#ppt_y+.06"/>
                                          </p:val>
                                        </p:tav>
                                        <p:tav tm="100000">
                                          <p:val>
                                            <p:strVal val="#ppt_y"/>
                                          </p:val>
                                        </p:tav>
                                      </p:tavLst>
                                    </p:anim>
                                  </p:childTnLst>
                                </p:cTn>
                              </p:par>
                              <p:par>
                                <p:cTn id="59" presetID="42" presetClass="entr" presetSubtype="0" decel="100000" fill="hold" grpId="0" nodeType="withEffect">
                                  <p:stCondLst>
                                    <p:cond delay="140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650" fill="hold"/>
                                        <p:tgtEl>
                                          <p:spTgt spid="17"/>
                                        </p:tgtEl>
                                      </p:cBhvr>
                                    </p:animEffect>
                                    <p:anim calcmode="lin" valueType="num">
                                      <p:cBhvr additive="base">
                                        <p:cTn id="62" dur="650" fill="hold"/>
                                        <p:tgtEl>
                                          <p:spTgt spid="17"/>
                                        </p:tgtEl>
                                        <p:attrNameLst>
                                          <p:attrName>ppt_x</p:attrName>
                                        </p:attrNameLst>
                                      </p:cBhvr>
                                      <p:tavLst>
                                        <p:tav tm="0">
                                          <p:val>
                                            <p:strVal val="#ppt_x"/>
                                          </p:val>
                                        </p:tav>
                                        <p:tav tm="100000">
                                          <p:val>
                                            <p:strVal val="#ppt_x"/>
                                          </p:val>
                                        </p:tav>
                                      </p:tavLst>
                                    </p:anim>
                                    <p:anim calcmode="lin" valueType="num">
                                      <p:cBhvr additive="base">
                                        <p:cTn id="63" dur="650" fill="hold"/>
                                        <p:tgtEl>
                                          <p:spTgt spid="17"/>
                                        </p:tgtEl>
                                        <p:attrNameLst>
                                          <p:attrName>ppt_y</p:attrName>
                                        </p:attrNameLst>
                                      </p:cBhvr>
                                      <p:tavLst>
                                        <p:tav tm="0">
                                          <p:val>
                                            <p:strVal val="#ppt_y+.06"/>
                                          </p:val>
                                        </p:tav>
                                        <p:tav tm="100000">
                                          <p:val>
                                            <p:strVal val="#ppt_y"/>
                                          </p:val>
                                        </p:tav>
                                      </p:tavLst>
                                    </p:anim>
                                  </p:childTnLst>
                                </p:cTn>
                              </p:par>
                              <p:par>
                                <p:cTn id="64" presetID="42" presetClass="entr" presetSubtype="0" decel="100000" fill="hold" grpId="0" nodeType="withEffect">
                                  <p:stCondLst>
                                    <p:cond delay="155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650" fill="hold"/>
                                        <p:tgtEl>
                                          <p:spTgt spid="18"/>
                                        </p:tgtEl>
                                      </p:cBhvr>
                                    </p:animEffect>
                                    <p:anim calcmode="lin" valueType="num">
                                      <p:cBhvr additive="base">
                                        <p:cTn id="67" dur="650" fill="hold"/>
                                        <p:tgtEl>
                                          <p:spTgt spid="18"/>
                                        </p:tgtEl>
                                        <p:attrNameLst>
                                          <p:attrName>ppt_x</p:attrName>
                                        </p:attrNameLst>
                                      </p:cBhvr>
                                      <p:tavLst>
                                        <p:tav tm="0">
                                          <p:val>
                                            <p:strVal val="#ppt_x"/>
                                          </p:val>
                                        </p:tav>
                                        <p:tav tm="100000">
                                          <p:val>
                                            <p:strVal val="#ppt_x"/>
                                          </p:val>
                                        </p:tav>
                                      </p:tavLst>
                                    </p:anim>
                                    <p:anim calcmode="lin" valueType="num">
                                      <p:cBhvr additive="base">
                                        <p:cTn id="68" dur="650" fill="hold"/>
                                        <p:tgtEl>
                                          <p:spTgt spid="18"/>
                                        </p:tgtEl>
                                        <p:attrNameLst>
                                          <p:attrName>ppt_y</p:attrName>
                                        </p:attrNameLst>
                                      </p:cBhvr>
                                      <p:tavLst>
                                        <p:tav tm="0">
                                          <p:val>
                                            <p:strVal val="#ppt_y+.06"/>
                                          </p:val>
                                        </p:tav>
                                        <p:tav tm="100000">
                                          <p:val>
                                            <p:strVal val="#ppt_y"/>
                                          </p:val>
                                        </p:tav>
                                      </p:tavLst>
                                    </p:anim>
                                  </p:childTnLst>
                                </p:cTn>
                              </p:par>
                              <p:par>
                                <p:cTn id="69" presetID="42" presetClass="entr" presetSubtype="0" decel="100000" fill="hold" grpId="0" nodeType="withEffect">
                                  <p:stCondLst>
                                    <p:cond delay="1550"/>
                                  </p:stCondLst>
                                  <p:childTnLst>
                                    <p:set>
                                      <p:cBhvr>
                                        <p:cTn id="70" dur="1" fill="hold">
                                          <p:stCondLst>
                                            <p:cond delay="0"/>
                                          </p:stCondLst>
                                        </p:cTn>
                                        <p:tgtEl>
                                          <p:spTgt spid="19"/>
                                        </p:tgtEl>
                                        <p:attrNameLst>
                                          <p:attrName>style.visibility</p:attrName>
                                        </p:attrNameLst>
                                      </p:cBhvr>
                                      <p:to>
                                        <p:strVal val="visible"/>
                                      </p:to>
                                    </p:set>
                                    <p:animEffect transition="in" filter="fade">
                                      <p:cBhvr>
                                        <p:cTn id="71" dur="650" fill="hold"/>
                                        <p:tgtEl>
                                          <p:spTgt spid="19"/>
                                        </p:tgtEl>
                                      </p:cBhvr>
                                    </p:animEffect>
                                    <p:anim calcmode="lin" valueType="num">
                                      <p:cBhvr additive="base">
                                        <p:cTn id="72" dur="650" fill="hold"/>
                                        <p:tgtEl>
                                          <p:spTgt spid="19"/>
                                        </p:tgtEl>
                                        <p:attrNameLst>
                                          <p:attrName>ppt_x</p:attrName>
                                        </p:attrNameLst>
                                      </p:cBhvr>
                                      <p:tavLst>
                                        <p:tav tm="0">
                                          <p:val>
                                            <p:strVal val="#ppt_x"/>
                                          </p:val>
                                        </p:tav>
                                        <p:tav tm="100000">
                                          <p:val>
                                            <p:strVal val="#ppt_x"/>
                                          </p:val>
                                        </p:tav>
                                      </p:tavLst>
                                    </p:anim>
                                    <p:anim calcmode="lin" valueType="num">
                                      <p:cBhvr additive="base">
                                        <p:cTn id="73" dur="650" fill="hold"/>
                                        <p:tgtEl>
                                          <p:spTgt spid="19"/>
                                        </p:tgtEl>
                                        <p:attrNameLst>
                                          <p:attrName>ppt_y</p:attrName>
                                        </p:attrNameLst>
                                      </p:cBhvr>
                                      <p:tavLst>
                                        <p:tav tm="0">
                                          <p:val>
                                            <p:strVal val="#ppt_y+.06"/>
                                          </p:val>
                                        </p:tav>
                                        <p:tav tm="100000">
                                          <p:val>
                                            <p:strVal val="#ppt_y"/>
                                          </p:val>
                                        </p:tav>
                                      </p:tavLst>
                                    </p:anim>
                                  </p:childTnLst>
                                </p:cTn>
                              </p:par>
                              <p:par>
                                <p:cTn id="74" presetID="42" presetClass="entr" presetSubtype="0" decel="100000" fill="hold" grpId="0" nodeType="withEffect">
                                  <p:stCondLst>
                                    <p:cond delay="155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650" fill="hold"/>
                                        <p:tgtEl>
                                          <p:spTgt spid="20"/>
                                        </p:tgtEl>
                                      </p:cBhvr>
                                    </p:animEffect>
                                    <p:anim calcmode="lin" valueType="num">
                                      <p:cBhvr additive="base">
                                        <p:cTn id="77" dur="650" fill="hold"/>
                                        <p:tgtEl>
                                          <p:spTgt spid="20"/>
                                        </p:tgtEl>
                                        <p:attrNameLst>
                                          <p:attrName>ppt_x</p:attrName>
                                        </p:attrNameLst>
                                      </p:cBhvr>
                                      <p:tavLst>
                                        <p:tav tm="0">
                                          <p:val>
                                            <p:strVal val="#ppt_x"/>
                                          </p:val>
                                        </p:tav>
                                        <p:tav tm="100000">
                                          <p:val>
                                            <p:strVal val="#ppt_x"/>
                                          </p:val>
                                        </p:tav>
                                      </p:tavLst>
                                    </p:anim>
                                    <p:anim calcmode="lin" valueType="num">
                                      <p:cBhvr additive="base">
                                        <p:cTn id="78" dur="650" fill="hold"/>
                                        <p:tgtEl>
                                          <p:spTgt spid="20"/>
                                        </p:tgtEl>
                                        <p:attrNameLst>
                                          <p:attrName>ppt_y</p:attrName>
                                        </p:attrNameLst>
                                      </p:cBhvr>
                                      <p:tavLst>
                                        <p:tav tm="0">
                                          <p:val>
                                            <p:strVal val="#ppt_y+.06"/>
                                          </p:val>
                                        </p:tav>
                                        <p:tav tm="100000">
                                          <p:val>
                                            <p:strVal val="#ppt_y"/>
                                          </p:val>
                                        </p:tav>
                                      </p:tavLst>
                                    </p:anim>
                                  </p:childTnLst>
                                </p:cTn>
                              </p:par>
                              <p:par>
                                <p:cTn id="79" presetID="42" presetClass="entr" presetSubtype="0" decel="100000" fill="hold" grpId="0" nodeType="withEffect">
                                  <p:stCondLst>
                                    <p:cond delay="1700"/>
                                  </p:stCondLst>
                                  <p:childTnLst>
                                    <p:set>
                                      <p:cBhvr>
                                        <p:cTn id="80" dur="1" fill="hold">
                                          <p:stCondLst>
                                            <p:cond delay="0"/>
                                          </p:stCondLst>
                                        </p:cTn>
                                        <p:tgtEl>
                                          <p:spTgt spid="21"/>
                                        </p:tgtEl>
                                        <p:attrNameLst>
                                          <p:attrName>style.visibility</p:attrName>
                                        </p:attrNameLst>
                                      </p:cBhvr>
                                      <p:to>
                                        <p:strVal val="visible"/>
                                      </p:to>
                                    </p:set>
                                    <p:animEffect transition="in" filter="fade">
                                      <p:cBhvr>
                                        <p:cTn id="81" dur="650" fill="hold"/>
                                        <p:tgtEl>
                                          <p:spTgt spid="21"/>
                                        </p:tgtEl>
                                      </p:cBhvr>
                                    </p:animEffect>
                                    <p:anim calcmode="lin" valueType="num">
                                      <p:cBhvr additive="base">
                                        <p:cTn id="82" dur="650" fill="hold"/>
                                        <p:tgtEl>
                                          <p:spTgt spid="21"/>
                                        </p:tgtEl>
                                        <p:attrNameLst>
                                          <p:attrName>ppt_x</p:attrName>
                                        </p:attrNameLst>
                                      </p:cBhvr>
                                      <p:tavLst>
                                        <p:tav tm="0">
                                          <p:val>
                                            <p:strVal val="#ppt_x"/>
                                          </p:val>
                                        </p:tav>
                                        <p:tav tm="100000">
                                          <p:val>
                                            <p:strVal val="#ppt_x"/>
                                          </p:val>
                                        </p:tav>
                                      </p:tavLst>
                                    </p:anim>
                                    <p:anim calcmode="lin" valueType="num">
                                      <p:cBhvr additive="base">
                                        <p:cTn id="83" dur="650" fill="hold"/>
                                        <p:tgtEl>
                                          <p:spTgt spid="21"/>
                                        </p:tgtEl>
                                        <p:attrNameLst>
                                          <p:attrName>ppt_y</p:attrName>
                                        </p:attrNameLst>
                                      </p:cBhvr>
                                      <p:tavLst>
                                        <p:tav tm="0">
                                          <p:val>
                                            <p:strVal val="#ppt_y+.06"/>
                                          </p:val>
                                        </p:tav>
                                        <p:tav tm="100000">
                                          <p:val>
                                            <p:strVal val="#ppt_y"/>
                                          </p:val>
                                        </p:tav>
                                      </p:tavLst>
                                    </p:anim>
                                  </p:childTnLst>
                                </p:cTn>
                              </p:par>
                              <p:par>
                                <p:cTn id="84" presetID="42" presetClass="entr" presetSubtype="0" decel="100000" fill="hold" grpId="0" nodeType="withEffect">
                                  <p:stCondLst>
                                    <p:cond delay="1700"/>
                                  </p:stCondLst>
                                  <p:childTnLst>
                                    <p:set>
                                      <p:cBhvr>
                                        <p:cTn id="85" dur="1" fill="hold">
                                          <p:stCondLst>
                                            <p:cond delay="0"/>
                                          </p:stCondLst>
                                        </p:cTn>
                                        <p:tgtEl>
                                          <p:spTgt spid="22"/>
                                        </p:tgtEl>
                                        <p:attrNameLst>
                                          <p:attrName>style.visibility</p:attrName>
                                        </p:attrNameLst>
                                      </p:cBhvr>
                                      <p:to>
                                        <p:strVal val="visible"/>
                                      </p:to>
                                    </p:set>
                                    <p:animEffect transition="in" filter="fade">
                                      <p:cBhvr>
                                        <p:cTn id="86" dur="650" fill="hold"/>
                                        <p:tgtEl>
                                          <p:spTgt spid="22"/>
                                        </p:tgtEl>
                                      </p:cBhvr>
                                    </p:animEffect>
                                    <p:anim calcmode="lin" valueType="num">
                                      <p:cBhvr additive="base">
                                        <p:cTn id="87" dur="650" fill="hold"/>
                                        <p:tgtEl>
                                          <p:spTgt spid="22"/>
                                        </p:tgtEl>
                                        <p:attrNameLst>
                                          <p:attrName>ppt_x</p:attrName>
                                        </p:attrNameLst>
                                      </p:cBhvr>
                                      <p:tavLst>
                                        <p:tav tm="0">
                                          <p:val>
                                            <p:strVal val="#ppt_x"/>
                                          </p:val>
                                        </p:tav>
                                        <p:tav tm="100000">
                                          <p:val>
                                            <p:strVal val="#ppt_x"/>
                                          </p:val>
                                        </p:tav>
                                      </p:tavLst>
                                    </p:anim>
                                    <p:anim calcmode="lin" valueType="num">
                                      <p:cBhvr additive="base">
                                        <p:cTn id="88" dur="650" fill="hold"/>
                                        <p:tgtEl>
                                          <p:spTgt spid="22"/>
                                        </p:tgtEl>
                                        <p:attrNameLst>
                                          <p:attrName>ppt_y</p:attrName>
                                        </p:attrNameLst>
                                      </p:cBhvr>
                                      <p:tavLst>
                                        <p:tav tm="0">
                                          <p:val>
                                            <p:strVal val="#ppt_y+.06"/>
                                          </p:val>
                                        </p:tav>
                                        <p:tav tm="100000">
                                          <p:val>
                                            <p:strVal val="#ppt_y"/>
                                          </p:val>
                                        </p:tav>
                                      </p:tavLst>
                                    </p:anim>
                                  </p:childTnLst>
                                </p:cTn>
                              </p:par>
                              <p:par>
                                <p:cTn id="89" presetID="42" presetClass="entr" presetSubtype="0" decel="100000" fill="hold" grpId="0" nodeType="withEffect">
                                  <p:stCondLst>
                                    <p:cond delay="1700"/>
                                  </p:stCondLst>
                                  <p:childTnLst>
                                    <p:set>
                                      <p:cBhvr>
                                        <p:cTn id="90" dur="1" fill="hold">
                                          <p:stCondLst>
                                            <p:cond delay="0"/>
                                          </p:stCondLst>
                                        </p:cTn>
                                        <p:tgtEl>
                                          <p:spTgt spid="23"/>
                                        </p:tgtEl>
                                        <p:attrNameLst>
                                          <p:attrName>style.visibility</p:attrName>
                                        </p:attrNameLst>
                                      </p:cBhvr>
                                      <p:to>
                                        <p:strVal val="visible"/>
                                      </p:to>
                                    </p:set>
                                    <p:animEffect transition="in" filter="fade">
                                      <p:cBhvr>
                                        <p:cTn id="91" dur="650" fill="hold"/>
                                        <p:tgtEl>
                                          <p:spTgt spid="23"/>
                                        </p:tgtEl>
                                      </p:cBhvr>
                                    </p:animEffect>
                                    <p:anim calcmode="lin" valueType="num">
                                      <p:cBhvr additive="base">
                                        <p:cTn id="92" dur="650" fill="hold"/>
                                        <p:tgtEl>
                                          <p:spTgt spid="23"/>
                                        </p:tgtEl>
                                        <p:attrNameLst>
                                          <p:attrName>ppt_x</p:attrName>
                                        </p:attrNameLst>
                                      </p:cBhvr>
                                      <p:tavLst>
                                        <p:tav tm="0">
                                          <p:val>
                                            <p:strVal val="#ppt_x"/>
                                          </p:val>
                                        </p:tav>
                                        <p:tav tm="100000">
                                          <p:val>
                                            <p:strVal val="#ppt_x"/>
                                          </p:val>
                                        </p:tav>
                                      </p:tavLst>
                                    </p:anim>
                                    <p:anim calcmode="lin" valueType="num">
                                      <p:cBhvr additive="base">
                                        <p:cTn id="93" dur="650" fill="hold"/>
                                        <p:tgtEl>
                                          <p:spTgt spid="23"/>
                                        </p:tgtEl>
                                        <p:attrNameLst>
                                          <p:attrName>ppt_y</p:attrName>
                                        </p:attrNameLst>
                                      </p:cBhvr>
                                      <p:tavLst>
                                        <p:tav tm="0">
                                          <p:val>
                                            <p:strVal val="#ppt_y+.06"/>
                                          </p:val>
                                        </p:tav>
                                        <p:tav tm="100000">
                                          <p:val>
                                            <p:strVal val="#ppt_y"/>
                                          </p:val>
                                        </p:tav>
                                      </p:tavLst>
                                    </p:anim>
                                  </p:childTnLst>
                                </p:cTn>
                              </p:par>
                              <p:par>
                                <p:cTn id="94" presetID="42" presetClass="entr" presetSubtype="0" decel="100000" fill="hold" grpId="0" nodeType="withEffect">
                                  <p:stCondLst>
                                    <p:cond delay="1850"/>
                                  </p:stCondLst>
                                  <p:childTnLst>
                                    <p:set>
                                      <p:cBhvr>
                                        <p:cTn id="95" dur="1" fill="hold">
                                          <p:stCondLst>
                                            <p:cond delay="0"/>
                                          </p:stCondLst>
                                        </p:cTn>
                                        <p:tgtEl>
                                          <p:spTgt spid="24"/>
                                        </p:tgtEl>
                                        <p:attrNameLst>
                                          <p:attrName>style.visibility</p:attrName>
                                        </p:attrNameLst>
                                      </p:cBhvr>
                                      <p:to>
                                        <p:strVal val="visible"/>
                                      </p:to>
                                    </p:set>
                                    <p:animEffect transition="in" filter="fade">
                                      <p:cBhvr>
                                        <p:cTn id="96" dur="650" fill="hold"/>
                                        <p:tgtEl>
                                          <p:spTgt spid="24"/>
                                        </p:tgtEl>
                                      </p:cBhvr>
                                    </p:animEffect>
                                    <p:anim calcmode="lin" valueType="num">
                                      <p:cBhvr additive="base">
                                        <p:cTn id="97" dur="650" fill="hold"/>
                                        <p:tgtEl>
                                          <p:spTgt spid="24"/>
                                        </p:tgtEl>
                                        <p:attrNameLst>
                                          <p:attrName>ppt_x</p:attrName>
                                        </p:attrNameLst>
                                      </p:cBhvr>
                                      <p:tavLst>
                                        <p:tav tm="0">
                                          <p:val>
                                            <p:strVal val="#ppt_x"/>
                                          </p:val>
                                        </p:tav>
                                        <p:tav tm="100000">
                                          <p:val>
                                            <p:strVal val="#ppt_x"/>
                                          </p:val>
                                        </p:tav>
                                      </p:tavLst>
                                    </p:anim>
                                    <p:anim calcmode="lin" valueType="num">
                                      <p:cBhvr additive="base">
                                        <p:cTn id="98" dur="650" fill="hold"/>
                                        <p:tgtEl>
                                          <p:spTgt spid="24"/>
                                        </p:tgtEl>
                                        <p:attrNameLst>
                                          <p:attrName>ppt_y</p:attrName>
                                        </p:attrNameLst>
                                      </p:cBhvr>
                                      <p:tavLst>
                                        <p:tav tm="0">
                                          <p:val>
                                            <p:strVal val="#ppt_y+.06"/>
                                          </p:val>
                                        </p:tav>
                                        <p:tav tm="100000">
                                          <p:val>
                                            <p:strVal val="#ppt_y"/>
                                          </p:val>
                                        </p:tav>
                                      </p:tavLst>
                                    </p:anim>
                                  </p:childTnLst>
                                </p:cTn>
                              </p:par>
                              <p:par>
                                <p:cTn id="99" presetID="42" presetClass="entr" presetSubtype="0" decel="100000" fill="hold" grpId="0" nodeType="withEffect">
                                  <p:stCondLst>
                                    <p:cond delay="1850"/>
                                  </p:stCondLst>
                                  <p:childTnLst>
                                    <p:set>
                                      <p:cBhvr>
                                        <p:cTn id="100" dur="1" fill="hold">
                                          <p:stCondLst>
                                            <p:cond delay="0"/>
                                          </p:stCondLst>
                                        </p:cTn>
                                        <p:tgtEl>
                                          <p:spTgt spid="25"/>
                                        </p:tgtEl>
                                        <p:attrNameLst>
                                          <p:attrName>style.visibility</p:attrName>
                                        </p:attrNameLst>
                                      </p:cBhvr>
                                      <p:to>
                                        <p:strVal val="visible"/>
                                      </p:to>
                                    </p:set>
                                    <p:animEffect transition="in" filter="fade">
                                      <p:cBhvr>
                                        <p:cTn id="101" dur="650" fill="hold"/>
                                        <p:tgtEl>
                                          <p:spTgt spid="25"/>
                                        </p:tgtEl>
                                      </p:cBhvr>
                                    </p:animEffect>
                                    <p:anim calcmode="lin" valueType="num">
                                      <p:cBhvr additive="base">
                                        <p:cTn id="102" dur="650" fill="hold"/>
                                        <p:tgtEl>
                                          <p:spTgt spid="25"/>
                                        </p:tgtEl>
                                        <p:attrNameLst>
                                          <p:attrName>ppt_x</p:attrName>
                                        </p:attrNameLst>
                                      </p:cBhvr>
                                      <p:tavLst>
                                        <p:tav tm="0">
                                          <p:val>
                                            <p:strVal val="#ppt_x"/>
                                          </p:val>
                                        </p:tav>
                                        <p:tav tm="100000">
                                          <p:val>
                                            <p:strVal val="#ppt_x"/>
                                          </p:val>
                                        </p:tav>
                                      </p:tavLst>
                                    </p:anim>
                                    <p:anim calcmode="lin" valueType="num">
                                      <p:cBhvr additive="base">
                                        <p:cTn id="103" dur="650" fill="hold"/>
                                        <p:tgtEl>
                                          <p:spTgt spid="25"/>
                                        </p:tgtEl>
                                        <p:attrNameLst>
                                          <p:attrName>ppt_y</p:attrName>
                                        </p:attrNameLst>
                                      </p:cBhvr>
                                      <p:tavLst>
                                        <p:tav tm="0">
                                          <p:val>
                                            <p:strVal val="#ppt_y+.06"/>
                                          </p:val>
                                        </p:tav>
                                        <p:tav tm="100000">
                                          <p:val>
                                            <p:strVal val="#ppt_y"/>
                                          </p:val>
                                        </p:tav>
                                      </p:tavLst>
                                    </p:anim>
                                  </p:childTnLst>
                                </p:cTn>
                              </p:par>
                              <p:par>
                                <p:cTn id="104" presetID="42" presetClass="entr" presetSubtype="0" decel="100000" fill="hold" grpId="0" nodeType="withEffect">
                                  <p:stCondLst>
                                    <p:cond delay="1850"/>
                                  </p:stCondLst>
                                  <p:childTnLst>
                                    <p:set>
                                      <p:cBhvr>
                                        <p:cTn id="105" dur="1" fill="hold">
                                          <p:stCondLst>
                                            <p:cond delay="0"/>
                                          </p:stCondLst>
                                        </p:cTn>
                                        <p:tgtEl>
                                          <p:spTgt spid="26"/>
                                        </p:tgtEl>
                                        <p:attrNameLst>
                                          <p:attrName>style.visibility</p:attrName>
                                        </p:attrNameLst>
                                      </p:cBhvr>
                                      <p:to>
                                        <p:strVal val="visible"/>
                                      </p:to>
                                    </p:set>
                                    <p:animEffect transition="in" filter="fade">
                                      <p:cBhvr>
                                        <p:cTn id="106" dur="650" fill="hold"/>
                                        <p:tgtEl>
                                          <p:spTgt spid="26"/>
                                        </p:tgtEl>
                                      </p:cBhvr>
                                    </p:animEffect>
                                    <p:anim calcmode="lin" valueType="num">
                                      <p:cBhvr additive="base">
                                        <p:cTn id="107" dur="650" fill="hold"/>
                                        <p:tgtEl>
                                          <p:spTgt spid="26"/>
                                        </p:tgtEl>
                                        <p:attrNameLst>
                                          <p:attrName>ppt_x</p:attrName>
                                        </p:attrNameLst>
                                      </p:cBhvr>
                                      <p:tavLst>
                                        <p:tav tm="0">
                                          <p:val>
                                            <p:strVal val="#ppt_x"/>
                                          </p:val>
                                        </p:tav>
                                        <p:tav tm="100000">
                                          <p:val>
                                            <p:strVal val="#ppt_x"/>
                                          </p:val>
                                        </p:tav>
                                      </p:tavLst>
                                    </p:anim>
                                    <p:anim calcmode="lin" valueType="num">
                                      <p:cBhvr additive="base">
                                        <p:cTn id="108" dur="650" fill="hold"/>
                                        <p:tgtEl>
                                          <p:spTgt spid="26"/>
                                        </p:tgtEl>
                                        <p:attrNameLst>
                                          <p:attrName>ppt_y</p:attrName>
                                        </p:attrNameLst>
                                      </p:cBhvr>
                                      <p:tavLst>
                                        <p:tav tm="0">
                                          <p:val>
                                            <p:strVal val="#ppt_y+.06"/>
                                          </p:val>
                                        </p:tav>
                                        <p:tav tm="100000">
                                          <p:val>
                                            <p:strVal val="#ppt_y"/>
                                          </p:val>
                                        </p:tav>
                                      </p:tavLst>
                                    </p:anim>
                                  </p:childTnLst>
                                </p:cTn>
                              </p:par>
                              <p:par>
                                <p:cTn id="109" presetID="42" presetClass="entr" presetSubtype="0" decel="100000" fill="hold" grpId="0" nodeType="withEffect">
                                  <p:stCondLst>
                                    <p:cond delay="2000"/>
                                  </p:stCondLst>
                                  <p:childTnLst>
                                    <p:set>
                                      <p:cBhvr>
                                        <p:cTn id="110" dur="1" fill="hold">
                                          <p:stCondLst>
                                            <p:cond delay="0"/>
                                          </p:stCondLst>
                                        </p:cTn>
                                        <p:tgtEl>
                                          <p:spTgt spid="27"/>
                                        </p:tgtEl>
                                        <p:attrNameLst>
                                          <p:attrName>style.visibility</p:attrName>
                                        </p:attrNameLst>
                                      </p:cBhvr>
                                      <p:to>
                                        <p:strVal val="visible"/>
                                      </p:to>
                                    </p:set>
                                    <p:animEffect transition="in" filter="fade">
                                      <p:cBhvr>
                                        <p:cTn id="111" dur="650" fill="hold"/>
                                        <p:tgtEl>
                                          <p:spTgt spid="27"/>
                                        </p:tgtEl>
                                      </p:cBhvr>
                                    </p:animEffect>
                                    <p:anim calcmode="lin" valueType="num">
                                      <p:cBhvr additive="base">
                                        <p:cTn id="112" dur="650" fill="hold"/>
                                        <p:tgtEl>
                                          <p:spTgt spid="27"/>
                                        </p:tgtEl>
                                        <p:attrNameLst>
                                          <p:attrName>ppt_x</p:attrName>
                                        </p:attrNameLst>
                                      </p:cBhvr>
                                      <p:tavLst>
                                        <p:tav tm="0">
                                          <p:val>
                                            <p:strVal val="#ppt_x"/>
                                          </p:val>
                                        </p:tav>
                                        <p:tav tm="100000">
                                          <p:val>
                                            <p:strVal val="#ppt_x"/>
                                          </p:val>
                                        </p:tav>
                                      </p:tavLst>
                                    </p:anim>
                                    <p:anim calcmode="lin" valueType="num">
                                      <p:cBhvr additive="base">
                                        <p:cTn id="113" dur="650" fill="hold"/>
                                        <p:tgtEl>
                                          <p:spTgt spid="27"/>
                                        </p:tgtEl>
                                        <p:attrNameLst>
                                          <p:attrName>ppt_y</p:attrName>
                                        </p:attrNameLst>
                                      </p:cBhvr>
                                      <p:tavLst>
                                        <p:tav tm="0">
                                          <p:val>
                                            <p:strVal val="#ppt_y+.06"/>
                                          </p:val>
                                        </p:tav>
                                        <p:tav tm="100000">
                                          <p:val>
                                            <p:strVal val="#ppt_y"/>
                                          </p:val>
                                        </p:tav>
                                      </p:tavLst>
                                    </p:anim>
                                  </p:childTnLst>
                                </p:cTn>
                              </p:par>
                              <p:par>
                                <p:cTn id="114" presetID="42" presetClass="entr" presetSubtype="0" decel="100000" fill="hold" grpId="0" nodeType="withEffect">
                                  <p:stCondLst>
                                    <p:cond delay="2000"/>
                                  </p:stCondLst>
                                  <p:childTnLst>
                                    <p:set>
                                      <p:cBhvr>
                                        <p:cTn id="115" dur="1" fill="hold">
                                          <p:stCondLst>
                                            <p:cond delay="0"/>
                                          </p:stCondLst>
                                        </p:cTn>
                                        <p:tgtEl>
                                          <p:spTgt spid="28"/>
                                        </p:tgtEl>
                                        <p:attrNameLst>
                                          <p:attrName>style.visibility</p:attrName>
                                        </p:attrNameLst>
                                      </p:cBhvr>
                                      <p:to>
                                        <p:strVal val="visible"/>
                                      </p:to>
                                    </p:set>
                                    <p:animEffect transition="in" filter="fade">
                                      <p:cBhvr>
                                        <p:cTn id="116" dur="650" fill="hold"/>
                                        <p:tgtEl>
                                          <p:spTgt spid="28"/>
                                        </p:tgtEl>
                                      </p:cBhvr>
                                    </p:animEffect>
                                    <p:anim calcmode="lin" valueType="num">
                                      <p:cBhvr additive="base">
                                        <p:cTn id="117" dur="650" fill="hold"/>
                                        <p:tgtEl>
                                          <p:spTgt spid="28"/>
                                        </p:tgtEl>
                                        <p:attrNameLst>
                                          <p:attrName>ppt_x</p:attrName>
                                        </p:attrNameLst>
                                      </p:cBhvr>
                                      <p:tavLst>
                                        <p:tav tm="0">
                                          <p:val>
                                            <p:strVal val="#ppt_x"/>
                                          </p:val>
                                        </p:tav>
                                        <p:tav tm="100000">
                                          <p:val>
                                            <p:strVal val="#ppt_x"/>
                                          </p:val>
                                        </p:tav>
                                      </p:tavLst>
                                    </p:anim>
                                    <p:anim calcmode="lin" valueType="num">
                                      <p:cBhvr additive="base">
                                        <p:cTn id="118" dur="650" fill="hold"/>
                                        <p:tgtEl>
                                          <p:spTgt spid="28"/>
                                        </p:tgtEl>
                                        <p:attrNameLst>
                                          <p:attrName>ppt_y</p:attrName>
                                        </p:attrNameLst>
                                      </p:cBhvr>
                                      <p:tavLst>
                                        <p:tav tm="0">
                                          <p:val>
                                            <p:strVal val="#ppt_y+.06"/>
                                          </p:val>
                                        </p:tav>
                                        <p:tav tm="100000">
                                          <p:val>
                                            <p:strVal val="#ppt_y"/>
                                          </p:val>
                                        </p:tav>
                                      </p:tavLst>
                                    </p:anim>
                                  </p:childTnLst>
                                </p:cTn>
                              </p:par>
                              <p:par>
                                <p:cTn id="119" presetID="42" presetClass="entr" presetSubtype="0" decel="100000" fill="hold" grpId="0" nodeType="withEffect">
                                  <p:stCondLst>
                                    <p:cond delay="2000"/>
                                  </p:stCondLst>
                                  <p:childTnLst>
                                    <p:set>
                                      <p:cBhvr>
                                        <p:cTn id="120" dur="1" fill="hold">
                                          <p:stCondLst>
                                            <p:cond delay="0"/>
                                          </p:stCondLst>
                                        </p:cTn>
                                        <p:tgtEl>
                                          <p:spTgt spid="29"/>
                                        </p:tgtEl>
                                        <p:attrNameLst>
                                          <p:attrName>style.visibility</p:attrName>
                                        </p:attrNameLst>
                                      </p:cBhvr>
                                      <p:to>
                                        <p:strVal val="visible"/>
                                      </p:to>
                                    </p:set>
                                    <p:animEffect transition="in" filter="fade">
                                      <p:cBhvr>
                                        <p:cTn id="121" dur="650" fill="hold"/>
                                        <p:tgtEl>
                                          <p:spTgt spid="29"/>
                                        </p:tgtEl>
                                      </p:cBhvr>
                                    </p:animEffect>
                                    <p:anim calcmode="lin" valueType="num">
                                      <p:cBhvr additive="base">
                                        <p:cTn id="122" dur="650" fill="hold"/>
                                        <p:tgtEl>
                                          <p:spTgt spid="29"/>
                                        </p:tgtEl>
                                        <p:attrNameLst>
                                          <p:attrName>ppt_x</p:attrName>
                                        </p:attrNameLst>
                                      </p:cBhvr>
                                      <p:tavLst>
                                        <p:tav tm="0">
                                          <p:val>
                                            <p:strVal val="#ppt_x"/>
                                          </p:val>
                                        </p:tav>
                                        <p:tav tm="100000">
                                          <p:val>
                                            <p:strVal val="#ppt_x"/>
                                          </p:val>
                                        </p:tav>
                                      </p:tavLst>
                                    </p:anim>
                                    <p:anim calcmode="lin" valueType="num">
                                      <p:cBhvr additive="base">
                                        <p:cTn id="123" dur="650" fill="hold"/>
                                        <p:tgtEl>
                                          <p:spTgt spid="29"/>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9CD848"/>
                </a:solidFill>
                <a:latin typeface="Segoe UI Semibold"/>
              </a:rPr>
              <a:t>DESAFIO FINAL</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O que cada equipe entrega</a:t>
            </a:r>
          </a:p>
        </p:txBody>
      </p:sp>
      <p:sp>
        <p:nvSpPr>
          <p:cNvPr id="6" name="Rounded Rectangle 5"/>
          <p:cNvSpPr/>
          <p:nvPr/>
        </p:nvSpPr>
        <p:spPr>
          <a:xfrm>
            <a:off x="548640" y="1508760"/>
            <a:ext cx="2377440" cy="731520"/>
          </a:xfrm>
          <a:prstGeom prst="roundRect">
            <a:avLst>
              <a:gd name="adj" fmla="val 30000"/>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700" b="1" i="0">
                <a:solidFill>
                  <a:srgbClr val="1A1A1A"/>
                </a:solidFill>
                <a:latin typeface="Segoe UI Semibold"/>
              </a:rPr>
              <a:t>Empatizar</a:t>
            </a:r>
          </a:p>
        </p:txBody>
      </p:sp>
      <p:sp>
        <p:nvSpPr>
          <p:cNvPr id="7" name="Rounded Rectangle 6"/>
          <p:cNvSpPr/>
          <p:nvPr/>
        </p:nvSpPr>
        <p:spPr>
          <a:xfrm>
            <a:off x="3063240" y="1508760"/>
            <a:ext cx="8577072" cy="731520"/>
          </a:xfrm>
          <a:prstGeom prst="roundRect">
            <a:avLst>
              <a:gd name="adj" fmla="val 30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3383280" y="1508760"/>
            <a:ext cx="8138160" cy="731520"/>
          </a:xfrm>
          <a:prstGeom prst="rect">
            <a:avLst/>
          </a:prstGeom>
          <a:noFill/>
        </p:spPr>
        <p:txBody>
          <a:bodyPr wrap="square" lIns="36576" tIns="18288" rIns="36576" bIns="18288" anchor="ctr">
            <a:spAutoFit/>
          </a:bodyPr>
          <a:lstStyle/>
          <a:p>
            <a:pPr algn="l"/>
            <a:r>
              <a:rPr sz="1700" b="0" i="0">
                <a:solidFill>
                  <a:srgbClr val="F2F2EC"/>
                </a:solidFill>
                <a:latin typeface="Segoe UI"/>
              </a:rPr>
              <a:t>Matriz CSD atualizada + 3 principais insights da pesquisa</a:t>
            </a:r>
          </a:p>
        </p:txBody>
      </p:sp>
      <p:sp>
        <p:nvSpPr>
          <p:cNvPr id="9" name="Rounded Rectangle 8"/>
          <p:cNvSpPr/>
          <p:nvPr/>
        </p:nvSpPr>
        <p:spPr>
          <a:xfrm>
            <a:off x="548640" y="2395728"/>
            <a:ext cx="2377440" cy="731520"/>
          </a:xfrm>
          <a:prstGeom prst="roundRect">
            <a:avLst>
              <a:gd name="adj" fmla="val 30000"/>
            </a:avLst>
          </a:prstGeom>
          <a:solidFill>
            <a:srgbClr val="4DB35A"/>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700" b="1" i="0">
                <a:solidFill>
                  <a:srgbClr val="1A1A1A"/>
                </a:solidFill>
                <a:latin typeface="Segoe UI Semibold"/>
              </a:rPr>
              <a:t>Definir</a:t>
            </a:r>
          </a:p>
        </p:txBody>
      </p:sp>
      <p:sp>
        <p:nvSpPr>
          <p:cNvPr id="10" name="Rounded Rectangle 9"/>
          <p:cNvSpPr/>
          <p:nvPr/>
        </p:nvSpPr>
        <p:spPr>
          <a:xfrm>
            <a:off x="3063240" y="2395728"/>
            <a:ext cx="8577072" cy="731520"/>
          </a:xfrm>
          <a:prstGeom prst="roundRect">
            <a:avLst>
              <a:gd name="adj" fmla="val 30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3383280" y="2395728"/>
            <a:ext cx="8138160" cy="731520"/>
          </a:xfrm>
          <a:prstGeom prst="rect">
            <a:avLst/>
          </a:prstGeom>
          <a:noFill/>
        </p:spPr>
        <p:txBody>
          <a:bodyPr wrap="square" lIns="36576" tIns="18288" rIns="36576" bIns="18288" anchor="ctr">
            <a:spAutoFit/>
          </a:bodyPr>
          <a:lstStyle/>
          <a:p>
            <a:pPr algn="l"/>
            <a:r>
              <a:rPr sz="1700" b="0" i="0">
                <a:solidFill>
                  <a:srgbClr val="F2F2EC"/>
                </a:solidFill>
                <a:latin typeface="Segoe UI"/>
              </a:rPr>
              <a:t>Persona + Problem Statement + pergunta 'Como poderíamos…?'</a:t>
            </a:r>
          </a:p>
        </p:txBody>
      </p:sp>
      <p:sp>
        <p:nvSpPr>
          <p:cNvPr id="12" name="Rounded Rectangle 11"/>
          <p:cNvSpPr/>
          <p:nvPr/>
        </p:nvSpPr>
        <p:spPr>
          <a:xfrm>
            <a:off x="548640" y="3282696"/>
            <a:ext cx="2377440" cy="731520"/>
          </a:xfrm>
          <a:prstGeom prst="roundRect">
            <a:avLst>
              <a:gd name="adj" fmla="val 30000"/>
            </a:avLst>
          </a:prstGeom>
          <a:solidFill>
            <a:srgbClr val="2FA38A"/>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700" b="1" i="0">
                <a:solidFill>
                  <a:srgbClr val="1A1A1A"/>
                </a:solidFill>
                <a:latin typeface="Segoe UI Semibold"/>
              </a:rPr>
              <a:t>Idear</a:t>
            </a:r>
          </a:p>
        </p:txBody>
      </p:sp>
      <p:sp>
        <p:nvSpPr>
          <p:cNvPr id="13" name="Rounded Rectangle 12"/>
          <p:cNvSpPr/>
          <p:nvPr/>
        </p:nvSpPr>
        <p:spPr>
          <a:xfrm>
            <a:off x="3063240" y="3282696"/>
            <a:ext cx="8577072" cy="731520"/>
          </a:xfrm>
          <a:prstGeom prst="roundRect">
            <a:avLst>
              <a:gd name="adj" fmla="val 30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3383280" y="3282696"/>
            <a:ext cx="8138160" cy="731520"/>
          </a:xfrm>
          <a:prstGeom prst="rect">
            <a:avLst/>
          </a:prstGeom>
          <a:noFill/>
        </p:spPr>
        <p:txBody>
          <a:bodyPr wrap="square" lIns="36576" tIns="18288" rIns="36576" bIns="18288" anchor="ctr">
            <a:spAutoFit/>
          </a:bodyPr>
          <a:lstStyle/>
          <a:p>
            <a:pPr algn="l"/>
            <a:r>
              <a:rPr sz="1700" b="0" i="0">
                <a:solidFill>
                  <a:srgbClr val="F2F2EC"/>
                </a:solidFill>
                <a:latin typeface="Segoe UI"/>
              </a:rPr>
              <a:t>Ao menos 15 ideias + matriz impacto x esforço + ideia escolhida</a:t>
            </a:r>
          </a:p>
        </p:txBody>
      </p:sp>
      <p:sp>
        <p:nvSpPr>
          <p:cNvPr id="15" name="Rounded Rectangle 14"/>
          <p:cNvSpPr/>
          <p:nvPr/>
        </p:nvSpPr>
        <p:spPr>
          <a:xfrm>
            <a:off x="548640" y="4169664"/>
            <a:ext cx="2377440" cy="731520"/>
          </a:xfrm>
          <a:prstGeom prst="roundRect">
            <a:avLst>
              <a:gd name="adj" fmla="val 30000"/>
            </a:avLst>
          </a:prstGeom>
          <a:solidFill>
            <a:srgbClr val="2A9FC0"/>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700" b="1" i="0">
                <a:solidFill>
                  <a:srgbClr val="1A1A1A"/>
                </a:solidFill>
                <a:latin typeface="Segoe UI Semibold"/>
              </a:rPr>
              <a:t>Prototipar</a:t>
            </a:r>
          </a:p>
        </p:txBody>
      </p:sp>
      <p:sp>
        <p:nvSpPr>
          <p:cNvPr id="16" name="Rounded Rectangle 15"/>
          <p:cNvSpPr/>
          <p:nvPr/>
        </p:nvSpPr>
        <p:spPr>
          <a:xfrm>
            <a:off x="3063240" y="4169664"/>
            <a:ext cx="8577072" cy="731520"/>
          </a:xfrm>
          <a:prstGeom prst="roundRect">
            <a:avLst>
              <a:gd name="adj" fmla="val 30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3383280" y="4169664"/>
            <a:ext cx="8138160" cy="731520"/>
          </a:xfrm>
          <a:prstGeom prst="rect">
            <a:avLst/>
          </a:prstGeom>
          <a:noFill/>
        </p:spPr>
        <p:txBody>
          <a:bodyPr wrap="square" lIns="36576" tIns="18288" rIns="36576" bIns="18288" anchor="ctr">
            <a:spAutoFit/>
          </a:bodyPr>
          <a:lstStyle/>
          <a:p>
            <a:pPr algn="l"/>
            <a:r>
              <a:rPr sz="1700" b="0" i="0">
                <a:solidFill>
                  <a:srgbClr val="F2F2EC"/>
                </a:solidFill>
                <a:latin typeface="Segoe UI"/>
              </a:rPr>
              <a:t>Protótipo de baixa fidelidade (papel, encenação ou roteiro)</a:t>
            </a:r>
          </a:p>
        </p:txBody>
      </p:sp>
      <p:sp>
        <p:nvSpPr>
          <p:cNvPr id="18" name="Rounded Rectangle 17"/>
          <p:cNvSpPr/>
          <p:nvPr/>
        </p:nvSpPr>
        <p:spPr>
          <a:xfrm>
            <a:off x="548640" y="5056631"/>
            <a:ext cx="2377440" cy="731520"/>
          </a:xfrm>
          <a:prstGeom prst="roundRect">
            <a:avLst>
              <a:gd name="adj" fmla="val 30000"/>
            </a:avLst>
          </a:prstGeom>
          <a:solidFill>
            <a:srgbClr val="1F7FA8"/>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700" b="1" i="0">
                <a:solidFill>
                  <a:srgbClr val="1A1A1A"/>
                </a:solidFill>
                <a:latin typeface="Segoe UI Semibold"/>
              </a:rPr>
              <a:t>Testar</a:t>
            </a:r>
          </a:p>
        </p:txBody>
      </p:sp>
      <p:sp>
        <p:nvSpPr>
          <p:cNvPr id="19" name="Rounded Rectangle 18"/>
          <p:cNvSpPr/>
          <p:nvPr/>
        </p:nvSpPr>
        <p:spPr>
          <a:xfrm>
            <a:off x="3063240" y="5056631"/>
            <a:ext cx="8577072" cy="731520"/>
          </a:xfrm>
          <a:prstGeom prst="roundRect">
            <a:avLst>
              <a:gd name="adj" fmla="val 30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3383280" y="5056631"/>
            <a:ext cx="8138160" cy="731520"/>
          </a:xfrm>
          <a:prstGeom prst="rect">
            <a:avLst/>
          </a:prstGeom>
          <a:noFill/>
        </p:spPr>
        <p:txBody>
          <a:bodyPr wrap="square" lIns="36576" tIns="18288" rIns="36576" bIns="18288" anchor="ctr">
            <a:spAutoFit/>
          </a:bodyPr>
          <a:lstStyle/>
          <a:p>
            <a:pPr algn="l"/>
            <a:r>
              <a:rPr sz="1700" b="0" i="0">
                <a:solidFill>
                  <a:srgbClr val="F2F2EC"/>
                </a:solidFill>
                <a:latin typeface="Segoe UI"/>
              </a:rPr>
              <a:t>Teste com ao menos 2 pessoas de outra equipe + grade de captura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53" presetClass="entr" presetSubtype="16" decel="100000" fill="hold" grpId="0" nodeType="withEffect">
                                  <p:stCondLst>
                                    <p:cond delay="250"/>
                                  </p:stCondLst>
                                  <p:childTnLst>
                                    <p:set>
                                      <p:cBhvr>
                                        <p:cTn id="9" dur="1" fill="hold">
                                          <p:stCondLst>
                                            <p:cond delay="0"/>
                                          </p:stCondLst>
                                        </p:cTn>
                                        <p:tgtEl>
                                          <p:spTgt spid="6"/>
                                        </p:tgtEl>
                                        <p:attrNameLst>
                                          <p:attrName>style.visibility</p:attrName>
                                        </p:attrNameLst>
                                      </p:cBhvr>
                                      <p:to>
                                        <p:strVal val="visible"/>
                                      </p:to>
                                    </p:set>
                                    <p:anim calcmode="lin" valueType="num">
                                      <p:cBhvr additive="base">
                                        <p:cTn id="10" dur="450" fill="hold"/>
                                        <p:tgtEl>
                                          <p:spTgt spid="6"/>
                                        </p:tgtEl>
                                        <p:attrNameLst>
                                          <p:attrName>ppt_w</p:attrName>
                                        </p:attrNameLst>
                                      </p:cBhvr>
                                      <p:tavLst>
                                        <p:tav tm="0">
                                          <p:val>
                                            <p:strVal val="0"/>
                                          </p:val>
                                        </p:tav>
                                        <p:tav tm="70000">
                                          <p:val>
                                            <p:strVal val="#ppt_w*1.08"/>
                                          </p:val>
                                        </p:tav>
                                        <p:tav tm="100000">
                                          <p:val>
                                            <p:strVal val="#ppt_w"/>
                                          </p:val>
                                        </p:tav>
                                      </p:tavLst>
                                    </p:anim>
                                    <p:anim calcmode="lin" valueType="num">
                                      <p:cBhvr additive="base">
                                        <p:cTn id="11" dur="450" fill="hold"/>
                                        <p:tgtEl>
                                          <p:spTgt spid="6"/>
                                        </p:tgtEl>
                                        <p:attrNameLst>
                                          <p:attrName>ppt_h</p:attrName>
                                        </p:attrNameLst>
                                      </p:cBhvr>
                                      <p:tavLst>
                                        <p:tav tm="0">
                                          <p:val>
                                            <p:strVal val="0"/>
                                          </p:val>
                                        </p:tav>
                                        <p:tav tm="70000">
                                          <p:val>
                                            <p:strVal val="#ppt_h*1.08"/>
                                          </p:val>
                                        </p:tav>
                                        <p:tav tm="100000">
                                          <p:val>
                                            <p:strVal val="#ppt_h"/>
                                          </p:val>
                                        </p:tav>
                                      </p:tavLst>
                                    </p:anim>
                                    <p:animEffect transition="in" filter="fade">
                                      <p:cBhvr>
                                        <p:cTn id="12" dur="270" fill="hold"/>
                                        <p:tgtEl>
                                          <p:spTgt spid="6"/>
                                        </p:tgtEl>
                                      </p:cBhvr>
                                    </p:animEffect>
                                  </p:childTnLst>
                                </p:cTn>
                              </p:par>
                              <p:par>
                                <p:cTn id="13" presetID="22" presetClass="entr" presetSubtype="8" fill="hold" grpId="0" nodeType="withEffect">
                                  <p:stCondLst>
                                    <p:cond delay="40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600" fill="hold"/>
                                        <p:tgtEl>
                                          <p:spTgt spid="7"/>
                                        </p:tgtEl>
                                      </p:cBhvr>
                                    </p:animEffect>
                                  </p:childTnLst>
                                </p:cTn>
                              </p:par>
                              <p:par>
                                <p:cTn id="16" presetID="22" presetClass="entr" presetSubtype="8" fill="hold" grpId="0" nodeType="withEffect">
                                  <p:stCondLst>
                                    <p:cond delay="40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600" fill="hold"/>
                                        <p:tgtEl>
                                          <p:spTgt spid="8"/>
                                        </p:tgtEl>
                                      </p:cBhvr>
                                    </p:animEffect>
                                  </p:childTnLst>
                                </p:cTn>
                              </p:par>
                              <p:par>
                                <p:cTn id="19" presetID="53" presetClass="entr" presetSubtype="16" decel="100000" fill="hold" grpId="0" nodeType="withEffect">
                                  <p:stCondLst>
                                    <p:cond delay="70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450" fill="hold"/>
                                        <p:tgtEl>
                                          <p:spTgt spid="9"/>
                                        </p:tgtEl>
                                        <p:attrNameLst>
                                          <p:attrName>ppt_w</p:attrName>
                                        </p:attrNameLst>
                                      </p:cBhvr>
                                      <p:tavLst>
                                        <p:tav tm="0">
                                          <p:val>
                                            <p:strVal val="0"/>
                                          </p:val>
                                        </p:tav>
                                        <p:tav tm="70000">
                                          <p:val>
                                            <p:strVal val="#ppt_w*1.08"/>
                                          </p:val>
                                        </p:tav>
                                        <p:tav tm="100000">
                                          <p:val>
                                            <p:strVal val="#ppt_w"/>
                                          </p:val>
                                        </p:tav>
                                      </p:tavLst>
                                    </p:anim>
                                    <p:anim calcmode="lin" valueType="num">
                                      <p:cBhvr additive="base">
                                        <p:cTn id="22" dur="450" fill="hold"/>
                                        <p:tgtEl>
                                          <p:spTgt spid="9"/>
                                        </p:tgtEl>
                                        <p:attrNameLst>
                                          <p:attrName>ppt_h</p:attrName>
                                        </p:attrNameLst>
                                      </p:cBhvr>
                                      <p:tavLst>
                                        <p:tav tm="0">
                                          <p:val>
                                            <p:strVal val="0"/>
                                          </p:val>
                                        </p:tav>
                                        <p:tav tm="70000">
                                          <p:val>
                                            <p:strVal val="#ppt_h*1.08"/>
                                          </p:val>
                                        </p:tav>
                                        <p:tav tm="100000">
                                          <p:val>
                                            <p:strVal val="#ppt_h"/>
                                          </p:val>
                                        </p:tav>
                                      </p:tavLst>
                                    </p:anim>
                                    <p:animEffect transition="in" filter="fade">
                                      <p:cBhvr>
                                        <p:cTn id="23" dur="270" fill="hold"/>
                                        <p:tgtEl>
                                          <p:spTgt spid="9"/>
                                        </p:tgtEl>
                                      </p:cBhvr>
                                    </p:animEffect>
                                  </p:childTnLst>
                                </p:cTn>
                              </p:par>
                              <p:par>
                                <p:cTn id="24" presetID="22" presetClass="entr" presetSubtype="8" fill="hold" grpId="0" nodeType="withEffect">
                                  <p:stCondLst>
                                    <p:cond delay="85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600" fill="hold"/>
                                        <p:tgtEl>
                                          <p:spTgt spid="10"/>
                                        </p:tgtEl>
                                      </p:cBhvr>
                                    </p:animEffect>
                                  </p:childTnLst>
                                </p:cTn>
                              </p:par>
                              <p:par>
                                <p:cTn id="27" presetID="22" presetClass="entr" presetSubtype="8" fill="hold" grpId="0" nodeType="withEffect">
                                  <p:stCondLst>
                                    <p:cond delay="850"/>
                                  </p:stCondLst>
                                  <p:childTnLst>
                                    <p:set>
                                      <p:cBhvr>
                                        <p:cTn id="28" dur="1" fill="hold">
                                          <p:stCondLst>
                                            <p:cond delay="0"/>
                                          </p:stCondLst>
                                        </p:cTn>
                                        <p:tgtEl>
                                          <p:spTgt spid="11"/>
                                        </p:tgtEl>
                                        <p:attrNameLst>
                                          <p:attrName>style.visibility</p:attrName>
                                        </p:attrNameLst>
                                      </p:cBhvr>
                                      <p:to>
                                        <p:strVal val="visible"/>
                                      </p:to>
                                    </p:set>
                                    <p:animEffect transition="in" filter="wipe(left)">
                                      <p:cBhvr>
                                        <p:cTn id="29" dur="600" fill="hold"/>
                                        <p:tgtEl>
                                          <p:spTgt spid="11"/>
                                        </p:tgtEl>
                                      </p:cBhvr>
                                    </p:animEffect>
                                  </p:childTnLst>
                                </p:cTn>
                              </p:par>
                              <p:par>
                                <p:cTn id="30" presetID="53" presetClass="entr" presetSubtype="16" decel="100000" fill="hold" grpId="0" nodeType="withEffect">
                                  <p:stCondLst>
                                    <p:cond delay="1150"/>
                                  </p:stCondLst>
                                  <p:childTnLst>
                                    <p:set>
                                      <p:cBhvr>
                                        <p:cTn id="31" dur="1" fill="hold">
                                          <p:stCondLst>
                                            <p:cond delay="0"/>
                                          </p:stCondLst>
                                        </p:cTn>
                                        <p:tgtEl>
                                          <p:spTgt spid="12"/>
                                        </p:tgtEl>
                                        <p:attrNameLst>
                                          <p:attrName>style.visibility</p:attrName>
                                        </p:attrNameLst>
                                      </p:cBhvr>
                                      <p:to>
                                        <p:strVal val="visible"/>
                                      </p:to>
                                    </p:set>
                                    <p:anim calcmode="lin" valueType="num">
                                      <p:cBhvr additive="base">
                                        <p:cTn id="32" dur="450" fill="hold"/>
                                        <p:tgtEl>
                                          <p:spTgt spid="12"/>
                                        </p:tgtEl>
                                        <p:attrNameLst>
                                          <p:attrName>ppt_w</p:attrName>
                                        </p:attrNameLst>
                                      </p:cBhvr>
                                      <p:tavLst>
                                        <p:tav tm="0">
                                          <p:val>
                                            <p:strVal val="0"/>
                                          </p:val>
                                        </p:tav>
                                        <p:tav tm="70000">
                                          <p:val>
                                            <p:strVal val="#ppt_w*1.08"/>
                                          </p:val>
                                        </p:tav>
                                        <p:tav tm="100000">
                                          <p:val>
                                            <p:strVal val="#ppt_w"/>
                                          </p:val>
                                        </p:tav>
                                      </p:tavLst>
                                    </p:anim>
                                    <p:anim calcmode="lin" valueType="num">
                                      <p:cBhvr additive="base">
                                        <p:cTn id="33" dur="450" fill="hold"/>
                                        <p:tgtEl>
                                          <p:spTgt spid="12"/>
                                        </p:tgtEl>
                                        <p:attrNameLst>
                                          <p:attrName>ppt_h</p:attrName>
                                        </p:attrNameLst>
                                      </p:cBhvr>
                                      <p:tavLst>
                                        <p:tav tm="0">
                                          <p:val>
                                            <p:strVal val="0"/>
                                          </p:val>
                                        </p:tav>
                                        <p:tav tm="70000">
                                          <p:val>
                                            <p:strVal val="#ppt_h*1.08"/>
                                          </p:val>
                                        </p:tav>
                                        <p:tav tm="100000">
                                          <p:val>
                                            <p:strVal val="#ppt_h"/>
                                          </p:val>
                                        </p:tav>
                                      </p:tavLst>
                                    </p:anim>
                                    <p:animEffect transition="in" filter="fade">
                                      <p:cBhvr>
                                        <p:cTn id="34" dur="270" fill="hold"/>
                                        <p:tgtEl>
                                          <p:spTgt spid="12"/>
                                        </p:tgtEl>
                                      </p:cBhvr>
                                    </p:animEffect>
                                  </p:childTnLst>
                                </p:cTn>
                              </p:par>
                              <p:par>
                                <p:cTn id="35" presetID="22" presetClass="entr" presetSubtype="8" fill="hold" grpId="0" nodeType="withEffect">
                                  <p:stCondLst>
                                    <p:cond delay="130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600" fill="hold"/>
                                        <p:tgtEl>
                                          <p:spTgt spid="13"/>
                                        </p:tgtEl>
                                      </p:cBhvr>
                                    </p:animEffect>
                                  </p:childTnLst>
                                </p:cTn>
                              </p:par>
                              <p:par>
                                <p:cTn id="38" presetID="22" presetClass="entr" presetSubtype="8" fill="hold" grpId="0" nodeType="withEffect">
                                  <p:stCondLst>
                                    <p:cond delay="1300"/>
                                  </p:stCondLst>
                                  <p:childTnLst>
                                    <p:set>
                                      <p:cBhvr>
                                        <p:cTn id="39" dur="1" fill="hold">
                                          <p:stCondLst>
                                            <p:cond delay="0"/>
                                          </p:stCondLst>
                                        </p:cTn>
                                        <p:tgtEl>
                                          <p:spTgt spid="14"/>
                                        </p:tgtEl>
                                        <p:attrNameLst>
                                          <p:attrName>style.visibility</p:attrName>
                                        </p:attrNameLst>
                                      </p:cBhvr>
                                      <p:to>
                                        <p:strVal val="visible"/>
                                      </p:to>
                                    </p:set>
                                    <p:animEffect transition="in" filter="wipe(left)">
                                      <p:cBhvr>
                                        <p:cTn id="40" dur="600" fill="hold"/>
                                        <p:tgtEl>
                                          <p:spTgt spid="14"/>
                                        </p:tgtEl>
                                      </p:cBhvr>
                                    </p:animEffect>
                                  </p:childTnLst>
                                </p:cTn>
                              </p:par>
                              <p:par>
                                <p:cTn id="41" presetID="53" presetClass="entr" presetSubtype="16" decel="100000" fill="hold" grpId="0" nodeType="withEffect">
                                  <p:stCondLst>
                                    <p:cond delay="160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450" fill="hold"/>
                                        <p:tgtEl>
                                          <p:spTgt spid="15"/>
                                        </p:tgtEl>
                                        <p:attrNameLst>
                                          <p:attrName>ppt_w</p:attrName>
                                        </p:attrNameLst>
                                      </p:cBhvr>
                                      <p:tavLst>
                                        <p:tav tm="0">
                                          <p:val>
                                            <p:strVal val="0"/>
                                          </p:val>
                                        </p:tav>
                                        <p:tav tm="70000">
                                          <p:val>
                                            <p:strVal val="#ppt_w*1.08"/>
                                          </p:val>
                                        </p:tav>
                                        <p:tav tm="100000">
                                          <p:val>
                                            <p:strVal val="#ppt_w"/>
                                          </p:val>
                                        </p:tav>
                                      </p:tavLst>
                                    </p:anim>
                                    <p:anim calcmode="lin" valueType="num">
                                      <p:cBhvr additive="base">
                                        <p:cTn id="44" dur="450" fill="hold"/>
                                        <p:tgtEl>
                                          <p:spTgt spid="15"/>
                                        </p:tgtEl>
                                        <p:attrNameLst>
                                          <p:attrName>ppt_h</p:attrName>
                                        </p:attrNameLst>
                                      </p:cBhvr>
                                      <p:tavLst>
                                        <p:tav tm="0">
                                          <p:val>
                                            <p:strVal val="0"/>
                                          </p:val>
                                        </p:tav>
                                        <p:tav tm="70000">
                                          <p:val>
                                            <p:strVal val="#ppt_h*1.08"/>
                                          </p:val>
                                        </p:tav>
                                        <p:tav tm="100000">
                                          <p:val>
                                            <p:strVal val="#ppt_h"/>
                                          </p:val>
                                        </p:tav>
                                      </p:tavLst>
                                    </p:anim>
                                    <p:animEffect transition="in" filter="fade">
                                      <p:cBhvr>
                                        <p:cTn id="45" dur="270" fill="hold"/>
                                        <p:tgtEl>
                                          <p:spTgt spid="15"/>
                                        </p:tgtEl>
                                      </p:cBhvr>
                                    </p:animEffect>
                                  </p:childTnLst>
                                </p:cTn>
                              </p:par>
                              <p:par>
                                <p:cTn id="46" presetID="22" presetClass="entr" presetSubtype="8" fill="hold" grpId="0" nodeType="withEffect">
                                  <p:stCondLst>
                                    <p:cond delay="1750"/>
                                  </p:stCondLst>
                                  <p:childTnLst>
                                    <p:set>
                                      <p:cBhvr>
                                        <p:cTn id="47" dur="1" fill="hold">
                                          <p:stCondLst>
                                            <p:cond delay="0"/>
                                          </p:stCondLst>
                                        </p:cTn>
                                        <p:tgtEl>
                                          <p:spTgt spid="16"/>
                                        </p:tgtEl>
                                        <p:attrNameLst>
                                          <p:attrName>style.visibility</p:attrName>
                                        </p:attrNameLst>
                                      </p:cBhvr>
                                      <p:to>
                                        <p:strVal val="visible"/>
                                      </p:to>
                                    </p:set>
                                    <p:animEffect transition="in" filter="wipe(left)">
                                      <p:cBhvr>
                                        <p:cTn id="48" dur="600" fill="hold"/>
                                        <p:tgtEl>
                                          <p:spTgt spid="16"/>
                                        </p:tgtEl>
                                      </p:cBhvr>
                                    </p:animEffect>
                                  </p:childTnLst>
                                </p:cTn>
                              </p:par>
                              <p:par>
                                <p:cTn id="49" presetID="22" presetClass="entr" presetSubtype="8" fill="hold" grpId="0" nodeType="withEffect">
                                  <p:stCondLst>
                                    <p:cond delay="1750"/>
                                  </p:stCondLst>
                                  <p:childTnLst>
                                    <p:set>
                                      <p:cBhvr>
                                        <p:cTn id="50" dur="1" fill="hold">
                                          <p:stCondLst>
                                            <p:cond delay="0"/>
                                          </p:stCondLst>
                                        </p:cTn>
                                        <p:tgtEl>
                                          <p:spTgt spid="17"/>
                                        </p:tgtEl>
                                        <p:attrNameLst>
                                          <p:attrName>style.visibility</p:attrName>
                                        </p:attrNameLst>
                                      </p:cBhvr>
                                      <p:to>
                                        <p:strVal val="visible"/>
                                      </p:to>
                                    </p:set>
                                    <p:animEffect transition="in" filter="wipe(left)">
                                      <p:cBhvr>
                                        <p:cTn id="51" dur="600" fill="hold"/>
                                        <p:tgtEl>
                                          <p:spTgt spid="17"/>
                                        </p:tgtEl>
                                      </p:cBhvr>
                                    </p:animEffect>
                                  </p:childTnLst>
                                </p:cTn>
                              </p:par>
                              <p:par>
                                <p:cTn id="52" presetID="53" presetClass="entr" presetSubtype="16" decel="100000" fill="hold" grpId="0" nodeType="withEffect">
                                  <p:stCondLst>
                                    <p:cond delay="2050"/>
                                  </p:stCondLst>
                                  <p:childTnLst>
                                    <p:set>
                                      <p:cBhvr>
                                        <p:cTn id="53" dur="1" fill="hold">
                                          <p:stCondLst>
                                            <p:cond delay="0"/>
                                          </p:stCondLst>
                                        </p:cTn>
                                        <p:tgtEl>
                                          <p:spTgt spid="18"/>
                                        </p:tgtEl>
                                        <p:attrNameLst>
                                          <p:attrName>style.visibility</p:attrName>
                                        </p:attrNameLst>
                                      </p:cBhvr>
                                      <p:to>
                                        <p:strVal val="visible"/>
                                      </p:to>
                                    </p:set>
                                    <p:anim calcmode="lin" valueType="num">
                                      <p:cBhvr additive="base">
                                        <p:cTn id="54" dur="450" fill="hold"/>
                                        <p:tgtEl>
                                          <p:spTgt spid="18"/>
                                        </p:tgtEl>
                                        <p:attrNameLst>
                                          <p:attrName>ppt_w</p:attrName>
                                        </p:attrNameLst>
                                      </p:cBhvr>
                                      <p:tavLst>
                                        <p:tav tm="0">
                                          <p:val>
                                            <p:strVal val="0"/>
                                          </p:val>
                                        </p:tav>
                                        <p:tav tm="70000">
                                          <p:val>
                                            <p:strVal val="#ppt_w*1.08"/>
                                          </p:val>
                                        </p:tav>
                                        <p:tav tm="100000">
                                          <p:val>
                                            <p:strVal val="#ppt_w"/>
                                          </p:val>
                                        </p:tav>
                                      </p:tavLst>
                                    </p:anim>
                                    <p:anim calcmode="lin" valueType="num">
                                      <p:cBhvr additive="base">
                                        <p:cTn id="55" dur="450" fill="hold"/>
                                        <p:tgtEl>
                                          <p:spTgt spid="18"/>
                                        </p:tgtEl>
                                        <p:attrNameLst>
                                          <p:attrName>ppt_h</p:attrName>
                                        </p:attrNameLst>
                                      </p:cBhvr>
                                      <p:tavLst>
                                        <p:tav tm="0">
                                          <p:val>
                                            <p:strVal val="0"/>
                                          </p:val>
                                        </p:tav>
                                        <p:tav tm="70000">
                                          <p:val>
                                            <p:strVal val="#ppt_h*1.08"/>
                                          </p:val>
                                        </p:tav>
                                        <p:tav tm="100000">
                                          <p:val>
                                            <p:strVal val="#ppt_h"/>
                                          </p:val>
                                        </p:tav>
                                      </p:tavLst>
                                    </p:anim>
                                    <p:animEffect transition="in" filter="fade">
                                      <p:cBhvr>
                                        <p:cTn id="56" dur="270" fill="hold"/>
                                        <p:tgtEl>
                                          <p:spTgt spid="18"/>
                                        </p:tgtEl>
                                      </p:cBhvr>
                                    </p:animEffect>
                                  </p:childTnLst>
                                </p:cTn>
                              </p:par>
                              <p:par>
                                <p:cTn id="57" presetID="22" presetClass="entr" presetSubtype="8" fill="hold" grpId="0" nodeType="withEffect">
                                  <p:stCondLst>
                                    <p:cond delay="2200"/>
                                  </p:stCondLst>
                                  <p:childTnLst>
                                    <p:set>
                                      <p:cBhvr>
                                        <p:cTn id="58" dur="1" fill="hold">
                                          <p:stCondLst>
                                            <p:cond delay="0"/>
                                          </p:stCondLst>
                                        </p:cTn>
                                        <p:tgtEl>
                                          <p:spTgt spid="19"/>
                                        </p:tgtEl>
                                        <p:attrNameLst>
                                          <p:attrName>style.visibility</p:attrName>
                                        </p:attrNameLst>
                                      </p:cBhvr>
                                      <p:to>
                                        <p:strVal val="visible"/>
                                      </p:to>
                                    </p:set>
                                    <p:animEffect transition="in" filter="wipe(left)">
                                      <p:cBhvr>
                                        <p:cTn id="59" dur="600" fill="hold"/>
                                        <p:tgtEl>
                                          <p:spTgt spid="19"/>
                                        </p:tgtEl>
                                      </p:cBhvr>
                                    </p:animEffect>
                                  </p:childTnLst>
                                </p:cTn>
                              </p:par>
                              <p:par>
                                <p:cTn id="60" presetID="22" presetClass="entr" presetSubtype="8" fill="hold" grpId="0" nodeType="withEffect">
                                  <p:stCondLst>
                                    <p:cond delay="2200"/>
                                  </p:stCondLst>
                                  <p:childTnLst>
                                    <p:set>
                                      <p:cBhvr>
                                        <p:cTn id="61" dur="1" fill="hold">
                                          <p:stCondLst>
                                            <p:cond delay="0"/>
                                          </p:stCondLst>
                                        </p:cTn>
                                        <p:tgtEl>
                                          <p:spTgt spid="20"/>
                                        </p:tgtEl>
                                        <p:attrNameLst>
                                          <p:attrName>style.visibility</p:attrName>
                                        </p:attrNameLst>
                                      </p:cBhvr>
                                      <p:to>
                                        <p:strVal val="visible"/>
                                      </p:to>
                                    </p:set>
                                    <p:animEffect transition="in" filter="wipe(left)">
                                      <p:cBhvr>
                                        <p:cTn id="62" dur="600" fill="hold"/>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9CD848"/>
                </a:solidFill>
                <a:latin typeface="Segoe UI Semibold"/>
              </a:rPr>
              <a:t>DESAFIO FINAL</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Como avaliaremos o pitch</a:t>
            </a:r>
          </a:p>
        </p:txBody>
      </p:sp>
      <p:sp>
        <p:nvSpPr>
          <p:cNvPr id="6" name="Rounded Rectangle 5"/>
          <p:cNvSpPr/>
          <p:nvPr/>
        </p:nvSpPr>
        <p:spPr>
          <a:xfrm>
            <a:off x="548640" y="1554480"/>
            <a:ext cx="5440680" cy="201168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68680" y="1828800"/>
            <a:ext cx="3657600" cy="457200"/>
          </a:xfrm>
          <a:prstGeom prst="rect">
            <a:avLst/>
          </a:prstGeom>
          <a:noFill/>
        </p:spPr>
        <p:txBody>
          <a:bodyPr wrap="square" lIns="36576" tIns="18288" rIns="36576" bIns="18288" anchor="t">
            <a:spAutoFit/>
          </a:bodyPr>
          <a:lstStyle/>
          <a:p>
            <a:pPr algn="l"/>
            <a:r>
              <a:rPr sz="2000" b="1" i="0">
                <a:solidFill>
                  <a:srgbClr val="F2F2EC"/>
                </a:solidFill>
                <a:latin typeface="Segoe UI Semibold"/>
              </a:rPr>
              <a:t>Clareza do problema</a:t>
            </a:r>
          </a:p>
        </p:txBody>
      </p:sp>
      <p:sp>
        <p:nvSpPr>
          <p:cNvPr id="8" name="TextBox 7"/>
          <p:cNvSpPr txBox="1"/>
          <p:nvPr/>
        </p:nvSpPr>
        <p:spPr>
          <a:xfrm>
            <a:off x="868680" y="2331720"/>
            <a:ext cx="3840480" cy="1097280"/>
          </a:xfrm>
          <a:prstGeom prst="rect">
            <a:avLst/>
          </a:prstGeom>
          <a:noFill/>
        </p:spPr>
        <p:txBody>
          <a:bodyPr wrap="square" lIns="36576" tIns="18288" rIns="36576" bIns="18288" anchor="t">
            <a:spAutoFit/>
          </a:bodyPr>
          <a:lstStyle/>
          <a:p>
            <a:pPr algn="l"/>
            <a:r>
              <a:rPr sz="1400" b="0" i="0">
                <a:solidFill>
                  <a:srgbClr val="B4B8B0"/>
                </a:solidFill>
                <a:latin typeface="Segoe UI"/>
              </a:rPr>
              <a:t>O problema é centrado em pessoas, específico e baseado em evidências?</a:t>
            </a:r>
          </a:p>
        </p:txBody>
      </p:sp>
      <p:sp>
        <p:nvSpPr>
          <p:cNvPr id="9" name="TextBox 8"/>
          <p:cNvSpPr txBox="1"/>
          <p:nvPr/>
        </p:nvSpPr>
        <p:spPr>
          <a:xfrm>
            <a:off x="4572000" y="2560320"/>
            <a:ext cx="1188720" cy="274320"/>
          </a:xfrm>
          <a:prstGeom prst="rect">
            <a:avLst/>
          </a:prstGeom>
          <a:noFill/>
        </p:spPr>
        <p:txBody>
          <a:bodyPr wrap="square" lIns="36576" tIns="18288" rIns="36576" bIns="18288" anchor="t">
            <a:spAutoFit/>
          </a:bodyPr>
          <a:lstStyle/>
          <a:p>
            <a:pPr algn="r"/>
            <a:r>
              <a:rPr sz="1100" b="0" i="0">
                <a:solidFill>
                  <a:srgbClr val="7D827B"/>
                </a:solidFill>
                <a:latin typeface="Segoe UI"/>
              </a:rPr>
              <a:t>pontos</a:t>
            </a:r>
          </a:p>
        </p:txBody>
      </p:sp>
      <p:sp>
        <p:nvSpPr>
          <p:cNvPr id="10" name="TextBox 9"/>
          <p:cNvSpPr txBox="1"/>
          <p:nvPr/>
        </p:nvSpPr>
        <p:spPr>
          <a:xfrm>
            <a:off x="4572000" y="1828800"/>
            <a:ext cx="1188720" cy="731520"/>
          </a:xfrm>
          <a:prstGeom prst="rect">
            <a:avLst/>
          </a:prstGeom>
          <a:noFill/>
        </p:spPr>
        <p:txBody>
          <a:bodyPr wrap="square" lIns="36576" tIns="18288" rIns="36576" bIns="18288" anchor="t">
            <a:spAutoFit/>
          </a:bodyPr>
          <a:lstStyle/>
          <a:p>
            <a:pPr algn="r"/>
            <a:r>
              <a:rPr sz="4000" b="1" i="0">
                <a:solidFill>
                  <a:srgbClr val="9CD848"/>
                </a:solidFill>
                <a:latin typeface="Segoe UI Semibold"/>
              </a:rPr>
              <a:t>25</a:t>
            </a:r>
          </a:p>
        </p:txBody>
      </p:sp>
      <p:sp>
        <p:nvSpPr>
          <p:cNvPr id="11" name="Rounded Rectangle 10"/>
          <p:cNvSpPr/>
          <p:nvPr/>
        </p:nvSpPr>
        <p:spPr>
          <a:xfrm>
            <a:off x="6172200" y="1554480"/>
            <a:ext cx="5440680" cy="201168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492240" y="1828800"/>
            <a:ext cx="3657600" cy="457200"/>
          </a:xfrm>
          <a:prstGeom prst="rect">
            <a:avLst/>
          </a:prstGeom>
          <a:noFill/>
        </p:spPr>
        <p:txBody>
          <a:bodyPr wrap="square" lIns="36576" tIns="18288" rIns="36576" bIns="18288" anchor="t">
            <a:spAutoFit/>
          </a:bodyPr>
          <a:lstStyle/>
          <a:p>
            <a:pPr algn="l"/>
            <a:r>
              <a:rPr sz="2000" b="1" i="0">
                <a:solidFill>
                  <a:srgbClr val="F2F2EC"/>
                </a:solidFill>
                <a:latin typeface="Segoe UI Semibold"/>
              </a:rPr>
              <a:t>Uso das ferramentas</a:t>
            </a:r>
          </a:p>
        </p:txBody>
      </p:sp>
      <p:sp>
        <p:nvSpPr>
          <p:cNvPr id="13" name="TextBox 12"/>
          <p:cNvSpPr txBox="1"/>
          <p:nvPr/>
        </p:nvSpPr>
        <p:spPr>
          <a:xfrm>
            <a:off x="6492240" y="2331720"/>
            <a:ext cx="3840480" cy="1097280"/>
          </a:xfrm>
          <a:prstGeom prst="rect">
            <a:avLst/>
          </a:prstGeom>
          <a:noFill/>
        </p:spPr>
        <p:txBody>
          <a:bodyPr wrap="square" lIns="36576" tIns="18288" rIns="36576" bIns="18288" anchor="t">
            <a:spAutoFit/>
          </a:bodyPr>
          <a:lstStyle/>
          <a:p>
            <a:pPr algn="l"/>
            <a:r>
              <a:rPr sz="1400" b="0" i="0">
                <a:solidFill>
                  <a:srgbClr val="B4B8B0"/>
                </a:solidFill>
                <a:latin typeface="Segoe UI"/>
              </a:rPr>
              <a:t>As ferramentas das 5 etapas foram aplicadas de forma coerente?</a:t>
            </a:r>
          </a:p>
        </p:txBody>
      </p:sp>
      <p:sp>
        <p:nvSpPr>
          <p:cNvPr id="14" name="TextBox 13"/>
          <p:cNvSpPr txBox="1"/>
          <p:nvPr/>
        </p:nvSpPr>
        <p:spPr>
          <a:xfrm>
            <a:off x="10195560" y="2560320"/>
            <a:ext cx="1188720" cy="274320"/>
          </a:xfrm>
          <a:prstGeom prst="rect">
            <a:avLst/>
          </a:prstGeom>
          <a:noFill/>
        </p:spPr>
        <p:txBody>
          <a:bodyPr wrap="square" lIns="36576" tIns="18288" rIns="36576" bIns="18288" anchor="t">
            <a:spAutoFit/>
          </a:bodyPr>
          <a:lstStyle/>
          <a:p>
            <a:pPr algn="r"/>
            <a:r>
              <a:rPr sz="1100" b="0" i="0">
                <a:solidFill>
                  <a:srgbClr val="7D827B"/>
                </a:solidFill>
                <a:latin typeface="Segoe UI"/>
              </a:rPr>
              <a:t>pontos</a:t>
            </a:r>
          </a:p>
        </p:txBody>
      </p:sp>
      <p:sp>
        <p:nvSpPr>
          <p:cNvPr id="15" name="TextBox 14"/>
          <p:cNvSpPr txBox="1"/>
          <p:nvPr/>
        </p:nvSpPr>
        <p:spPr>
          <a:xfrm>
            <a:off x="10195560" y="1828800"/>
            <a:ext cx="1188720" cy="731520"/>
          </a:xfrm>
          <a:prstGeom prst="rect">
            <a:avLst/>
          </a:prstGeom>
          <a:noFill/>
        </p:spPr>
        <p:txBody>
          <a:bodyPr wrap="square" lIns="36576" tIns="18288" rIns="36576" bIns="18288" anchor="t">
            <a:spAutoFit/>
          </a:bodyPr>
          <a:lstStyle/>
          <a:p>
            <a:pPr algn="r"/>
            <a:r>
              <a:rPr sz="4000" b="1" i="0">
                <a:solidFill>
                  <a:srgbClr val="4DB35A"/>
                </a:solidFill>
                <a:latin typeface="Segoe UI Semibold"/>
              </a:rPr>
              <a:t>25</a:t>
            </a:r>
          </a:p>
        </p:txBody>
      </p:sp>
      <p:sp>
        <p:nvSpPr>
          <p:cNvPr id="16" name="Rounded Rectangle 15"/>
          <p:cNvSpPr/>
          <p:nvPr/>
        </p:nvSpPr>
        <p:spPr>
          <a:xfrm>
            <a:off x="548640" y="3749039"/>
            <a:ext cx="5440680" cy="201168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68680" y="4023359"/>
            <a:ext cx="3657600" cy="457200"/>
          </a:xfrm>
          <a:prstGeom prst="rect">
            <a:avLst/>
          </a:prstGeom>
          <a:noFill/>
        </p:spPr>
        <p:txBody>
          <a:bodyPr wrap="square" lIns="36576" tIns="18288" rIns="36576" bIns="18288" anchor="t">
            <a:spAutoFit/>
          </a:bodyPr>
          <a:lstStyle/>
          <a:p>
            <a:pPr algn="l"/>
            <a:r>
              <a:rPr sz="2000" b="1" i="0">
                <a:solidFill>
                  <a:srgbClr val="F2F2EC"/>
                </a:solidFill>
                <a:latin typeface="Segoe UI Semibold"/>
              </a:rPr>
              <a:t>Qualidade da solução</a:t>
            </a:r>
          </a:p>
        </p:txBody>
      </p:sp>
      <p:sp>
        <p:nvSpPr>
          <p:cNvPr id="18" name="TextBox 17"/>
          <p:cNvSpPr txBox="1"/>
          <p:nvPr/>
        </p:nvSpPr>
        <p:spPr>
          <a:xfrm>
            <a:off x="868680" y="4526279"/>
            <a:ext cx="3840480" cy="1097280"/>
          </a:xfrm>
          <a:prstGeom prst="rect">
            <a:avLst/>
          </a:prstGeom>
          <a:noFill/>
        </p:spPr>
        <p:txBody>
          <a:bodyPr wrap="square" lIns="36576" tIns="18288" rIns="36576" bIns="18288" anchor="t">
            <a:spAutoFit/>
          </a:bodyPr>
          <a:lstStyle/>
          <a:p>
            <a:pPr algn="l"/>
            <a:r>
              <a:rPr sz="1400" b="0" i="0">
                <a:solidFill>
                  <a:srgbClr val="B4B8B0"/>
                </a:solidFill>
                <a:latin typeface="Segoe UI"/>
              </a:rPr>
              <a:t>A solução responde ao problema e é desejável, viável e praticável?</a:t>
            </a:r>
          </a:p>
        </p:txBody>
      </p:sp>
      <p:sp>
        <p:nvSpPr>
          <p:cNvPr id="19" name="TextBox 18"/>
          <p:cNvSpPr txBox="1"/>
          <p:nvPr/>
        </p:nvSpPr>
        <p:spPr>
          <a:xfrm>
            <a:off x="4572000" y="4754879"/>
            <a:ext cx="1188720" cy="274320"/>
          </a:xfrm>
          <a:prstGeom prst="rect">
            <a:avLst/>
          </a:prstGeom>
          <a:noFill/>
        </p:spPr>
        <p:txBody>
          <a:bodyPr wrap="square" lIns="36576" tIns="18288" rIns="36576" bIns="18288" anchor="t">
            <a:spAutoFit/>
          </a:bodyPr>
          <a:lstStyle/>
          <a:p>
            <a:pPr algn="r"/>
            <a:r>
              <a:rPr sz="1100" b="0" i="0">
                <a:solidFill>
                  <a:srgbClr val="7D827B"/>
                </a:solidFill>
                <a:latin typeface="Segoe UI"/>
              </a:rPr>
              <a:t>pontos</a:t>
            </a:r>
          </a:p>
        </p:txBody>
      </p:sp>
      <p:sp>
        <p:nvSpPr>
          <p:cNvPr id="20" name="TextBox 19"/>
          <p:cNvSpPr txBox="1"/>
          <p:nvPr/>
        </p:nvSpPr>
        <p:spPr>
          <a:xfrm>
            <a:off x="4572000" y="4023359"/>
            <a:ext cx="1188720" cy="731520"/>
          </a:xfrm>
          <a:prstGeom prst="rect">
            <a:avLst/>
          </a:prstGeom>
          <a:noFill/>
        </p:spPr>
        <p:txBody>
          <a:bodyPr wrap="square" lIns="36576" tIns="18288" rIns="36576" bIns="18288" anchor="t">
            <a:spAutoFit/>
          </a:bodyPr>
          <a:lstStyle/>
          <a:p>
            <a:pPr algn="r"/>
            <a:r>
              <a:rPr sz="4000" b="1" i="0">
                <a:solidFill>
                  <a:srgbClr val="2FA38A"/>
                </a:solidFill>
                <a:latin typeface="Segoe UI Semibold"/>
              </a:rPr>
              <a:t>25</a:t>
            </a:r>
          </a:p>
        </p:txBody>
      </p:sp>
      <p:sp>
        <p:nvSpPr>
          <p:cNvPr id="21" name="Rounded Rectangle 20"/>
          <p:cNvSpPr/>
          <p:nvPr/>
        </p:nvSpPr>
        <p:spPr>
          <a:xfrm>
            <a:off x="6172200" y="3749039"/>
            <a:ext cx="5440680" cy="201168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492240" y="4023359"/>
            <a:ext cx="3657600" cy="457200"/>
          </a:xfrm>
          <a:prstGeom prst="rect">
            <a:avLst/>
          </a:prstGeom>
          <a:noFill/>
        </p:spPr>
        <p:txBody>
          <a:bodyPr wrap="square" lIns="36576" tIns="18288" rIns="36576" bIns="18288" anchor="t">
            <a:spAutoFit/>
          </a:bodyPr>
          <a:lstStyle/>
          <a:p>
            <a:pPr algn="l"/>
            <a:r>
              <a:rPr sz="2000" b="1" i="0">
                <a:solidFill>
                  <a:srgbClr val="F2F2EC"/>
                </a:solidFill>
                <a:latin typeface="Segoe UI Semibold"/>
              </a:rPr>
              <a:t>Teste e aprendizado</a:t>
            </a:r>
          </a:p>
        </p:txBody>
      </p:sp>
      <p:sp>
        <p:nvSpPr>
          <p:cNvPr id="23" name="TextBox 22"/>
          <p:cNvSpPr txBox="1"/>
          <p:nvPr/>
        </p:nvSpPr>
        <p:spPr>
          <a:xfrm>
            <a:off x="6492240" y="4526279"/>
            <a:ext cx="3840480" cy="1097280"/>
          </a:xfrm>
          <a:prstGeom prst="rect">
            <a:avLst/>
          </a:prstGeom>
          <a:noFill/>
        </p:spPr>
        <p:txBody>
          <a:bodyPr wrap="square" lIns="36576" tIns="18288" rIns="36576" bIns="18288" anchor="t">
            <a:spAutoFit/>
          </a:bodyPr>
          <a:lstStyle/>
          <a:p>
            <a:pPr algn="l"/>
            <a:r>
              <a:rPr sz="1400" b="0" i="0">
                <a:solidFill>
                  <a:srgbClr val="B4B8B0"/>
                </a:solidFill>
                <a:latin typeface="Segoe UI"/>
              </a:rPr>
              <a:t>A equipe testou, registrou aprendizados e mostrou o que mudaria?</a:t>
            </a:r>
          </a:p>
        </p:txBody>
      </p:sp>
      <p:sp>
        <p:nvSpPr>
          <p:cNvPr id="24" name="TextBox 23"/>
          <p:cNvSpPr txBox="1"/>
          <p:nvPr/>
        </p:nvSpPr>
        <p:spPr>
          <a:xfrm>
            <a:off x="10195560" y="4754879"/>
            <a:ext cx="1188720" cy="274320"/>
          </a:xfrm>
          <a:prstGeom prst="rect">
            <a:avLst/>
          </a:prstGeom>
          <a:noFill/>
        </p:spPr>
        <p:txBody>
          <a:bodyPr wrap="square" lIns="36576" tIns="18288" rIns="36576" bIns="18288" anchor="t">
            <a:spAutoFit/>
          </a:bodyPr>
          <a:lstStyle/>
          <a:p>
            <a:pPr algn="r"/>
            <a:r>
              <a:rPr sz="1100" b="0" i="0">
                <a:solidFill>
                  <a:srgbClr val="7D827B"/>
                </a:solidFill>
                <a:latin typeface="Segoe UI"/>
              </a:rPr>
              <a:t>pontos</a:t>
            </a:r>
          </a:p>
        </p:txBody>
      </p:sp>
      <p:sp>
        <p:nvSpPr>
          <p:cNvPr id="25" name="TextBox 24"/>
          <p:cNvSpPr txBox="1"/>
          <p:nvPr/>
        </p:nvSpPr>
        <p:spPr>
          <a:xfrm>
            <a:off x="10195560" y="4023359"/>
            <a:ext cx="1188720" cy="731520"/>
          </a:xfrm>
          <a:prstGeom prst="rect">
            <a:avLst/>
          </a:prstGeom>
          <a:noFill/>
        </p:spPr>
        <p:txBody>
          <a:bodyPr wrap="square" lIns="36576" tIns="18288" rIns="36576" bIns="18288" anchor="t">
            <a:spAutoFit/>
          </a:bodyPr>
          <a:lstStyle/>
          <a:p>
            <a:pPr algn="r"/>
            <a:r>
              <a:rPr sz="4000" b="1" i="0">
                <a:solidFill>
                  <a:srgbClr val="2A9FC0"/>
                </a:solidFill>
                <a:latin typeface="Segoe UI Semibold"/>
              </a:rPr>
              <a:t>25</a:t>
            </a:r>
          </a:p>
        </p:txBody>
      </p:sp>
      <p:sp>
        <p:nvSpPr>
          <p:cNvPr id="26" name="TextBox 25"/>
          <p:cNvSpPr txBox="1"/>
          <p:nvPr/>
        </p:nvSpPr>
        <p:spPr>
          <a:xfrm>
            <a:off x="548640" y="5943600"/>
            <a:ext cx="10972800" cy="274320"/>
          </a:xfrm>
          <a:prstGeom prst="rect">
            <a:avLst/>
          </a:prstGeom>
          <a:noFill/>
        </p:spPr>
        <p:txBody>
          <a:bodyPr wrap="square" lIns="36576" tIns="18288" rIns="36576" bIns="18288" anchor="t">
            <a:spAutoFit/>
          </a:bodyPr>
          <a:lstStyle/>
          <a:p>
            <a:pPr algn="l"/>
            <a:r>
              <a:rPr sz="1400" b="1" i="0">
                <a:solidFill>
                  <a:srgbClr val="9CD848"/>
                </a:solidFill>
                <a:latin typeface="Segoe UI Semibold"/>
              </a:rPr>
              <a:t>Total: 100 pontos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50" fill="hold"/>
                                        <p:tgtEl>
                                          <p:spTgt spid="6"/>
                                        </p:tgtEl>
                                      </p:cBhvr>
                                    </p:animEffect>
                                    <p:anim calcmode="lin" valueType="num">
                                      <p:cBhvr additive="base">
                                        <p:cTn id="11" dur="650" fill="hold"/>
                                        <p:tgtEl>
                                          <p:spTgt spid="6"/>
                                        </p:tgtEl>
                                        <p:attrNameLst>
                                          <p:attrName>ppt_x</p:attrName>
                                        </p:attrNameLst>
                                      </p:cBhvr>
                                      <p:tavLst>
                                        <p:tav tm="0">
                                          <p:val>
                                            <p:strVal val="#ppt_x"/>
                                          </p:val>
                                        </p:tav>
                                        <p:tav tm="100000">
                                          <p:val>
                                            <p:strVal val="#ppt_x"/>
                                          </p:val>
                                        </p:tav>
                                      </p:tavLst>
                                    </p:anim>
                                    <p:anim calcmode="lin" valueType="num">
                                      <p:cBhvr additive="base">
                                        <p:cTn id="12" dur="650" fill="hold"/>
                                        <p:tgtEl>
                                          <p:spTgt spid="6"/>
                                        </p:tgtEl>
                                        <p:attrNameLst>
                                          <p:attrName>ppt_y</p:attrName>
                                        </p:attrNameLst>
                                      </p:cBhvr>
                                      <p:tavLst>
                                        <p:tav tm="0">
                                          <p:val>
                                            <p:strVal val="#ppt_y+.06"/>
                                          </p:val>
                                        </p:tav>
                                        <p:tav tm="100000">
                                          <p:val>
                                            <p:strVal val="#ppt_y"/>
                                          </p:val>
                                        </p:tav>
                                      </p:tavLst>
                                    </p:anim>
                                  </p:childTnLst>
                                </p:cTn>
                              </p:par>
                              <p:par>
                                <p:cTn id="13" presetID="42" presetClass="entr" presetSubtype="0" decel="100000" fill="hold" grpId="0" nodeType="withEffect">
                                  <p:stCondLst>
                                    <p:cond delay="25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fill="hold"/>
                                        <p:tgtEl>
                                          <p:spTgt spid="7"/>
                                        </p:tgtEl>
                                      </p:cBhvr>
                                    </p:animEffect>
                                    <p:anim calcmode="lin" valueType="num">
                                      <p:cBhvr additive="base">
                                        <p:cTn id="16" dur="650" fill="hold"/>
                                        <p:tgtEl>
                                          <p:spTgt spid="7"/>
                                        </p:tgtEl>
                                        <p:attrNameLst>
                                          <p:attrName>ppt_x</p:attrName>
                                        </p:attrNameLst>
                                      </p:cBhvr>
                                      <p:tavLst>
                                        <p:tav tm="0">
                                          <p:val>
                                            <p:strVal val="#ppt_x"/>
                                          </p:val>
                                        </p:tav>
                                        <p:tav tm="100000">
                                          <p:val>
                                            <p:strVal val="#ppt_x"/>
                                          </p:val>
                                        </p:tav>
                                      </p:tavLst>
                                    </p:anim>
                                    <p:anim calcmode="lin" valueType="num">
                                      <p:cBhvr additive="base">
                                        <p:cTn id="17" dur="650" fill="hold"/>
                                        <p:tgtEl>
                                          <p:spTgt spid="7"/>
                                        </p:tgtEl>
                                        <p:attrNameLst>
                                          <p:attrName>ppt_y</p:attrName>
                                        </p:attrNameLst>
                                      </p:cBhvr>
                                      <p:tavLst>
                                        <p:tav tm="0">
                                          <p:val>
                                            <p:strVal val="#ppt_y+.06"/>
                                          </p:val>
                                        </p:tav>
                                        <p:tav tm="100000">
                                          <p:val>
                                            <p:strVal val="#ppt_y"/>
                                          </p:val>
                                        </p:tav>
                                      </p:tavLst>
                                    </p:anim>
                                  </p:childTnLst>
                                </p:cTn>
                              </p:par>
                              <p:par>
                                <p:cTn id="18" presetID="42" presetClass="entr" presetSubtype="0" decel="100000" fill="hold" grpId="0" nodeType="withEffect">
                                  <p:stCondLst>
                                    <p:cond delay="25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650" fill="hold"/>
                                        <p:tgtEl>
                                          <p:spTgt spid="8"/>
                                        </p:tgtEl>
                                      </p:cBhvr>
                                    </p:animEffect>
                                    <p:anim calcmode="lin" valueType="num">
                                      <p:cBhvr additive="base">
                                        <p:cTn id="21" dur="650" fill="hold"/>
                                        <p:tgtEl>
                                          <p:spTgt spid="8"/>
                                        </p:tgtEl>
                                        <p:attrNameLst>
                                          <p:attrName>ppt_x</p:attrName>
                                        </p:attrNameLst>
                                      </p:cBhvr>
                                      <p:tavLst>
                                        <p:tav tm="0">
                                          <p:val>
                                            <p:strVal val="#ppt_x"/>
                                          </p:val>
                                        </p:tav>
                                        <p:tav tm="100000">
                                          <p:val>
                                            <p:strVal val="#ppt_x"/>
                                          </p:val>
                                        </p:tav>
                                      </p:tavLst>
                                    </p:anim>
                                    <p:anim calcmode="lin" valueType="num">
                                      <p:cBhvr additive="base">
                                        <p:cTn id="22" dur="650" fill="hold"/>
                                        <p:tgtEl>
                                          <p:spTgt spid="8"/>
                                        </p:tgtEl>
                                        <p:attrNameLst>
                                          <p:attrName>ppt_y</p:attrName>
                                        </p:attrNameLst>
                                      </p:cBhvr>
                                      <p:tavLst>
                                        <p:tav tm="0">
                                          <p:val>
                                            <p:strVal val="#ppt_y+.06"/>
                                          </p:val>
                                        </p:tav>
                                        <p:tav tm="100000">
                                          <p:val>
                                            <p:strVal val="#ppt_y"/>
                                          </p:val>
                                        </p:tav>
                                      </p:tavLst>
                                    </p:anim>
                                  </p:childTnLst>
                                </p:cTn>
                              </p:par>
                              <p:par>
                                <p:cTn id="23" presetID="42" presetClass="entr" presetSubtype="0" decel="100000" fill="hold" grpId="0" nodeType="withEffect">
                                  <p:stCondLst>
                                    <p:cond delay="25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650" fill="hold"/>
                                        <p:tgtEl>
                                          <p:spTgt spid="9"/>
                                        </p:tgtEl>
                                      </p:cBhvr>
                                    </p:animEffect>
                                    <p:anim calcmode="lin" valueType="num">
                                      <p:cBhvr additive="base">
                                        <p:cTn id="26" dur="650" fill="hold"/>
                                        <p:tgtEl>
                                          <p:spTgt spid="9"/>
                                        </p:tgtEl>
                                        <p:attrNameLst>
                                          <p:attrName>ppt_x</p:attrName>
                                        </p:attrNameLst>
                                      </p:cBhvr>
                                      <p:tavLst>
                                        <p:tav tm="0">
                                          <p:val>
                                            <p:strVal val="#ppt_x"/>
                                          </p:val>
                                        </p:tav>
                                        <p:tav tm="100000">
                                          <p:val>
                                            <p:strVal val="#ppt_x"/>
                                          </p:val>
                                        </p:tav>
                                      </p:tavLst>
                                    </p:anim>
                                    <p:anim calcmode="lin" valueType="num">
                                      <p:cBhvr additive="base">
                                        <p:cTn id="27" dur="650" fill="hold"/>
                                        <p:tgtEl>
                                          <p:spTgt spid="9"/>
                                        </p:tgtEl>
                                        <p:attrNameLst>
                                          <p:attrName>ppt_y</p:attrName>
                                        </p:attrNameLst>
                                      </p:cBhvr>
                                      <p:tavLst>
                                        <p:tav tm="0">
                                          <p:val>
                                            <p:strVal val="#ppt_y+.06"/>
                                          </p:val>
                                        </p:tav>
                                        <p:tav tm="100000">
                                          <p:val>
                                            <p:strVal val="#ppt_y"/>
                                          </p:val>
                                        </p:tav>
                                      </p:tavLst>
                                    </p:anim>
                                  </p:childTnLst>
                                </p:cTn>
                              </p:par>
                              <p:par>
                                <p:cTn id="28" presetID="53" presetClass="entr" presetSubtype="16" decel="100000" fill="hold" grpId="0" nodeType="withEffect">
                                  <p:stCondLst>
                                    <p:cond delay="400"/>
                                  </p:stCondLst>
                                  <p:childTnLst>
                                    <p:set>
                                      <p:cBhvr>
                                        <p:cTn id="29" dur="1" fill="hold">
                                          <p:stCondLst>
                                            <p:cond delay="0"/>
                                          </p:stCondLst>
                                        </p:cTn>
                                        <p:tgtEl>
                                          <p:spTgt spid="10"/>
                                        </p:tgtEl>
                                        <p:attrNameLst>
                                          <p:attrName>style.visibility</p:attrName>
                                        </p:attrNameLst>
                                      </p:cBhvr>
                                      <p:to>
                                        <p:strVal val="visible"/>
                                      </p:to>
                                    </p:set>
                                    <p:anim calcmode="lin" valueType="num">
                                      <p:cBhvr additive="base">
                                        <p:cTn id="30" dur="450" fill="hold"/>
                                        <p:tgtEl>
                                          <p:spTgt spid="10"/>
                                        </p:tgtEl>
                                        <p:attrNameLst>
                                          <p:attrName>ppt_w</p:attrName>
                                        </p:attrNameLst>
                                      </p:cBhvr>
                                      <p:tavLst>
                                        <p:tav tm="0">
                                          <p:val>
                                            <p:strVal val="0"/>
                                          </p:val>
                                        </p:tav>
                                        <p:tav tm="70000">
                                          <p:val>
                                            <p:strVal val="#ppt_w*1.08"/>
                                          </p:val>
                                        </p:tav>
                                        <p:tav tm="100000">
                                          <p:val>
                                            <p:strVal val="#ppt_w"/>
                                          </p:val>
                                        </p:tav>
                                      </p:tavLst>
                                    </p:anim>
                                    <p:anim calcmode="lin" valueType="num">
                                      <p:cBhvr additive="base">
                                        <p:cTn id="31" dur="450" fill="hold"/>
                                        <p:tgtEl>
                                          <p:spTgt spid="10"/>
                                        </p:tgtEl>
                                        <p:attrNameLst>
                                          <p:attrName>ppt_h</p:attrName>
                                        </p:attrNameLst>
                                      </p:cBhvr>
                                      <p:tavLst>
                                        <p:tav tm="0">
                                          <p:val>
                                            <p:strVal val="0"/>
                                          </p:val>
                                        </p:tav>
                                        <p:tav tm="70000">
                                          <p:val>
                                            <p:strVal val="#ppt_h*1.08"/>
                                          </p:val>
                                        </p:tav>
                                        <p:tav tm="100000">
                                          <p:val>
                                            <p:strVal val="#ppt_h"/>
                                          </p:val>
                                        </p:tav>
                                      </p:tavLst>
                                    </p:anim>
                                    <p:animEffect transition="in" filter="fade">
                                      <p:cBhvr>
                                        <p:cTn id="32" dur="270" fill="hold"/>
                                        <p:tgtEl>
                                          <p:spTgt spid="10"/>
                                        </p:tgtEl>
                                      </p:cBhvr>
                                    </p:animEffect>
                                  </p:childTnLst>
                                </p:cTn>
                              </p:par>
                              <p:par>
                                <p:cTn id="33" presetID="42" presetClass="entr" presetSubtype="0" decel="100000" fill="hold" grpId="0" nodeType="withEffect">
                                  <p:stCondLst>
                                    <p:cond delay="65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650" fill="hold"/>
                                        <p:tgtEl>
                                          <p:spTgt spid="11"/>
                                        </p:tgtEl>
                                      </p:cBhvr>
                                    </p:animEffect>
                                    <p:anim calcmode="lin" valueType="num">
                                      <p:cBhvr additive="base">
                                        <p:cTn id="36" dur="650" fill="hold"/>
                                        <p:tgtEl>
                                          <p:spTgt spid="11"/>
                                        </p:tgtEl>
                                        <p:attrNameLst>
                                          <p:attrName>ppt_x</p:attrName>
                                        </p:attrNameLst>
                                      </p:cBhvr>
                                      <p:tavLst>
                                        <p:tav tm="0">
                                          <p:val>
                                            <p:strVal val="#ppt_x"/>
                                          </p:val>
                                        </p:tav>
                                        <p:tav tm="100000">
                                          <p:val>
                                            <p:strVal val="#ppt_x"/>
                                          </p:val>
                                        </p:tav>
                                      </p:tavLst>
                                    </p:anim>
                                    <p:anim calcmode="lin" valueType="num">
                                      <p:cBhvr additive="base">
                                        <p:cTn id="37" dur="650" fill="hold"/>
                                        <p:tgtEl>
                                          <p:spTgt spid="11"/>
                                        </p:tgtEl>
                                        <p:attrNameLst>
                                          <p:attrName>ppt_y</p:attrName>
                                        </p:attrNameLst>
                                      </p:cBhvr>
                                      <p:tavLst>
                                        <p:tav tm="0">
                                          <p:val>
                                            <p:strVal val="#ppt_y+.06"/>
                                          </p:val>
                                        </p:tav>
                                        <p:tav tm="100000">
                                          <p:val>
                                            <p:strVal val="#ppt_y"/>
                                          </p:val>
                                        </p:tav>
                                      </p:tavLst>
                                    </p:anim>
                                  </p:childTnLst>
                                </p:cTn>
                              </p:par>
                              <p:par>
                                <p:cTn id="38" presetID="42" presetClass="entr" presetSubtype="0" decel="100000" fill="hold" grpId="0" nodeType="withEffect">
                                  <p:stCondLst>
                                    <p:cond delay="65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650" fill="hold"/>
                                        <p:tgtEl>
                                          <p:spTgt spid="12"/>
                                        </p:tgtEl>
                                      </p:cBhvr>
                                    </p:animEffect>
                                    <p:anim calcmode="lin" valueType="num">
                                      <p:cBhvr additive="base">
                                        <p:cTn id="41" dur="650" fill="hold"/>
                                        <p:tgtEl>
                                          <p:spTgt spid="12"/>
                                        </p:tgtEl>
                                        <p:attrNameLst>
                                          <p:attrName>ppt_x</p:attrName>
                                        </p:attrNameLst>
                                      </p:cBhvr>
                                      <p:tavLst>
                                        <p:tav tm="0">
                                          <p:val>
                                            <p:strVal val="#ppt_x"/>
                                          </p:val>
                                        </p:tav>
                                        <p:tav tm="100000">
                                          <p:val>
                                            <p:strVal val="#ppt_x"/>
                                          </p:val>
                                        </p:tav>
                                      </p:tavLst>
                                    </p:anim>
                                    <p:anim calcmode="lin" valueType="num">
                                      <p:cBhvr additive="base">
                                        <p:cTn id="42" dur="650" fill="hold"/>
                                        <p:tgtEl>
                                          <p:spTgt spid="12"/>
                                        </p:tgtEl>
                                        <p:attrNameLst>
                                          <p:attrName>ppt_y</p:attrName>
                                        </p:attrNameLst>
                                      </p:cBhvr>
                                      <p:tavLst>
                                        <p:tav tm="0">
                                          <p:val>
                                            <p:strVal val="#ppt_y+.06"/>
                                          </p:val>
                                        </p:tav>
                                        <p:tav tm="100000">
                                          <p:val>
                                            <p:strVal val="#ppt_y"/>
                                          </p:val>
                                        </p:tav>
                                      </p:tavLst>
                                    </p:anim>
                                  </p:childTnLst>
                                </p:cTn>
                              </p:par>
                              <p:par>
                                <p:cTn id="43" presetID="42" presetClass="entr" presetSubtype="0" decel="100000" fill="hold" grpId="0" nodeType="withEffect">
                                  <p:stCondLst>
                                    <p:cond delay="65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650" fill="hold"/>
                                        <p:tgtEl>
                                          <p:spTgt spid="13"/>
                                        </p:tgtEl>
                                      </p:cBhvr>
                                    </p:animEffect>
                                    <p:anim calcmode="lin" valueType="num">
                                      <p:cBhvr additive="base">
                                        <p:cTn id="46" dur="650" fill="hold"/>
                                        <p:tgtEl>
                                          <p:spTgt spid="13"/>
                                        </p:tgtEl>
                                        <p:attrNameLst>
                                          <p:attrName>ppt_x</p:attrName>
                                        </p:attrNameLst>
                                      </p:cBhvr>
                                      <p:tavLst>
                                        <p:tav tm="0">
                                          <p:val>
                                            <p:strVal val="#ppt_x"/>
                                          </p:val>
                                        </p:tav>
                                        <p:tav tm="100000">
                                          <p:val>
                                            <p:strVal val="#ppt_x"/>
                                          </p:val>
                                        </p:tav>
                                      </p:tavLst>
                                    </p:anim>
                                    <p:anim calcmode="lin" valueType="num">
                                      <p:cBhvr additive="base">
                                        <p:cTn id="47" dur="650" fill="hold"/>
                                        <p:tgtEl>
                                          <p:spTgt spid="13"/>
                                        </p:tgtEl>
                                        <p:attrNameLst>
                                          <p:attrName>ppt_y</p:attrName>
                                        </p:attrNameLst>
                                      </p:cBhvr>
                                      <p:tavLst>
                                        <p:tav tm="0">
                                          <p:val>
                                            <p:strVal val="#ppt_y+.06"/>
                                          </p:val>
                                        </p:tav>
                                        <p:tav tm="100000">
                                          <p:val>
                                            <p:strVal val="#ppt_y"/>
                                          </p:val>
                                        </p:tav>
                                      </p:tavLst>
                                    </p:anim>
                                  </p:childTnLst>
                                </p:cTn>
                              </p:par>
                              <p:par>
                                <p:cTn id="48" presetID="42" presetClass="entr" presetSubtype="0" decel="100000" fill="hold" grpId="0" nodeType="withEffect">
                                  <p:stCondLst>
                                    <p:cond delay="65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650" fill="hold"/>
                                        <p:tgtEl>
                                          <p:spTgt spid="14"/>
                                        </p:tgtEl>
                                      </p:cBhvr>
                                    </p:animEffect>
                                    <p:anim calcmode="lin" valueType="num">
                                      <p:cBhvr additive="base">
                                        <p:cTn id="51" dur="650" fill="hold"/>
                                        <p:tgtEl>
                                          <p:spTgt spid="14"/>
                                        </p:tgtEl>
                                        <p:attrNameLst>
                                          <p:attrName>ppt_x</p:attrName>
                                        </p:attrNameLst>
                                      </p:cBhvr>
                                      <p:tavLst>
                                        <p:tav tm="0">
                                          <p:val>
                                            <p:strVal val="#ppt_x"/>
                                          </p:val>
                                        </p:tav>
                                        <p:tav tm="100000">
                                          <p:val>
                                            <p:strVal val="#ppt_x"/>
                                          </p:val>
                                        </p:tav>
                                      </p:tavLst>
                                    </p:anim>
                                    <p:anim calcmode="lin" valueType="num">
                                      <p:cBhvr additive="base">
                                        <p:cTn id="52" dur="650" fill="hold"/>
                                        <p:tgtEl>
                                          <p:spTgt spid="14"/>
                                        </p:tgtEl>
                                        <p:attrNameLst>
                                          <p:attrName>ppt_y</p:attrName>
                                        </p:attrNameLst>
                                      </p:cBhvr>
                                      <p:tavLst>
                                        <p:tav tm="0">
                                          <p:val>
                                            <p:strVal val="#ppt_y+.06"/>
                                          </p:val>
                                        </p:tav>
                                        <p:tav tm="100000">
                                          <p:val>
                                            <p:strVal val="#ppt_y"/>
                                          </p:val>
                                        </p:tav>
                                      </p:tavLst>
                                    </p:anim>
                                  </p:childTnLst>
                                </p:cTn>
                              </p:par>
                              <p:par>
                                <p:cTn id="53" presetID="53" presetClass="entr" presetSubtype="16" decel="100000" fill="hold" grpId="0" nodeType="withEffect">
                                  <p:stCondLst>
                                    <p:cond delay="800"/>
                                  </p:stCondLst>
                                  <p:childTnLst>
                                    <p:set>
                                      <p:cBhvr>
                                        <p:cTn id="54" dur="1" fill="hold">
                                          <p:stCondLst>
                                            <p:cond delay="0"/>
                                          </p:stCondLst>
                                        </p:cTn>
                                        <p:tgtEl>
                                          <p:spTgt spid="15"/>
                                        </p:tgtEl>
                                        <p:attrNameLst>
                                          <p:attrName>style.visibility</p:attrName>
                                        </p:attrNameLst>
                                      </p:cBhvr>
                                      <p:to>
                                        <p:strVal val="visible"/>
                                      </p:to>
                                    </p:set>
                                    <p:anim calcmode="lin" valueType="num">
                                      <p:cBhvr additive="base">
                                        <p:cTn id="55" dur="450" fill="hold"/>
                                        <p:tgtEl>
                                          <p:spTgt spid="15"/>
                                        </p:tgtEl>
                                        <p:attrNameLst>
                                          <p:attrName>ppt_w</p:attrName>
                                        </p:attrNameLst>
                                      </p:cBhvr>
                                      <p:tavLst>
                                        <p:tav tm="0">
                                          <p:val>
                                            <p:strVal val="0"/>
                                          </p:val>
                                        </p:tav>
                                        <p:tav tm="70000">
                                          <p:val>
                                            <p:strVal val="#ppt_w*1.08"/>
                                          </p:val>
                                        </p:tav>
                                        <p:tav tm="100000">
                                          <p:val>
                                            <p:strVal val="#ppt_w"/>
                                          </p:val>
                                        </p:tav>
                                      </p:tavLst>
                                    </p:anim>
                                    <p:anim calcmode="lin" valueType="num">
                                      <p:cBhvr additive="base">
                                        <p:cTn id="56" dur="450" fill="hold"/>
                                        <p:tgtEl>
                                          <p:spTgt spid="15"/>
                                        </p:tgtEl>
                                        <p:attrNameLst>
                                          <p:attrName>ppt_h</p:attrName>
                                        </p:attrNameLst>
                                      </p:cBhvr>
                                      <p:tavLst>
                                        <p:tav tm="0">
                                          <p:val>
                                            <p:strVal val="0"/>
                                          </p:val>
                                        </p:tav>
                                        <p:tav tm="70000">
                                          <p:val>
                                            <p:strVal val="#ppt_h*1.08"/>
                                          </p:val>
                                        </p:tav>
                                        <p:tav tm="100000">
                                          <p:val>
                                            <p:strVal val="#ppt_h"/>
                                          </p:val>
                                        </p:tav>
                                      </p:tavLst>
                                    </p:anim>
                                    <p:animEffect transition="in" filter="fade">
                                      <p:cBhvr>
                                        <p:cTn id="57" dur="270" fill="hold"/>
                                        <p:tgtEl>
                                          <p:spTgt spid="15"/>
                                        </p:tgtEl>
                                      </p:cBhvr>
                                    </p:animEffect>
                                  </p:childTnLst>
                                </p:cTn>
                              </p:par>
                              <p:par>
                                <p:cTn id="58" presetID="42" presetClass="entr" presetSubtype="0" decel="100000" fill="hold" grpId="0" nodeType="withEffect">
                                  <p:stCondLst>
                                    <p:cond delay="105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650" fill="hold"/>
                                        <p:tgtEl>
                                          <p:spTgt spid="16"/>
                                        </p:tgtEl>
                                      </p:cBhvr>
                                    </p:animEffect>
                                    <p:anim calcmode="lin" valueType="num">
                                      <p:cBhvr additive="base">
                                        <p:cTn id="61" dur="650" fill="hold"/>
                                        <p:tgtEl>
                                          <p:spTgt spid="16"/>
                                        </p:tgtEl>
                                        <p:attrNameLst>
                                          <p:attrName>ppt_x</p:attrName>
                                        </p:attrNameLst>
                                      </p:cBhvr>
                                      <p:tavLst>
                                        <p:tav tm="0">
                                          <p:val>
                                            <p:strVal val="#ppt_x"/>
                                          </p:val>
                                        </p:tav>
                                        <p:tav tm="100000">
                                          <p:val>
                                            <p:strVal val="#ppt_x"/>
                                          </p:val>
                                        </p:tav>
                                      </p:tavLst>
                                    </p:anim>
                                    <p:anim calcmode="lin" valueType="num">
                                      <p:cBhvr additive="base">
                                        <p:cTn id="62" dur="650" fill="hold"/>
                                        <p:tgtEl>
                                          <p:spTgt spid="16"/>
                                        </p:tgtEl>
                                        <p:attrNameLst>
                                          <p:attrName>ppt_y</p:attrName>
                                        </p:attrNameLst>
                                      </p:cBhvr>
                                      <p:tavLst>
                                        <p:tav tm="0">
                                          <p:val>
                                            <p:strVal val="#ppt_y+.06"/>
                                          </p:val>
                                        </p:tav>
                                        <p:tav tm="100000">
                                          <p:val>
                                            <p:strVal val="#ppt_y"/>
                                          </p:val>
                                        </p:tav>
                                      </p:tavLst>
                                    </p:anim>
                                  </p:childTnLst>
                                </p:cTn>
                              </p:par>
                              <p:par>
                                <p:cTn id="63" presetID="42" presetClass="entr" presetSubtype="0" decel="100000" fill="hold" grpId="0" nodeType="withEffect">
                                  <p:stCondLst>
                                    <p:cond delay="1050"/>
                                  </p:stCondLst>
                                  <p:childTnLst>
                                    <p:set>
                                      <p:cBhvr>
                                        <p:cTn id="64" dur="1" fill="hold">
                                          <p:stCondLst>
                                            <p:cond delay="0"/>
                                          </p:stCondLst>
                                        </p:cTn>
                                        <p:tgtEl>
                                          <p:spTgt spid="17"/>
                                        </p:tgtEl>
                                        <p:attrNameLst>
                                          <p:attrName>style.visibility</p:attrName>
                                        </p:attrNameLst>
                                      </p:cBhvr>
                                      <p:to>
                                        <p:strVal val="visible"/>
                                      </p:to>
                                    </p:set>
                                    <p:animEffect transition="in" filter="fade">
                                      <p:cBhvr>
                                        <p:cTn id="65" dur="650" fill="hold"/>
                                        <p:tgtEl>
                                          <p:spTgt spid="17"/>
                                        </p:tgtEl>
                                      </p:cBhvr>
                                    </p:animEffect>
                                    <p:anim calcmode="lin" valueType="num">
                                      <p:cBhvr additive="base">
                                        <p:cTn id="66" dur="650" fill="hold"/>
                                        <p:tgtEl>
                                          <p:spTgt spid="17"/>
                                        </p:tgtEl>
                                        <p:attrNameLst>
                                          <p:attrName>ppt_x</p:attrName>
                                        </p:attrNameLst>
                                      </p:cBhvr>
                                      <p:tavLst>
                                        <p:tav tm="0">
                                          <p:val>
                                            <p:strVal val="#ppt_x"/>
                                          </p:val>
                                        </p:tav>
                                        <p:tav tm="100000">
                                          <p:val>
                                            <p:strVal val="#ppt_x"/>
                                          </p:val>
                                        </p:tav>
                                      </p:tavLst>
                                    </p:anim>
                                    <p:anim calcmode="lin" valueType="num">
                                      <p:cBhvr additive="base">
                                        <p:cTn id="67" dur="650" fill="hold"/>
                                        <p:tgtEl>
                                          <p:spTgt spid="17"/>
                                        </p:tgtEl>
                                        <p:attrNameLst>
                                          <p:attrName>ppt_y</p:attrName>
                                        </p:attrNameLst>
                                      </p:cBhvr>
                                      <p:tavLst>
                                        <p:tav tm="0">
                                          <p:val>
                                            <p:strVal val="#ppt_y+.06"/>
                                          </p:val>
                                        </p:tav>
                                        <p:tav tm="100000">
                                          <p:val>
                                            <p:strVal val="#ppt_y"/>
                                          </p:val>
                                        </p:tav>
                                      </p:tavLst>
                                    </p:anim>
                                  </p:childTnLst>
                                </p:cTn>
                              </p:par>
                              <p:par>
                                <p:cTn id="68" presetID="42" presetClass="entr" presetSubtype="0" decel="100000" fill="hold" grpId="0" nodeType="withEffect">
                                  <p:stCondLst>
                                    <p:cond delay="105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650" fill="hold"/>
                                        <p:tgtEl>
                                          <p:spTgt spid="18"/>
                                        </p:tgtEl>
                                      </p:cBhvr>
                                    </p:animEffect>
                                    <p:anim calcmode="lin" valueType="num">
                                      <p:cBhvr additive="base">
                                        <p:cTn id="71" dur="650" fill="hold"/>
                                        <p:tgtEl>
                                          <p:spTgt spid="18"/>
                                        </p:tgtEl>
                                        <p:attrNameLst>
                                          <p:attrName>ppt_x</p:attrName>
                                        </p:attrNameLst>
                                      </p:cBhvr>
                                      <p:tavLst>
                                        <p:tav tm="0">
                                          <p:val>
                                            <p:strVal val="#ppt_x"/>
                                          </p:val>
                                        </p:tav>
                                        <p:tav tm="100000">
                                          <p:val>
                                            <p:strVal val="#ppt_x"/>
                                          </p:val>
                                        </p:tav>
                                      </p:tavLst>
                                    </p:anim>
                                    <p:anim calcmode="lin" valueType="num">
                                      <p:cBhvr additive="base">
                                        <p:cTn id="72" dur="650" fill="hold"/>
                                        <p:tgtEl>
                                          <p:spTgt spid="18"/>
                                        </p:tgtEl>
                                        <p:attrNameLst>
                                          <p:attrName>ppt_y</p:attrName>
                                        </p:attrNameLst>
                                      </p:cBhvr>
                                      <p:tavLst>
                                        <p:tav tm="0">
                                          <p:val>
                                            <p:strVal val="#ppt_y+.06"/>
                                          </p:val>
                                        </p:tav>
                                        <p:tav tm="100000">
                                          <p:val>
                                            <p:strVal val="#ppt_y"/>
                                          </p:val>
                                        </p:tav>
                                      </p:tavLst>
                                    </p:anim>
                                  </p:childTnLst>
                                </p:cTn>
                              </p:par>
                              <p:par>
                                <p:cTn id="73" presetID="42" presetClass="entr" presetSubtype="0" decel="100000" fill="hold" grpId="0" nodeType="withEffect">
                                  <p:stCondLst>
                                    <p:cond delay="105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650" fill="hold"/>
                                        <p:tgtEl>
                                          <p:spTgt spid="19"/>
                                        </p:tgtEl>
                                      </p:cBhvr>
                                    </p:animEffect>
                                    <p:anim calcmode="lin" valueType="num">
                                      <p:cBhvr additive="base">
                                        <p:cTn id="76" dur="650" fill="hold"/>
                                        <p:tgtEl>
                                          <p:spTgt spid="19"/>
                                        </p:tgtEl>
                                        <p:attrNameLst>
                                          <p:attrName>ppt_x</p:attrName>
                                        </p:attrNameLst>
                                      </p:cBhvr>
                                      <p:tavLst>
                                        <p:tav tm="0">
                                          <p:val>
                                            <p:strVal val="#ppt_x"/>
                                          </p:val>
                                        </p:tav>
                                        <p:tav tm="100000">
                                          <p:val>
                                            <p:strVal val="#ppt_x"/>
                                          </p:val>
                                        </p:tav>
                                      </p:tavLst>
                                    </p:anim>
                                    <p:anim calcmode="lin" valueType="num">
                                      <p:cBhvr additive="base">
                                        <p:cTn id="77" dur="650" fill="hold"/>
                                        <p:tgtEl>
                                          <p:spTgt spid="19"/>
                                        </p:tgtEl>
                                        <p:attrNameLst>
                                          <p:attrName>ppt_y</p:attrName>
                                        </p:attrNameLst>
                                      </p:cBhvr>
                                      <p:tavLst>
                                        <p:tav tm="0">
                                          <p:val>
                                            <p:strVal val="#ppt_y+.06"/>
                                          </p:val>
                                        </p:tav>
                                        <p:tav tm="100000">
                                          <p:val>
                                            <p:strVal val="#ppt_y"/>
                                          </p:val>
                                        </p:tav>
                                      </p:tavLst>
                                    </p:anim>
                                  </p:childTnLst>
                                </p:cTn>
                              </p:par>
                              <p:par>
                                <p:cTn id="78" presetID="53" presetClass="entr" presetSubtype="16" decel="100000" fill="hold" grpId="0" nodeType="withEffect">
                                  <p:stCondLst>
                                    <p:cond delay="1200"/>
                                  </p:stCondLst>
                                  <p:childTnLst>
                                    <p:set>
                                      <p:cBhvr>
                                        <p:cTn id="79" dur="1" fill="hold">
                                          <p:stCondLst>
                                            <p:cond delay="0"/>
                                          </p:stCondLst>
                                        </p:cTn>
                                        <p:tgtEl>
                                          <p:spTgt spid="20"/>
                                        </p:tgtEl>
                                        <p:attrNameLst>
                                          <p:attrName>style.visibility</p:attrName>
                                        </p:attrNameLst>
                                      </p:cBhvr>
                                      <p:to>
                                        <p:strVal val="visible"/>
                                      </p:to>
                                    </p:set>
                                    <p:anim calcmode="lin" valueType="num">
                                      <p:cBhvr additive="base">
                                        <p:cTn id="80" dur="450" fill="hold"/>
                                        <p:tgtEl>
                                          <p:spTgt spid="20"/>
                                        </p:tgtEl>
                                        <p:attrNameLst>
                                          <p:attrName>ppt_w</p:attrName>
                                        </p:attrNameLst>
                                      </p:cBhvr>
                                      <p:tavLst>
                                        <p:tav tm="0">
                                          <p:val>
                                            <p:strVal val="0"/>
                                          </p:val>
                                        </p:tav>
                                        <p:tav tm="70000">
                                          <p:val>
                                            <p:strVal val="#ppt_w*1.08"/>
                                          </p:val>
                                        </p:tav>
                                        <p:tav tm="100000">
                                          <p:val>
                                            <p:strVal val="#ppt_w"/>
                                          </p:val>
                                        </p:tav>
                                      </p:tavLst>
                                    </p:anim>
                                    <p:anim calcmode="lin" valueType="num">
                                      <p:cBhvr additive="base">
                                        <p:cTn id="81" dur="450" fill="hold"/>
                                        <p:tgtEl>
                                          <p:spTgt spid="20"/>
                                        </p:tgtEl>
                                        <p:attrNameLst>
                                          <p:attrName>ppt_h</p:attrName>
                                        </p:attrNameLst>
                                      </p:cBhvr>
                                      <p:tavLst>
                                        <p:tav tm="0">
                                          <p:val>
                                            <p:strVal val="0"/>
                                          </p:val>
                                        </p:tav>
                                        <p:tav tm="70000">
                                          <p:val>
                                            <p:strVal val="#ppt_h*1.08"/>
                                          </p:val>
                                        </p:tav>
                                        <p:tav tm="100000">
                                          <p:val>
                                            <p:strVal val="#ppt_h"/>
                                          </p:val>
                                        </p:tav>
                                      </p:tavLst>
                                    </p:anim>
                                    <p:animEffect transition="in" filter="fade">
                                      <p:cBhvr>
                                        <p:cTn id="82" dur="270" fill="hold"/>
                                        <p:tgtEl>
                                          <p:spTgt spid="20"/>
                                        </p:tgtEl>
                                      </p:cBhvr>
                                    </p:animEffect>
                                  </p:childTnLst>
                                </p:cTn>
                              </p:par>
                              <p:par>
                                <p:cTn id="83" presetID="42" presetClass="entr" presetSubtype="0" decel="100000" fill="hold" grpId="0" nodeType="withEffect">
                                  <p:stCondLst>
                                    <p:cond delay="1450"/>
                                  </p:stCondLst>
                                  <p:childTnLst>
                                    <p:set>
                                      <p:cBhvr>
                                        <p:cTn id="84" dur="1" fill="hold">
                                          <p:stCondLst>
                                            <p:cond delay="0"/>
                                          </p:stCondLst>
                                        </p:cTn>
                                        <p:tgtEl>
                                          <p:spTgt spid="21"/>
                                        </p:tgtEl>
                                        <p:attrNameLst>
                                          <p:attrName>style.visibility</p:attrName>
                                        </p:attrNameLst>
                                      </p:cBhvr>
                                      <p:to>
                                        <p:strVal val="visible"/>
                                      </p:to>
                                    </p:set>
                                    <p:animEffect transition="in" filter="fade">
                                      <p:cBhvr>
                                        <p:cTn id="85" dur="650" fill="hold"/>
                                        <p:tgtEl>
                                          <p:spTgt spid="21"/>
                                        </p:tgtEl>
                                      </p:cBhvr>
                                    </p:animEffect>
                                    <p:anim calcmode="lin" valueType="num">
                                      <p:cBhvr additive="base">
                                        <p:cTn id="86" dur="650" fill="hold"/>
                                        <p:tgtEl>
                                          <p:spTgt spid="21"/>
                                        </p:tgtEl>
                                        <p:attrNameLst>
                                          <p:attrName>ppt_x</p:attrName>
                                        </p:attrNameLst>
                                      </p:cBhvr>
                                      <p:tavLst>
                                        <p:tav tm="0">
                                          <p:val>
                                            <p:strVal val="#ppt_x"/>
                                          </p:val>
                                        </p:tav>
                                        <p:tav tm="100000">
                                          <p:val>
                                            <p:strVal val="#ppt_x"/>
                                          </p:val>
                                        </p:tav>
                                      </p:tavLst>
                                    </p:anim>
                                    <p:anim calcmode="lin" valueType="num">
                                      <p:cBhvr additive="base">
                                        <p:cTn id="87" dur="650" fill="hold"/>
                                        <p:tgtEl>
                                          <p:spTgt spid="21"/>
                                        </p:tgtEl>
                                        <p:attrNameLst>
                                          <p:attrName>ppt_y</p:attrName>
                                        </p:attrNameLst>
                                      </p:cBhvr>
                                      <p:tavLst>
                                        <p:tav tm="0">
                                          <p:val>
                                            <p:strVal val="#ppt_y+.06"/>
                                          </p:val>
                                        </p:tav>
                                        <p:tav tm="100000">
                                          <p:val>
                                            <p:strVal val="#ppt_y"/>
                                          </p:val>
                                        </p:tav>
                                      </p:tavLst>
                                    </p:anim>
                                  </p:childTnLst>
                                </p:cTn>
                              </p:par>
                              <p:par>
                                <p:cTn id="88" presetID="42" presetClass="entr" presetSubtype="0" decel="100000" fill="hold" grpId="0" nodeType="withEffect">
                                  <p:stCondLst>
                                    <p:cond delay="1450"/>
                                  </p:stCondLst>
                                  <p:childTnLst>
                                    <p:set>
                                      <p:cBhvr>
                                        <p:cTn id="89" dur="1" fill="hold">
                                          <p:stCondLst>
                                            <p:cond delay="0"/>
                                          </p:stCondLst>
                                        </p:cTn>
                                        <p:tgtEl>
                                          <p:spTgt spid="22"/>
                                        </p:tgtEl>
                                        <p:attrNameLst>
                                          <p:attrName>style.visibility</p:attrName>
                                        </p:attrNameLst>
                                      </p:cBhvr>
                                      <p:to>
                                        <p:strVal val="visible"/>
                                      </p:to>
                                    </p:set>
                                    <p:animEffect transition="in" filter="fade">
                                      <p:cBhvr>
                                        <p:cTn id="90" dur="650" fill="hold"/>
                                        <p:tgtEl>
                                          <p:spTgt spid="22"/>
                                        </p:tgtEl>
                                      </p:cBhvr>
                                    </p:animEffect>
                                    <p:anim calcmode="lin" valueType="num">
                                      <p:cBhvr additive="base">
                                        <p:cTn id="91" dur="650" fill="hold"/>
                                        <p:tgtEl>
                                          <p:spTgt spid="22"/>
                                        </p:tgtEl>
                                        <p:attrNameLst>
                                          <p:attrName>ppt_x</p:attrName>
                                        </p:attrNameLst>
                                      </p:cBhvr>
                                      <p:tavLst>
                                        <p:tav tm="0">
                                          <p:val>
                                            <p:strVal val="#ppt_x"/>
                                          </p:val>
                                        </p:tav>
                                        <p:tav tm="100000">
                                          <p:val>
                                            <p:strVal val="#ppt_x"/>
                                          </p:val>
                                        </p:tav>
                                      </p:tavLst>
                                    </p:anim>
                                    <p:anim calcmode="lin" valueType="num">
                                      <p:cBhvr additive="base">
                                        <p:cTn id="92" dur="650" fill="hold"/>
                                        <p:tgtEl>
                                          <p:spTgt spid="22"/>
                                        </p:tgtEl>
                                        <p:attrNameLst>
                                          <p:attrName>ppt_y</p:attrName>
                                        </p:attrNameLst>
                                      </p:cBhvr>
                                      <p:tavLst>
                                        <p:tav tm="0">
                                          <p:val>
                                            <p:strVal val="#ppt_y+.06"/>
                                          </p:val>
                                        </p:tav>
                                        <p:tav tm="100000">
                                          <p:val>
                                            <p:strVal val="#ppt_y"/>
                                          </p:val>
                                        </p:tav>
                                      </p:tavLst>
                                    </p:anim>
                                  </p:childTnLst>
                                </p:cTn>
                              </p:par>
                              <p:par>
                                <p:cTn id="93" presetID="42" presetClass="entr" presetSubtype="0" decel="100000" fill="hold" grpId="0" nodeType="withEffect">
                                  <p:stCondLst>
                                    <p:cond delay="1450"/>
                                  </p:stCondLst>
                                  <p:childTnLst>
                                    <p:set>
                                      <p:cBhvr>
                                        <p:cTn id="94" dur="1" fill="hold">
                                          <p:stCondLst>
                                            <p:cond delay="0"/>
                                          </p:stCondLst>
                                        </p:cTn>
                                        <p:tgtEl>
                                          <p:spTgt spid="23"/>
                                        </p:tgtEl>
                                        <p:attrNameLst>
                                          <p:attrName>style.visibility</p:attrName>
                                        </p:attrNameLst>
                                      </p:cBhvr>
                                      <p:to>
                                        <p:strVal val="visible"/>
                                      </p:to>
                                    </p:set>
                                    <p:animEffect transition="in" filter="fade">
                                      <p:cBhvr>
                                        <p:cTn id="95" dur="650" fill="hold"/>
                                        <p:tgtEl>
                                          <p:spTgt spid="23"/>
                                        </p:tgtEl>
                                      </p:cBhvr>
                                    </p:animEffect>
                                    <p:anim calcmode="lin" valueType="num">
                                      <p:cBhvr additive="base">
                                        <p:cTn id="96" dur="650" fill="hold"/>
                                        <p:tgtEl>
                                          <p:spTgt spid="23"/>
                                        </p:tgtEl>
                                        <p:attrNameLst>
                                          <p:attrName>ppt_x</p:attrName>
                                        </p:attrNameLst>
                                      </p:cBhvr>
                                      <p:tavLst>
                                        <p:tav tm="0">
                                          <p:val>
                                            <p:strVal val="#ppt_x"/>
                                          </p:val>
                                        </p:tav>
                                        <p:tav tm="100000">
                                          <p:val>
                                            <p:strVal val="#ppt_x"/>
                                          </p:val>
                                        </p:tav>
                                      </p:tavLst>
                                    </p:anim>
                                    <p:anim calcmode="lin" valueType="num">
                                      <p:cBhvr additive="base">
                                        <p:cTn id="97" dur="650" fill="hold"/>
                                        <p:tgtEl>
                                          <p:spTgt spid="23"/>
                                        </p:tgtEl>
                                        <p:attrNameLst>
                                          <p:attrName>ppt_y</p:attrName>
                                        </p:attrNameLst>
                                      </p:cBhvr>
                                      <p:tavLst>
                                        <p:tav tm="0">
                                          <p:val>
                                            <p:strVal val="#ppt_y+.06"/>
                                          </p:val>
                                        </p:tav>
                                        <p:tav tm="100000">
                                          <p:val>
                                            <p:strVal val="#ppt_y"/>
                                          </p:val>
                                        </p:tav>
                                      </p:tavLst>
                                    </p:anim>
                                  </p:childTnLst>
                                </p:cTn>
                              </p:par>
                              <p:par>
                                <p:cTn id="98" presetID="42" presetClass="entr" presetSubtype="0" decel="100000" fill="hold" grpId="0" nodeType="withEffect">
                                  <p:stCondLst>
                                    <p:cond delay="145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650" fill="hold"/>
                                        <p:tgtEl>
                                          <p:spTgt spid="24"/>
                                        </p:tgtEl>
                                      </p:cBhvr>
                                    </p:animEffect>
                                    <p:anim calcmode="lin" valueType="num">
                                      <p:cBhvr additive="base">
                                        <p:cTn id="101" dur="650" fill="hold"/>
                                        <p:tgtEl>
                                          <p:spTgt spid="24"/>
                                        </p:tgtEl>
                                        <p:attrNameLst>
                                          <p:attrName>ppt_x</p:attrName>
                                        </p:attrNameLst>
                                      </p:cBhvr>
                                      <p:tavLst>
                                        <p:tav tm="0">
                                          <p:val>
                                            <p:strVal val="#ppt_x"/>
                                          </p:val>
                                        </p:tav>
                                        <p:tav tm="100000">
                                          <p:val>
                                            <p:strVal val="#ppt_x"/>
                                          </p:val>
                                        </p:tav>
                                      </p:tavLst>
                                    </p:anim>
                                    <p:anim calcmode="lin" valueType="num">
                                      <p:cBhvr additive="base">
                                        <p:cTn id="102" dur="650" fill="hold"/>
                                        <p:tgtEl>
                                          <p:spTgt spid="24"/>
                                        </p:tgtEl>
                                        <p:attrNameLst>
                                          <p:attrName>ppt_y</p:attrName>
                                        </p:attrNameLst>
                                      </p:cBhvr>
                                      <p:tavLst>
                                        <p:tav tm="0">
                                          <p:val>
                                            <p:strVal val="#ppt_y+.06"/>
                                          </p:val>
                                        </p:tav>
                                        <p:tav tm="100000">
                                          <p:val>
                                            <p:strVal val="#ppt_y"/>
                                          </p:val>
                                        </p:tav>
                                      </p:tavLst>
                                    </p:anim>
                                  </p:childTnLst>
                                </p:cTn>
                              </p:par>
                              <p:par>
                                <p:cTn id="103" presetID="53" presetClass="entr" presetSubtype="16" decel="100000" fill="hold" grpId="0" nodeType="withEffect">
                                  <p:stCondLst>
                                    <p:cond delay="1600"/>
                                  </p:stCondLst>
                                  <p:childTnLst>
                                    <p:set>
                                      <p:cBhvr>
                                        <p:cTn id="104" dur="1" fill="hold">
                                          <p:stCondLst>
                                            <p:cond delay="0"/>
                                          </p:stCondLst>
                                        </p:cTn>
                                        <p:tgtEl>
                                          <p:spTgt spid="25"/>
                                        </p:tgtEl>
                                        <p:attrNameLst>
                                          <p:attrName>style.visibility</p:attrName>
                                        </p:attrNameLst>
                                      </p:cBhvr>
                                      <p:to>
                                        <p:strVal val="visible"/>
                                      </p:to>
                                    </p:set>
                                    <p:anim calcmode="lin" valueType="num">
                                      <p:cBhvr additive="base">
                                        <p:cTn id="105" dur="450" fill="hold"/>
                                        <p:tgtEl>
                                          <p:spTgt spid="25"/>
                                        </p:tgtEl>
                                        <p:attrNameLst>
                                          <p:attrName>ppt_w</p:attrName>
                                        </p:attrNameLst>
                                      </p:cBhvr>
                                      <p:tavLst>
                                        <p:tav tm="0">
                                          <p:val>
                                            <p:strVal val="0"/>
                                          </p:val>
                                        </p:tav>
                                        <p:tav tm="70000">
                                          <p:val>
                                            <p:strVal val="#ppt_w*1.08"/>
                                          </p:val>
                                        </p:tav>
                                        <p:tav tm="100000">
                                          <p:val>
                                            <p:strVal val="#ppt_w"/>
                                          </p:val>
                                        </p:tav>
                                      </p:tavLst>
                                    </p:anim>
                                    <p:anim calcmode="lin" valueType="num">
                                      <p:cBhvr additive="base">
                                        <p:cTn id="106" dur="450" fill="hold"/>
                                        <p:tgtEl>
                                          <p:spTgt spid="25"/>
                                        </p:tgtEl>
                                        <p:attrNameLst>
                                          <p:attrName>ppt_h</p:attrName>
                                        </p:attrNameLst>
                                      </p:cBhvr>
                                      <p:tavLst>
                                        <p:tav tm="0">
                                          <p:val>
                                            <p:strVal val="0"/>
                                          </p:val>
                                        </p:tav>
                                        <p:tav tm="70000">
                                          <p:val>
                                            <p:strVal val="#ppt_h*1.08"/>
                                          </p:val>
                                        </p:tav>
                                        <p:tav tm="100000">
                                          <p:val>
                                            <p:strVal val="#ppt_h"/>
                                          </p:val>
                                        </p:tav>
                                      </p:tavLst>
                                    </p:anim>
                                    <p:animEffect transition="in" filter="fade">
                                      <p:cBhvr>
                                        <p:cTn id="107" dur="270" fill="hold"/>
                                        <p:tgtEl>
                                          <p:spTgt spid="25"/>
                                        </p:tgtEl>
                                      </p:cBhvr>
                                    </p:animEffect>
                                  </p:childTnLst>
                                </p:cTn>
                              </p:par>
                              <p:par>
                                <p:cTn id="108" presetID="53" presetClass="entr" presetSubtype="16" decel="100000" fill="hold" grpId="0" nodeType="withEffect">
                                  <p:stCondLst>
                                    <p:cond delay="2500"/>
                                  </p:stCondLst>
                                  <p:childTnLst>
                                    <p:set>
                                      <p:cBhvr>
                                        <p:cTn id="109" dur="1" fill="hold">
                                          <p:stCondLst>
                                            <p:cond delay="0"/>
                                          </p:stCondLst>
                                        </p:cTn>
                                        <p:tgtEl>
                                          <p:spTgt spid="26"/>
                                        </p:tgtEl>
                                        <p:attrNameLst>
                                          <p:attrName>style.visibility</p:attrName>
                                        </p:attrNameLst>
                                      </p:cBhvr>
                                      <p:to>
                                        <p:strVal val="visible"/>
                                      </p:to>
                                    </p:set>
                                    <p:anim calcmode="lin" valueType="num">
                                      <p:cBhvr additive="base">
                                        <p:cTn id="110" dur="600" fill="hold"/>
                                        <p:tgtEl>
                                          <p:spTgt spid="26"/>
                                        </p:tgtEl>
                                        <p:attrNameLst>
                                          <p:attrName>ppt_w</p:attrName>
                                        </p:attrNameLst>
                                      </p:cBhvr>
                                      <p:tavLst>
                                        <p:tav tm="0">
                                          <p:val>
                                            <p:strVal val="0"/>
                                          </p:val>
                                        </p:tav>
                                        <p:tav tm="70000">
                                          <p:val>
                                            <p:strVal val="#ppt_w*1.08"/>
                                          </p:val>
                                        </p:tav>
                                        <p:tav tm="100000">
                                          <p:val>
                                            <p:strVal val="#ppt_w"/>
                                          </p:val>
                                        </p:tav>
                                      </p:tavLst>
                                    </p:anim>
                                    <p:anim calcmode="lin" valueType="num">
                                      <p:cBhvr additive="base">
                                        <p:cTn id="111" dur="600" fill="hold"/>
                                        <p:tgtEl>
                                          <p:spTgt spid="26"/>
                                        </p:tgtEl>
                                        <p:attrNameLst>
                                          <p:attrName>ppt_h</p:attrName>
                                        </p:attrNameLst>
                                      </p:cBhvr>
                                      <p:tavLst>
                                        <p:tav tm="0">
                                          <p:val>
                                            <p:strVal val="0"/>
                                          </p:val>
                                        </p:tav>
                                        <p:tav tm="70000">
                                          <p:val>
                                            <p:strVal val="#ppt_h*1.08"/>
                                          </p:val>
                                        </p:tav>
                                        <p:tav tm="100000">
                                          <p:val>
                                            <p:strVal val="#ppt_h"/>
                                          </p:val>
                                        </p:tav>
                                      </p:tavLst>
                                    </p:anim>
                                    <p:animEffect transition="in" filter="fade">
                                      <p:cBhvr>
                                        <p:cTn id="112" dur="360" fill="hold"/>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011680"/>
            <a:ext cx="7315200" cy="365760"/>
          </a:xfrm>
          <a:prstGeom prst="rect">
            <a:avLst/>
          </a:prstGeom>
          <a:noFill/>
        </p:spPr>
        <p:txBody>
          <a:bodyPr wrap="square" lIns="36576" tIns="18288" rIns="36576" bIns="18288" anchor="t">
            <a:spAutoFit/>
          </a:bodyPr>
          <a:lstStyle/>
          <a:p>
            <a:pPr algn="l"/>
            <a:r>
              <a:rPr sz="1300" b="1" i="0" spc="250">
                <a:solidFill>
                  <a:srgbClr val="2A9FC0"/>
                </a:solidFill>
                <a:latin typeface="Segoe UI Semibold"/>
              </a:rPr>
              <a:t>ENCONTRO 3  ·  AVALIAÇÃO</a:t>
            </a:r>
          </a:p>
        </p:txBody>
      </p:sp>
      <p:sp>
        <p:nvSpPr>
          <p:cNvPr id="3" name="TextBox 2"/>
          <p:cNvSpPr txBox="1"/>
          <p:nvPr/>
        </p:nvSpPr>
        <p:spPr>
          <a:xfrm>
            <a:off x="548640" y="2468880"/>
            <a:ext cx="10058400" cy="1280160"/>
          </a:xfrm>
          <a:prstGeom prst="rect">
            <a:avLst/>
          </a:prstGeom>
          <a:noFill/>
        </p:spPr>
        <p:txBody>
          <a:bodyPr wrap="square" lIns="36576" tIns="18288" rIns="36576" bIns="18288" anchor="t">
            <a:spAutoFit/>
          </a:bodyPr>
          <a:lstStyle/>
          <a:p>
            <a:pPr algn="l"/>
            <a:r>
              <a:rPr sz="5400" b="1" i="0">
                <a:solidFill>
                  <a:srgbClr val="F2F2EC"/>
                </a:solidFill>
                <a:latin typeface="Segoe UI Semibold"/>
              </a:rPr>
              <a:t>Hora da prova</a:t>
            </a:r>
          </a:p>
        </p:txBody>
      </p:sp>
      <p:sp>
        <p:nvSpPr>
          <p:cNvPr id="4" name="TextBox 3"/>
          <p:cNvSpPr txBox="1"/>
          <p:nvPr/>
        </p:nvSpPr>
        <p:spPr>
          <a:xfrm>
            <a:off x="548640" y="3703320"/>
            <a:ext cx="9144000" cy="914400"/>
          </a:xfrm>
          <a:prstGeom prst="rect">
            <a:avLst/>
          </a:prstGeom>
          <a:noFill/>
        </p:spPr>
        <p:txBody>
          <a:bodyPr wrap="square" lIns="36576" tIns="18288" rIns="36576" bIns="18288" anchor="t">
            <a:spAutoFit/>
          </a:bodyPr>
          <a:lstStyle/>
          <a:p>
            <a:pPr algn="l"/>
            <a:r>
              <a:rPr sz="2000" b="0" i="0">
                <a:solidFill>
                  <a:srgbClr val="B4B8B0"/>
                </a:solidFill>
                <a:latin typeface="Segoe UI"/>
              </a:rPr>
              <a:t>6 questões para consolidar o que aprendemos.</a:t>
            </a:r>
          </a:p>
        </p:txBody>
      </p:sp>
      <p:cxnSp>
        <p:nvCxnSpPr>
          <p:cNvPr id="5" name="Connector 4"/>
          <p:cNvCxnSpPr/>
          <p:nvPr/>
        </p:nvCxnSpPr>
        <p:spPr>
          <a:xfrm>
            <a:off x="9418320" y="640080"/>
            <a:ext cx="1609344" cy="0"/>
          </a:xfrm>
          <a:prstGeom prst="line">
            <a:avLst/>
          </a:prstGeom>
          <a:ln w="30734">
            <a:solidFill>
              <a:srgbClr val="2A9FC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9418320" y="1092708"/>
            <a:ext cx="1106424" cy="0"/>
          </a:xfrm>
          <a:prstGeom prst="line">
            <a:avLst/>
          </a:prstGeom>
          <a:ln w="30734">
            <a:solidFill>
              <a:srgbClr val="2A9FC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524744" y="1092708"/>
            <a:ext cx="352044" cy="352044"/>
          </a:xfrm>
          <a:prstGeom prst="line">
            <a:avLst/>
          </a:prstGeom>
          <a:ln w="30734">
            <a:solidFill>
              <a:srgbClr val="2A9FC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876788" y="1444752"/>
            <a:ext cx="854964" cy="0"/>
          </a:xfrm>
          <a:prstGeom prst="line">
            <a:avLst/>
          </a:prstGeom>
          <a:ln w="30734">
            <a:solidFill>
              <a:srgbClr val="2A9FC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9418320" y="1545336"/>
            <a:ext cx="603504" cy="0"/>
          </a:xfrm>
          <a:prstGeom prst="line">
            <a:avLst/>
          </a:prstGeom>
          <a:ln w="30734">
            <a:solidFill>
              <a:srgbClr val="2A9FC0"/>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0021824" y="1545336"/>
            <a:ext cx="301752" cy="352044"/>
          </a:xfrm>
          <a:prstGeom prst="line">
            <a:avLst/>
          </a:prstGeom>
          <a:ln w="30734">
            <a:solidFill>
              <a:srgbClr val="2A9FC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0323576" y="1897380"/>
            <a:ext cx="1005840" cy="0"/>
          </a:xfrm>
          <a:prstGeom prst="line">
            <a:avLst/>
          </a:prstGeom>
          <a:ln w="30734">
            <a:solidFill>
              <a:srgbClr val="2A9FC0"/>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1027664" y="529437"/>
            <a:ext cx="221284" cy="221284"/>
          </a:xfrm>
          <a:prstGeom prst="ellipse">
            <a:avLst/>
          </a:prstGeom>
          <a:solidFill>
            <a:srgbClr val="1A1A1A"/>
          </a:solidFill>
          <a:ln w="30734">
            <a:solidFill>
              <a:srgbClr val="2A9FC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11731752" y="1334109"/>
            <a:ext cx="221284" cy="221284"/>
          </a:xfrm>
          <a:prstGeom prst="ellipse">
            <a:avLst/>
          </a:prstGeom>
          <a:solidFill>
            <a:srgbClr val="1A1A1A"/>
          </a:solidFill>
          <a:ln w="30734">
            <a:solidFill>
              <a:srgbClr val="2A9FC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11329416" y="1786737"/>
            <a:ext cx="221284" cy="221284"/>
          </a:xfrm>
          <a:prstGeom prst="ellipse">
            <a:avLst/>
          </a:prstGeom>
          <a:solidFill>
            <a:srgbClr val="1A1A1A"/>
          </a:solidFill>
          <a:ln w="30734">
            <a:solidFill>
              <a:srgbClr val="2A9FC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fill="hold"/>
                                        <p:tgtEl>
                                          <p:spTgt spid="2"/>
                                        </p:tgtEl>
                                      </p:cBhvr>
                                    </p:animEffect>
                                  </p:childTnLst>
                                </p:cTn>
                              </p:par>
                              <p:par>
                                <p:cTn id="8" presetID="10" presetClass="entr" presetSubtype="0" fill="hold" grpId="0" nodeType="withEffect">
                                  <p:stCondLst>
                                    <p:cond delay="250"/>
                                  </p:stCondLst>
                                  <p:iterate type="wd">
                                    <p:tmPct val="60000"/>
                                  </p:iterate>
                                  <p:childTnLst>
                                    <p:set>
                                      <p:cBhvr>
                                        <p:cTn id="9" dur="1" fill="hold">
                                          <p:stCondLst>
                                            <p:cond delay="0"/>
                                          </p:stCondLst>
                                        </p:cTn>
                                        <p:tgtEl>
                                          <p:spTgt spid="3"/>
                                        </p:tgtEl>
                                        <p:attrNameLst>
                                          <p:attrName>style.visibility</p:attrName>
                                        </p:attrNameLst>
                                      </p:cBhvr>
                                      <p:to>
                                        <p:strVal val="visible"/>
                                      </p:to>
                                    </p:set>
                                    <p:animEffect transition="in" filter="fade">
                                      <p:cBhvr>
                                        <p:cTn id="10" dur="500" fill="hold"/>
                                        <p:tgtEl>
                                          <p:spTgt spid="3"/>
                                        </p:tgtEl>
                                      </p:cBhvr>
                                    </p:animEffect>
                                  </p:childTnLst>
                                </p:cTn>
                              </p:par>
                              <p:par>
                                <p:cTn id="11" presetID="42" presetClass="entr" presetSubtype="0" decel="100000" fill="hold" grpId="0" nodeType="withEffect">
                                  <p:stCondLst>
                                    <p:cond delay="165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650" fill="hold"/>
                                        <p:tgtEl>
                                          <p:spTgt spid="4"/>
                                        </p:tgtEl>
                                      </p:cBhvr>
                                    </p:animEffect>
                                    <p:anim calcmode="lin" valueType="num">
                                      <p:cBhvr additive="base">
                                        <p:cTn id="14" dur="650" fill="hold"/>
                                        <p:tgtEl>
                                          <p:spTgt spid="4"/>
                                        </p:tgtEl>
                                        <p:attrNameLst>
                                          <p:attrName>ppt_x</p:attrName>
                                        </p:attrNameLst>
                                      </p:cBhvr>
                                      <p:tavLst>
                                        <p:tav tm="0">
                                          <p:val>
                                            <p:strVal val="#ppt_x"/>
                                          </p:val>
                                        </p:tav>
                                        <p:tav tm="100000">
                                          <p:val>
                                            <p:strVal val="#ppt_x"/>
                                          </p:val>
                                        </p:tav>
                                      </p:tavLst>
                                    </p:anim>
                                    <p:anim calcmode="lin" valueType="num">
                                      <p:cBhvr additive="base">
                                        <p:cTn id="15" dur="650" fill="hold"/>
                                        <p:tgtEl>
                                          <p:spTgt spid="4"/>
                                        </p:tgtEl>
                                        <p:attrNameLst>
                                          <p:attrName>ppt_y</p:attrName>
                                        </p:attrNameLst>
                                      </p:cBhvr>
                                      <p:tavLst>
                                        <p:tav tm="0">
                                          <p:val>
                                            <p:strVal val="#ppt_y+.06"/>
                                          </p:val>
                                        </p:tav>
                                        <p:tav tm="100000">
                                          <p:val>
                                            <p:strVal val="#ppt_y"/>
                                          </p:val>
                                        </p:tav>
                                      </p:tavLst>
                                    </p:anim>
                                  </p:childTnLst>
                                </p:cTn>
                              </p:par>
                              <p:par>
                                <p:cTn id="16" presetID="22" presetClass="entr" presetSubtype="8" fill="hold" nodeType="withEffect">
                                  <p:stCondLst>
                                    <p:cond delay="180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900" fill="hold"/>
                                        <p:tgtEl>
                                          <p:spTgt spid="5"/>
                                        </p:tgtEl>
                                      </p:cBhvr>
                                    </p:animEffect>
                                  </p:childTnLst>
                                </p:cTn>
                              </p:par>
                              <p:par>
                                <p:cTn id="19" presetID="22" presetClass="entr" presetSubtype="8" fill="hold" nodeType="withEffect">
                                  <p:stCondLst>
                                    <p:cond delay="1800"/>
                                  </p:stCondLst>
                                  <p:childTnLst>
                                    <p:set>
                                      <p:cBhvr>
                                        <p:cTn id="20" dur="1" fill="hold">
                                          <p:stCondLst>
                                            <p:cond delay="0"/>
                                          </p:stCondLst>
                                        </p:cTn>
                                        <p:tgtEl>
                                          <p:spTgt spid="6"/>
                                        </p:tgtEl>
                                        <p:attrNameLst>
                                          <p:attrName>style.visibility</p:attrName>
                                        </p:attrNameLst>
                                      </p:cBhvr>
                                      <p:to>
                                        <p:strVal val="visible"/>
                                      </p:to>
                                    </p:set>
                                    <p:animEffect transition="in" filter="wipe(left)">
                                      <p:cBhvr>
                                        <p:cTn id="21" dur="900" fill="hold"/>
                                        <p:tgtEl>
                                          <p:spTgt spid="6"/>
                                        </p:tgtEl>
                                      </p:cBhvr>
                                    </p:animEffect>
                                  </p:childTnLst>
                                </p:cTn>
                              </p:par>
                              <p:par>
                                <p:cTn id="22" presetID="22" presetClass="entr" presetSubtype="8" fill="hold" nodeType="withEffect">
                                  <p:stCondLst>
                                    <p:cond delay="1800"/>
                                  </p:stCondLst>
                                  <p:childTnLst>
                                    <p:set>
                                      <p:cBhvr>
                                        <p:cTn id="23" dur="1" fill="hold">
                                          <p:stCondLst>
                                            <p:cond delay="0"/>
                                          </p:stCondLst>
                                        </p:cTn>
                                        <p:tgtEl>
                                          <p:spTgt spid="7"/>
                                        </p:tgtEl>
                                        <p:attrNameLst>
                                          <p:attrName>style.visibility</p:attrName>
                                        </p:attrNameLst>
                                      </p:cBhvr>
                                      <p:to>
                                        <p:strVal val="visible"/>
                                      </p:to>
                                    </p:set>
                                    <p:animEffect transition="in" filter="wipe(left)">
                                      <p:cBhvr>
                                        <p:cTn id="24" dur="900" fill="hold"/>
                                        <p:tgtEl>
                                          <p:spTgt spid="7"/>
                                        </p:tgtEl>
                                      </p:cBhvr>
                                    </p:animEffect>
                                  </p:childTnLst>
                                </p:cTn>
                              </p:par>
                              <p:par>
                                <p:cTn id="25" presetID="22" presetClass="entr" presetSubtype="8" fill="hold" nodeType="withEffect">
                                  <p:stCondLst>
                                    <p:cond delay="180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900" fill="hold"/>
                                        <p:tgtEl>
                                          <p:spTgt spid="8"/>
                                        </p:tgtEl>
                                      </p:cBhvr>
                                    </p:animEffect>
                                  </p:childTnLst>
                                </p:cTn>
                              </p:par>
                              <p:par>
                                <p:cTn id="28" presetID="22" presetClass="entr" presetSubtype="8" fill="hold" nodeType="withEffect">
                                  <p:stCondLst>
                                    <p:cond delay="180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900" fill="hold"/>
                                        <p:tgtEl>
                                          <p:spTgt spid="9"/>
                                        </p:tgtEl>
                                      </p:cBhvr>
                                    </p:animEffect>
                                  </p:childTnLst>
                                </p:cTn>
                              </p:par>
                              <p:par>
                                <p:cTn id="31" presetID="22" presetClass="entr" presetSubtype="8" fill="hold" nodeType="withEffect">
                                  <p:stCondLst>
                                    <p:cond delay="1800"/>
                                  </p:stCondLst>
                                  <p:childTnLst>
                                    <p:set>
                                      <p:cBhvr>
                                        <p:cTn id="32" dur="1" fill="hold">
                                          <p:stCondLst>
                                            <p:cond delay="0"/>
                                          </p:stCondLst>
                                        </p:cTn>
                                        <p:tgtEl>
                                          <p:spTgt spid="10"/>
                                        </p:tgtEl>
                                        <p:attrNameLst>
                                          <p:attrName>style.visibility</p:attrName>
                                        </p:attrNameLst>
                                      </p:cBhvr>
                                      <p:to>
                                        <p:strVal val="visible"/>
                                      </p:to>
                                    </p:set>
                                    <p:animEffect transition="in" filter="wipe(left)">
                                      <p:cBhvr>
                                        <p:cTn id="33" dur="900" fill="hold"/>
                                        <p:tgtEl>
                                          <p:spTgt spid="10"/>
                                        </p:tgtEl>
                                      </p:cBhvr>
                                    </p:animEffect>
                                  </p:childTnLst>
                                </p:cTn>
                              </p:par>
                              <p:par>
                                <p:cTn id="34" presetID="22" presetClass="entr" presetSubtype="8" fill="hold" nodeType="withEffect">
                                  <p:stCondLst>
                                    <p:cond delay="1800"/>
                                  </p:stCondLst>
                                  <p:childTnLst>
                                    <p:set>
                                      <p:cBhvr>
                                        <p:cTn id="35" dur="1" fill="hold">
                                          <p:stCondLst>
                                            <p:cond delay="0"/>
                                          </p:stCondLst>
                                        </p:cTn>
                                        <p:tgtEl>
                                          <p:spTgt spid="11"/>
                                        </p:tgtEl>
                                        <p:attrNameLst>
                                          <p:attrName>style.visibility</p:attrName>
                                        </p:attrNameLst>
                                      </p:cBhvr>
                                      <p:to>
                                        <p:strVal val="visible"/>
                                      </p:to>
                                    </p:set>
                                    <p:animEffect transition="in" filter="wipe(left)">
                                      <p:cBhvr>
                                        <p:cTn id="36" dur="900" fill="hold"/>
                                        <p:tgtEl>
                                          <p:spTgt spid="11"/>
                                        </p:tgtEl>
                                      </p:cBhvr>
                                    </p:animEffect>
                                  </p:childTnLst>
                                </p:cTn>
                              </p:par>
                              <p:par>
                                <p:cTn id="37" presetID="53" presetClass="entr" presetSubtype="16" decel="100000" fill="hold" grpId="0" nodeType="withEffect">
                                  <p:stCondLst>
                                    <p:cond delay="2550"/>
                                  </p:stCondLst>
                                  <p:childTnLst>
                                    <p:set>
                                      <p:cBhvr>
                                        <p:cTn id="38" dur="1" fill="hold">
                                          <p:stCondLst>
                                            <p:cond delay="0"/>
                                          </p:stCondLst>
                                        </p:cTn>
                                        <p:tgtEl>
                                          <p:spTgt spid="12"/>
                                        </p:tgtEl>
                                        <p:attrNameLst>
                                          <p:attrName>style.visibility</p:attrName>
                                        </p:attrNameLst>
                                      </p:cBhvr>
                                      <p:to>
                                        <p:strVal val="visible"/>
                                      </p:to>
                                    </p:set>
                                    <p:anim calcmode="lin" valueType="num">
                                      <p:cBhvr additive="base">
                                        <p:cTn id="39" dur="450" fill="hold"/>
                                        <p:tgtEl>
                                          <p:spTgt spid="12"/>
                                        </p:tgtEl>
                                        <p:attrNameLst>
                                          <p:attrName>ppt_w</p:attrName>
                                        </p:attrNameLst>
                                      </p:cBhvr>
                                      <p:tavLst>
                                        <p:tav tm="0">
                                          <p:val>
                                            <p:strVal val="0"/>
                                          </p:val>
                                        </p:tav>
                                        <p:tav tm="70000">
                                          <p:val>
                                            <p:strVal val="#ppt_w*1.08"/>
                                          </p:val>
                                        </p:tav>
                                        <p:tav tm="100000">
                                          <p:val>
                                            <p:strVal val="#ppt_w"/>
                                          </p:val>
                                        </p:tav>
                                      </p:tavLst>
                                    </p:anim>
                                    <p:anim calcmode="lin" valueType="num">
                                      <p:cBhvr additive="base">
                                        <p:cTn id="40" dur="450" fill="hold"/>
                                        <p:tgtEl>
                                          <p:spTgt spid="12"/>
                                        </p:tgtEl>
                                        <p:attrNameLst>
                                          <p:attrName>ppt_h</p:attrName>
                                        </p:attrNameLst>
                                      </p:cBhvr>
                                      <p:tavLst>
                                        <p:tav tm="0">
                                          <p:val>
                                            <p:strVal val="0"/>
                                          </p:val>
                                        </p:tav>
                                        <p:tav tm="70000">
                                          <p:val>
                                            <p:strVal val="#ppt_h*1.08"/>
                                          </p:val>
                                        </p:tav>
                                        <p:tav tm="100000">
                                          <p:val>
                                            <p:strVal val="#ppt_h"/>
                                          </p:val>
                                        </p:tav>
                                      </p:tavLst>
                                    </p:anim>
                                    <p:animEffect transition="in" filter="fade">
                                      <p:cBhvr>
                                        <p:cTn id="41" dur="270" fill="hold"/>
                                        <p:tgtEl>
                                          <p:spTgt spid="12"/>
                                        </p:tgtEl>
                                      </p:cBhvr>
                                    </p:animEffect>
                                  </p:childTnLst>
                                </p:cTn>
                              </p:par>
                              <p:par>
                                <p:cTn id="42" presetID="53" presetClass="entr" presetSubtype="16" decel="100000" fill="hold" grpId="0" nodeType="withEffect">
                                  <p:stCondLst>
                                    <p:cond delay="2670"/>
                                  </p:stCondLst>
                                  <p:childTnLst>
                                    <p:set>
                                      <p:cBhvr>
                                        <p:cTn id="43" dur="1" fill="hold">
                                          <p:stCondLst>
                                            <p:cond delay="0"/>
                                          </p:stCondLst>
                                        </p:cTn>
                                        <p:tgtEl>
                                          <p:spTgt spid="13"/>
                                        </p:tgtEl>
                                        <p:attrNameLst>
                                          <p:attrName>style.visibility</p:attrName>
                                        </p:attrNameLst>
                                      </p:cBhvr>
                                      <p:to>
                                        <p:strVal val="visible"/>
                                      </p:to>
                                    </p:set>
                                    <p:anim calcmode="lin" valueType="num">
                                      <p:cBhvr additive="base">
                                        <p:cTn id="44" dur="450" fill="hold"/>
                                        <p:tgtEl>
                                          <p:spTgt spid="13"/>
                                        </p:tgtEl>
                                        <p:attrNameLst>
                                          <p:attrName>ppt_w</p:attrName>
                                        </p:attrNameLst>
                                      </p:cBhvr>
                                      <p:tavLst>
                                        <p:tav tm="0">
                                          <p:val>
                                            <p:strVal val="0"/>
                                          </p:val>
                                        </p:tav>
                                        <p:tav tm="70000">
                                          <p:val>
                                            <p:strVal val="#ppt_w*1.08"/>
                                          </p:val>
                                        </p:tav>
                                        <p:tav tm="100000">
                                          <p:val>
                                            <p:strVal val="#ppt_w"/>
                                          </p:val>
                                        </p:tav>
                                      </p:tavLst>
                                    </p:anim>
                                    <p:anim calcmode="lin" valueType="num">
                                      <p:cBhvr additive="base">
                                        <p:cTn id="45" dur="450" fill="hold"/>
                                        <p:tgtEl>
                                          <p:spTgt spid="13"/>
                                        </p:tgtEl>
                                        <p:attrNameLst>
                                          <p:attrName>ppt_h</p:attrName>
                                        </p:attrNameLst>
                                      </p:cBhvr>
                                      <p:tavLst>
                                        <p:tav tm="0">
                                          <p:val>
                                            <p:strVal val="0"/>
                                          </p:val>
                                        </p:tav>
                                        <p:tav tm="70000">
                                          <p:val>
                                            <p:strVal val="#ppt_h*1.08"/>
                                          </p:val>
                                        </p:tav>
                                        <p:tav tm="100000">
                                          <p:val>
                                            <p:strVal val="#ppt_h"/>
                                          </p:val>
                                        </p:tav>
                                      </p:tavLst>
                                    </p:anim>
                                    <p:animEffect transition="in" filter="fade">
                                      <p:cBhvr>
                                        <p:cTn id="46" dur="270" fill="hold"/>
                                        <p:tgtEl>
                                          <p:spTgt spid="13"/>
                                        </p:tgtEl>
                                      </p:cBhvr>
                                    </p:animEffect>
                                  </p:childTnLst>
                                </p:cTn>
                              </p:par>
                              <p:par>
                                <p:cTn id="47" presetID="53" presetClass="entr" presetSubtype="16" decel="100000" fill="hold" grpId="0" nodeType="withEffect">
                                  <p:stCondLst>
                                    <p:cond delay="2790"/>
                                  </p:stCondLst>
                                  <p:childTnLst>
                                    <p:set>
                                      <p:cBhvr>
                                        <p:cTn id="48" dur="1" fill="hold">
                                          <p:stCondLst>
                                            <p:cond delay="0"/>
                                          </p:stCondLst>
                                        </p:cTn>
                                        <p:tgtEl>
                                          <p:spTgt spid="14"/>
                                        </p:tgtEl>
                                        <p:attrNameLst>
                                          <p:attrName>style.visibility</p:attrName>
                                        </p:attrNameLst>
                                      </p:cBhvr>
                                      <p:to>
                                        <p:strVal val="visible"/>
                                      </p:to>
                                    </p:set>
                                    <p:anim calcmode="lin" valueType="num">
                                      <p:cBhvr additive="base">
                                        <p:cTn id="49" dur="450" fill="hold"/>
                                        <p:tgtEl>
                                          <p:spTgt spid="14"/>
                                        </p:tgtEl>
                                        <p:attrNameLst>
                                          <p:attrName>ppt_w</p:attrName>
                                        </p:attrNameLst>
                                      </p:cBhvr>
                                      <p:tavLst>
                                        <p:tav tm="0">
                                          <p:val>
                                            <p:strVal val="0"/>
                                          </p:val>
                                        </p:tav>
                                        <p:tav tm="70000">
                                          <p:val>
                                            <p:strVal val="#ppt_w*1.08"/>
                                          </p:val>
                                        </p:tav>
                                        <p:tav tm="100000">
                                          <p:val>
                                            <p:strVal val="#ppt_w"/>
                                          </p:val>
                                        </p:tav>
                                      </p:tavLst>
                                    </p:anim>
                                    <p:anim calcmode="lin" valueType="num">
                                      <p:cBhvr additive="base">
                                        <p:cTn id="50" dur="450" fill="hold"/>
                                        <p:tgtEl>
                                          <p:spTgt spid="14"/>
                                        </p:tgtEl>
                                        <p:attrNameLst>
                                          <p:attrName>ppt_h</p:attrName>
                                        </p:attrNameLst>
                                      </p:cBhvr>
                                      <p:tavLst>
                                        <p:tav tm="0">
                                          <p:val>
                                            <p:strVal val="0"/>
                                          </p:val>
                                        </p:tav>
                                        <p:tav tm="70000">
                                          <p:val>
                                            <p:strVal val="#ppt_h*1.08"/>
                                          </p:val>
                                        </p:tav>
                                        <p:tav tm="100000">
                                          <p:val>
                                            <p:strVal val="#ppt_h"/>
                                          </p:val>
                                        </p:tav>
                                      </p:tavLst>
                                    </p:anim>
                                    <p:animEffect transition="in" filter="fade">
                                      <p:cBhvr>
                                        <p:cTn id="51" dur="270" fill="hold"/>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12" grpId="0" animBg="1"/>
      <p:bldP spid="13" grpId="0" animBg="1"/>
      <p:bldP spid="14"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2A9FC0"/>
                </a:solidFill>
                <a:latin typeface="Segoe UI Semibold"/>
              </a:rPr>
              <a:t>AVALIAÇÃO</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66928"/>
            <a:ext cx="11064240" cy="731520"/>
          </a:xfrm>
          <a:prstGeom prst="rect">
            <a:avLst/>
          </a:prstGeom>
          <a:noFill/>
        </p:spPr>
        <p:txBody>
          <a:bodyPr wrap="square" lIns="36576" tIns="18288" rIns="36576" bIns="18288" anchor="t">
            <a:spAutoFit/>
          </a:bodyPr>
          <a:lstStyle/>
          <a:p>
            <a:pPr algn="l"/>
            <a:r>
              <a:rPr sz="3200" b="1" i="0">
                <a:solidFill>
                  <a:srgbClr val="F2F2EC"/>
                </a:solidFill>
                <a:latin typeface="Segoe UI Semibold"/>
              </a:rPr>
              <a:t>Prova final</a:t>
            </a:r>
          </a:p>
        </p:txBody>
      </p:sp>
      <p:sp>
        <p:nvSpPr>
          <p:cNvPr id="6" name="Rounded Rectangle 5"/>
          <p:cNvSpPr/>
          <p:nvPr/>
        </p:nvSpPr>
        <p:spPr>
          <a:xfrm>
            <a:off x="548640" y="1737360"/>
            <a:ext cx="3474720" cy="237744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22959" y="3246120"/>
            <a:ext cx="2926080" cy="731520"/>
          </a:xfrm>
          <a:prstGeom prst="rect">
            <a:avLst/>
          </a:prstGeom>
          <a:noFill/>
        </p:spPr>
        <p:txBody>
          <a:bodyPr wrap="square" lIns="36576" tIns="18288" rIns="36576" bIns="18288" anchor="t">
            <a:spAutoFit/>
          </a:bodyPr>
          <a:lstStyle/>
          <a:p>
            <a:pPr algn="ctr"/>
            <a:r>
              <a:rPr sz="1700" b="0" i="0">
                <a:solidFill>
                  <a:srgbClr val="B4B8B0"/>
                </a:solidFill>
                <a:latin typeface="Segoe UI"/>
              </a:rPr>
              <a:t>questões de múltipla escolha</a:t>
            </a:r>
          </a:p>
        </p:txBody>
      </p:sp>
      <p:sp>
        <p:nvSpPr>
          <p:cNvPr id="8" name="TextBox 7"/>
          <p:cNvSpPr txBox="1"/>
          <p:nvPr/>
        </p:nvSpPr>
        <p:spPr>
          <a:xfrm>
            <a:off x="548640" y="1965960"/>
            <a:ext cx="3474720" cy="1188720"/>
          </a:xfrm>
          <a:prstGeom prst="rect">
            <a:avLst/>
          </a:prstGeom>
          <a:noFill/>
        </p:spPr>
        <p:txBody>
          <a:bodyPr wrap="square" lIns="36576" tIns="18288" rIns="36576" bIns="18288" anchor="t">
            <a:spAutoFit/>
          </a:bodyPr>
          <a:lstStyle/>
          <a:p>
            <a:pPr algn="ctr"/>
            <a:r>
              <a:rPr sz="7200" b="1" i="0">
                <a:solidFill>
                  <a:srgbClr val="9CD848"/>
                </a:solidFill>
                <a:latin typeface="Segoe UI Semibold"/>
              </a:rPr>
              <a:t>6</a:t>
            </a:r>
          </a:p>
        </p:txBody>
      </p:sp>
      <p:sp>
        <p:nvSpPr>
          <p:cNvPr id="9" name="Rounded Rectangle 8"/>
          <p:cNvSpPr/>
          <p:nvPr/>
        </p:nvSpPr>
        <p:spPr>
          <a:xfrm>
            <a:off x="4297679" y="1737360"/>
            <a:ext cx="3474720" cy="237744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571999" y="3246120"/>
            <a:ext cx="2926080" cy="731520"/>
          </a:xfrm>
          <a:prstGeom prst="rect">
            <a:avLst/>
          </a:prstGeom>
          <a:noFill/>
        </p:spPr>
        <p:txBody>
          <a:bodyPr wrap="square" lIns="36576" tIns="18288" rIns="36576" bIns="18288" anchor="t">
            <a:spAutoFit/>
          </a:bodyPr>
          <a:lstStyle/>
          <a:p>
            <a:pPr algn="ctr"/>
            <a:r>
              <a:rPr sz="1700" b="0" i="0">
                <a:solidFill>
                  <a:srgbClr val="B4B8B0"/>
                </a:solidFill>
                <a:latin typeface="Segoe UI"/>
              </a:rPr>
              <a:t>minutos</a:t>
            </a:r>
          </a:p>
        </p:txBody>
      </p:sp>
      <p:sp>
        <p:nvSpPr>
          <p:cNvPr id="11" name="TextBox 10"/>
          <p:cNvSpPr txBox="1"/>
          <p:nvPr/>
        </p:nvSpPr>
        <p:spPr>
          <a:xfrm>
            <a:off x="4297679" y="1965960"/>
            <a:ext cx="3474720" cy="1188720"/>
          </a:xfrm>
          <a:prstGeom prst="rect">
            <a:avLst/>
          </a:prstGeom>
          <a:noFill/>
        </p:spPr>
        <p:txBody>
          <a:bodyPr wrap="square" lIns="36576" tIns="18288" rIns="36576" bIns="18288" anchor="t">
            <a:spAutoFit/>
          </a:bodyPr>
          <a:lstStyle/>
          <a:p>
            <a:pPr algn="ctr"/>
            <a:r>
              <a:rPr sz="7200" b="1" i="0">
                <a:solidFill>
                  <a:srgbClr val="2FA38A"/>
                </a:solidFill>
                <a:latin typeface="Segoe UI Semibold"/>
              </a:rPr>
              <a:t>25</a:t>
            </a:r>
          </a:p>
        </p:txBody>
      </p:sp>
      <p:sp>
        <p:nvSpPr>
          <p:cNvPr id="12" name="Rounded Rectangle 11"/>
          <p:cNvSpPr/>
          <p:nvPr/>
        </p:nvSpPr>
        <p:spPr>
          <a:xfrm>
            <a:off x="8046719" y="1737360"/>
            <a:ext cx="3474720" cy="2377440"/>
          </a:xfrm>
          <a:prstGeom prst="roundRect">
            <a:avLst>
              <a:gd name="adj" fmla="val 6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321040" y="3246120"/>
            <a:ext cx="2926080" cy="731520"/>
          </a:xfrm>
          <a:prstGeom prst="rect">
            <a:avLst/>
          </a:prstGeom>
          <a:noFill/>
        </p:spPr>
        <p:txBody>
          <a:bodyPr wrap="square" lIns="36576" tIns="18288" rIns="36576" bIns="18288" anchor="t">
            <a:spAutoFit/>
          </a:bodyPr>
          <a:lstStyle/>
          <a:p>
            <a:pPr algn="ctr"/>
            <a:r>
              <a:rPr sz="1700" b="0" i="0">
                <a:solidFill>
                  <a:srgbClr val="B4B8B0"/>
                </a:solidFill>
                <a:latin typeface="Segoe UI"/>
              </a:rPr>
              <a:t>questão por módulo</a:t>
            </a:r>
          </a:p>
        </p:txBody>
      </p:sp>
      <p:sp>
        <p:nvSpPr>
          <p:cNvPr id="14" name="TextBox 13"/>
          <p:cNvSpPr txBox="1"/>
          <p:nvPr/>
        </p:nvSpPr>
        <p:spPr>
          <a:xfrm>
            <a:off x="8046719" y="1965960"/>
            <a:ext cx="3474720" cy="1188720"/>
          </a:xfrm>
          <a:prstGeom prst="rect">
            <a:avLst/>
          </a:prstGeom>
          <a:noFill/>
        </p:spPr>
        <p:txBody>
          <a:bodyPr wrap="square" lIns="36576" tIns="18288" rIns="36576" bIns="18288" anchor="t">
            <a:spAutoFit/>
          </a:bodyPr>
          <a:lstStyle/>
          <a:p>
            <a:pPr algn="ctr"/>
            <a:r>
              <a:rPr sz="7200" b="1" i="0">
                <a:solidFill>
                  <a:srgbClr val="2A9FC0"/>
                </a:solidFill>
                <a:latin typeface="Segoe UI Semibold"/>
              </a:rPr>
              <a:t>1</a:t>
            </a:r>
          </a:p>
        </p:txBody>
      </p:sp>
      <p:sp>
        <p:nvSpPr>
          <p:cNvPr id="15" name="TextBox 14"/>
          <p:cNvSpPr txBox="1"/>
          <p:nvPr/>
        </p:nvSpPr>
        <p:spPr>
          <a:xfrm>
            <a:off x="548640" y="4480560"/>
            <a:ext cx="10972800" cy="1371600"/>
          </a:xfrm>
          <a:prstGeom prst="rect">
            <a:avLst/>
          </a:prstGeom>
          <a:noFill/>
        </p:spPr>
        <p:txBody>
          <a:bodyPr wrap="square">
            <a:spAutoFit/>
          </a:bodyPr>
          <a:lstStyle/>
          <a:p>
            <a:pPr marL="292608" indent="-292608">
              <a:spcAft>
                <a:spcPts val="800"/>
              </a:spcAft>
              <a:buClr>
                <a:srgbClr val="2A9FC0"/>
              </a:buClr>
              <a:buFont typeface="Arial"/>
              <a:buChar char="●"/>
            </a:pPr>
            <a:r>
              <a:rPr sz="1600">
                <a:solidFill>
                  <a:srgbClr val="F2F2EC"/>
                </a:solidFill>
                <a:latin typeface="Segoe UI"/>
              </a:rPr>
              <a:t>Individual e sem consulta</a:t>
            </a:r>
          </a:p>
          <a:p>
            <a:pPr marL="292608" indent="-292608">
              <a:spcAft>
                <a:spcPts val="800"/>
              </a:spcAft>
              <a:buClr>
                <a:srgbClr val="2A9FC0"/>
              </a:buClr>
              <a:buFont typeface="Arial"/>
              <a:buChar char="●"/>
            </a:pPr>
            <a:r>
              <a:rPr sz="1600">
                <a:solidFill>
                  <a:srgbClr val="F2F2EC"/>
                </a:solidFill>
                <a:latin typeface="Segoe UI"/>
              </a:rPr>
              <a:t>Leia a situação com atenção: as questões são práticas</a:t>
            </a:r>
          </a:p>
          <a:p>
            <a:pPr marL="292608" indent="-292608">
              <a:buClr>
                <a:srgbClr val="2A9FC0"/>
              </a:buClr>
              <a:buFont typeface="Arial"/>
              <a:buChar char="●"/>
            </a:pPr>
            <a:r>
              <a:rPr sz="1600">
                <a:solidFill>
                  <a:srgbClr val="F2F2EC"/>
                </a:solidFill>
                <a:latin typeface="Segoe UI"/>
              </a:rPr>
              <a:t>Marque apenas uma alternativa por questão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50" fill="hold"/>
                                        <p:tgtEl>
                                          <p:spTgt spid="6"/>
                                        </p:tgtEl>
                                      </p:cBhvr>
                                    </p:animEffect>
                                    <p:anim calcmode="lin" valueType="num">
                                      <p:cBhvr additive="base">
                                        <p:cTn id="11" dur="650" fill="hold"/>
                                        <p:tgtEl>
                                          <p:spTgt spid="6"/>
                                        </p:tgtEl>
                                        <p:attrNameLst>
                                          <p:attrName>ppt_x</p:attrName>
                                        </p:attrNameLst>
                                      </p:cBhvr>
                                      <p:tavLst>
                                        <p:tav tm="0">
                                          <p:val>
                                            <p:strVal val="#ppt_x"/>
                                          </p:val>
                                        </p:tav>
                                        <p:tav tm="100000">
                                          <p:val>
                                            <p:strVal val="#ppt_x"/>
                                          </p:val>
                                        </p:tav>
                                      </p:tavLst>
                                    </p:anim>
                                    <p:anim calcmode="lin" valueType="num">
                                      <p:cBhvr additive="base">
                                        <p:cTn id="12" dur="650" fill="hold"/>
                                        <p:tgtEl>
                                          <p:spTgt spid="6"/>
                                        </p:tgtEl>
                                        <p:attrNameLst>
                                          <p:attrName>ppt_y</p:attrName>
                                        </p:attrNameLst>
                                      </p:cBhvr>
                                      <p:tavLst>
                                        <p:tav tm="0">
                                          <p:val>
                                            <p:strVal val="#ppt_y+.06"/>
                                          </p:val>
                                        </p:tav>
                                        <p:tav tm="100000">
                                          <p:val>
                                            <p:strVal val="#ppt_y"/>
                                          </p:val>
                                        </p:tav>
                                      </p:tavLst>
                                    </p:anim>
                                  </p:childTnLst>
                                </p:cTn>
                              </p:par>
                              <p:par>
                                <p:cTn id="13" presetID="42" presetClass="entr" presetSubtype="0" decel="100000" fill="hold" grpId="0" nodeType="withEffect">
                                  <p:stCondLst>
                                    <p:cond delay="25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fill="hold"/>
                                        <p:tgtEl>
                                          <p:spTgt spid="7"/>
                                        </p:tgtEl>
                                      </p:cBhvr>
                                    </p:animEffect>
                                    <p:anim calcmode="lin" valueType="num">
                                      <p:cBhvr additive="base">
                                        <p:cTn id="16" dur="650" fill="hold"/>
                                        <p:tgtEl>
                                          <p:spTgt spid="7"/>
                                        </p:tgtEl>
                                        <p:attrNameLst>
                                          <p:attrName>ppt_x</p:attrName>
                                        </p:attrNameLst>
                                      </p:cBhvr>
                                      <p:tavLst>
                                        <p:tav tm="0">
                                          <p:val>
                                            <p:strVal val="#ppt_x"/>
                                          </p:val>
                                        </p:tav>
                                        <p:tav tm="100000">
                                          <p:val>
                                            <p:strVal val="#ppt_x"/>
                                          </p:val>
                                        </p:tav>
                                      </p:tavLst>
                                    </p:anim>
                                    <p:anim calcmode="lin" valueType="num">
                                      <p:cBhvr additive="base">
                                        <p:cTn id="17" dur="650" fill="hold"/>
                                        <p:tgtEl>
                                          <p:spTgt spid="7"/>
                                        </p:tgtEl>
                                        <p:attrNameLst>
                                          <p:attrName>ppt_y</p:attrName>
                                        </p:attrNameLst>
                                      </p:cBhvr>
                                      <p:tavLst>
                                        <p:tav tm="0">
                                          <p:val>
                                            <p:strVal val="#ppt_y+.06"/>
                                          </p:val>
                                        </p:tav>
                                        <p:tav tm="100000">
                                          <p:val>
                                            <p:strVal val="#ppt_y"/>
                                          </p:val>
                                        </p:tav>
                                      </p:tavLst>
                                    </p:anim>
                                  </p:childTnLst>
                                </p:cTn>
                              </p:par>
                              <p:par>
                                <p:cTn id="18" presetID="53" presetClass="entr" presetSubtype="16" decel="100000" fill="hold" grpId="0" nodeType="withEffect">
                                  <p:stCondLst>
                                    <p:cond delay="40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50" fill="hold"/>
                                        <p:tgtEl>
                                          <p:spTgt spid="8"/>
                                        </p:tgtEl>
                                        <p:attrNameLst>
                                          <p:attrName>ppt_w</p:attrName>
                                        </p:attrNameLst>
                                      </p:cBhvr>
                                      <p:tavLst>
                                        <p:tav tm="0">
                                          <p:val>
                                            <p:strVal val="0"/>
                                          </p:val>
                                        </p:tav>
                                        <p:tav tm="70000">
                                          <p:val>
                                            <p:strVal val="#ppt_w*1.08"/>
                                          </p:val>
                                        </p:tav>
                                        <p:tav tm="100000">
                                          <p:val>
                                            <p:strVal val="#ppt_w"/>
                                          </p:val>
                                        </p:tav>
                                      </p:tavLst>
                                    </p:anim>
                                    <p:anim calcmode="lin" valueType="num">
                                      <p:cBhvr additive="base">
                                        <p:cTn id="21" dur="550" fill="hold"/>
                                        <p:tgtEl>
                                          <p:spTgt spid="8"/>
                                        </p:tgtEl>
                                        <p:attrNameLst>
                                          <p:attrName>ppt_h</p:attrName>
                                        </p:attrNameLst>
                                      </p:cBhvr>
                                      <p:tavLst>
                                        <p:tav tm="0">
                                          <p:val>
                                            <p:strVal val="0"/>
                                          </p:val>
                                        </p:tav>
                                        <p:tav tm="70000">
                                          <p:val>
                                            <p:strVal val="#ppt_h*1.08"/>
                                          </p:val>
                                        </p:tav>
                                        <p:tav tm="100000">
                                          <p:val>
                                            <p:strVal val="#ppt_h"/>
                                          </p:val>
                                        </p:tav>
                                      </p:tavLst>
                                    </p:anim>
                                    <p:animEffect transition="in" filter="fade">
                                      <p:cBhvr>
                                        <p:cTn id="22" dur="330" fill="hold"/>
                                        <p:tgtEl>
                                          <p:spTgt spid="8"/>
                                        </p:tgtEl>
                                      </p:cBhvr>
                                    </p:animEffect>
                                  </p:childTnLst>
                                </p:cTn>
                              </p:par>
                              <p:par>
                                <p:cTn id="23" presetID="42" presetClass="entr" presetSubtype="0" decel="100000" fill="hold" grpId="0" nodeType="withEffect">
                                  <p:stCondLst>
                                    <p:cond delay="7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650" fill="hold"/>
                                        <p:tgtEl>
                                          <p:spTgt spid="9"/>
                                        </p:tgtEl>
                                      </p:cBhvr>
                                    </p:animEffect>
                                    <p:anim calcmode="lin" valueType="num">
                                      <p:cBhvr additive="base">
                                        <p:cTn id="26" dur="650" fill="hold"/>
                                        <p:tgtEl>
                                          <p:spTgt spid="9"/>
                                        </p:tgtEl>
                                        <p:attrNameLst>
                                          <p:attrName>ppt_x</p:attrName>
                                        </p:attrNameLst>
                                      </p:cBhvr>
                                      <p:tavLst>
                                        <p:tav tm="0">
                                          <p:val>
                                            <p:strVal val="#ppt_x"/>
                                          </p:val>
                                        </p:tav>
                                        <p:tav tm="100000">
                                          <p:val>
                                            <p:strVal val="#ppt_x"/>
                                          </p:val>
                                        </p:tav>
                                      </p:tavLst>
                                    </p:anim>
                                    <p:anim calcmode="lin" valueType="num">
                                      <p:cBhvr additive="base">
                                        <p:cTn id="27" dur="650" fill="hold"/>
                                        <p:tgtEl>
                                          <p:spTgt spid="9"/>
                                        </p:tgtEl>
                                        <p:attrNameLst>
                                          <p:attrName>ppt_y</p:attrName>
                                        </p:attrNameLst>
                                      </p:cBhvr>
                                      <p:tavLst>
                                        <p:tav tm="0">
                                          <p:val>
                                            <p:strVal val="#ppt_y+.06"/>
                                          </p:val>
                                        </p:tav>
                                        <p:tav tm="100000">
                                          <p:val>
                                            <p:strVal val="#ppt_y"/>
                                          </p:val>
                                        </p:tav>
                                      </p:tavLst>
                                    </p:anim>
                                  </p:childTnLst>
                                </p:cTn>
                              </p:par>
                              <p:par>
                                <p:cTn id="28" presetID="42" presetClass="entr" presetSubtype="0" decel="100000" fill="hold" grpId="0" nodeType="withEffect">
                                  <p:stCondLst>
                                    <p:cond delay="70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650" fill="hold"/>
                                        <p:tgtEl>
                                          <p:spTgt spid="10"/>
                                        </p:tgtEl>
                                      </p:cBhvr>
                                    </p:animEffect>
                                    <p:anim calcmode="lin" valueType="num">
                                      <p:cBhvr additive="base">
                                        <p:cTn id="31" dur="650" fill="hold"/>
                                        <p:tgtEl>
                                          <p:spTgt spid="10"/>
                                        </p:tgtEl>
                                        <p:attrNameLst>
                                          <p:attrName>ppt_x</p:attrName>
                                        </p:attrNameLst>
                                      </p:cBhvr>
                                      <p:tavLst>
                                        <p:tav tm="0">
                                          <p:val>
                                            <p:strVal val="#ppt_x"/>
                                          </p:val>
                                        </p:tav>
                                        <p:tav tm="100000">
                                          <p:val>
                                            <p:strVal val="#ppt_x"/>
                                          </p:val>
                                        </p:tav>
                                      </p:tavLst>
                                    </p:anim>
                                    <p:anim calcmode="lin" valueType="num">
                                      <p:cBhvr additive="base">
                                        <p:cTn id="32" dur="650" fill="hold"/>
                                        <p:tgtEl>
                                          <p:spTgt spid="10"/>
                                        </p:tgtEl>
                                        <p:attrNameLst>
                                          <p:attrName>ppt_y</p:attrName>
                                        </p:attrNameLst>
                                      </p:cBhvr>
                                      <p:tavLst>
                                        <p:tav tm="0">
                                          <p:val>
                                            <p:strVal val="#ppt_y+.06"/>
                                          </p:val>
                                        </p:tav>
                                        <p:tav tm="100000">
                                          <p:val>
                                            <p:strVal val="#ppt_y"/>
                                          </p:val>
                                        </p:tav>
                                      </p:tavLst>
                                    </p:anim>
                                  </p:childTnLst>
                                </p:cTn>
                              </p:par>
                              <p:par>
                                <p:cTn id="33" presetID="53" presetClass="entr" presetSubtype="16" decel="100000" fill="hold" grpId="0" nodeType="withEffect">
                                  <p:stCondLst>
                                    <p:cond delay="85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550" fill="hold"/>
                                        <p:tgtEl>
                                          <p:spTgt spid="11"/>
                                        </p:tgtEl>
                                        <p:attrNameLst>
                                          <p:attrName>ppt_w</p:attrName>
                                        </p:attrNameLst>
                                      </p:cBhvr>
                                      <p:tavLst>
                                        <p:tav tm="0">
                                          <p:val>
                                            <p:strVal val="0"/>
                                          </p:val>
                                        </p:tav>
                                        <p:tav tm="70000">
                                          <p:val>
                                            <p:strVal val="#ppt_w*1.08"/>
                                          </p:val>
                                        </p:tav>
                                        <p:tav tm="100000">
                                          <p:val>
                                            <p:strVal val="#ppt_w"/>
                                          </p:val>
                                        </p:tav>
                                      </p:tavLst>
                                    </p:anim>
                                    <p:anim calcmode="lin" valueType="num">
                                      <p:cBhvr additive="base">
                                        <p:cTn id="36" dur="550" fill="hold"/>
                                        <p:tgtEl>
                                          <p:spTgt spid="11"/>
                                        </p:tgtEl>
                                        <p:attrNameLst>
                                          <p:attrName>ppt_h</p:attrName>
                                        </p:attrNameLst>
                                      </p:cBhvr>
                                      <p:tavLst>
                                        <p:tav tm="0">
                                          <p:val>
                                            <p:strVal val="0"/>
                                          </p:val>
                                        </p:tav>
                                        <p:tav tm="70000">
                                          <p:val>
                                            <p:strVal val="#ppt_h*1.08"/>
                                          </p:val>
                                        </p:tav>
                                        <p:tav tm="100000">
                                          <p:val>
                                            <p:strVal val="#ppt_h"/>
                                          </p:val>
                                        </p:tav>
                                      </p:tavLst>
                                    </p:anim>
                                    <p:animEffect transition="in" filter="fade">
                                      <p:cBhvr>
                                        <p:cTn id="37" dur="330" fill="hold"/>
                                        <p:tgtEl>
                                          <p:spTgt spid="11"/>
                                        </p:tgtEl>
                                      </p:cBhvr>
                                    </p:animEffect>
                                  </p:childTnLst>
                                </p:cTn>
                              </p:par>
                              <p:par>
                                <p:cTn id="38" presetID="42" presetClass="entr" presetSubtype="0" decel="100000" fill="hold" grpId="0" nodeType="withEffect">
                                  <p:stCondLst>
                                    <p:cond delay="115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650" fill="hold"/>
                                        <p:tgtEl>
                                          <p:spTgt spid="12"/>
                                        </p:tgtEl>
                                      </p:cBhvr>
                                    </p:animEffect>
                                    <p:anim calcmode="lin" valueType="num">
                                      <p:cBhvr additive="base">
                                        <p:cTn id="41" dur="650" fill="hold"/>
                                        <p:tgtEl>
                                          <p:spTgt spid="12"/>
                                        </p:tgtEl>
                                        <p:attrNameLst>
                                          <p:attrName>ppt_x</p:attrName>
                                        </p:attrNameLst>
                                      </p:cBhvr>
                                      <p:tavLst>
                                        <p:tav tm="0">
                                          <p:val>
                                            <p:strVal val="#ppt_x"/>
                                          </p:val>
                                        </p:tav>
                                        <p:tav tm="100000">
                                          <p:val>
                                            <p:strVal val="#ppt_x"/>
                                          </p:val>
                                        </p:tav>
                                      </p:tavLst>
                                    </p:anim>
                                    <p:anim calcmode="lin" valueType="num">
                                      <p:cBhvr additive="base">
                                        <p:cTn id="42" dur="650" fill="hold"/>
                                        <p:tgtEl>
                                          <p:spTgt spid="12"/>
                                        </p:tgtEl>
                                        <p:attrNameLst>
                                          <p:attrName>ppt_y</p:attrName>
                                        </p:attrNameLst>
                                      </p:cBhvr>
                                      <p:tavLst>
                                        <p:tav tm="0">
                                          <p:val>
                                            <p:strVal val="#ppt_y+.06"/>
                                          </p:val>
                                        </p:tav>
                                        <p:tav tm="100000">
                                          <p:val>
                                            <p:strVal val="#ppt_y"/>
                                          </p:val>
                                        </p:tav>
                                      </p:tavLst>
                                    </p:anim>
                                  </p:childTnLst>
                                </p:cTn>
                              </p:par>
                              <p:par>
                                <p:cTn id="43" presetID="42" presetClass="entr" presetSubtype="0" decel="100000" fill="hold" grpId="0" nodeType="withEffect">
                                  <p:stCondLst>
                                    <p:cond delay="115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650" fill="hold"/>
                                        <p:tgtEl>
                                          <p:spTgt spid="13"/>
                                        </p:tgtEl>
                                      </p:cBhvr>
                                    </p:animEffect>
                                    <p:anim calcmode="lin" valueType="num">
                                      <p:cBhvr additive="base">
                                        <p:cTn id="46" dur="650" fill="hold"/>
                                        <p:tgtEl>
                                          <p:spTgt spid="13"/>
                                        </p:tgtEl>
                                        <p:attrNameLst>
                                          <p:attrName>ppt_x</p:attrName>
                                        </p:attrNameLst>
                                      </p:cBhvr>
                                      <p:tavLst>
                                        <p:tav tm="0">
                                          <p:val>
                                            <p:strVal val="#ppt_x"/>
                                          </p:val>
                                        </p:tav>
                                        <p:tav tm="100000">
                                          <p:val>
                                            <p:strVal val="#ppt_x"/>
                                          </p:val>
                                        </p:tav>
                                      </p:tavLst>
                                    </p:anim>
                                    <p:anim calcmode="lin" valueType="num">
                                      <p:cBhvr additive="base">
                                        <p:cTn id="47" dur="650" fill="hold"/>
                                        <p:tgtEl>
                                          <p:spTgt spid="13"/>
                                        </p:tgtEl>
                                        <p:attrNameLst>
                                          <p:attrName>ppt_y</p:attrName>
                                        </p:attrNameLst>
                                      </p:cBhvr>
                                      <p:tavLst>
                                        <p:tav tm="0">
                                          <p:val>
                                            <p:strVal val="#ppt_y+.06"/>
                                          </p:val>
                                        </p:tav>
                                        <p:tav tm="100000">
                                          <p:val>
                                            <p:strVal val="#ppt_y"/>
                                          </p:val>
                                        </p:tav>
                                      </p:tavLst>
                                    </p:anim>
                                  </p:childTnLst>
                                </p:cTn>
                              </p:par>
                              <p:par>
                                <p:cTn id="48" presetID="53" presetClass="entr" presetSubtype="16" decel="100000" fill="hold" grpId="0" nodeType="withEffect">
                                  <p:stCondLst>
                                    <p:cond delay="1300"/>
                                  </p:stCondLst>
                                  <p:childTnLst>
                                    <p:set>
                                      <p:cBhvr>
                                        <p:cTn id="49" dur="1" fill="hold">
                                          <p:stCondLst>
                                            <p:cond delay="0"/>
                                          </p:stCondLst>
                                        </p:cTn>
                                        <p:tgtEl>
                                          <p:spTgt spid="14"/>
                                        </p:tgtEl>
                                        <p:attrNameLst>
                                          <p:attrName>style.visibility</p:attrName>
                                        </p:attrNameLst>
                                      </p:cBhvr>
                                      <p:to>
                                        <p:strVal val="visible"/>
                                      </p:to>
                                    </p:set>
                                    <p:anim calcmode="lin" valueType="num">
                                      <p:cBhvr additive="base">
                                        <p:cTn id="50" dur="550" fill="hold"/>
                                        <p:tgtEl>
                                          <p:spTgt spid="14"/>
                                        </p:tgtEl>
                                        <p:attrNameLst>
                                          <p:attrName>ppt_w</p:attrName>
                                        </p:attrNameLst>
                                      </p:cBhvr>
                                      <p:tavLst>
                                        <p:tav tm="0">
                                          <p:val>
                                            <p:strVal val="0"/>
                                          </p:val>
                                        </p:tav>
                                        <p:tav tm="70000">
                                          <p:val>
                                            <p:strVal val="#ppt_w*1.08"/>
                                          </p:val>
                                        </p:tav>
                                        <p:tav tm="100000">
                                          <p:val>
                                            <p:strVal val="#ppt_w"/>
                                          </p:val>
                                        </p:tav>
                                      </p:tavLst>
                                    </p:anim>
                                    <p:anim calcmode="lin" valueType="num">
                                      <p:cBhvr additive="base">
                                        <p:cTn id="51" dur="550" fill="hold"/>
                                        <p:tgtEl>
                                          <p:spTgt spid="14"/>
                                        </p:tgtEl>
                                        <p:attrNameLst>
                                          <p:attrName>ppt_h</p:attrName>
                                        </p:attrNameLst>
                                      </p:cBhvr>
                                      <p:tavLst>
                                        <p:tav tm="0">
                                          <p:val>
                                            <p:strVal val="0"/>
                                          </p:val>
                                        </p:tav>
                                        <p:tav tm="70000">
                                          <p:val>
                                            <p:strVal val="#ppt_h*1.08"/>
                                          </p:val>
                                        </p:tav>
                                        <p:tav tm="100000">
                                          <p:val>
                                            <p:strVal val="#ppt_h"/>
                                          </p:val>
                                        </p:tav>
                                      </p:tavLst>
                                    </p:anim>
                                    <p:animEffect transition="in" filter="fade">
                                      <p:cBhvr>
                                        <p:cTn id="52" dur="330" fill="hold"/>
                                        <p:tgtEl>
                                          <p:spTgt spid="14"/>
                                        </p:tgtEl>
                                      </p:cBhvr>
                                    </p:animEffect>
                                  </p:childTnLst>
                                </p:cTn>
                              </p:par>
                              <p:par>
                                <p:cTn id="53" presetID="10" presetClass="entr" presetSubtype="0" fill="hold" grpId="0" nodeType="withEffect">
                                  <p:stCondLst>
                                    <p:cond delay="170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500" fill="hold"/>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2A9FC0"/>
                </a:solidFill>
                <a:latin typeface="Segoe UI Semibold"/>
              </a:rPr>
              <a:t>CORREÇÃO COMENTADA  ·  QUESTÃO 1</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94360"/>
            <a:ext cx="11064240" cy="1463040"/>
          </a:xfrm>
          <a:prstGeom prst="rect">
            <a:avLst/>
          </a:prstGeom>
          <a:noFill/>
        </p:spPr>
        <p:txBody>
          <a:bodyPr wrap="square" lIns="36576" tIns="18288" rIns="36576" bIns="18288" anchor="t">
            <a:spAutoFit/>
          </a:bodyPr>
          <a:lstStyle/>
          <a:p>
            <a:pPr algn="l">
              <a:lnSpc>
                <a:spcPct val="108000"/>
              </a:lnSpc>
            </a:pPr>
            <a:r>
              <a:rPr sz="1700" b="1" i="0">
                <a:solidFill>
                  <a:srgbClr val="F2F2EC"/>
                </a:solidFill>
                <a:latin typeface="Segoe UI Semibold"/>
              </a:rPr>
              <a:t>O diretor de uma loja de materiais de construção decide investir seis meses no desenvolvimento de um aplicativo próprio, porque 'todo mundo usa app hoje em dia'. Nenhum cliente foi consultado. Segundo o Design Centrado no Usuário, qual é o principal risco dessa decisão?</a:t>
            </a:r>
          </a:p>
        </p:txBody>
      </p:sp>
      <p:sp>
        <p:nvSpPr>
          <p:cNvPr id="6" name="Rounded Rectangle 5"/>
          <p:cNvSpPr/>
          <p:nvPr/>
        </p:nvSpPr>
        <p:spPr>
          <a:xfrm>
            <a:off x="548640" y="2240280"/>
            <a:ext cx="11091672" cy="603504"/>
          </a:xfrm>
          <a:prstGeom prst="roundRect">
            <a:avLst>
              <a:gd name="adj" fmla="val 20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722376" y="2350008"/>
            <a:ext cx="384048" cy="384048"/>
          </a:xfrm>
          <a:prstGeom prst="ellipse">
            <a:avLst/>
          </a:prstGeom>
          <a:solidFill>
            <a:srgbClr val="3A413D"/>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300" b="1" i="0">
                <a:solidFill>
                  <a:srgbClr val="B4B8B0"/>
                </a:solidFill>
                <a:latin typeface="Segoe UI Semibold"/>
              </a:rPr>
              <a:t>a</a:t>
            </a:r>
          </a:p>
        </p:txBody>
      </p:sp>
      <p:sp>
        <p:nvSpPr>
          <p:cNvPr id="8" name="TextBox 7"/>
          <p:cNvSpPr txBox="1"/>
          <p:nvPr/>
        </p:nvSpPr>
        <p:spPr>
          <a:xfrm>
            <a:off x="1280160" y="2240280"/>
            <a:ext cx="10149840" cy="603504"/>
          </a:xfrm>
          <a:prstGeom prst="rect">
            <a:avLst/>
          </a:prstGeom>
          <a:noFill/>
        </p:spPr>
        <p:txBody>
          <a:bodyPr wrap="square" lIns="36576" tIns="18288" rIns="36576" bIns="18288" anchor="ctr">
            <a:spAutoFit/>
          </a:bodyPr>
          <a:lstStyle/>
          <a:p>
            <a:pPr algn="l"/>
            <a:r>
              <a:rPr sz="1400" b="0" i="0">
                <a:solidFill>
                  <a:srgbClr val="F2F2EC"/>
                </a:solidFill>
                <a:latin typeface="Segoe UI"/>
              </a:rPr>
              <a:t>O aplicativo pode ficar visualmente feio e prejudicar a marca.</a:t>
            </a:r>
          </a:p>
        </p:txBody>
      </p:sp>
      <p:sp>
        <p:nvSpPr>
          <p:cNvPr id="9" name="Rounded Rectangle 8"/>
          <p:cNvSpPr/>
          <p:nvPr/>
        </p:nvSpPr>
        <p:spPr>
          <a:xfrm>
            <a:off x="548640" y="2953512"/>
            <a:ext cx="11091672" cy="603504"/>
          </a:xfrm>
          <a:prstGeom prst="roundRect">
            <a:avLst>
              <a:gd name="adj" fmla="val 20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722376" y="3063240"/>
            <a:ext cx="384048" cy="384048"/>
          </a:xfrm>
          <a:prstGeom prst="ellipse">
            <a:avLst/>
          </a:prstGeom>
          <a:solidFill>
            <a:srgbClr val="3A413D"/>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300" b="1" i="0">
                <a:solidFill>
                  <a:srgbClr val="B4B8B0"/>
                </a:solidFill>
                <a:latin typeface="Segoe UI Semibold"/>
              </a:rPr>
              <a:t>b</a:t>
            </a:r>
          </a:p>
        </p:txBody>
      </p:sp>
      <p:sp>
        <p:nvSpPr>
          <p:cNvPr id="11" name="TextBox 10"/>
          <p:cNvSpPr txBox="1"/>
          <p:nvPr/>
        </p:nvSpPr>
        <p:spPr>
          <a:xfrm>
            <a:off x="1280160" y="2953512"/>
            <a:ext cx="10149840" cy="603504"/>
          </a:xfrm>
          <a:prstGeom prst="rect">
            <a:avLst/>
          </a:prstGeom>
          <a:noFill/>
        </p:spPr>
        <p:txBody>
          <a:bodyPr wrap="square" lIns="36576" tIns="18288" rIns="36576" bIns="18288" anchor="ctr">
            <a:spAutoFit/>
          </a:bodyPr>
          <a:lstStyle/>
          <a:p>
            <a:pPr algn="l"/>
            <a:r>
              <a:rPr sz="1400" b="0" i="0">
                <a:solidFill>
                  <a:srgbClr val="F2F2EC"/>
                </a:solidFill>
                <a:latin typeface="Segoe UI"/>
              </a:rPr>
              <a:t>Criar uma solução para um problema que os clientes talvez não tenham, desperdiçando tempo e dinheiro.</a:t>
            </a:r>
          </a:p>
        </p:txBody>
      </p:sp>
      <p:sp>
        <p:nvSpPr>
          <p:cNvPr id="12" name="Rounded Rectangle 11"/>
          <p:cNvSpPr/>
          <p:nvPr/>
        </p:nvSpPr>
        <p:spPr>
          <a:xfrm>
            <a:off x="548640" y="3666744"/>
            <a:ext cx="11091672" cy="603504"/>
          </a:xfrm>
          <a:prstGeom prst="roundRect">
            <a:avLst>
              <a:gd name="adj" fmla="val 20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722376" y="3776472"/>
            <a:ext cx="384048" cy="384048"/>
          </a:xfrm>
          <a:prstGeom prst="ellipse">
            <a:avLst/>
          </a:prstGeom>
          <a:solidFill>
            <a:srgbClr val="3A413D"/>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300" b="1" i="0">
                <a:solidFill>
                  <a:srgbClr val="B4B8B0"/>
                </a:solidFill>
                <a:latin typeface="Segoe UI Semibold"/>
              </a:rPr>
              <a:t>c</a:t>
            </a:r>
          </a:p>
        </p:txBody>
      </p:sp>
      <p:sp>
        <p:nvSpPr>
          <p:cNvPr id="14" name="TextBox 13"/>
          <p:cNvSpPr txBox="1"/>
          <p:nvPr/>
        </p:nvSpPr>
        <p:spPr>
          <a:xfrm>
            <a:off x="1280160" y="3666744"/>
            <a:ext cx="10149840" cy="603504"/>
          </a:xfrm>
          <a:prstGeom prst="rect">
            <a:avLst/>
          </a:prstGeom>
          <a:noFill/>
        </p:spPr>
        <p:txBody>
          <a:bodyPr wrap="square" lIns="36576" tIns="18288" rIns="36576" bIns="18288" anchor="ctr">
            <a:spAutoFit/>
          </a:bodyPr>
          <a:lstStyle/>
          <a:p>
            <a:pPr algn="l"/>
            <a:r>
              <a:rPr sz="1400" b="0" i="0">
                <a:solidFill>
                  <a:srgbClr val="F2F2EC"/>
                </a:solidFill>
                <a:latin typeface="Segoe UI"/>
              </a:rPr>
              <a:t>O prazo de seis meses é curto demais para um aplicativo de qualidade.</a:t>
            </a:r>
          </a:p>
        </p:txBody>
      </p:sp>
      <p:sp>
        <p:nvSpPr>
          <p:cNvPr id="15" name="Rounded Rectangle 14"/>
          <p:cNvSpPr/>
          <p:nvPr/>
        </p:nvSpPr>
        <p:spPr>
          <a:xfrm>
            <a:off x="548640" y="4379976"/>
            <a:ext cx="11091672" cy="603504"/>
          </a:xfrm>
          <a:prstGeom prst="roundRect">
            <a:avLst>
              <a:gd name="adj" fmla="val 20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722376" y="4489704"/>
            <a:ext cx="384048" cy="384048"/>
          </a:xfrm>
          <a:prstGeom prst="ellipse">
            <a:avLst/>
          </a:prstGeom>
          <a:solidFill>
            <a:srgbClr val="3A413D"/>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300" b="1" i="0">
                <a:solidFill>
                  <a:srgbClr val="B4B8B0"/>
                </a:solidFill>
                <a:latin typeface="Segoe UI Semibold"/>
              </a:rPr>
              <a:t>d</a:t>
            </a:r>
          </a:p>
        </p:txBody>
      </p:sp>
      <p:sp>
        <p:nvSpPr>
          <p:cNvPr id="17" name="TextBox 16"/>
          <p:cNvSpPr txBox="1"/>
          <p:nvPr/>
        </p:nvSpPr>
        <p:spPr>
          <a:xfrm>
            <a:off x="1280160" y="4379976"/>
            <a:ext cx="10149840" cy="603504"/>
          </a:xfrm>
          <a:prstGeom prst="rect">
            <a:avLst/>
          </a:prstGeom>
          <a:noFill/>
        </p:spPr>
        <p:txBody>
          <a:bodyPr wrap="square" lIns="36576" tIns="18288" rIns="36576" bIns="18288" anchor="ctr">
            <a:spAutoFit/>
          </a:bodyPr>
          <a:lstStyle/>
          <a:p>
            <a:pPr algn="l"/>
            <a:r>
              <a:rPr sz="1400" b="0" i="0">
                <a:solidFill>
                  <a:srgbClr val="F2F2EC"/>
                </a:solidFill>
                <a:latin typeface="Segoe UI"/>
              </a:rPr>
              <a:t>Os concorrentes podem copiar o aplicativo antes do lançamento.</a:t>
            </a:r>
          </a:p>
        </p:txBody>
      </p:sp>
      <p:sp>
        <p:nvSpPr>
          <p:cNvPr id="18" name="Rectangle 17"/>
          <p:cNvSpPr/>
          <p:nvPr/>
        </p:nvSpPr>
        <p:spPr>
          <a:xfrm>
            <a:off x="502920" y="2212848"/>
            <a:ext cx="11183112" cy="658368"/>
          </a:xfrm>
          <a:prstGeom prst="rect">
            <a:avLst/>
          </a:prstGeom>
          <a:solidFill>
            <a:srgbClr val="1A1A1A">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502920" y="3639312"/>
            <a:ext cx="11183112" cy="658368"/>
          </a:xfrm>
          <a:prstGeom prst="rect">
            <a:avLst/>
          </a:prstGeom>
          <a:solidFill>
            <a:srgbClr val="1A1A1A">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502920" y="4352544"/>
            <a:ext cx="11183112" cy="658368"/>
          </a:xfrm>
          <a:prstGeom prst="rect">
            <a:avLst/>
          </a:prstGeom>
          <a:solidFill>
            <a:srgbClr val="1A1A1A">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ounded Rectangle 20"/>
          <p:cNvSpPr/>
          <p:nvPr/>
        </p:nvSpPr>
        <p:spPr>
          <a:xfrm>
            <a:off x="548640" y="2953512"/>
            <a:ext cx="11091672" cy="603504"/>
          </a:xfrm>
          <a:prstGeom prst="roundRect">
            <a:avLst>
              <a:gd name="adj" fmla="val 20000"/>
            </a:avLst>
          </a:prstGeom>
          <a:noFill/>
          <a:ln w="31750">
            <a:solidFill>
              <a:srgbClr val="9CD84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722376" y="3063240"/>
            <a:ext cx="384048" cy="384048"/>
          </a:xfrm>
          <a:prstGeom prst="ellipse">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300" b="1" i="0">
                <a:solidFill>
                  <a:srgbClr val="1A1A1A"/>
                </a:solidFill>
                <a:latin typeface="Segoe UI Semibold"/>
              </a:rPr>
              <a:t>b</a:t>
            </a:r>
          </a:p>
        </p:txBody>
      </p:sp>
      <p:sp>
        <p:nvSpPr>
          <p:cNvPr id="23" name="Rounded Rectangle 22"/>
          <p:cNvSpPr/>
          <p:nvPr/>
        </p:nvSpPr>
        <p:spPr>
          <a:xfrm>
            <a:off x="10058400" y="3072384"/>
            <a:ext cx="1417320" cy="365760"/>
          </a:xfrm>
          <a:prstGeom prst="roundRect">
            <a:avLst>
              <a:gd name="adj" fmla="val 50000"/>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200" b="1" i="0">
                <a:solidFill>
                  <a:srgbClr val="1A1A1A"/>
                </a:solidFill>
                <a:latin typeface="Segoe UI Semibold"/>
              </a:rPr>
              <a:t>✓  Correta</a:t>
            </a:r>
          </a:p>
        </p:txBody>
      </p:sp>
      <p:sp>
        <p:nvSpPr>
          <p:cNvPr id="24" name="TextBox 23"/>
          <p:cNvSpPr txBox="1"/>
          <p:nvPr/>
        </p:nvSpPr>
        <p:spPr>
          <a:xfrm>
            <a:off x="548640" y="5166360"/>
            <a:ext cx="11064240" cy="1097280"/>
          </a:xfrm>
          <a:prstGeom prst="rect">
            <a:avLst/>
          </a:prstGeom>
          <a:noFill/>
        </p:spPr>
        <p:txBody>
          <a:bodyPr wrap="square" lIns="36576" tIns="18288" rIns="36576" bIns="18288" anchor="t">
            <a:spAutoFit/>
          </a:bodyPr>
          <a:lstStyle/>
          <a:p>
            <a:pPr algn="l"/>
            <a:r>
              <a:rPr sz="1250" b="1" i="0">
                <a:solidFill>
                  <a:srgbClr val="9CD848"/>
                </a:solidFill>
                <a:latin typeface="Segoe UI Semibold"/>
              </a:rPr>
              <a:t>Por quê: </a:t>
            </a:r>
            <a:r>
              <a:rPr sz="1250" b="0" i="0">
                <a:solidFill>
                  <a:srgbClr val="B4B8B0"/>
                </a:solidFill>
                <a:latin typeface="Segoe UI"/>
              </a:rPr>
              <a:t>O DCU parte da pesquisa com as pessoas antes de decidir o que construir. Sem ouvir os clientes, a empresa corre o risco de resolver um problema que não existe ou de resolvê-lo de uma forma que ninguém quer. As demais alternativas tratam de estética, prazo e concorrência, que não são o foco do DCU.</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fill="hold"/>
                                        <p:tgtEl>
                                          <p:spTgt spid="5"/>
                                        </p:tgtEl>
                                      </p:cBhvr>
                                    </p:animEffect>
                                  </p:childTnLst>
                                </p:cTn>
                              </p:par>
                              <p:par>
                                <p:cTn id="8" presetID="42" presetClass="entr" presetSubtype="0" decel="100000" fill="hold" grpId="0" nodeType="withEffect">
                                  <p:stCondLst>
                                    <p:cond delay="3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50" fill="hold"/>
                                        <p:tgtEl>
                                          <p:spTgt spid="6"/>
                                        </p:tgtEl>
                                      </p:cBhvr>
                                    </p:animEffect>
                                    <p:anim calcmode="lin" valueType="num">
                                      <p:cBhvr additive="base">
                                        <p:cTn id="11" dur="650" fill="hold"/>
                                        <p:tgtEl>
                                          <p:spTgt spid="6"/>
                                        </p:tgtEl>
                                        <p:attrNameLst>
                                          <p:attrName>ppt_x</p:attrName>
                                        </p:attrNameLst>
                                      </p:cBhvr>
                                      <p:tavLst>
                                        <p:tav tm="0">
                                          <p:val>
                                            <p:strVal val="#ppt_x"/>
                                          </p:val>
                                        </p:tav>
                                        <p:tav tm="100000">
                                          <p:val>
                                            <p:strVal val="#ppt_x"/>
                                          </p:val>
                                        </p:tav>
                                      </p:tavLst>
                                    </p:anim>
                                    <p:anim calcmode="lin" valueType="num">
                                      <p:cBhvr additive="base">
                                        <p:cTn id="12" dur="650" fill="hold"/>
                                        <p:tgtEl>
                                          <p:spTgt spid="6"/>
                                        </p:tgtEl>
                                        <p:attrNameLst>
                                          <p:attrName>ppt_y</p:attrName>
                                        </p:attrNameLst>
                                      </p:cBhvr>
                                      <p:tavLst>
                                        <p:tav tm="0">
                                          <p:val>
                                            <p:strVal val="#ppt_y+.06"/>
                                          </p:val>
                                        </p:tav>
                                        <p:tav tm="100000">
                                          <p:val>
                                            <p:strVal val="#ppt_y"/>
                                          </p:val>
                                        </p:tav>
                                      </p:tavLst>
                                    </p:anim>
                                  </p:childTnLst>
                                </p:cTn>
                              </p:par>
                              <p:par>
                                <p:cTn id="13" presetID="42" presetClass="entr" presetSubtype="0" decel="100000" fill="hold" grpId="0" nodeType="withEffect">
                                  <p:stCondLst>
                                    <p:cond delay="30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fill="hold"/>
                                        <p:tgtEl>
                                          <p:spTgt spid="7"/>
                                        </p:tgtEl>
                                      </p:cBhvr>
                                    </p:animEffect>
                                    <p:anim calcmode="lin" valueType="num">
                                      <p:cBhvr additive="base">
                                        <p:cTn id="16" dur="650" fill="hold"/>
                                        <p:tgtEl>
                                          <p:spTgt spid="7"/>
                                        </p:tgtEl>
                                        <p:attrNameLst>
                                          <p:attrName>ppt_x</p:attrName>
                                        </p:attrNameLst>
                                      </p:cBhvr>
                                      <p:tavLst>
                                        <p:tav tm="0">
                                          <p:val>
                                            <p:strVal val="#ppt_x"/>
                                          </p:val>
                                        </p:tav>
                                        <p:tav tm="100000">
                                          <p:val>
                                            <p:strVal val="#ppt_x"/>
                                          </p:val>
                                        </p:tav>
                                      </p:tavLst>
                                    </p:anim>
                                    <p:anim calcmode="lin" valueType="num">
                                      <p:cBhvr additive="base">
                                        <p:cTn id="17" dur="650" fill="hold"/>
                                        <p:tgtEl>
                                          <p:spTgt spid="7"/>
                                        </p:tgtEl>
                                        <p:attrNameLst>
                                          <p:attrName>ppt_y</p:attrName>
                                        </p:attrNameLst>
                                      </p:cBhvr>
                                      <p:tavLst>
                                        <p:tav tm="0">
                                          <p:val>
                                            <p:strVal val="#ppt_y+.06"/>
                                          </p:val>
                                        </p:tav>
                                        <p:tav tm="100000">
                                          <p:val>
                                            <p:strVal val="#ppt_y"/>
                                          </p:val>
                                        </p:tav>
                                      </p:tavLst>
                                    </p:anim>
                                  </p:childTnLst>
                                </p:cTn>
                              </p:par>
                              <p:par>
                                <p:cTn id="18" presetID="42" presetClass="entr" presetSubtype="0" decel="100000" fill="hold" grpId="0" nodeType="withEffect">
                                  <p:stCondLst>
                                    <p:cond delay="30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650" fill="hold"/>
                                        <p:tgtEl>
                                          <p:spTgt spid="8"/>
                                        </p:tgtEl>
                                      </p:cBhvr>
                                    </p:animEffect>
                                    <p:anim calcmode="lin" valueType="num">
                                      <p:cBhvr additive="base">
                                        <p:cTn id="21" dur="650" fill="hold"/>
                                        <p:tgtEl>
                                          <p:spTgt spid="8"/>
                                        </p:tgtEl>
                                        <p:attrNameLst>
                                          <p:attrName>ppt_x</p:attrName>
                                        </p:attrNameLst>
                                      </p:cBhvr>
                                      <p:tavLst>
                                        <p:tav tm="0">
                                          <p:val>
                                            <p:strVal val="#ppt_x"/>
                                          </p:val>
                                        </p:tav>
                                        <p:tav tm="100000">
                                          <p:val>
                                            <p:strVal val="#ppt_x"/>
                                          </p:val>
                                        </p:tav>
                                      </p:tavLst>
                                    </p:anim>
                                    <p:anim calcmode="lin" valueType="num">
                                      <p:cBhvr additive="base">
                                        <p:cTn id="22" dur="650" fill="hold"/>
                                        <p:tgtEl>
                                          <p:spTgt spid="8"/>
                                        </p:tgtEl>
                                        <p:attrNameLst>
                                          <p:attrName>ppt_y</p:attrName>
                                        </p:attrNameLst>
                                      </p:cBhvr>
                                      <p:tavLst>
                                        <p:tav tm="0">
                                          <p:val>
                                            <p:strVal val="#ppt_y+.06"/>
                                          </p:val>
                                        </p:tav>
                                        <p:tav tm="100000">
                                          <p:val>
                                            <p:strVal val="#ppt_y"/>
                                          </p:val>
                                        </p:tav>
                                      </p:tavLst>
                                    </p:anim>
                                  </p:childTnLst>
                                </p:cTn>
                              </p:par>
                              <p:par>
                                <p:cTn id="23" presetID="42" presetClass="entr" presetSubtype="0" decel="100000" fill="hold" grpId="0" nodeType="withEffect">
                                  <p:stCondLst>
                                    <p:cond delay="45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650" fill="hold"/>
                                        <p:tgtEl>
                                          <p:spTgt spid="9"/>
                                        </p:tgtEl>
                                      </p:cBhvr>
                                    </p:animEffect>
                                    <p:anim calcmode="lin" valueType="num">
                                      <p:cBhvr additive="base">
                                        <p:cTn id="26" dur="650" fill="hold"/>
                                        <p:tgtEl>
                                          <p:spTgt spid="9"/>
                                        </p:tgtEl>
                                        <p:attrNameLst>
                                          <p:attrName>ppt_x</p:attrName>
                                        </p:attrNameLst>
                                      </p:cBhvr>
                                      <p:tavLst>
                                        <p:tav tm="0">
                                          <p:val>
                                            <p:strVal val="#ppt_x"/>
                                          </p:val>
                                        </p:tav>
                                        <p:tav tm="100000">
                                          <p:val>
                                            <p:strVal val="#ppt_x"/>
                                          </p:val>
                                        </p:tav>
                                      </p:tavLst>
                                    </p:anim>
                                    <p:anim calcmode="lin" valueType="num">
                                      <p:cBhvr additive="base">
                                        <p:cTn id="27" dur="650" fill="hold"/>
                                        <p:tgtEl>
                                          <p:spTgt spid="9"/>
                                        </p:tgtEl>
                                        <p:attrNameLst>
                                          <p:attrName>ppt_y</p:attrName>
                                        </p:attrNameLst>
                                      </p:cBhvr>
                                      <p:tavLst>
                                        <p:tav tm="0">
                                          <p:val>
                                            <p:strVal val="#ppt_y+.06"/>
                                          </p:val>
                                        </p:tav>
                                        <p:tav tm="100000">
                                          <p:val>
                                            <p:strVal val="#ppt_y"/>
                                          </p:val>
                                        </p:tav>
                                      </p:tavLst>
                                    </p:anim>
                                  </p:childTnLst>
                                </p:cTn>
                              </p:par>
                              <p:par>
                                <p:cTn id="28" presetID="42" presetClass="entr" presetSubtype="0" decel="100000" fill="hold" grpId="0" nodeType="withEffect">
                                  <p:stCondLst>
                                    <p:cond delay="45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650" fill="hold"/>
                                        <p:tgtEl>
                                          <p:spTgt spid="10"/>
                                        </p:tgtEl>
                                      </p:cBhvr>
                                    </p:animEffect>
                                    <p:anim calcmode="lin" valueType="num">
                                      <p:cBhvr additive="base">
                                        <p:cTn id="31" dur="650" fill="hold"/>
                                        <p:tgtEl>
                                          <p:spTgt spid="10"/>
                                        </p:tgtEl>
                                        <p:attrNameLst>
                                          <p:attrName>ppt_x</p:attrName>
                                        </p:attrNameLst>
                                      </p:cBhvr>
                                      <p:tavLst>
                                        <p:tav tm="0">
                                          <p:val>
                                            <p:strVal val="#ppt_x"/>
                                          </p:val>
                                        </p:tav>
                                        <p:tav tm="100000">
                                          <p:val>
                                            <p:strVal val="#ppt_x"/>
                                          </p:val>
                                        </p:tav>
                                      </p:tavLst>
                                    </p:anim>
                                    <p:anim calcmode="lin" valueType="num">
                                      <p:cBhvr additive="base">
                                        <p:cTn id="32" dur="650" fill="hold"/>
                                        <p:tgtEl>
                                          <p:spTgt spid="10"/>
                                        </p:tgtEl>
                                        <p:attrNameLst>
                                          <p:attrName>ppt_y</p:attrName>
                                        </p:attrNameLst>
                                      </p:cBhvr>
                                      <p:tavLst>
                                        <p:tav tm="0">
                                          <p:val>
                                            <p:strVal val="#ppt_y+.06"/>
                                          </p:val>
                                        </p:tav>
                                        <p:tav tm="100000">
                                          <p:val>
                                            <p:strVal val="#ppt_y"/>
                                          </p:val>
                                        </p:tav>
                                      </p:tavLst>
                                    </p:anim>
                                  </p:childTnLst>
                                </p:cTn>
                              </p:par>
                              <p:par>
                                <p:cTn id="33" presetID="42" presetClass="entr" presetSubtype="0" decel="100000" fill="hold" grpId="0" nodeType="withEffect">
                                  <p:stCondLst>
                                    <p:cond delay="45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650" fill="hold"/>
                                        <p:tgtEl>
                                          <p:spTgt spid="11"/>
                                        </p:tgtEl>
                                      </p:cBhvr>
                                    </p:animEffect>
                                    <p:anim calcmode="lin" valueType="num">
                                      <p:cBhvr additive="base">
                                        <p:cTn id="36" dur="650" fill="hold"/>
                                        <p:tgtEl>
                                          <p:spTgt spid="11"/>
                                        </p:tgtEl>
                                        <p:attrNameLst>
                                          <p:attrName>ppt_x</p:attrName>
                                        </p:attrNameLst>
                                      </p:cBhvr>
                                      <p:tavLst>
                                        <p:tav tm="0">
                                          <p:val>
                                            <p:strVal val="#ppt_x"/>
                                          </p:val>
                                        </p:tav>
                                        <p:tav tm="100000">
                                          <p:val>
                                            <p:strVal val="#ppt_x"/>
                                          </p:val>
                                        </p:tav>
                                      </p:tavLst>
                                    </p:anim>
                                    <p:anim calcmode="lin" valueType="num">
                                      <p:cBhvr additive="base">
                                        <p:cTn id="37" dur="650" fill="hold"/>
                                        <p:tgtEl>
                                          <p:spTgt spid="11"/>
                                        </p:tgtEl>
                                        <p:attrNameLst>
                                          <p:attrName>ppt_y</p:attrName>
                                        </p:attrNameLst>
                                      </p:cBhvr>
                                      <p:tavLst>
                                        <p:tav tm="0">
                                          <p:val>
                                            <p:strVal val="#ppt_y+.06"/>
                                          </p:val>
                                        </p:tav>
                                        <p:tav tm="100000">
                                          <p:val>
                                            <p:strVal val="#ppt_y"/>
                                          </p:val>
                                        </p:tav>
                                      </p:tavLst>
                                    </p:anim>
                                  </p:childTnLst>
                                </p:cTn>
                              </p:par>
                              <p:par>
                                <p:cTn id="38" presetID="42" presetClass="entr" presetSubtype="0" decel="100000" fill="hold" grpId="0" nodeType="withEffect">
                                  <p:stCondLst>
                                    <p:cond delay="60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650" fill="hold"/>
                                        <p:tgtEl>
                                          <p:spTgt spid="12"/>
                                        </p:tgtEl>
                                      </p:cBhvr>
                                    </p:animEffect>
                                    <p:anim calcmode="lin" valueType="num">
                                      <p:cBhvr additive="base">
                                        <p:cTn id="41" dur="650" fill="hold"/>
                                        <p:tgtEl>
                                          <p:spTgt spid="12"/>
                                        </p:tgtEl>
                                        <p:attrNameLst>
                                          <p:attrName>ppt_x</p:attrName>
                                        </p:attrNameLst>
                                      </p:cBhvr>
                                      <p:tavLst>
                                        <p:tav tm="0">
                                          <p:val>
                                            <p:strVal val="#ppt_x"/>
                                          </p:val>
                                        </p:tav>
                                        <p:tav tm="100000">
                                          <p:val>
                                            <p:strVal val="#ppt_x"/>
                                          </p:val>
                                        </p:tav>
                                      </p:tavLst>
                                    </p:anim>
                                    <p:anim calcmode="lin" valueType="num">
                                      <p:cBhvr additive="base">
                                        <p:cTn id="42" dur="650" fill="hold"/>
                                        <p:tgtEl>
                                          <p:spTgt spid="12"/>
                                        </p:tgtEl>
                                        <p:attrNameLst>
                                          <p:attrName>ppt_y</p:attrName>
                                        </p:attrNameLst>
                                      </p:cBhvr>
                                      <p:tavLst>
                                        <p:tav tm="0">
                                          <p:val>
                                            <p:strVal val="#ppt_y+.06"/>
                                          </p:val>
                                        </p:tav>
                                        <p:tav tm="100000">
                                          <p:val>
                                            <p:strVal val="#ppt_y"/>
                                          </p:val>
                                        </p:tav>
                                      </p:tavLst>
                                    </p:anim>
                                  </p:childTnLst>
                                </p:cTn>
                              </p:par>
                              <p:par>
                                <p:cTn id="43" presetID="42" presetClass="entr" presetSubtype="0" decel="100000" fill="hold" grpId="0" nodeType="withEffect">
                                  <p:stCondLst>
                                    <p:cond delay="60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650" fill="hold"/>
                                        <p:tgtEl>
                                          <p:spTgt spid="13"/>
                                        </p:tgtEl>
                                      </p:cBhvr>
                                    </p:animEffect>
                                    <p:anim calcmode="lin" valueType="num">
                                      <p:cBhvr additive="base">
                                        <p:cTn id="46" dur="650" fill="hold"/>
                                        <p:tgtEl>
                                          <p:spTgt spid="13"/>
                                        </p:tgtEl>
                                        <p:attrNameLst>
                                          <p:attrName>ppt_x</p:attrName>
                                        </p:attrNameLst>
                                      </p:cBhvr>
                                      <p:tavLst>
                                        <p:tav tm="0">
                                          <p:val>
                                            <p:strVal val="#ppt_x"/>
                                          </p:val>
                                        </p:tav>
                                        <p:tav tm="100000">
                                          <p:val>
                                            <p:strVal val="#ppt_x"/>
                                          </p:val>
                                        </p:tav>
                                      </p:tavLst>
                                    </p:anim>
                                    <p:anim calcmode="lin" valueType="num">
                                      <p:cBhvr additive="base">
                                        <p:cTn id="47" dur="650" fill="hold"/>
                                        <p:tgtEl>
                                          <p:spTgt spid="13"/>
                                        </p:tgtEl>
                                        <p:attrNameLst>
                                          <p:attrName>ppt_y</p:attrName>
                                        </p:attrNameLst>
                                      </p:cBhvr>
                                      <p:tavLst>
                                        <p:tav tm="0">
                                          <p:val>
                                            <p:strVal val="#ppt_y+.06"/>
                                          </p:val>
                                        </p:tav>
                                        <p:tav tm="100000">
                                          <p:val>
                                            <p:strVal val="#ppt_y"/>
                                          </p:val>
                                        </p:tav>
                                      </p:tavLst>
                                    </p:anim>
                                  </p:childTnLst>
                                </p:cTn>
                              </p:par>
                              <p:par>
                                <p:cTn id="48" presetID="42" presetClass="entr" presetSubtype="0" decel="100000" fill="hold" grpId="0" nodeType="withEffect">
                                  <p:stCondLst>
                                    <p:cond delay="60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650" fill="hold"/>
                                        <p:tgtEl>
                                          <p:spTgt spid="14"/>
                                        </p:tgtEl>
                                      </p:cBhvr>
                                    </p:animEffect>
                                    <p:anim calcmode="lin" valueType="num">
                                      <p:cBhvr additive="base">
                                        <p:cTn id="51" dur="650" fill="hold"/>
                                        <p:tgtEl>
                                          <p:spTgt spid="14"/>
                                        </p:tgtEl>
                                        <p:attrNameLst>
                                          <p:attrName>ppt_x</p:attrName>
                                        </p:attrNameLst>
                                      </p:cBhvr>
                                      <p:tavLst>
                                        <p:tav tm="0">
                                          <p:val>
                                            <p:strVal val="#ppt_x"/>
                                          </p:val>
                                        </p:tav>
                                        <p:tav tm="100000">
                                          <p:val>
                                            <p:strVal val="#ppt_x"/>
                                          </p:val>
                                        </p:tav>
                                      </p:tavLst>
                                    </p:anim>
                                    <p:anim calcmode="lin" valueType="num">
                                      <p:cBhvr additive="base">
                                        <p:cTn id="52" dur="650" fill="hold"/>
                                        <p:tgtEl>
                                          <p:spTgt spid="14"/>
                                        </p:tgtEl>
                                        <p:attrNameLst>
                                          <p:attrName>ppt_y</p:attrName>
                                        </p:attrNameLst>
                                      </p:cBhvr>
                                      <p:tavLst>
                                        <p:tav tm="0">
                                          <p:val>
                                            <p:strVal val="#ppt_y+.06"/>
                                          </p:val>
                                        </p:tav>
                                        <p:tav tm="100000">
                                          <p:val>
                                            <p:strVal val="#ppt_y"/>
                                          </p:val>
                                        </p:tav>
                                      </p:tavLst>
                                    </p:anim>
                                  </p:childTnLst>
                                </p:cTn>
                              </p:par>
                              <p:par>
                                <p:cTn id="53" presetID="42" presetClass="entr" presetSubtype="0" decel="100000" fill="hold" grpId="0" nodeType="withEffect">
                                  <p:stCondLst>
                                    <p:cond delay="75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650" fill="hold"/>
                                        <p:tgtEl>
                                          <p:spTgt spid="15"/>
                                        </p:tgtEl>
                                      </p:cBhvr>
                                    </p:animEffect>
                                    <p:anim calcmode="lin" valueType="num">
                                      <p:cBhvr additive="base">
                                        <p:cTn id="56" dur="650" fill="hold"/>
                                        <p:tgtEl>
                                          <p:spTgt spid="15"/>
                                        </p:tgtEl>
                                        <p:attrNameLst>
                                          <p:attrName>ppt_x</p:attrName>
                                        </p:attrNameLst>
                                      </p:cBhvr>
                                      <p:tavLst>
                                        <p:tav tm="0">
                                          <p:val>
                                            <p:strVal val="#ppt_x"/>
                                          </p:val>
                                        </p:tav>
                                        <p:tav tm="100000">
                                          <p:val>
                                            <p:strVal val="#ppt_x"/>
                                          </p:val>
                                        </p:tav>
                                      </p:tavLst>
                                    </p:anim>
                                    <p:anim calcmode="lin" valueType="num">
                                      <p:cBhvr additive="base">
                                        <p:cTn id="57" dur="650" fill="hold"/>
                                        <p:tgtEl>
                                          <p:spTgt spid="15"/>
                                        </p:tgtEl>
                                        <p:attrNameLst>
                                          <p:attrName>ppt_y</p:attrName>
                                        </p:attrNameLst>
                                      </p:cBhvr>
                                      <p:tavLst>
                                        <p:tav tm="0">
                                          <p:val>
                                            <p:strVal val="#ppt_y+.06"/>
                                          </p:val>
                                        </p:tav>
                                        <p:tav tm="100000">
                                          <p:val>
                                            <p:strVal val="#ppt_y"/>
                                          </p:val>
                                        </p:tav>
                                      </p:tavLst>
                                    </p:anim>
                                  </p:childTnLst>
                                </p:cTn>
                              </p:par>
                              <p:par>
                                <p:cTn id="58" presetID="42" presetClass="entr" presetSubtype="0" decel="100000" fill="hold" grpId="0" nodeType="withEffect">
                                  <p:stCondLst>
                                    <p:cond delay="75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650" fill="hold"/>
                                        <p:tgtEl>
                                          <p:spTgt spid="16"/>
                                        </p:tgtEl>
                                      </p:cBhvr>
                                    </p:animEffect>
                                    <p:anim calcmode="lin" valueType="num">
                                      <p:cBhvr additive="base">
                                        <p:cTn id="61" dur="650" fill="hold"/>
                                        <p:tgtEl>
                                          <p:spTgt spid="16"/>
                                        </p:tgtEl>
                                        <p:attrNameLst>
                                          <p:attrName>ppt_x</p:attrName>
                                        </p:attrNameLst>
                                      </p:cBhvr>
                                      <p:tavLst>
                                        <p:tav tm="0">
                                          <p:val>
                                            <p:strVal val="#ppt_x"/>
                                          </p:val>
                                        </p:tav>
                                        <p:tav tm="100000">
                                          <p:val>
                                            <p:strVal val="#ppt_x"/>
                                          </p:val>
                                        </p:tav>
                                      </p:tavLst>
                                    </p:anim>
                                    <p:anim calcmode="lin" valueType="num">
                                      <p:cBhvr additive="base">
                                        <p:cTn id="62" dur="650" fill="hold"/>
                                        <p:tgtEl>
                                          <p:spTgt spid="16"/>
                                        </p:tgtEl>
                                        <p:attrNameLst>
                                          <p:attrName>ppt_y</p:attrName>
                                        </p:attrNameLst>
                                      </p:cBhvr>
                                      <p:tavLst>
                                        <p:tav tm="0">
                                          <p:val>
                                            <p:strVal val="#ppt_y+.06"/>
                                          </p:val>
                                        </p:tav>
                                        <p:tav tm="100000">
                                          <p:val>
                                            <p:strVal val="#ppt_y"/>
                                          </p:val>
                                        </p:tav>
                                      </p:tavLst>
                                    </p:anim>
                                  </p:childTnLst>
                                </p:cTn>
                              </p:par>
                              <p:par>
                                <p:cTn id="63" presetID="42" presetClass="entr" presetSubtype="0" decel="100000" fill="hold" grpId="0" nodeType="withEffect">
                                  <p:stCondLst>
                                    <p:cond delay="750"/>
                                  </p:stCondLst>
                                  <p:childTnLst>
                                    <p:set>
                                      <p:cBhvr>
                                        <p:cTn id="64" dur="1" fill="hold">
                                          <p:stCondLst>
                                            <p:cond delay="0"/>
                                          </p:stCondLst>
                                        </p:cTn>
                                        <p:tgtEl>
                                          <p:spTgt spid="17"/>
                                        </p:tgtEl>
                                        <p:attrNameLst>
                                          <p:attrName>style.visibility</p:attrName>
                                        </p:attrNameLst>
                                      </p:cBhvr>
                                      <p:to>
                                        <p:strVal val="visible"/>
                                      </p:to>
                                    </p:set>
                                    <p:animEffect transition="in" filter="fade">
                                      <p:cBhvr>
                                        <p:cTn id="65" dur="650" fill="hold"/>
                                        <p:tgtEl>
                                          <p:spTgt spid="17"/>
                                        </p:tgtEl>
                                      </p:cBhvr>
                                    </p:animEffect>
                                    <p:anim calcmode="lin" valueType="num">
                                      <p:cBhvr additive="base">
                                        <p:cTn id="66" dur="650" fill="hold"/>
                                        <p:tgtEl>
                                          <p:spTgt spid="17"/>
                                        </p:tgtEl>
                                        <p:attrNameLst>
                                          <p:attrName>ppt_x</p:attrName>
                                        </p:attrNameLst>
                                      </p:cBhvr>
                                      <p:tavLst>
                                        <p:tav tm="0">
                                          <p:val>
                                            <p:strVal val="#ppt_x"/>
                                          </p:val>
                                        </p:tav>
                                        <p:tav tm="100000">
                                          <p:val>
                                            <p:strVal val="#ppt_x"/>
                                          </p:val>
                                        </p:tav>
                                      </p:tavLst>
                                    </p:anim>
                                    <p:anim calcmode="lin" valueType="num">
                                      <p:cBhvr additive="base">
                                        <p:cTn id="67" dur="650" fill="hold"/>
                                        <p:tgtEl>
                                          <p:spTgt spid="17"/>
                                        </p:tgtEl>
                                        <p:attrNameLst>
                                          <p:attrName>ppt_y</p:attrName>
                                        </p:attrNameLst>
                                      </p:cBhvr>
                                      <p:tavLst>
                                        <p:tav tm="0">
                                          <p:val>
                                            <p:strVal val="#ppt_y+.06"/>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600" fill="hold"/>
                                        <p:tgtEl>
                                          <p:spTgt spid="18"/>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600" fill="hold"/>
                                        <p:tgtEl>
                                          <p:spTgt spid="19"/>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600" fill="hold"/>
                                        <p:tgtEl>
                                          <p:spTgt spid="20"/>
                                        </p:tgtEl>
                                      </p:cBhvr>
                                    </p:animEffect>
                                  </p:childTnLst>
                                </p:cTn>
                              </p:par>
                              <p:par>
                                <p:cTn id="79" presetID="53" presetClass="entr" presetSubtype="16" decel="100000" fill="hold" grpId="0" nodeType="withEffect">
                                  <p:stCondLst>
                                    <p:cond delay="100"/>
                                  </p:stCondLst>
                                  <p:childTnLst>
                                    <p:set>
                                      <p:cBhvr>
                                        <p:cTn id="80" dur="1" fill="hold">
                                          <p:stCondLst>
                                            <p:cond delay="0"/>
                                          </p:stCondLst>
                                        </p:cTn>
                                        <p:tgtEl>
                                          <p:spTgt spid="21"/>
                                        </p:tgtEl>
                                        <p:attrNameLst>
                                          <p:attrName>style.visibility</p:attrName>
                                        </p:attrNameLst>
                                      </p:cBhvr>
                                      <p:to>
                                        <p:strVal val="visible"/>
                                      </p:to>
                                    </p:set>
                                    <p:anim calcmode="lin" valueType="num">
                                      <p:cBhvr additive="base">
                                        <p:cTn id="81" dur="450" fill="hold"/>
                                        <p:tgtEl>
                                          <p:spTgt spid="21"/>
                                        </p:tgtEl>
                                        <p:attrNameLst>
                                          <p:attrName>ppt_w</p:attrName>
                                        </p:attrNameLst>
                                      </p:cBhvr>
                                      <p:tavLst>
                                        <p:tav tm="0">
                                          <p:val>
                                            <p:strVal val="0"/>
                                          </p:val>
                                        </p:tav>
                                        <p:tav tm="70000">
                                          <p:val>
                                            <p:strVal val="#ppt_w*1.08"/>
                                          </p:val>
                                        </p:tav>
                                        <p:tav tm="100000">
                                          <p:val>
                                            <p:strVal val="#ppt_w"/>
                                          </p:val>
                                        </p:tav>
                                      </p:tavLst>
                                    </p:anim>
                                    <p:anim calcmode="lin" valueType="num">
                                      <p:cBhvr additive="base">
                                        <p:cTn id="82" dur="450" fill="hold"/>
                                        <p:tgtEl>
                                          <p:spTgt spid="21"/>
                                        </p:tgtEl>
                                        <p:attrNameLst>
                                          <p:attrName>ppt_h</p:attrName>
                                        </p:attrNameLst>
                                      </p:cBhvr>
                                      <p:tavLst>
                                        <p:tav tm="0">
                                          <p:val>
                                            <p:strVal val="0"/>
                                          </p:val>
                                        </p:tav>
                                        <p:tav tm="70000">
                                          <p:val>
                                            <p:strVal val="#ppt_h*1.08"/>
                                          </p:val>
                                        </p:tav>
                                        <p:tav tm="100000">
                                          <p:val>
                                            <p:strVal val="#ppt_h"/>
                                          </p:val>
                                        </p:tav>
                                      </p:tavLst>
                                    </p:anim>
                                    <p:animEffect transition="in" filter="fade">
                                      <p:cBhvr>
                                        <p:cTn id="83" dur="270" fill="hold"/>
                                        <p:tgtEl>
                                          <p:spTgt spid="21"/>
                                        </p:tgtEl>
                                      </p:cBhvr>
                                    </p:animEffect>
                                  </p:childTnLst>
                                </p:cTn>
                              </p:par>
                              <p:par>
                                <p:cTn id="84" presetID="53" presetClass="entr" presetSubtype="16" decel="100000" fill="hold" grpId="0" nodeType="withEffect">
                                  <p:stCondLst>
                                    <p:cond delay="100"/>
                                  </p:stCondLst>
                                  <p:childTnLst>
                                    <p:set>
                                      <p:cBhvr>
                                        <p:cTn id="85" dur="1" fill="hold">
                                          <p:stCondLst>
                                            <p:cond delay="0"/>
                                          </p:stCondLst>
                                        </p:cTn>
                                        <p:tgtEl>
                                          <p:spTgt spid="22"/>
                                        </p:tgtEl>
                                        <p:attrNameLst>
                                          <p:attrName>style.visibility</p:attrName>
                                        </p:attrNameLst>
                                      </p:cBhvr>
                                      <p:to>
                                        <p:strVal val="visible"/>
                                      </p:to>
                                    </p:set>
                                    <p:anim calcmode="lin" valueType="num">
                                      <p:cBhvr additive="base">
                                        <p:cTn id="86" dur="450" fill="hold"/>
                                        <p:tgtEl>
                                          <p:spTgt spid="22"/>
                                        </p:tgtEl>
                                        <p:attrNameLst>
                                          <p:attrName>ppt_w</p:attrName>
                                        </p:attrNameLst>
                                      </p:cBhvr>
                                      <p:tavLst>
                                        <p:tav tm="0">
                                          <p:val>
                                            <p:strVal val="0"/>
                                          </p:val>
                                        </p:tav>
                                        <p:tav tm="70000">
                                          <p:val>
                                            <p:strVal val="#ppt_w*1.08"/>
                                          </p:val>
                                        </p:tav>
                                        <p:tav tm="100000">
                                          <p:val>
                                            <p:strVal val="#ppt_w"/>
                                          </p:val>
                                        </p:tav>
                                      </p:tavLst>
                                    </p:anim>
                                    <p:anim calcmode="lin" valueType="num">
                                      <p:cBhvr additive="base">
                                        <p:cTn id="87" dur="450" fill="hold"/>
                                        <p:tgtEl>
                                          <p:spTgt spid="22"/>
                                        </p:tgtEl>
                                        <p:attrNameLst>
                                          <p:attrName>ppt_h</p:attrName>
                                        </p:attrNameLst>
                                      </p:cBhvr>
                                      <p:tavLst>
                                        <p:tav tm="0">
                                          <p:val>
                                            <p:strVal val="0"/>
                                          </p:val>
                                        </p:tav>
                                        <p:tav tm="70000">
                                          <p:val>
                                            <p:strVal val="#ppt_h*1.08"/>
                                          </p:val>
                                        </p:tav>
                                        <p:tav tm="100000">
                                          <p:val>
                                            <p:strVal val="#ppt_h"/>
                                          </p:val>
                                        </p:tav>
                                      </p:tavLst>
                                    </p:anim>
                                    <p:animEffect transition="in" filter="fade">
                                      <p:cBhvr>
                                        <p:cTn id="88" dur="270" fill="hold"/>
                                        <p:tgtEl>
                                          <p:spTgt spid="22"/>
                                        </p:tgtEl>
                                      </p:cBhvr>
                                    </p:animEffect>
                                  </p:childTnLst>
                                </p:cTn>
                              </p:par>
                              <p:par>
                                <p:cTn id="89" presetID="53" presetClass="entr" presetSubtype="16" decel="100000" fill="hold" grpId="0" nodeType="withEffect">
                                  <p:stCondLst>
                                    <p:cond delay="350"/>
                                  </p:stCondLst>
                                  <p:childTnLst>
                                    <p:set>
                                      <p:cBhvr>
                                        <p:cTn id="90" dur="1" fill="hold">
                                          <p:stCondLst>
                                            <p:cond delay="0"/>
                                          </p:stCondLst>
                                        </p:cTn>
                                        <p:tgtEl>
                                          <p:spTgt spid="23"/>
                                        </p:tgtEl>
                                        <p:attrNameLst>
                                          <p:attrName>style.visibility</p:attrName>
                                        </p:attrNameLst>
                                      </p:cBhvr>
                                      <p:to>
                                        <p:strVal val="visible"/>
                                      </p:to>
                                    </p:set>
                                    <p:anim calcmode="lin" valueType="num">
                                      <p:cBhvr additive="base">
                                        <p:cTn id="91" dur="450" fill="hold"/>
                                        <p:tgtEl>
                                          <p:spTgt spid="23"/>
                                        </p:tgtEl>
                                        <p:attrNameLst>
                                          <p:attrName>ppt_w</p:attrName>
                                        </p:attrNameLst>
                                      </p:cBhvr>
                                      <p:tavLst>
                                        <p:tav tm="0">
                                          <p:val>
                                            <p:strVal val="0"/>
                                          </p:val>
                                        </p:tav>
                                        <p:tav tm="70000">
                                          <p:val>
                                            <p:strVal val="#ppt_w*1.08"/>
                                          </p:val>
                                        </p:tav>
                                        <p:tav tm="100000">
                                          <p:val>
                                            <p:strVal val="#ppt_w"/>
                                          </p:val>
                                        </p:tav>
                                      </p:tavLst>
                                    </p:anim>
                                    <p:anim calcmode="lin" valueType="num">
                                      <p:cBhvr additive="base">
                                        <p:cTn id="92" dur="450" fill="hold"/>
                                        <p:tgtEl>
                                          <p:spTgt spid="23"/>
                                        </p:tgtEl>
                                        <p:attrNameLst>
                                          <p:attrName>ppt_h</p:attrName>
                                        </p:attrNameLst>
                                      </p:cBhvr>
                                      <p:tavLst>
                                        <p:tav tm="0">
                                          <p:val>
                                            <p:strVal val="0"/>
                                          </p:val>
                                        </p:tav>
                                        <p:tav tm="70000">
                                          <p:val>
                                            <p:strVal val="#ppt_h*1.08"/>
                                          </p:val>
                                        </p:tav>
                                        <p:tav tm="100000">
                                          <p:val>
                                            <p:strVal val="#ppt_h"/>
                                          </p:val>
                                        </p:tav>
                                      </p:tavLst>
                                    </p:anim>
                                    <p:animEffect transition="in" filter="fade">
                                      <p:cBhvr>
                                        <p:cTn id="93" dur="270" fill="hold"/>
                                        <p:tgtEl>
                                          <p:spTgt spid="23"/>
                                        </p:tgtEl>
                                      </p:cBhvr>
                                    </p:animEffect>
                                  </p:childTnLst>
                                </p:cTn>
                              </p:par>
                              <p:par>
                                <p:cTn id="94" presetID="42" presetClass="entr" presetSubtype="0" decel="100000" fill="hold" grpId="0" nodeType="withEffect">
                                  <p:stCondLst>
                                    <p:cond delay="700"/>
                                  </p:stCondLst>
                                  <p:childTnLst>
                                    <p:set>
                                      <p:cBhvr>
                                        <p:cTn id="95" dur="1" fill="hold">
                                          <p:stCondLst>
                                            <p:cond delay="0"/>
                                          </p:stCondLst>
                                        </p:cTn>
                                        <p:tgtEl>
                                          <p:spTgt spid="24"/>
                                        </p:tgtEl>
                                        <p:attrNameLst>
                                          <p:attrName>style.visibility</p:attrName>
                                        </p:attrNameLst>
                                      </p:cBhvr>
                                      <p:to>
                                        <p:strVal val="visible"/>
                                      </p:to>
                                    </p:set>
                                    <p:animEffect transition="in" filter="fade">
                                      <p:cBhvr>
                                        <p:cTn id="96" dur="650" fill="hold"/>
                                        <p:tgtEl>
                                          <p:spTgt spid="24"/>
                                        </p:tgtEl>
                                      </p:cBhvr>
                                    </p:animEffect>
                                    <p:anim calcmode="lin" valueType="num">
                                      <p:cBhvr additive="base">
                                        <p:cTn id="97" dur="650" fill="hold"/>
                                        <p:tgtEl>
                                          <p:spTgt spid="24"/>
                                        </p:tgtEl>
                                        <p:attrNameLst>
                                          <p:attrName>ppt_x</p:attrName>
                                        </p:attrNameLst>
                                      </p:cBhvr>
                                      <p:tavLst>
                                        <p:tav tm="0">
                                          <p:val>
                                            <p:strVal val="#ppt_x"/>
                                          </p:val>
                                        </p:tav>
                                        <p:tav tm="100000">
                                          <p:val>
                                            <p:strVal val="#ppt_x"/>
                                          </p:val>
                                        </p:tav>
                                      </p:tavLst>
                                    </p:anim>
                                    <p:anim calcmode="lin" valueType="num">
                                      <p:cBhvr additive="base">
                                        <p:cTn id="98" dur="650" fill="hold"/>
                                        <p:tgtEl>
                                          <p:spTgt spid="24"/>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2A9FC0"/>
                </a:solidFill>
                <a:latin typeface="Segoe UI Semibold"/>
              </a:rPr>
              <a:t>CORREÇÃO COMENTADA  ·  QUESTÃO 2</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94360"/>
            <a:ext cx="11064240" cy="1463040"/>
          </a:xfrm>
          <a:prstGeom prst="rect">
            <a:avLst/>
          </a:prstGeom>
          <a:noFill/>
        </p:spPr>
        <p:txBody>
          <a:bodyPr wrap="square" lIns="36576" tIns="18288" rIns="36576" bIns="18288" anchor="t">
            <a:spAutoFit/>
          </a:bodyPr>
          <a:lstStyle/>
          <a:p>
            <a:pPr algn="l">
              <a:lnSpc>
                <a:spcPct val="108000"/>
              </a:lnSpc>
            </a:pPr>
            <a:r>
              <a:rPr sz="1700" b="1" i="0">
                <a:solidFill>
                  <a:srgbClr val="F2F2EC"/>
                </a:solidFill>
                <a:latin typeface="Segoe UI Semibold"/>
              </a:rPr>
              <a:t>Durante a montagem da Matriz CSD, o gerente afirma: 'Os clientes abandonam o carrinho do site por causa do valor do frete'. Não há nenhum dado ou pesquisa que comprove essa afirmação. Em qual coluna ela deve ser registrada?</a:t>
            </a:r>
          </a:p>
        </p:txBody>
      </p:sp>
      <p:sp>
        <p:nvSpPr>
          <p:cNvPr id="6" name="Rounded Rectangle 5"/>
          <p:cNvSpPr/>
          <p:nvPr/>
        </p:nvSpPr>
        <p:spPr>
          <a:xfrm>
            <a:off x="548640" y="2240280"/>
            <a:ext cx="11091672" cy="603504"/>
          </a:xfrm>
          <a:prstGeom prst="roundRect">
            <a:avLst>
              <a:gd name="adj" fmla="val 20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722376" y="2350008"/>
            <a:ext cx="384048" cy="384048"/>
          </a:xfrm>
          <a:prstGeom prst="ellipse">
            <a:avLst/>
          </a:prstGeom>
          <a:solidFill>
            <a:srgbClr val="3A413D"/>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300" b="1" i="0">
                <a:solidFill>
                  <a:srgbClr val="B4B8B0"/>
                </a:solidFill>
                <a:latin typeface="Segoe UI Semibold"/>
              </a:rPr>
              <a:t>a</a:t>
            </a:r>
          </a:p>
        </p:txBody>
      </p:sp>
      <p:sp>
        <p:nvSpPr>
          <p:cNvPr id="8" name="TextBox 7"/>
          <p:cNvSpPr txBox="1"/>
          <p:nvPr/>
        </p:nvSpPr>
        <p:spPr>
          <a:xfrm>
            <a:off x="1280160" y="2240280"/>
            <a:ext cx="10149840" cy="603504"/>
          </a:xfrm>
          <a:prstGeom prst="rect">
            <a:avLst/>
          </a:prstGeom>
          <a:noFill/>
        </p:spPr>
        <p:txBody>
          <a:bodyPr wrap="square" lIns="36576" tIns="18288" rIns="36576" bIns="18288" anchor="ctr">
            <a:spAutoFit/>
          </a:bodyPr>
          <a:lstStyle/>
          <a:p>
            <a:pPr algn="l"/>
            <a:r>
              <a:rPr sz="1400" b="0" i="0">
                <a:solidFill>
                  <a:srgbClr val="F2F2EC"/>
                </a:solidFill>
                <a:latin typeface="Segoe UI"/>
              </a:rPr>
              <a:t>Certezas, porque o gerente conhece bem o negócio.</a:t>
            </a:r>
          </a:p>
        </p:txBody>
      </p:sp>
      <p:sp>
        <p:nvSpPr>
          <p:cNvPr id="9" name="Rounded Rectangle 8"/>
          <p:cNvSpPr/>
          <p:nvPr/>
        </p:nvSpPr>
        <p:spPr>
          <a:xfrm>
            <a:off x="548640" y="2953512"/>
            <a:ext cx="11091672" cy="603504"/>
          </a:xfrm>
          <a:prstGeom prst="roundRect">
            <a:avLst>
              <a:gd name="adj" fmla="val 20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722376" y="3063240"/>
            <a:ext cx="384048" cy="384048"/>
          </a:xfrm>
          <a:prstGeom prst="ellipse">
            <a:avLst/>
          </a:prstGeom>
          <a:solidFill>
            <a:srgbClr val="3A413D"/>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300" b="1" i="0">
                <a:solidFill>
                  <a:srgbClr val="B4B8B0"/>
                </a:solidFill>
                <a:latin typeface="Segoe UI Semibold"/>
              </a:rPr>
              <a:t>b</a:t>
            </a:r>
          </a:p>
        </p:txBody>
      </p:sp>
      <p:sp>
        <p:nvSpPr>
          <p:cNvPr id="11" name="TextBox 10"/>
          <p:cNvSpPr txBox="1"/>
          <p:nvPr/>
        </p:nvSpPr>
        <p:spPr>
          <a:xfrm>
            <a:off x="1280160" y="2953512"/>
            <a:ext cx="10149840" cy="603504"/>
          </a:xfrm>
          <a:prstGeom prst="rect">
            <a:avLst/>
          </a:prstGeom>
          <a:noFill/>
        </p:spPr>
        <p:txBody>
          <a:bodyPr wrap="square" lIns="36576" tIns="18288" rIns="36576" bIns="18288" anchor="ctr">
            <a:spAutoFit/>
          </a:bodyPr>
          <a:lstStyle/>
          <a:p>
            <a:pPr algn="l"/>
            <a:r>
              <a:rPr sz="1400" b="0" i="0">
                <a:solidFill>
                  <a:srgbClr val="F2F2EC"/>
                </a:solidFill>
                <a:latin typeface="Segoe UI"/>
              </a:rPr>
              <a:t>Dúvidas, porque é uma pergunta sobre o cliente.</a:t>
            </a:r>
          </a:p>
        </p:txBody>
      </p:sp>
      <p:sp>
        <p:nvSpPr>
          <p:cNvPr id="12" name="Rounded Rectangle 11"/>
          <p:cNvSpPr/>
          <p:nvPr/>
        </p:nvSpPr>
        <p:spPr>
          <a:xfrm>
            <a:off x="548640" y="3666744"/>
            <a:ext cx="11091672" cy="603504"/>
          </a:xfrm>
          <a:prstGeom prst="roundRect">
            <a:avLst>
              <a:gd name="adj" fmla="val 20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722376" y="3776472"/>
            <a:ext cx="384048" cy="384048"/>
          </a:xfrm>
          <a:prstGeom prst="ellipse">
            <a:avLst/>
          </a:prstGeom>
          <a:solidFill>
            <a:srgbClr val="3A413D"/>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300" b="1" i="0">
                <a:solidFill>
                  <a:srgbClr val="B4B8B0"/>
                </a:solidFill>
                <a:latin typeface="Segoe UI Semibold"/>
              </a:rPr>
              <a:t>c</a:t>
            </a:r>
          </a:p>
        </p:txBody>
      </p:sp>
      <p:sp>
        <p:nvSpPr>
          <p:cNvPr id="14" name="TextBox 13"/>
          <p:cNvSpPr txBox="1"/>
          <p:nvPr/>
        </p:nvSpPr>
        <p:spPr>
          <a:xfrm>
            <a:off x="1280160" y="3666744"/>
            <a:ext cx="10149840" cy="603504"/>
          </a:xfrm>
          <a:prstGeom prst="rect">
            <a:avLst/>
          </a:prstGeom>
          <a:noFill/>
        </p:spPr>
        <p:txBody>
          <a:bodyPr wrap="square" lIns="36576" tIns="18288" rIns="36576" bIns="18288" anchor="ctr">
            <a:spAutoFit/>
          </a:bodyPr>
          <a:lstStyle/>
          <a:p>
            <a:pPr algn="l"/>
            <a:r>
              <a:rPr sz="1400" b="0" i="0">
                <a:solidFill>
                  <a:srgbClr val="F2F2EC"/>
                </a:solidFill>
                <a:latin typeface="Segoe UI"/>
              </a:rPr>
              <a:t>Suposições, porque é uma crença ainda não comprovada por evidências.</a:t>
            </a:r>
          </a:p>
        </p:txBody>
      </p:sp>
      <p:sp>
        <p:nvSpPr>
          <p:cNvPr id="15" name="Rounded Rectangle 14"/>
          <p:cNvSpPr/>
          <p:nvPr/>
        </p:nvSpPr>
        <p:spPr>
          <a:xfrm>
            <a:off x="548640" y="4379976"/>
            <a:ext cx="11091672" cy="603504"/>
          </a:xfrm>
          <a:prstGeom prst="roundRect">
            <a:avLst>
              <a:gd name="adj" fmla="val 20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722376" y="4489704"/>
            <a:ext cx="384048" cy="384048"/>
          </a:xfrm>
          <a:prstGeom prst="ellipse">
            <a:avLst/>
          </a:prstGeom>
          <a:solidFill>
            <a:srgbClr val="3A413D"/>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300" b="1" i="0">
                <a:solidFill>
                  <a:srgbClr val="B4B8B0"/>
                </a:solidFill>
                <a:latin typeface="Segoe UI Semibold"/>
              </a:rPr>
              <a:t>d</a:t>
            </a:r>
          </a:p>
        </p:txBody>
      </p:sp>
      <p:sp>
        <p:nvSpPr>
          <p:cNvPr id="17" name="TextBox 16"/>
          <p:cNvSpPr txBox="1"/>
          <p:nvPr/>
        </p:nvSpPr>
        <p:spPr>
          <a:xfrm>
            <a:off x="1280160" y="4379976"/>
            <a:ext cx="10149840" cy="603504"/>
          </a:xfrm>
          <a:prstGeom prst="rect">
            <a:avLst/>
          </a:prstGeom>
          <a:noFill/>
        </p:spPr>
        <p:txBody>
          <a:bodyPr wrap="square" lIns="36576" tIns="18288" rIns="36576" bIns="18288" anchor="ctr">
            <a:spAutoFit/>
          </a:bodyPr>
          <a:lstStyle/>
          <a:p>
            <a:pPr algn="l"/>
            <a:r>
              <a:rPr sz="1400" b="0" i="0">
                <a:solidFill>
                  <a:srgbClr val="F2F2EC"/>
                </a:solidFill>
                <a:latin typeface="Segoe UI"/>
              </a:rPr>
              <a:t>Não deve ser registrada, pois é apenas uma opinião.</a:t>
            </a:r>
          </a:p>
        </p:txBody>
      </p:sp>
      <p:sp>
        <p:nvSpPr>
          <p:cNvPr id="18" name="Rectangle 17"/>
          <p:cNvSpPr/>
          <p:nvPr/>
        </p:nvSpPr>
        <p:spPr>
          <a:xfrm>
            <a:off x="502920" y="2212848"/>
            <a:ext cx="11183112" cy="658368"/>
          </a:xfrm>
          <a:prstGeom prst="rect">
            <a:avLst/>
          </a:prstGeom>
          <a:solidFill>
            <a:srgbClr val="1A1A1A">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502920" y="2926080"/>
            <a:ext cx="11183112" cy="658368"/>
          </a:xfrm>
          <a:prstGeom prst="rect">
            <a:avLst/>
          </a:prstGeom>
          <a:solidFill>
            <a:srgbClr val="1A1A1A">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502920" y="4352544"/>
            <a:ext cx="11183112" cy="658368"/>
          </a:xfrm>
          <a:prstGeom prst="rect">
            <a:avLst/>
          </a:prstGeom>
          <a:solidFill>
            <a:srgbClr val="1A1A1A">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ounded Rectangle 20"/>
          <p:cNvSpPr/>
          <p:nvPr/>
        </p:nvSpPr>
        <p:spPr>
          <a:xfrm>
            <a:off x="548640" y="3666744"/>
            <a:ext cx="11091672" cy="603504"/>
          </a:xfrm>
          <a:prstGeom prst="roundRect">
            <a:avLst>
              <a:gd name="adj" fmla="val 20000"/>
            </a:avLst>
          </a:prstGeom>
          <a:noFill/>
          <a:ln w="31750">
            <a:solidFill>
              <a:srgbClr val="9CD84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722376" y="3776472"/>
            <a:ext cx="384048" cy="384048"/>
          </a:xfrm>
          <a:prstGeom prst="ellipse">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300" b="1" i="0">
                <a:solidFill>
                  <a:srgbClr val="1A1A1A"/>
                </a:solidFill>
                <a:latin typeface="Segoe UI Semibold"/>
              </a:rPr>
              <a:t>c</a:t>
            </a:r>
          </a:p>
        </p:txBody>
      </p:sp>
      <p:sp>
        <p:nvSpPr>
          <p:cNvPr id="23" name="Rounded Rectangle 22"/>
          <p:cNvSpPr/>
          <p:nvPr/>
        </p:nvSpPr>
        <p:spPr>
          <a:xfrm>
            <a:off x="10058400" y="3785615"/>
            <a:ext cx="1417320" cy="365760"/>
          </a:xfrm>
          <a:prstGeom prst="roundRect">
            <a:avLst>
              <a:gd name="adj" fmla="val 50000"/>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200" b="1" i="0">
                <a:solidFill>
                  <a:srgbClr val="1A1A1A"/>
                </a:solidFill>
                <a:latin typeface="Segoe UI Semibold"/>
              </a:rPr>
              <a:t>✓  Correta</a:t>
            </a:r>
          </a:p>
        </p:txBody>
      </p:sp>
      <p:sp>
        <p:nvSpPr>
          <p:cNvPr id="24" name="TextBox 23"/>
          <p:cNvSpPr txBox="1"/>
          <p:nvPr/>
        </p:nvSpPr>
        <p:spPr>
          <a:xfrm>
            <a:off x="548640" y="5166360"/>
            <a:ext cx="11064240" cy="1097280"/>
          </a:xfrm>
          <a:prstGeom prst="rect">
            <a:avLst/>
          </a:prstGeom>
          <a:noFill/>
        </p:spPr>
        <p:txBody>
          <a:bodyPr wrap="square" lIns="36576" tIns="18288" rIns="36576" bIns="18288" anchor="t">
            <a:spAutoFit/>
          </a:bodyPr>
          <a:lstStyle/>
          <a:p>
            <a:pPr algn="l"/>
            <a:r>
              <a:rPr sz="1250" b="1" i="0">
                <a:solidFill>
                  <a:srgbClr val="9CD848"/>
                </a:solidFill>
                <a:latin typeface="Segoe UI Semibold"/>
              </a:rPr>
              <a:t>Por quê: </a:t>
            </a:r>
            <a:r>
              <a:rPr sz="1250" b="0" i="0">
                <a:solidFill>
                  <a:srgbClr val="B4B8B0"/>
                </a:solidFill>
                <a:latin typeface="Segoe UI"/>
              </a:rPr>
              <a:t>É uma afirmação que o time acredita ser verdade, mas sem evidência: por definição, uma suposição. As suposições são justamente o que a pesquisa precisa validar ou derrubar. Experiência não transforma opinião em certeza, e descartar a afirmação faria o time perder uma hipótese útil.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fill="hold"/>
                                        <p:tgtEl>
                                          <p:spTgt spid="5"/>
                                        </p:tgtEl>
                                      </p:cBhvr>
                                    </p:animEffect>
                                  </p:childTnLst>
                                </p:cTn>
                              </p:par>
                              <p:par>
                                <p:cTn id="8" presetID="42" presetClass="entr" presetSubtype="0" decel="100000" fill="hold" grpId="0" nodeType="withEffect">
                                  <p:stCondLst>
                                    <p:cond delay="3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50" fill="hold"/>
                                        <p:tgtEl>
                                          <p:spTgt spid="6"/>
                                        </p:tgtEl>
                                      </p:cBhvr>
                                    </p:animEffect>
                                    <p:anim calcmode="lin" valueType="num">
                                      <p:cBhvr additive="base">
                                        <p:cTn id="11" dur="650" fill="hold"/>
                                        <p:tgtEl>
                                          <p:spTgt spid="6"/>
                                        </p:tgtEl>
                                        <p:attrNameLst>
                                          <p:attrName>ppt_x</p:attrName>
                                        </p:attrNameLst>
                                      </p:cBhvr>
                                      <p:tavLst>
                                        <p:tav tm="0">
                                          <p:val>
                                            <p:strVal val="#ppt_x"/>
                                          </p:val>
                                        </p:tav>
                                        <p:tav tm="100000">
                                          <p:val>
                                            <p:strVal val="#ppt_x"/>
                                          </p:val>
                                        </p:tav>
                                      </p:tavLst>
                                    </p:anim>
                                    <p:anim calcmode="lin" valueType="num">
                                      <p:cBhvr additive="base">
                                        <p:cTn id="12" dur="650" fill="hold"/>
                                        <p:tgtEl>
                                          <p:spTgt spid="6"/>
                                        </p:tgtEl>
                                        <p:attrNameLst>
                                          <p:attrName>ppt_y</p:attrName>
                                        </p:attrNameLst>
                                      </p:cBhvr>
                                      <p:tavLst>
                                        <p:tav tm="0">
                                          <p:val>
                                            <p:strVal val="#ppt_y+.06"/>
                                          </p:val>
                                        </p:tav>
                                        <p:tav tm="100000">
                                          <p:val>
                                            <p:strVal val="#ppt_y"/>
                                          </p:val>
                                        </p:tav>
                                      </p:tavLst>
                                    </p:anim>
                                  </p:childTnLst>
                                </p:cTn>
                              </p:par>
                              <p:par>
                                <p:cTn id="13" presetID="42" presetClass="entr" presetSubtype="0" decel="100000" fill="hold" grpId="0" nodeType="withEffect">
                                  <p:stCondLst>
                                    <p:cond delay="30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fill="hold"/>
                                        <p:tgtEl>
                                          <p:spTgt spid="7"/>
                                        </p:tgtEl>
                                      </p:cBhvr>
                                    </p:animEffect>
                                    <p:anim calcmode="lin" valueType="num">
                                      <p:cBhvr additive="base">
                                        <p:cTn id="16" dur="650" fill="hold"/>
                                        <p:tgtEl>
                                          <p:spTgt spid="7"/>
                                        </p:tgtEl>
                                        <p:attrNameLst>
                                          <p:attrName>ppt_x</p:attrName>
                                        </p:attrNameLst>
                                      </p:cBhvr>
                                      <p:tavLst>
                                        <p:tav tm="0">
                                          <p:val>
                                            <p:strVal val="#ppt_x"/>
                                          </p:val>
                                        </p:tav>
                                        <p:tav tm="100000">
                                          <p:val>
                                            <p:strVal val="#ppt_x"/>
                                          </p:val>
                                        </p:tav>
                                      </p:tavLst>
                                    </p:anim>
                                    <p:anim calcmode="lin" valueType="num">
                                      <p:cBhvr additive="base">
                                        <p:cTn id="17" dur="650" fill="hold"/>
                                        <p:tgtEl>
                                          <p:spTgt spid="7"/>
                                        </p:tgtEl>
                                        <p:attrNameLst>
                                          <p:attrName>ppt_y</p:attrName>
                                        </p:attrNameLst>
                                      </p:cBhvr>
                                      <p:tavLst>
                                        <p:tav tm="0">
                                          <p:val>
                                            <p:strVal val="#ppt_y+.06"/>
                                          </p:val>
                                        </p:tav>
                                        <p:tav tm="100000">
                                          <p:val>
                                            <p:strVal val="#ppt_y"/>
                                          </p:val>
                                        </p:tav>
                                      </p:tavLst>
                                    </p:anim>
                                  </p:childTnLst>
                                </p:cTn>
                              </p:par>
                              <p:par>
                                <p:cTn id="18" presetID="42" presetClass="entr" presetSubtype="0" decel="100000" fill="hold" grpId="0" nodeType="withEffect">
                                  <p:stCondLst>
                                    <p:cond delay="30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650" fill="hold"/>
                                        <p:tgtEl>
                                          <p:spTgt spid="8"/>
                                        </p:tgtEl>
                                      </p:cBhvr>
                                    </p:animEffect>
                                    <p:anim calcmode="lin" valueType="num">
                                      <p:cBhvr additive="base">
                                        <p:cTn id="21" dur="650" fill="hold"/>
                                        <p:tgtEl>
                                          <p:spTgt spid="8"/>
                                        </p:tgtEl>
                                        <p:attrNameLst>
                                          <p:attrName>ppt_x</p:attrName>
                                        </p:attrNameLst>
                                      </p:cBhvr>
                                      <p:tavLst>
                                        <p:tav tm="0">
                                          <p:val>
                                            <p:strVal val="#ppt_x"/>
                                          </p:val>
                                        </p:tav>
                                        <p:tav tm="100000">
                                          <p:val>
                                            <p:strVal val="#ppt_x"/>
                                          </p:val>
                                        </p:tav>
                                      </p:tavLst>
                                    </p:anim>
                                    <p:anim calcmode="lin" valueType="num">
                                      <p:cBhvr additive="base">
                                        <p:cTn id="22" dur="650" fill="hold"/>
                                        <p:tgtEl>
                                          <p:spTgt spid="8"/>
                                        </p:tgtEl>
                                        <p:attrNameLst>
                                          <p:attrName>ppt_y</p:attrName>
                                        </p:attrNameLst>
                                      </p:cBhvr>
                                      <p:tavLst>
                                        <p:tav tm="0">
                                          <p:val>
                                            <p:strVal val="#ppt_y+.06"/>
                                          </p:val>
                                        </p:tav>
                                        <p:tav tm="100000">
                                          <p:val>
                                            <p:strVal val="#ppt_y"/>
                                          </p:val>
                                        </p:tav>
                                      </p:tavLst>
                                    </p:anim>
                                  </p:childTnLst>
                                </p:cTn>
                              </p:par>
                              <p:par>
                                <p:cTn id="23" presetID="42" presetClass="entr" presetSubtype="0" decel="100000" fill="hold" grpId="0" nodeType="withEffect">
                                  <p:stCondLst>
                                    <p:cond delay="45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650" fill="hold"/>
                                        <p:tgtEl>
                                          <p:spTgt spid="9"/>
                                        </p:tgtEl>
                                      </p:cBhvr>
                                    </p:animEffect>
                                    <p:anim calcmode="lin" valueType="num">
                                      <p:cBhvr additive="base">
                                        <p:cTn id="26" dur="650" fill="hold"/>
                                        <p:tgtEl>
                                          <p:spTgt spid="9"/>
                                        </p:tgtEl>
                                        <p:attrNameLst>
                                          <p:attrName>ppt_x</p:attrName>
                                        </p:attrNameLst>
                                      </p:cBhvr>
                                      <p:tavLst>
                                        <p:tav tm="0">
                                          <p:val>
                                            <p:strVal val="#ppt_x"/>
                                          </p:val>
                                        </p:tav>
                                        <p:tav tm="100000">
                                          <p:val>
                                            <p:strVal val="#ppt_x"/>
                                          </p:val>
                                        </p:tav>
                                      </p:tavLst>
                                    </p:anim>
                                    <p:anim calcmode="lin" valueType="num">
                                      <p:cBhvr additive="base">
                                        <p:cTn id="27" dur="650" fill="hold"/>
                                        <p:tgtEl>
                                          <p:spTgt spid="9"/>
                                        </p:tgtEl>
                                        <p:attrNameLst>
                                          <p:attrName>ppt_y</p:attrName>
                                        </p:attrNameLst>
                                      </p:cBhvr>
                                      <p:tavLst>
                                        <p:tav tm="0">
                                          <p:val>
                                            <p:strVal val="#ppt_y+.06"/>
                                          </p:val>
                                        </p:tav>
                                        <p:tav tm="100000">
                                          <p:val>
                                            <p:strVal val="#ppt_y"/>
                                          </p:val>
                                        </p:tav>
                                      </p:tavLst>
                                    </p:anim>
                                  </p:childTnLst>
                                </p:cTn>
                              </p:par>
                              <p:par>
                                <p:cTn id="28" presetID="42" presetClass="entr" presetSubtype="0" decel="100000" fill="hold" grpId="0" nodeType="withEffect">
                                  <p:stCondLst>
                                    <p:cond delay="45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650" fill="hold"/>
                                        <p:tgtEl>
                                          <p:spTgt spid="10"/>
                                        </p:tgtEl>
                                      </p:cBhvr>
                                    </p:animEffect>
                                    <p:anim calcmode="lin" valueType="num">
                                      <p:cBhvr additive="base">
                                        <p:cTn id="31" dur="650" fill="hold"/>
                                        <p:tgtEl>
                                          <p:spTgt spid="10"/>
                                        </p:tgtEl>
                                        <p:attrNameLst>
                                          <p:attrName>ppt_x</p:attrName>
                                        </p:attrNameLst>
                                      </p:cBhvr>
                                      <p:tavLst>
                                        <p:tav tm="0">
                                          <p:val>
                                            <p:strVal val="#ppt_x"/>
                                          </p:val>
                                        </p:tav>
                                        <p:tav tm="100000">
                                          <p:val>
                                            <p:strVal val="#ppt_x"/>
                                          </p:val>
                                        </p:tav>
                                      </p:tavLst>
                                    </p:anim>
                                    <p:anim calcmode="lin" valueType="num">
                                      <p:cBhvr additive="base">
                                        <p:cTn id="32" dur="650" fill="hold"/>
                                        <p:tgtEl>
                                          <p:spTgt spid="10"/>
                                        </p:tgtEl>
                                        <p:attrNameLst>
                                          <p:attrName>ppt_y</p:attrName>
                                        </p:attrNameLst>
                                      </p:cBhvr>
                                      <p:tavLst>
                                        <p:tav tm="0">
                                          <p:val>
                                            <p:strVal val="#ppt_y+.06"/>
                                          </p:val>
                                        </p:tav>
                                        <p:tav tm="100000">
                                          <p:val>
                                            <p:strVal val="#ppt_y"/>
                                          </p:val>
                                        </p:tav>
                                      </p:tavLst>
                                    </p:anim>
                                  </p:childTnLst>
                                </p:cTn>
                              </p:par>
                              <p:par>
                                <p:cTn id="33" presetID="42" presetClass="entr" presetSubtype="0" decel="100000" fill="hold" grpId="0" nodeType="withEffect">
                                  <p:stCondLst>
                                    <p:cond delay="45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650" fill="hold"/>
                                        <p:tgtEl>
                                          <p:spTgt spid="11"/>
                                        </p:tgtEl>
                                      </p:cBhvr>
                                    </p:animEffect>
                                    <p:anim calcmode="lin" valueType="num">
                                      <p:cBhvr additive="base">
                                        <p:cTn id="36" dur="650" fill="hold"/>
                                        <p:tgtEl>
                                          <p:spTgt spid="11"/>
                                        </p:tgtEl>
                                        <p:attrNameLst>
                                          <p:attrName>ppt_x</p:attrName>
                                        </p:attrNameLst>
                                      </p:cBhvr>
                                      <p:tavLst>
                                        <p:tav tm="0">
                                          <p:val>
                                            <p:strVal val="#ppt_x"/>
                                          </p:val>
                                        </p:tav>
                                        <p:tav tm="100000">
                                          <p:val>
                                            <p:strVal val="#ppt_x"/>
                                          </p:val>
                                        </p:tav>
                                      </p:tavLst>
                                    </p:anim>
                                    <p:anim calcmode="lin" valueType="num">
                                      <p:cBhvr additive="base">
                                        <p:cTn id="37" dur="650" fill="hold"/>
                                        <p:tgtEl>
                                          <p:spTgt spid="11"/>
                                        </p:tgtEl>
                                        <p:attrNameLst>
                                          <p:attrName>ppt_y</p:attrName>
                                        </p:attrNameLst>
                                      </p:cBhvr>
                                      <p:tavLst>
                                        <p:tav tm="0">
                                          <p:val>
                                            <p:strVal val="#ppt_y+.06"/>
                                          </p:val>
                                        </p:tav>
                                        <p:tav tm="100000">
                                          <p:val>
                                            <p:strVal val="#ppt_y"/>
                                          </p:val>
                                        </p:tav>
                                      </p:tavLst>
                                    </p:anim>
                                  </p:childTnLst>
                                </p:cTn>
                              </p:par>
                              <p:par>
                                <p:cTn id="38" presetID="42" presetClass="entr" presetSubtype="0" decel="100000" fill="hold" grpId="0" nodeType="withEffect">
                                  <p:stCondLst>
                                    <p:cond delay="60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650" fill="hold"/>
                                        <p:tgtEl>
                                          <p:spTgt spid="12"/>
                                        </p:tgtEl>
                                      </p:cBhvr>
                                    </p:animEffect>
                                    <p:anim calcmode="lin" valueType="num">
                                      <p:cBhvr additive="base">
                                        <p:cTn id="41" dur="650" fill="hold"/>
                                        <p:tgtEl>
                                          <p:spTgt spid="12"/>
                                        </p:tgtEl>
                                        <p:attrNameLst>
                                          <p:attrName>ppt_x</p:attrName>
                                        </p:attrNameLst>
                                      </p:cBhvr>
                                      <p:tavLst>
                                        <p:tav tm="0">
                                          <p:val>
                                            <p:strVal val="#ppt_x"/>
                                          </p:val>
                                        </p:tav>
                                        <p:tav tm="100000">
                                          <p:val>
                                            <p:strVal val="#ppt_x"/>
                                          </p:val>
                                        </p:tav>
                                      </p:tavLst>
                                    </p:anim>
                                    <p:anim calcmode="lin" valueType="num">
                                      <p:cBhvr additive="base">
                                        <p:cTn id="42" dur="650" fill="hold"/>
                                        <p:tgtEl>
                                          <p:spTgt spid="12"/>
                                        </p:tgtEl>
                                        <p:attrNameLst>
                                          <p:attrName>ppt_y</p:attrName>
                                        </p:attrNameLst>
                                      </p:cBhvr>
                                      <p:tavLst>
                                        <p:tav tm="0">
                                          <p:val>
                                            <p:strVal val="#ppt_y+.06"/>
                                          </p:val>
                                        </p:tav>
                                        <p:tav tm="100000">
                                          <p:val>
                                            <p:strVal val="#ppt_y"/>
                                          </p:val>
                                        </p:tav>
                                      </p:tavLst>
                                    </p:anim>
                                  </p:childTnLst>
                                </p:cTn>
                              </p:par>
                              <p:par>
                                <p:cTn id="43" presetID="42" presetClass="entr" presetSubtype="0" decel="100000" fill="hold" grpId="0" nodeType="withEffect">
                                  <p:stCondLst>
                                    <p:cond delay="60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650" fill="hold"/>
                                        <p:tgtEl>
                                          <p:spTgt spid="13"/>
                                        </p:tgtEl>
                                      </p:cBhvr>
                                    </p:animEffect>
                                    <p:anim calcmode="lin" valueType="num">
                                      <p:cBhvr additive="base">
                                        <p:cTn id="46" dur="650" fill="hold"/>
                                        <p:tgtEl>
                                          <p:spTgt spid="13"/>
                                        </p:tgtEl>
                                        <p:attrNameLst>
                                          <p:attrName>ppt_x</p:attrName>
                                        </p:attrNameLst>
                                      </p:cBhvr>
                                      <p:tavLst>
                                        <p:tav tm="0">
                                          <p:val>
                                            <p:strVal val="#ppt_x"/>
                                          </p:val>
                                        </p:tav>
                                        <p:tav tm="100000">
                                          <p:val>
                                            <p:strVal val="#ppt_x"/>
                                          </p:val>
                                        </p:tav>
                                      </p:tavLst>
                                    </p:anim>
                                    <p:anim calcmode="lin" valueType="num">
                                      <p:cBhvr additive="base">
                                        <p:cTn id="47" dur="650" fill="hold"/>
                                        <p:tgtEl>
                                          <p:spTgt spid="13"/>
                                        </p:tgtEl>
                                        <p:attrNameLst>
                                          <p:attrName>ppt_y</p:attrName>
                                        </p:attrNameLst>
                                      </p:cBhvr>
                                      <p:tavLst>
                                        <p:tav tm="0">
                                          <p:val>
                                            <p:strVal val="#ppt_y+.06"/>
                                          </p:val>
                                        </p:tav>
                                        <p:tav tm="100000">
                                          <p:val>
                                            <p:strVal val="#ppt_y"/>
                                          </p:val>
                                        </p:tav>
                                      </p:tavLst>
                                    </p:anim>
                                  </p:childTnLst>
                                </p:cTn>
                              </p:par>
                              <p:par>
                                <p:cTn id="48" presetID="42" presetClass="entr" presetSubtype="0" decel="100000" fill="hold" grpId="0" nodeType="withEffect">
                                  <p:stCondLst>
                                    <p:cond delay="60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650" fill="hold"/>
                                        <p:tgtEl>
                                          <p:spTgt spid="14"/>
                                        </p:tgtEl>
                                      </p:cBhvr>
                                    </p:animEffect>
                                    <p:anim calcmode="lin" valueType="num">
                                      <p:cBhvr additive="base">
                                        <p:cTn id="51" dur="650" fill="hold"/>
                                        <p:tgtEl>
                                          <p:spTgt spid="14"/>
                                        </p:tgtEl>
                                        <p:attrNameLst>
                                          <p:attrName>ppt_x</p:attrName>
                                        </p:attrNameLst>
                                      </p:cBhvr>
                                      <p:tavLst>
                                        <p:tav tm="0">
                                          <p:val>
                                            <p:strVal val="#ppt_x"/>
                                          </p:val>
                                        </p:tav>
                                        <p:tav tm="100000">
                                          <p:val>
                                            <p:strVal val="#ppt_x"/>
                                          </p:val>
                                        </p:tav>
                                      </p:tavLst>
                                    </p:anim>
                                    <p:anim calcmode="lin" valueType="num">
                                      <p:cBhvr additive="base">
                                        <p:cTn id="52" dur="650" fill="hold"/>
                                        <p:tgtEl>
                                          <p:spTgt spid="14"/>
                                        </p:tgtEl>
                                        <p:attrNameLst>
                                          <p:attrName>ppt_y</p:attrName>
                                        </p:attrNameLst>
                                      </p:cBhvr>
                                      <p:tavLst>
                                        <p:tav tm="0">
                                          <p:val>
                                            <p:strVal val="#ppt_y+.06"/>
                                          </p:val>
                                        </p:tav>
                                        <p:tav tm="100000">
                                          <p:val>
                                            <p:strVal val="#ppt_y"/>
                                          </p:val>
                                        </p:tav>
                                      </p:tavLst>
                                    </p:anim>
                                  </p:childTnLst>
                                </p:cTn>
                              </p:par>
                              <p:par>
                                <p:cTn id="53" presetID="42" presetClass="entr" presetSubtype="0" decel="100000" fill="hold" grpId="0" nodeType="withEffect">
                                  <p:stCondLst>
                                    <p:cond delay="75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650" fill="hold"/>
                                        <p:tgtEl>
                                          <p:spTgt spid="15"/>
                                        </p:tgtEl>
                                      </p:cBhvr>
                                    </p:animEffect>
                                    <p:anim calcmode="lin" valueType="num">
                                      <p:cBhvr additive="base">
                                        <p:cTn id="56" dur="650" fill="hold"/>
                                        <p:tgtEl>
                                          <p:spTgt spid="15"/>
                                        </p:tgtEl>
                                        <p:attrNameLst>
                                          <p:attrName>ppt_x</p:attrName>
                                        </p:attrNameLst>
                                      </p:cBhvr>
                                      <p:tavLst>
                                        <p:tav tm="0">
                                          <p:val>
                                            <p:strVal val="#ppt_x"/>
                                          </p:val>
                                        </p:tav>
                                        <p:tav tm="100000">
                                          <p:val>
                                            <p:strVal val="#ppt_x"/>
                                          </p:val>
                                        </p:tav>
                                      </p:tavLst>
                                    </p:anim>
                                    <p:anim calcmode="lin" valueType="num">
                                      <p:cBhvr additive="base">
                                        <p:cTn id="57" dur="650" fill="hold"/>
                                        <p:tgtEl>
                                          <p:spTgt spid="15"/>
                                        </p:tgtEl>
                                        <p:attrNameLst>
                                          <p:attrName>ppt_y</p:attrName>
                                        </p:attrNameLst>
                                      </p:cBhvr>
                                      <p:tavLst>
                                        <p:tav tm="0">
                                          <p:val>
                                            <p:strVal val="#ppt_y+.06"/>
                                          </p:val>
                                        </p:tav>
                                        <p:tav tm="100000">
                                          <p:val>
                                            <p:strVal val="#ppt_y"/>
                                          </p:val>
                                        </p:tav>
                                      </p:tavLst>
                                    </p:anim>
                                  </p:childTnLst>
                                </p:cTn>
                              </p:par>
                              <p:par>
                                <p:cTn id="58" presetID="42" presetClass="entr" presetSubtype="0" decel="100000" fill="hold" grpId="0" nodeType="withEffect">
                                  <p:stCondLst>
                                    <p:cond delay="75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650" fill="hold"/>
                                        <p:tgtEl>
                                          <p:spTgt spid="16"/>
                                        </p:tgtEl>
                                      </p:cBhvr>
                                    </p:animEffect>
                                    <p:anim calcmode="lin" valueType="num">
                                      <p:cBhvr additive="base">
                                        <p:cTn id="61" dur="650" fill="hold"/>
                                        <p:tgtEl>
                                          <p:spTgt spid="16"/>
                                        </p:tgtEl>
                                        <p:attrNameLst>
                                          <p:attrName>ppt_x</p:attrName>
                                        </p:attrNameLst>
                                      </p:cBhvr>
                                      <p:tavLst>
                                        <p:tav tm="0">
                                          <p:val>
                                            <p:strVal val="#ppt_x"/>
                                          </p:val>
                                        </p:tav>
                                        <p:tav tm="100000">
                                          <p:val>
                                            <p:strVal val="#ppt_x"/>
                                          </p:val>
                                        </p:tav>
                                      </p:tavLst>
                                    </p:anim>
                                    <p:anim calcmode="lin" valueType="num">
                                      <p:cBhvr additive="base">
                                        <p:cTn id="62" dur="650" fill="hold"/>
                                        <p:tgtEl>
                                          <p:spTgt spid="16"/>
                                        </p:tgtEl>
                                        <p:attrNameLst>
                                          <p:attrName>ppt_y</p:attrName>
                                        </p:attrNameLst>
                                      </p:cBhvr>
                                      <p:tavLst>
                                        <p:tav tm="0">
                                          <p:val>
                                            <p:strVal val="#ppt_y+.06"/>
                                          </p:val>
                                        </p:tav>
                                        <p:tav tm="100000">
                                          <p:val>
                                            <p:strVal val="#ppt_y"/>
                                          </p:val>
                                        </p:tav>
                                      </p:tavLst>
                                    </p:anim>
                                  </p:childTnLst>
                                </p:cTn>
                              </p:par>
                              <p:par>
                                <p:cTn id="63" presetID="42" presetClass="entr" presetSubtype="0" decel="100000" fill="hold" grpId="0" nodeType="withEffect">
                                  <p:stCondLst>
                                    <p:cond delay="750"/>
                                  </p:stCondLst>
                                  <p:childTnLst>
                                    <p:set>
                                      <p:cBhvr>
                                        <p:cTn id="64" dur="1" fill="hold">
                                          <p:stCondLst>
                                            <p:cond delay="0"/>
                                          </p:stCondLst>
                                        </p:cTn>
                                        <p:tgtEl>
                                          <p:spTgt spid="17"/>
                                        </p:tgtEl>
                                        <p:attrNameLst>
                                          <p:attrName>style.visibility</p:attrName>
                                        </p:attrNameLst>
                                      </p:cBhvr>
                                      <p:to>
                                        <p:strVal val="visible"/>
                                      </p:to>
                                    </p:set>
                                    <p:animEffect transition="in" filter="fade">
                                      <p:cBhvr>
                                        <p:cTn id="65" dur="650" fill="hold"/>
                                        <p:tgtEl>
                                          <p:spTgt spid="17"/>
                                        </p:tgtEl>
                                      </p:cBhvr>
                                    </p:animEffect>
                                    <p:anim calcmode="lin" valueType="num">
                                      <p:cBhvr additive="base">
                                        <p:cTn id="66" dur="650" fill="hold"/>
                                        <p:tgtEl>
                                          <p:spTgt spid="17"/>
                                        </p:tgtEl>
                                        <p:attrNameLst>
                                          <p:attrName>ppt_x</p:attrName>
                                        </p:attrNameLst>
                                      </p:cBhvr>
                                      <p:tavLst>
                                        <p:tav tm="0">
                                          <p:val>
                                            <p:strVal val="#ppt_x"/>
                                          </p:val>
                                        </p:tav>
                                        <p:tav tm="100000">
                                          <p:val>
                                            <p:strVal val="#ppt_x"/>
                                          </p:val>
                                        </p:tav>
                                      </p:tavLst>
                                    </p:anim>
                                    <p:anim calcmode="lin" valueType="num">
                                      <p:cBhvr additive="base">
                                        <p:cTn id="67" dur="650" fill="hold"/>
                                        <p:tgtEl>
                                          <p:spTgt spid="17"/>
                                        </p:tgtEl>
                                        <p:attrNameLst>
                                          <p:attrName>ppt_y</p:attrName>
                                        </p:attrNameLst>
                                      </p:cBhvr>
                                      <p:tavLst>
                                        <p:tav tm="0">
                                          <p:val>
                                            <p:strVal val="#ppt_y+.06"/>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600" fill="hold"/>
                                        <p:tgtEl>
                                          <p:spTgt spid="18"/>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600" fill="hold"/>
                                        <p:tgtEl>
                                          <p:spTgt spid="19"/>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600" fill="hold"/>
                                        <p:tgtEl>
                                          <p:spTgt spid="20"/>
                                        </p:tgtEl>
                                      </p:cBhvr>
                                    </p:animEffect>
                                  </p:childTnLst>
                                </p:cTn>
                              </p:par>
                              <p:par>
                                <p:cTn id="79" presetID="53" presetClass="entr" presetSubtype="16" decel="100000" fill="hold" grpId="0" nodeType="withEffect">
                                  <p:stCondLst>
                                    <p:cond delay="100"/>
                                  </p:stCondLst>
                                  <p:childTnLst>
                                    <p:set>
                                      <p:cBhvr>
                                        <p:cTn id="80" dur="1" fill="hold">
                                          <p:stCondLst>
                                            <p:cond delay="0"/>
                                          </p:stCondLst>
                                        </p:cTn>
                                        <p:tgtEl>
                                          <p:spTgt spid="21"/>
                                        </p:tgtEl>
                                        <p:attrNameLst>
                                          <p:attrName>style.visibility</p:attrName>
                                        </p:attrNameLst>
                                      </p:cBhvr>
                                      <p:to>
                                        <p:strVal val="visible"/>
                                      </p:to>
                                    </p:set>
                                    <p:anim calcmode="lin" valueType="num">
                                      <p:cBhvr additive="base">
                                        <p:cTn id="81" dur="450" fill="hold"/>
                                        <p:tgtEl>
                                          <p:spTgt spid="21"/>
                                        </p:tgtEl>
                                        <p:attrNameLst>
                                          <p:attrName>ppt_w</p:attrName>
                                        </p:attrNameLst>
                                      </p:cBhvr>
                                      <p:tavLst>
                                        <p:tav tm="0">
                                          <p:val>
                                            <p:strVal val="0"/>
                                          </p:val>
                                        </p:tav>
                                        <p:tav tm="70000">
                                          <p:val>
                                            <p:strVal val="#ppt_w*1.08"/>
                                          </p:val>
                                        </p:tav>
                                        <p:tav tm="100000">
                                          <p:val>
                                            <p:strVal val="#ppt_w"/>
                                          </p:val>
                                        </p:tav>
                                      </p:tavLst>
                                    </p:anim>
                                    <p:anim calcmode="lin" valueType="num">
                                      <p:cBhvr additive="base">
                                        <p:cTn id="82" dur="450" fill="hold"/>
                                        <p:tgtEl>
                                          <p:spTgt spid="21"/>
                                        </p:tgtEl>
                                        <p:attrNameLst>
                                          <p:attrName>ppt_h</p:attrName>
                                        </p:attrNameLst>
                                      </p:cBhvr>
                                      <p:tavLst>
                                        <p:tav tm="0">
                                          <p:val>
                                            <p:strVal val="0"/>
                                          </p:val>
                                        </p:tav>
                                        <p:tav tm="70000">
                                          <p:val>
                                            <p:strVal val="#ppt_h*1.08"/>
                                          </p:val>
                                        </p:tav>
                                        <p:tav tm="100000">
                                          <p:val>
                                            <p:strVal val="#ppt_h"/>
                                          </p:val>
                                        </p:tav>
                                      </p:tavLst>
                                    </p:anim>
                                    <p:animEffect transition="in" filter="fade">
                                      <p:cBhvr>
                                        <p:cTn id="83" dur="270" fill="hold"/>
                                        <p:tgtEl>
                                          <p:spTgt spid="21"/>
                                        </p:tgtEl>
                                      </p:cBhvr>
                                    </p:animEffect>
                                  </p:childTnLst>
                                </p:cTn>
                              </p:par>
                              <p:par>
                                <p:cTn id="84" presetID="53" presetClass="entr" presetSubtype="16" decel="100000" fill="hold" grpId="0" nodeType="withEffect">
                                  <p:stCondLst>
                                    <p:cond delay="100"/>
                                  </p:stCondLst>
                                  <p:childTnLst>
                                    <p:set>
                                      <p:cBhvr>
                                        <p:cTn id="85" dur="1" fill="hold">
                                          <p:stCondLst>
                                            <p:cond delay="0"/>
                                          </p:stCondLst>
                                        </p:cTn>
                                        <p:tgtEl>
                                          <p:spTgt spid="22"/>
                                        </p:tgtEl>
                                        <p:attrNameLst>
                                          <p:attrName>style.visibility</p:attrName>
                                        </p:attrNameLst>
                                      </p:cBhvr>
                                      <p:to>
                                        <p:strVal val="visible"/>
                                      </p:to>
                                    </p:set>
                                    <p:anim calcmode="lin" valueType="num">
                                      <p:cBhvr additive="base">
                                        <p:cTn id="86" dur="450" fill="hold"/>
                                        <p:tgtEl>
                                          <p:spTgt spid="22"/>
                                        </p:tgtEl>
                                        <p:attrNameLst>
                                          <p:attrName>ppt_w</p:attrName>
                                        </p:attrNameLst>
                                      </p:cBhvr>
                                      <p:tavLst>
                                        <p:tav tm="0">
                                          <p:val>
                                            <p:strVal val="0"/>
                                          </p:val>
                                        </p:tav>
                                        <p:tav tm="70000">
                                          <p:val>
                                            <p:strVal val="#ppt_w*1.08"/>
                                          </p:val>
                                        </p:tav>
                                        <p:tav tm="100000">
                                          <p:val>
                                            <p:strVal val="#ppt_w"/>
                                          </p:val>
                                        </p:tav>
                                      </p:tavLst>
                                    </p:anim>
                                    <p:anim calcmode="lin" valueType="num">
                                      <p:cBhvr additive="base">
                                        <p:cTn id="87" dur="450" fill="hold"/>
                                        <p:tgtEl>
                                          <p:spTgt spid="22"/>
                                        </p:tgtEl>
                                        <p:attrNameLst>
                                          <p:attrName>ppt_h</p:attrName>
                                        </p:attrNameLst>
                                      </p:cBhvr>
                                      <p:tavLst>
                                        <p:tav tm="0">
                                          <p:val>
                                            <p:strVal val="0"/>
                                          </p:val>
                                        </p:tav>
                                        <p:tav tm="70000">
                                          <p:val>
                                            <p:strVal val="#ppt_h*1.08"/>
                                          </p:val>
                                        </p:tav>
                                        <p:tav tm="100000">
                                          <p:val>
                                            <p:strVal val="#ppt_h"/>
                                          </p:val>
                                        </p:tav>
                                      </p:tavLst>
                                    </p:anim>
                                    <p:animEffect transition="in" filter="fade">
                                      <p:cBhvr>
                                        <p:cTn id="88" dur="270" fill="hold"/>
                                        <p:tgtEl>
                                          <p:spTgt spid="22"/>
                                        </p:tgtEl>
                                      </p:cBhvr>
                                    </p:animEffect>
                                  </p:childTnLst>
                                </p:cTn>
                              </p:par>
                              <p:par>
                                <p:cTn id="89" presetID="53" presetClass="entr" presetSubtype="16" decel="100000" fill="hold" grpId="0" nodeType="withEffect">
                                  <p:stCondLst>
                                    <p:cond delay="350"/>
                                  </p:stCondLst>
                                  <p:childTnLst>
                                    <p:set>
                                      <p:cBhvr>
                                        <p:cTn id="90" dur="1" fill="hold">
                                          <p:stCondLst>
                                            <p:cond delay="0"/>
                                          </p:stCondLst>
                                        </p:cTn>
                                        <p:tgtEl>
                                          <p:spTgt spid="23"/>
                                        </p:tgtEl>
                                        <p:attrNameLst>
                                          <p:attrName>style.visibility</p:attrName>
                                        </p:attrNameLst>
                                      </p:cBhvr>
                                      <p:to>
                                        <p:strVal val="visible"/>
                                      </p:to>
                                    </p:set>
                                    <p:anim calcmode="lin" valueType="num">
                                      <p:cBhvr additive="base">
                                        <p:cTn id="91" dur="450" fill="hold"/>
                                        <p:tgtEl>
                                          <p:spTgt spid="23"/>
                                        </p:tgtEl>
                                        <p:attrNameLst>
                                          <p:attrName>ppt_w</p:attrName>
                                        </p:attrNameLst>
                                      </p:cBhvr>
                                      <p:tavLst>
                                        <p:tav tm="0">
                                          <p:val>
                                            <p:strVal val="0"/>
                                          </p:val>
                                        </p:tav>
                                        <p:tav tm="70000">
                                          <p:val>
                                            <p:strVal val="#ppt_w*1.08"/>
                                          </p:val>
                                        </p:tav>
                                        <p:tav tm="100000">
                                          <p:val>
                                            <p:strVal val="#ppt_w"/>
                                          </p:val>
                                        </p:tav>
                                      </p:tavLst>
                                    </p:anim>
                                    <p:anim calcmode="lin" valueType="num">
                                      <p:cBhvr additive="base">
                                        <p:cTn id="92" dur="450" fill="hold"/>
                                        <p:tgtEl>
                                          <p:spTgt spid="23"/>
                                        </p:tgtEl>
                                        <p:attrNameLst>
                                          <p:attrName>ppt_h</p:attrName>
                                        </p:attrNameLst>
                                      </p:cBhvr>
                                      <p:tavLst>
                                        <p:tav tm="0">
                                          <p:val>
                                            <p:strVal val="0"/>
                                          </p:val>
                                        </p:tav>
                                        <p:tav tm="70000">
                                          <p:val>
                                            <p:strVal val="#ppt_h*1.08"/>
                                          </p:val>
                                        </p:tav>
                                        <p:tav tm="100000">
                                          <p:val>
                                            <p:strVal val="#ppt_h"/>
                                          </p:val>
                                        </p:tav>
                                      </p:tavLst>
                                    </p:anim>
                                    <p:animEffect transition="in" filter="fade">
                                      <p:cBhvr>
                                        <p:cTn id="93" dur="270" fill="hold"/>
                                        <p:tgtEl>
                                          <p:spTgt spid="23"/>
                                        </p:tgtEl>
                                      </p:cBhvr>
                                    </p:animEffect>
                                  </p:childTnLst>
                                </p:cTn>
                              </p:par>
                              <p:par>
                                <p:cTn id="94" presetID="42" presetClass="entr" presetSubtype="0" decel="100000" fill="hold" grpId="0" nodeType="withEffect">
                                  <p:stCondLst>
                                    <p:cond delay="700"/>
                                  </p:stCondLst>
                                  <p:childTnLst>
                                    <p:set>
                                      <p:cBhvr>
                                        <p:cTn id="95" dur="1" fill="hold">
                                          <p:stCondLst>
                                            <p:cond delay="0"/>
                                          </p:stCondLst>
                                        </p:cTn>
                                        <p:tgtEl>
                                          <p:spTgt spid="24"/>
                                        </p:tgtEl>
                                        <p:attrNameLst>
                                          <p:attrName>style.visibility</p:attrName>
                                        </p:attrNameLst>
                                      </p:cBhvr>
                                      <p:to>
                                        <p:strVal val="visible"/>
                                      </p:to>
                                    </p:set>
                                    <p:animEffect transition="in" filter="fade">
                                      <p:cBhvr>
                                        <p:cTn id="96" dur="650" fill="hold"/>
                                        <p:tgtEl>
                                          <p:spTgt spid="24"/>
                                        </p:tgtEl>
                                      </p:cBhvr>
                                    </p:animEffect>
                                    <p:anim calcmode="lin" valueType="num">
                                      <p:cBhvr additive="base">
                                        <p:cTn id="97" dur="650" fill="hold"/>
                                        <p:tgtEl>
                                          <p:spTgt spid="24"/>
                                        </p:tgtEl>
                                        <p:attrNameLst>
                                          <p:attrName>ppt_x</p:attrName>
                                        </p:attrNameLst>
                                      </p:cBhvr>
                                      <p:tavLst>
                                        <p:tav tm="0">
                                          <p:val>
                                            <p:strVal val="#ppt_x"/>
                                          </p:val>
                                        </p:tav>
                                        <p:tav tm="100000">
                                          <p:val>
                                            <p:strVal val="#ppt_x"/>
                                          </p:val>
                                        </p:tav>
                                      </p:tavLst>
                                    </p:anim>
                                    <p:anim calcmode="lin" valueType="num">
                                      <p:cBhvr additive="base">
                                        <p:cTn id="98" dur="650" fill="hold"/>
                                        <p:tgtEl>
                                          <p:spTgt spid="24"/>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2A9FC0"/>
                </a:solidFill>
                <a:latin typeface="Segoe UI Semibold"/>
              </a:rPr>
              <a:t>CORREÇÃO COMENTADA  ·  QUESTÃO 3</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94360"/>
            <a:ext cx="11064240" cy="1463040"/>
          </a:xfrm>
          <a:prstGeom prst="rect">
            <a:avLst/>
          </a:prstGeom>
          <a:noFill/>
        </p:spPr>
        <p:txBody>
          <a:bodyPr wrap="square" lIns="36576" tIns="18288" rIns="36576" bIns="18288" anchor="t">
            <a:spAutoFit/>
          </a:bodyPr>
          <a:lstStyle/>
          <a:p>
            <a:pPr algn="l">
              <a:lnSpc>
                <a:spcPct val="108000"/>
              </a:lnSpc>
            </a:pPr>
            <a:r>
              <a:rPr sz="1700" b="1" i="0">
                <a:solidFill>
                  <a:srgbClr val="F2F2EC"/>
                </a:solidFill>
                <a:latin typeface="Segoe UI Semibold"/>
              </a:rPr>
              <a:t>Qual das opções abaixo é o Problem Statement mais bem construído, segundo o que foi visto na etapa Definir?</a:t>
            </a:r>
          </a:p>
        </p:txBody>
      </p:sp>
      <p:sp>
        <p:nvSpPr>
          <p:cNvPr id="6" name="Rounded Rectangle 5"/>
          <p:cNvSpPr/>
          <p:nvPr/>
        </p:nvSpPr>
        <p:spPr>
          <a:xfrm>
            <a:off x="548640" y="2240280"/>
            <a:ext cx="11091672" cy="603504"/>
          </a:xfrm>
          <a:prstGeom prst="roundRect">
            <a:avLst>
              <a:gd name="adj" fmla="val 20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722376" y="2350008"/>
            <a:ext cx="384048" cy="384048"/>
          </a:xfrm>
          <a:prstGeom prst="ellipse">
            <a:avLst/>
          </a:prstGeom>
          <a:solidFill>
            <a:srgbClr val="3A413D"/>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300" b="1" i="0">
                <a:solidFill>
                  <a:srgbClr val="B4B8B0"/>
                </a:solidFill>
                <a:latin typeface="Segoe UI Semibold"/>
              </a:rPr>
              <a:t>a</a:t>
            </a:r>
          </a:p>
        </p:txBody>
      </p:sp>
      <p:sp>
        <p:nvSpPr>
          <p:cNvPr id="8" name="TextBox 7"/>
          <p:cNvSpPr txBox="1"/>
          <p:nvPr/>
        </p:nvSpPr>
        <p:spPr>
          <a:xfrm>
            <a:off x="1280160" y="2240280"/>
            <a:ext cx="10149840" cy="603504"/>
          </a:xfrm>
          <a:prstGeom prst="rect">
            <a:avLst/>
          </a:prstGeom>
          <a:noFill/>
        </p:spPr>
        <p:txBody>
          <a:bodyPr wrap="square" lIns="36576" tIns="18288" rIns="36576" bIns="18288" anchor="ctr">
            <a:spAutoFit/>
          </a:bodyPr>
          <a:lstStyle/>
          <a:p>
            <a:pPr algn="l"/>
            <a:r>
              <a:rPr sz="1400" b="0" i="0">
                <a:solidFill>
                  <a:srgbClr val="F2F2EC"/>
                </a:solidFill>
                <a:latin typeface="Segoe UI"/>
              </a:rPr>
              <a:t>Precisamos de um chatbot com inteligência artificial para o nosso site.</a:t>
            </a:r>
          </a:p>
        </p:txBody>
      </p:sp>
      <p:sp>
        <p:nvSpPr>
          <p:cNvPr id="9" name="Rounded Rectangle 8"/>
          <p:cNvSpPr/>
          <p:nvPr/>
        </p:nvSpPr>
        <p:spPr>
          <a:xfrm>
            <a:off x="548640" y="2953512"/>
            <a:ext cx="11091672" cy="603504"/>
          </a:xfrm>
          <a:prstGeom prst="roundRect">
            <a:avLst>
              <a:gd name="adj" fmla="val 20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722376" y="3063240"/>
            <a:ext cx="384048" cy="384048"/>
          </a:xfrm>
          <a:prstGeom prst="ellipse">
            <a:avLst/>
          </a:prstGeom>
          <a:solidFill>
            <a:srgbClr val="3A413D"/>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300" b="1" i="0">
                <a:solidFill>
                  <a:srgbClr val="B4B8B0"/>
                </a:solidFill>
                <a:latin typeface="Segoe UI Semibold"/>
              </a:rPr>
              <a:t>b</a:t>
            </a:r>
          </a:p>
        </p:txBody>
      </p:sp>
      <p:sp>
        <p:nvSpPr>
          <p:cNvPr id="11" name="TextBox 10"/>
          <p:cNvSpPr txBox="1"/>
          <p:nvPr/>
        </p:nvSpPr>
        <p:spPr>
          <a:xfrm>
            <a:off x="1280160" y="2953512"/>
            <a:ext cx="10149840" cy="603504"/>
          </a:xfrm>
          <a:prstGeom prst="rect">
            <a:avLst/>
          </a:prstGeom>
          <a:noFill/>
        </p:spPr>
        <p:txBody>
          <a:bodyPr wrap="square" lIns="36576" tIns="18288" rIns="36576" bIns="18288" anchor="ctr">
            <a:spAutoFit/>
          </a:bodyPr>
          <a:lstStyle/>
          <a:p>
            <a:pPr algn="l"/>
            <a:r>
              <a:rPr sz="1400" b="0" i="0">
                <a:solidFill>
                  <a:srgbClr val="F2F2EC"/>
                </a:solidFill>
                <a:latin typeface="Segoe UI"/>
              </a:rPr>
              <a:t>Melhorar a experiência do cliente.</a:t>
            </a:r>
          </a:p>
        </p:txBody>
      </p:sp>
      <p:sp>
        <p:nvSpPr>
          <p:cNvPr id="12" name="Rounded Rectangle 11"/>
          <p:cNvSpPr/>
          <p:nvPr/>
        </p:nvSpPr>
        <p:spPr>
          <a:xfrm>
            <a:off x="548640" y="3666744"/>
            <a:ext cx="11091672" cy="603504"/>
          </a:xfrm>
          <a:prstGeom prst="roundRect">
            <a:avLst>
              <a:gd name="adj" fmla="val 20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722376" y="3776472"/>
            <a:ext cx="384048" cy="384048"/>
          </a:xfrm>
          <a:prstGeom prst="ellipse">
            <a:avLst/>
          </a:prstGeom>
          <a:solidFill>
            <a:srgbClr val="3A413D"/>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300" b="1" i="0">
                <a:solidFill>
                  <a:srgbClr val="B4B8B0"/>
                </a:solidFill>
                <a:latin typeface="Segoe UI Semibold"/>
              </a:rPr>
              <a:t>c</a:t>
            </a:r>
          </a:p>
        </p:txBody>
      </p:sp>
      <p:sp>
        <p:nvSpPr>
          <p:cNvPr id="14" name="TextBox 13"/>
          <p:cNvSpPr txBox="1"/>
          <p:nvPr/>
        </p:nvSpPr>
        <p:spPr>
          <a:xfrm>
            <a:off x="1280160" y="3666744"/>
            <a:ext cx="10149840" cy="603504"/>
          </a:xfrm>
          <a:prstGeom prst="rect">
            <a:avLst/>
          </a:prstGeom>
          <a:noFill/>
        </p:spPr>
        <p:txBody>
          <a:bodyPr wrap="square" lIns="36576" tIns="18288" rIns="36576" bIns="18288" anchor="ctr">
            <a:spAutoFit/>
          </a:bodyPr>
          <a:lstStyle/>
          <a:p>
            <a:pPr algn="l"/>
            <a:r>
              <a:rPr sz="1400" b="0" i="0">
                <a:solidFill>
                  <a:srgbClr val="F2F2EC"/>
                </a:solidFill>
                <a:latin typeface="Segoe UI"/>
              </a:rPr>
              <a:t>Clientes novos precisam aprender a usar o produto na primeira semana, porque 40% dos cancelamentos acontecem por não entenderem as funções básicas.</a:t>
            </a:r>
          </a:p>
        </p:txBody>
      </p:sp>
      <p:sp>
        <p:nvSpPr>
          <p:cNvPr id="15" name="Rounded Rectangle 14"/>
          <p:cNvSpPr/>
          <p:nvPr/>
        </p:nvSpPr>
        <p:spPr>
          <a:xfrm>
            <a:off x="548640" y="4379976"/>
            <a:ext cx="11091672" cy="603504"/>
          </a:xfrm>
          <a:prstGeom prst="roundRect">
            <a:avLst>
              <a:gd name="adj" fmla="val 20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722376" y="4489704"/>
            <a:ext cx="384048" cy="384048"/>
          </a:xfrm>
          <a:prstGeom prst="ellipse">
            <a:avLst/>
          </a:prstGeom>
          <a:solidFill>
            <a:srgbClr val="3A413D"/>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300" b="1" i="0">
                <a:solidFill>
                  <a:srgbClr val="B4B8B0"/>
                </a:solidFill>
                <a:latin typeface="Segoe UI Semibold"/>
              </a:rPr>
              <a:t>d</a:t>
            </a:r>
          </a:p>
        </p:txBody>
      </p:sp>
      <p:sp>
        <p:nvSpPr>
          <p:cNvPr id="17" name="TextBox 16"/>
          <p:cNvSpPr txBox="1"/>
          <p:nvPr/>
        </p:nvSpPr>
        <p:spPr>
          <a:xfrm>
            <a:off x="1280160" y="4379976"/>
            <a:ext cx="10149840" cy="603504"/>
          </a:xfrm>
          <a:prstGeom prst="rect">
            <a:avLst/>
          </a:prstGeom>
          <a:noFill/>
        </p:spPr>
        <p:txBody>
          <a:bodyPr wrap="square" lIns="36576" tIns="18288" rIns="36576" bIns="18288" anchor="ctr">
            <a:spAutoFit/>
          </a:bodyPr>
          <a:lstStyle/>
          <a:p>
            <a:pPr algn="l"/>
            <a:r>
              <a:rPr sz="1400" b="0" i="0">
                <a:solidFill>
                  <a:srgbClr val="F2F2EC"/>
                </a:solidFill>
                <a:latin typeface="Segoe UI"/>
              </a:rPr>
              <a:t>Aumentar o faturamento da empresa em 20% até dezembro.</a:t>
            </a:r>
          </a:p>
        </p:txBody>
      </p:sp>
      <p:sp>
        <p:nvSpPr>
          <p:cNvPr id="18" name="Rectangle 17"/>
          <p:cNvSpPr/>
          <p:nvPr/>
        </p:nvSpPr>
        <p:spPr>
          <a:xfrm>
            <a:off x="502920" y="2212848"/>
            <a:ext cx="11183112" cy="658368"/>
          </a:xfrm>
          <a:prstGeom prst="rect">
            <a:avLst/>
          </a:prstGeom>
          <a:solidFill>
            <a:srgbClr val="1A1A1A">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502920" y="2926080"/>
            <a:ext cx="11183112" cy="658368"/>
          </a:xfrm>
          <a:prstGeom prst="rect">
            <a:avLst/>
          </a:prstGeom>
          <a:solidFill>
            <a:srgbClr val="1A1A1A">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502920" y="4352544"/>
            <a:ext cx="11183112" cy="658368"/>
          </a:xfrm>
          <a:prstGeom prst="rect">
            <a:avLst/>
          </a:prstGeom>
          <a:solidFill>
            <a:srgbClr val="1A1A1A">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ounded Rectangle 20"/>
          <p:cNvSpPr/>
          <p:nvPr/>
        </p:nvSpPr>
        <p:spPr>
          <a:xfrm>
            <a:off x="548640" y="3666744"/>
            <a:ext cx="11091672" cy="603504"/>
          </a:xfrm>
          <a:prstGeom prst="roundRect">
            <a:avLst>
              <a:gd name="adj" fmla="val 20000"/>
            </a:avLst>
          </a:prstGeom>
          <a:noFill/>
          <a:ln w="31750">
            <a:solidFill>
              <a:srgbClr val="9CD84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722376" y="3776472"/>
            <a:ext cx="384048" cy="384048"/>
          </a:xfrm>
          <a:prstGeom prst="ellipse">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300" b="1" i="0">
                <a:solidFill>
                  <a:srgbClr val="1A1A1A"/>
                </a:solidFill>
                <a:latin typeface="Segoe UI Semibold"/>
              </a:rPr>
              <a:t>c</a:t>
            </a:r>
          </a:p>
        </p:txBody>
      </p:sp>
      <p:sp>
        <p:nvSpPr>
          <p:cNvPr id="23" name="Rounded Rectangle 22"/>
          <p:cNvSpPr/>
          <p:nvPr/>
        </p:nvSpPr>
        <p:spPr>
          <a:xfrm>
            <a:off x="10058400" y="3785615"/>
            <a:ext cx="1417320" cy="365760"/>
          </a:xfrm>
          <a:prstGeom prst="roundRect">
            <a:avLst>
              <a:gd name="adj" fmla="val 50000"/>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200" b="1" i="0">
                <a:solidFill>
                  <a:srgbClr val="1A1A1A"/>
                </a:solidFill>
                <a:latin typeface="Segoe UI Semibold"/>
              </a:rPr>
              <a:t>✓  Correta</a:t>
            </a:r>
          </a:p>
        </p:txBody>
      </p:sp>
      <p:sp>
        <p:nvSpPr>
          <p:cNvPr id="24" name="TextBox 23"/>
          <p:cNvSpPr txBox="1"/>
          <p:nvPr/>
        </p:nvSpPr>
        <p:spPr>
          <a:xfrm>
            <a:off x="548640" y="5166360"/>
            <a:ext cx="11064240" cy="1097280"/>
          </a:xfrm>
          <a:prstGeom prst="rect">
            <a:avLst/>
          </a:prstGeom>
          <a:noFill/>
        </p:spPr>
        <p:txBody>
          <a:bodyPr wrap="square" lIns="36576" tIns="18288" rIns="36576" bIns="18288" anchor="t">
            <a:spAutoFit/>
          </a:bodyPr>
          <a:lstStyle/>
          <a:p>
            <a:pPr algn="l"/>
            <a:r>
              <a:rPr sz="1250" b="1" i="0">
                <a:solidFill>
                  <a:srgbClr val="9CD848"/>
                </a:solidFill>
                <a:latin typeface="Segoe UI Semibold"/>
              </a:rPr>
              <a:t>Por quê: </a:t>
            </a:r>
            <a:r>
              <a:rPr sz="1250" b="0" i="0">
                <a:solidFill>
                  <a:srgbClr val="B4B8B0"/>
                </a:solidFill>
                <a:latin typeface="Segoe UI"/>
              </a:rPr>
              <a:t>A alternativa C é centrada em pessoas (clientes novos), expressa uma necessidade e se apoia em um insight baseado em dados. A alternativa A já traz a solução embutida, a B é ampla e vaga demais e a D é uma meta de negócio, não um problema das pessoas.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fill="hold"/>
                                        <p:tgtEl>
                                          <p:spTgt spid="5"/>
                                        </p:tgtEl>
                                      </p:cBhvr>
                                    </p:animEffect>
                                  </p:childTnLst>
                                </p:cTn>
                              </p:par>
                              <p:par>
                                <p:cTn id="8" presetID="42" presetClass="entr" presetSubtype="0" decel="100000" fill="hold" grpId="0" nodeType="withEffect">
                                  <p:stCondLst>
                                    <p:cond delay="3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50" fill="hold"/>
                                        <p:tgtEl>
                                          <p:spTgt spid="6"/>
                                        </p:tgtEl>
                                      </p:cBhvr>
                                    </p:animEffect>
                                    <p:anim calcmode="lin" valueType="num">
                                      <p:cBhvr additive="base">
                                        <p:cTn id="11" dur="650" fill="hold"/>
                                        <p:tgtEl>
                                          <p:spTgt spid="6"/>
                                        </p:tgtEl>
                                        <p:attrNameLst>
                                          <p:attrName>ppt_x</p:attrName>
                                        </p:attrNameLst>
                                      </p:cBhvr>
                                      <p:tavLst>
                                        <p:tav tm="0">
                                          <p:val>
                                            <p:strVal val="#ppt_x"/>
                                          </p:val>
                                        </p:tav>
                                        <p:tav tm="100000">
                                          <p:val>
                                            <p:strVal val="#ppt_x"/>
                                          </p:val>
                                        </p:tav>
                                      </p:tavLst>
                                    </p:anim>
                                    <p:anim calcmode="lin" valueType="num">
                                      <p:cBhvr additive="base">
                                        <p:cTn id="12" dur="650" fill="hold"/>
                                        <p:tgtEl>
                                          <p:spTgt spid="6"/>
                                        </p:tgtEl>
                                        <p:attrNameLst>
                                          <p:attrName>ppt_y</p:attrName>
                                        </p:attrNameLst>
                                      </p:cBhvr>
                                      <p:tavLst>
                                        <p:tav tm="0">
                                          <p:val>
                                            <p:strVal val="#ppt_y+.06"/>
                                          </p:val>
                                        </p:tav>
                                        <p:tav tm="100000">
                                          <p:val>
                                            <p:strVal val="#ppt_y"/>
                                          </p:val>
                                        </p:tav>
                                      </p:tavLst>
                                    </p:anim>
                                  </p:childTnLst>
                                </p:cTn>
                              </p:par>
                              <p:par>
                                <p:cTn id="13" presetID="42" presetClass="entr" presetSubtype="0" decel="100000" fill="hold" grpId="0" nodeType="withEffect">
                                  <p:stCondLst>
                                    <p:cond delay="30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fill="hold"/>
                                        <p:tgtEl>
                                          <p:spTgt spid="7"/>
                                        </p:tgtEl>
                                      </p:cBhvr>
                                    </p:animEffect>
                                    <p:anim calcmode="lin" valueType="num">
                                      <p:cBhvr additive="base">
                                        <p:cTn id="16" dur="650" fill="hold"/>
                                        <p:tgtEl>
                                          <p:spTgt spid="7"/>
                                        </p:tgtEl>
                                        <p:attrNameLst>
                                          <p:attrName>ppt_x</p:attrName>
                                        </p:attrNameLst>
                                      </p:cBhvr>
                                      <p:tavLst>
                                        <p:tav tm="0">
                                          <p:val>
                                            <p:strVal val="#ppt_x"/>
                                          </p:val>
                                        </p:tav>
                                        <p:tav tm="100000">
                                          <p:val>
                                            <p:strVal val="#ppt_x"/>
                                          </p:val>
                                        </p:tav>
                                      </p:tavLst>
                                    </p:anim>
                                    <p:anim calcmode="lin" valueType="num">
                                      <p:cBhvr additive="base">
                                        <p:cTn id="17" dur="650" fill="hold"/>
                                        <p:tgtEl>
                                          <p:spTgt spid="7"/>
                                        </p:tgtEl>
                                        <p:attrNameLst>
                                          <p:attrName>ppt_y</p:attrName>
                                        </p:attrNameLst>
                                      </p:cBhvr>
                                      <p:tavLst>
                                        <p:tav tm="0">
                                          <p:val>
                                            <p:strVal val="#ppt_y+.06"/>
                                          </p:val>
                                        </p:tav>
                                        <p:tav tm="100000">
                                          <p:val>
                                            <p:strVal val="#ppt_y"/>
                                          </p:val>
                                        </p:tav>
                                      </p:tavLst>
                                    </p:anim>
                                  </p:childTnLst>
                                </p:cTn>
                              </p:par>
                              <p:par>
                                <p:cTn id="18" presetID="42" presetClass="entr" presetSubtype="0" decel="100000" fill="hold" grpId="0" nodeType="withEffect">
                                  <p:stCondLst>
                                    <p:cond delay="30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650" fill="hold"/>
                                        <p:tgtEl>
                                          <p:spTgt spid="8"/>
                                        </p:tgtEl>
                                      </p:cBhvr>
                                    </p:animEffect>
                                    <p:anim calcmode="lin" valueType="num">
                                      <p:cBhvr additive="base">
                                        <p:cTn id="21" dur="650" fill="hold"/>
                                        <p:tgtEl>
                                          <p:spTgt spid="8"/>
                                        </p:tgtEl>
                                        <p:attrNameLst>
                                          <p:attrName>ppt_x</p:attrName>
                                        </p:attrNameLst>
                                      </p:cBhvr>
                                      <p:tavLst>
                                        <p:tav tm="0">
                                          <p:val>
                                            <p:strVal val="#ppt_x"/>
                                          </p:val>
                                        </p:tav>
                                        <p:tav tm="100000">
                                          <p:val>
                                            <p:strVal val="#ppt_x"/>
                                          </p:val>
                                        </p:tav>
                                      </p:tavLst>
                                    </p:anim>
                                    <p:anim calcmode="lin" valueType="num">
                                      <p:cBhvr additive="base">
                                        <p:cTn id="22" dur="650" fill="hold"/>
                                        <p:tgtEl>
                                          <p:spTgt spid="8"/>
                                        </p:tgtEl>
                                        <p:attrNameLst>
                                          <p:attrName>ppt_y</p:attrName>
                                        </p:attrNameLst>
                                      </p:cBhvr>
                                      <p:tavLst>
                                        <p:tav tm="0">
                                          <p:val>
                                            <p:strVal val="#ppt_y+.06"/>
                                          </p:val>
                                        </p:tav>
                                        <p:tav tm="100000">
                                          <p:val>
                                            <p:strVal val="#ppt_y"/>
                                          </p:val>
                                        </p:tav>
                                      </p:tavLst>
                                    </p:anim>
                                  </p:childTnLst>
                                </p:cTn>
                              </p:par>
                              <p:par>
                                <p:cTn id="23" presetID="42" presetClass="entr" presetSubtype="0" decel="100000" fill="hold" grpId="0" nodeType="withEffect">
                                  <p:stCondLst>
                                    <p:cond delay="45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650" fill="hold"/>
                                        <p:tgtEl>
                                          <p:spTgt spid="9"/>
                                        </p:tgtEl>
                                      </p:cBhvr>
                                    </p:animEffect>
                                    <p:anim calcmode="lin" valueType="num">
                                      <p:cBhvr additive="base">
                                        <p:cTn id="26" dur="650" fill="hold"/>
                                        <p:tgtEl>
                                          <p:spTgt spid="9"/>
                                        </p:tgtEl>
                                        <p:attrNameLst>
                                          <p:attrName>ppt_x</p:attrName>
                                        </p:attrNameLst>
                                      </p:cBhvr>
                                      <p:tavLst>
                                        <p:tav tm="0">
                                          <p:val>
                                            <p:strVal val="#ppt_x"/>
                                          </p:val>
                                        </p:tav>
                                        <p:tav tm="100000">
                                          <p:val>
                                            <p:strVal val="#ppt_x"/>
                                          </p:val>
                                        </p:tav>
                                      </p:tavLst>
                                    </p:anim>
                                    <p:anim calcmode="lin" valueType="num">
                                      <p:cBhvr additive="base">
                                        <p:cTn id="27" dur="650" fill="hold"/>
                                        <p:tgtEl>
                                          <p:spTgt spid="9"/>
                                        </p:tgtEl>
                                        <p:attrNameLst>
                                          <p:attrName>ppt_y</p:attrName>
                                        </p:attrNameLst>
                                      </p:cBhvr>
                                      <p:tavLst>
                                        <p:tav tm="0">
                                          <p:val>
                                            <p:strVal val="#ppt_y+.06"/>
                                          </p:val>
                                        </p:tav>
                                        <p:tav tm="100000">
                                          <p:val>
                                            <p:strVal val="#ppt_y"/>
                                          </p:val>
                                        </p:tav>
                                      </p:tavLst>
                                    </p:anim>
                                  </p:childTnLst>
                                </p:cTn>
                              </p:par>
                              <p:par>
                                <p:cTn id="28" presetID="42" presetClass="entr" presetSubtype="0" decel="100000" fill="hold" grpId="0" nodeType="withEffect">
                                  <p:stCondLst>
                                    <p:cond delay="45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650" fill="hold"/>
                                        <p:tgtEl>
                                          <p:spTgt spid="10"/>
                                        </p:tgtEl>
                                      </p:cBhvr>
                                    </p:animEffect>
                                    <p:anim calcmode="lin" valueType="num">
                                      <p:cBhvr additive="base">
                                        <p:cTn id="31" dur="650" fill="hold"/>
                                        <p:tgtEl>
                                          <p:spTgt spid="10"/>
                                        </p:tgtEl>
                                        <p:attrNameLst>
                                          <p:attrName>ppt_x</p:attrName>
                                        </p:attrNameLst>
                                      </p:cBhvr>
                                      <p:tavLst>
                                        <p:tav tm="0">
                                          <p:val>
                                            <p:strVal val="#ppt_x"/>
                                          </p:val>
                                        </p:tav>
                                        <p:tav tm="100000">
                                          <p:val>
                                            <p:strVal val="#ppt_x"/>
                                          </p:val>
                                        </p:tav>
                                      </p:tavLst>
                                    </p:anim>
                                    <p:anim calcmode="lin" valueType="num">
                                      <p:cBhvr additive="base">
                                        <p:cTn id="32" dur="650" fill="hold"/>
                                        <p:tgtEl>
                                          <p:spTgt spid="10"/>
                                        </p:tgtEl>
                                        <p:attrNameLst>
                                          <p:attrName>ppt_y</p:attrName>
                                        </p:attrNameLst>
                                      </p:cBhvr>
                                      <p:tavLst>
                                        <p:tav tm="0">
                                          <p:val>
                                            <p:strVal val="#ppt_y+.06"/>
                                          </p:val>
                                        </p:tav>
                                        <p:tav tm="100000">
                                          <p:val>
                                            <p:strVal val="#ppt_y"/>
                                          </p:val>
                                        </p:tav>
                                      </p:tavLst>
                                    </p:anim>
                                  </p:childTnLst>
                                </p:cTn>
                              </p:par>
                              <p:par>
                                <p:cTn id="33" presetID="42" presetClass="entr" presetSubtype="0" decel="100000" fill="hold" grpId="0" nodeType="withEffect">
                                  <p:stCondLst>
                                    <p:cond delay="45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650" fill="hold"/>
                                        <p:tgtEl>
                                          <p:spTgt spid="11"/>
                                        </p:tgtEl>
                                      </p:cBhvr>
                                    </p:animEffect>
                                    <p:anim calcmode="lin" valueType="num">
                                      <p:cBhvr additive="base">
                                        <p:cTn id="36" dur="650" fill="hold"/>
                                        <p:tgtEl>
                                          <p:spTgt spid="11"/>
                                        </p:tgtEl>
                                        <p:attrNameLst>
                                          <p:attrName>ppt_x</p:attrName>
                                        </p:attrNameLst>
                                      </p:cBhvr>
                                      <p:tavLst>
                                        <p:tav tm="0">
                                          <p:val>
                                            <p:strVal val="#ppt_x"/>
                                          </p:val>
                                        </p:tav>
                                        <p:tav tm="100000">
                                          <p:val>
                                            <p:strVal val="#ppt_x"/>
                                          </p:val>
                                        </p:tav>
                                      </p:tavLst>
                                    </p:anim>
                                    <p:anim calcmode="lin" valueType="num">
                                      <p:cBhvr additive="base">
                                        <p:cTn id="37" dur="650" fill="hold"/>
                                        <p:tgtEl>
                                          <p:spTgt spid="11"/>
                                        </p:tgtEl>
                                        <p:attrNameLst>
                                          <p:attrName>ppt_y</p:attrName>
                                        </p:attrNameLst>
                                      </p:cBhvr>
                                      <p:tavLst>
                                        <p:tav tm="0">
                                          <p:val>
                                            <p:strVal val="#ppt_y+.06"/>
                                          </p:val>
                                        </p:tav>
                                        <p:tav tm="100000">
                                          <p:val>
                                            <p:strVal val="#ppt_y"/>
                                          </p:val>
                                        </p:tav>
                                      </p:tavLst>
                                    </p:anim>
                                  </p:childTnLst>
                                </p:cTn>
                              </p:par>
                              <p:par>
                                <p:cTn id="38" presetID="42" presetClass="entr" presetSubtype="0" decel="100000" fill="hold" grpId="0" nodeType="withEffect">
                                  <p:stCondLst>
                                    <p:cond delay="60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650" fill="hold"/>
                                        <p:tgtEl>
                                          <p:spTgt spid="12"/>
                                        </p:tgtEl>
                                      </p:cBhvr>
                                    </p:animEffect>
                                    <p:anim calcmode="lin" valueType="num">
                                      <p:cBhvr additive="base">
                                        <p:cTn id="41" dur="650" fill="hold"/>
                                        <p:tgtEl>
                                          <p:spTgt spid="12"/>
                                        </p:tgtEl>
                                        <p:attrNameLst>
                                          <p:attrName>ppt_x</p:attrName>
                                        </p:attrNameLst>
                                      </p:cBhvr>
                                      <p:tavLst>
                                        <p:tav tm="0">
                                          <p:val>
                                            <p:strVal val="#ppt_x"/>
                                          </p:val>
                                        </p:tav>
                                        <p:tav tm="100000">
                                          <p:val>
                                            <p:strVal val="#ppt_x"/>
                                          </p:val>
                                        </p:tav>
                                      </p:tavLst>
                                    </p:anim>
                                    <p:anim calcmode="lin" valueType="num">
                                      <p:cBhvr additive="base">
                                        <p:cTn id="42" dur="650" fill="hold"/>
                                        <p:tgtEl>
                                          <p:spTgt spid="12"/>
                                        </p:tgtEl>
                                        <p:attrNameLst>
                                          <p:attrName>ppt_y</p:attrName>
                                        </p:attrNameLst>
                                      </p:cBhvr>
                                      <p:tavLst>
                                        <p:tav tm="0">
                                          <p:val>
                                            <p:strVal val="#ppt_y+.06"/>
                                          </p:val>
                                        </p:tav>
                                        <p:tav tm="100000">
                                          <p:val>
                                            <p:strVal val="#ppt_y"/>
                                          </p:val>
                                        </p:tav>
                                      </p:tavLst>
                                    </p:anim>
                                  </p:childTnLst>
                                </p:cTn>
                              </p:par>
                              <p:par>
                                <p:cTn id="43" presetID="42" presetClass="entr" presetSubtype="0" decel="100000" fill="hold" grpId="0" nodeType="withEffect">
                                  <p:stCondLst>
                                    <p:cond delay="60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650" fill="hold"/>
                                        <p:tgtEl>
                                          <p:spTgt spid="13"/>
                                        </p:tgtEl>
                                      </p:cBhvr>
                                    </p:animEffect>
                                    <p:anim calcmode="lin" valueType="num">
                                      <p:cBhvr additive="base">
                                        <p:cTn id="46" dur="650" fill="hold"/>
                                        <p:tgtEl>
                                          <p:spTgt spid="13"/>
                                        </p:tgtEl>
                                        <p:attrNameLst>
                                          <p:attrName>ppt_x</p:attrName>
                                        </p:attrNameLst>
                                      </p:cBhvr>
                                      <p:tavLst>
                                        <p:tav tm="0">
                                          <p:val>
                                            <p:strVal val="#ppt_x"/>
                                          </p:val>
                                        </p:tav>
                                        <p:tav tm="100000">
                                          <p:val>
                                            <p:strVal val="#ppt_x"/>
                                          </p:val>
                                        </p:tav>
                                      </p:tavLst>
                                    </p:anim>
                                    <p:anim calcmode="lin" valueType="num">
                                      <p:cBhvr additive="base">
                                        <p:cTn id="47" dur="650" fill="hold"/>
                                        <p:tgtEl>
                                          <p:spTgt spid="13"/>
                                        </p:tgtEl>
                                        <p:attrNameLst>
                                          <p:attrName>ppt_y</p:attrName>
                                        </p:attrNameLst>
                                      </p:cBhvr>
                                      <p:tavLst>
                                        <p:tav tm="0">
                                          <p:val>
                                            <p:strVal val="#ppt_y+.06"/>
                                          </p:val>
                                        </p:tav>
                                        <p:tav tm="100000">
                                          <p:val>
                                            <p:strVal val="#ppt_y"/>
                                          </p:val>
                                        </p:tav>
                                      </p:tavLst>
                                    </p:anim>
                                  </p:childTnLst>
                                </p:cTn>
                              </p:par>
                              <p:par>
                                <p:cTn id="48" presetID="42" presetClass="entr" presetSubtype="0" decel="100000" fill="hold" grpId="0" nodeType="withEffect">
                                  <p:stCondLst>
                                    <p:cond delay="60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650" fill="hold"/>
                                        <p:tgtEl>
                                          <p:spTgt spid="14"/>
                                        </p:tgtEl>
                                      </p:cBhvr>
                                    </p:animEffect>
                                    <p:anim calcmode="lin" valueType="num">
                                      <p:cBhvr additive="base">
                                        <p:cTn id="51" dur="650" fill="hold"/>
                                        <p:tgtEl>
                                          <p:spTgt spid="14"/>
                                        </p:tgtEl>
                                        <p:attrNameLst>
                                          <p:attrName>ppt_x</p:attrName>
                                        </p:attrNameLst>
                                      </p:cBhvr>
                                      <p:tavLst>
                                        <p:tav tm="0">
                                          <p:val>
                                            <p:strVal val="#ppt_x"/>
                                          </p:val>
                                        </p:tav>
                                        <p:tav tm="100000">
                                          <p:val>
                                            <p:strVal val="#ppt_x"/>
                                          </p:val>
                                        </p:tav>
                                      </p:tavLst>
                                    </p:anim>
                                    <p:anim calcmode="lin" valueType="num">
                                      <p:cBhvr additive="base">
                                        <p:cTn id="52" dur="650" fill="hold"/>
                                        <p:tgtEl>
                                          <p:spTgt spid="14"/>
                                        </p:tgtEl>
                                        <p:attrNameLst>
                                          <p:attrName>ppt_y</p:attrName>
                                        </p:attrNameLst>
                                      </p:cBhvr>
                                      <p:tavLst>
                                        <p:tav tm="0">
                                          <p:val>
                                            <p:strVal val="#ppt_y+.06"/>
                                          </p:val>
                                        </p:tav>
                                        <p:tav tm="100000">
                                          <p:val>
                                            <p:strVal val="#ppt_y"/>
                                          </p:val>
                                        </p:tav>
                                      </p:tavLst>
                                    </p:anim>
                                  </p:childTnLst>
                                </p:cTn>
                              </p:par>
                              <p:par>
                                <p:cTn id="53" presetID="42" presetClass="entr" presetSubtype="0" decel="100000" fill="hold" grpId="0" nodeType="withEffect">
                                  <p:stCondLst>
                                    <p:cond delay="75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650" fill="hold"/>
                                        <p:tgtEl>
                                          <p:spTgt spid="15"/>
                                        </p:tgtEl>
                                      </p:cBhvr>
                                    </p:animEffect>
                                    <p:anim calcmode="lin" valueType="num">
                                      <p:cBhvr additive="base">
                                        <p:cTn id="56" dur="650" fill="hold"/>
                                        <p:tgtEl>
                                          <p:spTgt spid="15"/>
                                        </p:tgtEl>
                                        <p:attrNameLst>
                                          <p:attrName>ppt_x</p:attrName>
                                        </p:attrNameLst>
                                      </p:cBhvr>
                                      <p:tavLst>
                                        <p:tav tm="0">
                                          <p:val>
                                            <p:strVal val="#ppt_x"/>
                                          </p:val>
                                        </p:tav>
                                        <p:tav tm="100000">
                                          <p:val>
                                            <p:strVal val="#ppt_x"/>
                                          </p:val>
                                        </p:tav>
                                      </p:tavLst>
                                    </p:anim>
                                    <p:anim calcmode="lin" valueType="num">
                                      <p:cBhvr additive="base">
                                        <p:cTn id="57" dur="650" fill="hold"/>
                                        <p:tgtEl>
                                          <p:spTgt spid="15"/>
                                        </p:tgtEl>
                                        <p:attrNameLst>
                                          <p:attrName>ppt_y</p:attrName>
                                        </p:attrNameLst>
                                      </p:cBhvr>
                                      <p:tavLst>
                                        <p:tav tm="0">
                                          <p:val>
                                            <p:strVal val="#ppt_y+.06"/>
                                          </p:val>
                                        </p:tav>
                                        <p:tav tm="100000">
                                          <p:val>
                                            <p:strVal val="#ppt_y"/>
                                          </p:val>
                                        </p:tav>
                                      </p:tavLst>
                                    </p:anim>
                                  </p:childTnLst>
                                </p:cTn>
                              </p:par>
                              <p:par>
                                <p:cTn id="58" presetID="42" presetClass="entr" presetSubtype="0" decel="100000" fill="hold" grpId="0" nodeType="withEffect">
                                  <p:stCondLst>
                                    <p:cond delay="75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650" fill="hold"/>
                                        <p:tgtEl>
                                          <p:spTgt spid="16"/>
                                        </p:tgtEl>
                                      </p:cBhvr>
                                    </p:animEffect>
                                    <p:anim calcmode="lin" valueType="num">
                                      <p:cBhvr additive="base">
                                        <p:cTn id="61" dur="650" fill="hold"/>
                                        <p:tgtEl>
                                          <p:spTgt spid="16"/>
                                        </p:tgtEl>
                                        <p:attrNameLst>
                                          <p:attrName>ppt_x</p:attrName>
                                        </p:attrNameLst>
                                      </p:cBhvr>
                                      <p:tavLst>
                                        <p:tav tm="0">
                                          <p:val>
                                            <p:strVal val="#ppt_x"/>
                                          </p:val>
                                        </p:tav>
                                        <p:tav tm="100000">
                                          <p:val>
                                            <p:strVal val="#ppt_x"/>
                                          </p:val>
                                        </p:tav>
                                      </p:tavLst>
                                    </p:anim>
                                    <p:anim calcmode="lin" valueType="num">
                                      <p:cBhvr additive="base">
                                        <p:cTn id="62" dur="650" fill="hold"/>
                                        <p:tgtEl>
                                          <p:spTgt spid="16"/>
                                        </p:tgtEl>
                                        <p:attrNameLst>
                                          <p:attrName>ppt_y</p:attrName>
                                        </p:attrNameLst>
                                      </p:cBhvr>
                                      <p:tavLst>
                                        <p:tav tm="0">
                                          <p:val>
                                            <p:strVal val="#ppt_y+.06"/>
                                          </p:val>
                                        </p:tav>
                                        <p:tav tm="100000">
                                          <p:val>
                                            <p:strVal val="#ppt_y"/>
                                          </p:val>
                                        </p:tav>
                                      </p:tavLst>
                                    </p:anim>
                                  </p:childTnLst>
                                </p:cTn>
                              </p:par>
                              <p:par>
                                <p:cTn id="63" presetID="42" presetClass="entr" presetSubtype="0" decel="100000" fill="hold" grpId="0" nodeType="withEffect">
                                  <p:stCondLst>
                                    <p:cond delay="750"/>
                                  </p:stCondLst>
                                  <p:childTnLst>
                                    <p:set>
                                      <p:cBhvr>
                                        <p:cTn id="64" dur="1" fill="hold">
                                          <p:stCondLst>
                                            <p:cond delay="0"/>
                                          </p:stCondLst>
                                        </p:cTn>
                                        <p:tgtEl>
                                          <p:spTgt spid="17"/>
                                        </p:tgtEl>
                                        <p:attrNameLst>
                                          <p:attrName>style.visibility</p:attrName>
                                        </p:attrNameLst>
                                      </p:cBhvr>
                                      <p:to>
                                        <p:strVal val="visible"/>
                                      </p:to>
                                    </p:set>
                                    <p:animEffect transition="in" filter="fade">
                                      <p:cBhvr>
                                        <p:cTn id="65" dur="650" fill="hold"/>
                                        <p:tgtEl>
                                          <p:spTgt spid="17"/>
                                        </p:tgtEl>
                                      </p:cBhvr>
                                    </p:animEffect>
                                    <p:anim calcmode="lin" valueType="num">
                                      <p:cBhvr additive="base">
                                        <p:cTn id="66" dur="650" fill="hold"/>
                                        <p:tgtEl>
                                          <p:spTgt spid="17"/>
                                        </p:tgtEl>
                                        <p:attrNameLst>
                                          <p:attrName>ppt_x</p:attrName>
                                        </p:attrNameLst>
                                      </p:cBhvr>
                                      <p:tavLst>
                                        <p:tav tm="0">
                                          <p:val>
                                            <p:strVal val="#ppt_x"/>
                                          </p:val>
                                        </p:tav>
                                        <p:tav tm="100000">
                                          <p:val>
                                            <p:strVal val="#ppt_x"/>
                                          </p:val>
                                        </p:tav>
                                      </p:tavLst>
                                    </p:anim>
                                    <p:anim calcmode="lin" valueType="num">
                                      <p:cBhvr additive="base">
                                        <p:cTn id="67" dur="650" fill="hold"/>
                                        <p:tgtEl>
                                          <p:spTgt spid="17"/>
                                        </p:tgtEl>
                                        <p:attrNameLst>
                                          <p:attrName>ppt_y</p:attrName>
                                        </p:attrNameLst>
                                      </p:cBhvr>
                                      <p:tavLst>
                                        <p:tav tm="0">
                                          <p:val>
                                            <p:strVal val="#ppt_y+.06"/>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600" fill="hold"/>
                                        <p:tgtEl>
                                          <p:spTgt spid="18"/>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600" fill="hold"/>
                                        <p:tgtEl>
                                          <p:spTgt spid="19"/>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600" fill="hold"/>
                                        <p:tgtEl>
                                          <p:spTgt spid="20"/>
                                        </p:tgtEl>
                                      </p:cBhvr>
                                    </p:animEffect>
                                  </p:childTnLst>
                                </p:cTn>
                              </p:par>
                              <p:par>
                                <p:cTn id="79" presetID="53" presetClass="entr" presetSubtype="16" decel="100000" fill="hold" grpId="0" nodeType="withEffect">
                                  <p:stCondLst>
                                    <p:cond delay="100"/>
                                  </p:stCondLst>
                                  <p:childTnLst>
                                    <p:set>
                                      <p:cBhvr>
                                        <p:cTn id="80" dur="1" fill="hold">
                                          <p:stCondLst>
                                            <p:cond delay="0"/>
                                          </p:stCondLst>
                                        </p:cTn>
                                        <p:tgtEl>
                                          <p:spTgt spid="21"/>
                                        </p:tgtEl>
                                        <p:attrNameLst>
                                          <p:attrName>style.visibility</p:attrName>
                                        </p:attrNameLst>
                                      </p:cBhvr>
                                      <p:to>
                                        <p:strVal val="visible"/>
                                      </p:to>
                                    </p:set>
                                    <p:anim calcmode="lin" valueType="num">
                                      <p:cBhvr additive="base">
                                        <p:cTn id="81" dur="450" fill="hold"/>
                                        <p:tgtEl>
                                          <p:spTgt spid="21"/>
                                        </p:tgtEl>
                                        <p:attrNameLst>
                                          <p:attrName>ppt_w</p:attrName>
                                        </p:attrNameLst>
                                      </p:cBhvr>
                                      <p:tavLst>
                                        <p:tav tm="0">
                                          <p:val>
                                            <p:strVal val="0"/>
                                          </p:val>
                                        </p:tav>
                                        <p:tav tm="70000">
                                          <p:val>
                                            <p:strVal val="#ppt_w*1.08"/>
                                          </p:val>
                                        </p:tav>
                                        <p:tav tm="100000">
                                          <p:val>
                                            <p:strVal val="#ppt_w"/>
                                          </p:val>
                                        </p:tav>
                                      </p:tavLst>
                                    </p:anim>
                                    <p:anim calcmode="lin" valueType="num">
                                      <p:cBhvr additive="base">
                                        <p:cTn id="82" dur="450" fill="hold"/>
                                        <p:tgtEl>
                                          <p:spTgt spid="21"/>
                                        </p:tgtEl>
                                        <p:attrNameLst>
                                          <p:attrName>ppt_h</p:attrName>
                                        </p:attrNameLst>
                                      </p:cBhvr>
                                      <p:tavLst>
                                        <p:tav tm="0">
                                          <p:val>
                                            <p:strVal val="0"/>
                                          </p:val>
                                        </p:tav>
                                        <p:tav tm="70000">
                                          <p:val>
                                            <p:strVal val="#ppt_h*1.08"/>
                                          </p:val>
                                        </p:tav>
                                        <p:tav tm="100000">
                                          <p:val>
                                            <p:strVal val="#ppt_h"/>
                                          </p:val>
                                        </p:tav>
                                      </p:tavLst>
                                    </p:anim>
                                    <p:animEffect transition="in" filter="fade">
                                      <p:cBhvr>
                                        <p:cTn id="83" dur="270" fill="hold"/>
                                        <p:tgtEl>
                                          <p:spTgt spid="21"/>
                                        </p:tgtEl>
                                      </p:cBhvr>
                                    </p:animEffect>
                                  </p:childTnLst>
                                </p:cTn>
                              </p:par>
                              <p:par>
                                <p:cTn id="84" presetID="53" presetClass="entr" presetSubtype="16" decel="100000" fill="hold" grpId="0" nodeType="withEffect">
                                  <p:stCondLst>
                                    <p:cond delay="100"/>
                                  </p:stCondLst>
                                  <p:childTnLst>
                                    <p:set>
                                      <p:cBhvr>
                                        <p:cTn id="85" dur="1" fill="hold">
                                          <p:stCondLst>
                                            <p:cond delay="0"/>
                                          </p:stCondLst>
                                        </p:cTn>
                                        <p:tgtEl>
                                          <p:spTgt spid="22"/>
                                        </p:tgtEl>
                                        <p:attrNameLst>
                                          <p:attrName>style.visibility</p:attrName>
                                        </p:attrNameLst>
                                      </p:cBhvr>
                                      <p:to>
                                        <p:strVal val="visible"/>
                                      </p:to>
                                    </p:set>
                                    <p:anim calcmode="lin" valueType="num">
                                      <p:cBhvr additive="base">
                                        <p:cTn id="86" dur="450" fill="hold"/>
                                        <p:tgtEl>
                                          <p:spTgt spid="22"/>
                                        </p:tgtEl>
                                        <p:attrNameLst>
                                          <p:attrName>ppt_w</p:attrName>
                                        </p:attrNameLst>
                                      </p:cBhvr>
                                      <p:tavLst>
                                        <p:tav tm="0">
                                          <p:val>
                                            <p:strVal val="0"/>
                                          </p:val>
                                        </p:tav>
                                        <p:tav tm="70000">
                                          <p:val>
                                            <p:strVal val="#ppt_w*1.08"/>
                                          </p:val>
                                        </p:tav>
                                        <p:tav tm="100000">
                                          <p:val>
                                            <p:strVal val="#ppt_w"/>
                                          </p:val>
                                        </p:tav>
                                      </p:tavLst>
                                    </p:anim>
                                    <p:anim calcmode="lin" valueType="num">
                                      <p:cBhvr additive="base">
                                        <p:cTn id="87" dur="450" fill="hold"/>
                                        <p:tgtEl>
                                          <p:spTgt spid="22"/>
                                        </p:tgtEl>
                                        <p:attrNameLst>
                                          <p:attrName>ppt_h</p:attrName>
                                        </p:attrNameLst>
                                      </p:cBhvr>
                                      <p:tavLst>
                                        <p:tav tm="0">
                                          <p:val>
                                            <p:strVal val="0"/>
                                          </p:val>
                                        </p:tav>
                                        <p:tav tm="70000">
                                          <p:val>
                                            <p:strVal val="#ppt_h*1.08"/>
                                          </p:val>
                                        </p:tav>
                                        <p:tav tm="100000">
                                          <p:val>
                                            <p:strVal val="#ppt_h"/>
                                          </p:val>
                                        </p:tav>
                                      </p:tavLst>
                                    </p:anim>
                                    <p:animEffect transition="in" filter="fade">
                                      <p:cBhvr>
                                        <p:cTn id="88" dur="270" fill="hold"/>
                                        <p:tgtEl>
                                          <p:spTgt spid="22"/>
                                        </p:tgtEl>
                                      </p:cBhvr>
                                    </p:animEffect>
                                  </p:childTnLst>
                                </p:cTn>
                              </p:par>
                              <p:par>
                                <p:cTn id="89" presetID="53" presetClass="entr" presetSubtype="16" decel="100000" fill="hold" grpId="0" nodeType="withEffect">
                                  <p:stCondLst>
                                    <p:cond delay="350"/>
                                  </p:stCondLst>
                                  <p:childTnLst>
                                    <p:set>
                                      <p:cBhvr>
                                        <p:cTn id="90" dur="1" fill="hold">
                                          <p:stCondLst>
                                            <p:cond delay="0"/>
                                          </p:stCondLst>
                                        </p:cTn>
                                        <p:tgtEl>
                                          <p:spTgt spid="23"/>
                                        </p:tgtEl>
                                        <p:attrNameLst>
                                          <p:attrName>style.visibility</p:attrName>
                                        </p:attrNameLst>
                                      </p:cBhvr>
                                      <p:to>
                                        <p:strVal val="visible"/>
                                      </p:to>
                                    </p:set>
                                    <p:anim calcmode="lin" valueType="num">
                                      <p:cBhvr additive="base">
                                        <p:cTn id="91" dur="450" fill="hold"/>
                                        <p:tgtEl>
                                          <p:spTgt spid="23"/>
                                        </p:tgtEl>
                                        <p:attrNameLst>
                                          <p:attrName>ppt_w</p:attrName>
                                        </p:attrNameLst>
                                      </p:cBhvr>
                                      <p:tavLst>
                                        <p:tav tm="0">
                                          <p:val>
                                            <p:strVal val="0"/>
                                          </p:val>
                                        </p:tav>
                                        <p:tav tm="70000">
                                          <p:val>
                                            <p:strVal val="#ppt_w*1.08"/>
                                          </p:val>
                                        </p:tav>
                                        <p:tav tm="100000">
                                          <p:val>
                                            <p:strVal val="#ppt_w"/>
                                          </p:val>
                                        </p:tav>
                                      </p:tavLst>
                                    </p:anim>
                                    <p:anim calcmode="lin" valueType="num">
                                      <p:cBhvr additive="base">
                                        <p:cTn id="92" dur="450" fill="hold"/>
                                        <p:tgtEl>
                                          <p:spTgt spid="23"/>
                                        </p:tgtEl>
                                        <p:attrNameLst>
                                          <p:attrName>ppt_h</p:attrName>
                                        </p:attrNameLst>
                                      </p:cBhvr>
                                      <p:tavLst>
                                        <p:tav tm="0">
                                          <p:val>
                                            <p:strVal val="0"/>
                                          </p:val>
                                        </p:tav>
                                        <p:tav tm="70000">
                                          <p:val>
                                            <p:strVal val="#ppt_h*1.08"/>
                                          </p:val>
                                        </p:tav>
                                        <p:tav tm="100000">
                                          <p:val>
                                            <p:strVal val="#ppt_h"/>
                                          </p:val>
                                        </p:tav>
                                      </p:tavLst>
                                    </p:anim>
                                    <p:animEffect transition="in" filter="fade">
                                      <p:cBhvr>
                                        <p:cTn id="93" dur="270" fill="hold"/>
                                        <p:tgtEl>
                                          <p:spTgt spid="23"/>
                                        </p:tgtEl>
                                      </p:cBhvr>
                                    </p:animEffect>
                                  </p:childTnLst>
                                </p:cTn>
                              </p:par>
                              <p:par>
                                <p:cTn id="94" presetID="42" presetClass="entr" presetSubtype="0" decel="100000" fill="hold" grpId="0" nodeType="withEffect">
                                  <p:stCondLst>
                                    <p:cond delay="700"/>
                                  </p:stCondLst>
                                  <p:childTnLst>
                                    <p:set>
                                      <p:cBhvr>
                                        <p:cTn id="95" dur="1" fill="hold">
                                          <p:stCondLst>
                                            <p:cond delay="0"/>
                                          </p:stCondLst>
                                        </p:cTn>
                                        <p:tgtEl>
                                          <p:spTgt spid="24"/>
                                        </p:tgtEl>
                                        <p:attrNameLst>
                                          <p:attrName>style.visibility</p:attrName>
                                        </p:attrNameLst>
                                      </p:cBhvr>
                                      <p:to>
                                        <p:strVal val="visible"/>
                                      </p:to>
                                    </p:set>
                                    <p:animEffect transition="in" filter="fade">
                                      <p:cBhvr>
                                        <p:cTn id="96" dur="650" fill="hold"/>
                                        <p:tgtEl>
                                          <p:spTgt spid="24"/>
                                        </p:tgtEl>
                                      </p:cBhvr>
                                    </p:animEffect>
                                    <p:anim calcmode="lin" valueType="num">
                                      <p:cBhvr additive="base">
                                        <p:cTn id="97" dur="650" fill="hold"/>
                                        <p:tgtEl>
                                          <p:spTgt spid="24"/>
                                        </p:tgtEl>
                                        <p:attrNameLst>
                                          <p:attrName>ppt_x</p:attrName>
                                        </p:attrNameLst>
                                      </p:cBhvr>
                                      <p:tavLst>
                                        <p:tav tm="0">
                                          <p:val>
                                            <p:strVal val="#ppt_x"/>
                                          </p:val>
                                        </p:tav>
                                        <p:tav tm="100000">
                                          <p:val>
                                            <p:strVal val="#ppt_x"/>
                                          </p:val>
                                        </p:tav>
                                      </p:tavLst>
                                    </p:anim>
                                    <p:anim calcmode="lin" valueType="num">
                                      <p:cBhvr additive="base">
                                        <p:cTn id="98" dur="650" fill="hold"/>
                                        <p:tgtEl>
                                          <p:spTgt spid="24"/>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2A9FC0"/>
                </a:solidFill>
                <a:latin typeface="Segoe UI Semibold"/>
              </a:rPr>
              <a:t>CORREÇÃO COMENTADA  ·  QUESTÃO 4</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94360"/>
            <a:ext cx="11064240" cy="1463040"/>
          </a:xfrm>
          <a:prstGeom prst="rect">
            <a:avLst/>
          </a:prstGeom>
          <a:noFill/>
        </p:spPr>
        <p:txBody>
          <a:bodyPr wrap="square" lIns="36576" tIns="18288" rIns="36576" bIns="18288" anchor="t">
            <a:spAutoFit/>
          </a:bodyPr>
          <a:lstStyle/>
          <a:p>
            <a:pPr algn="l">
              <a:lnSpc>
                <a:spcPct val="108000"/>
              </a:lnSpc>
            </a:pPr>
            <a:r>
              <a:rPr sz="1700" b="1" i="0">
                <a:solidFill>
                  <a:srgbClr val="F2F2EC"/>
                </a:solidFill>
                <a:latin typeface="Segoe UI Semibold"/>
              </a:rPr>
              <a:t>Em uma oficina de ideação, logo após a primeira sugestão, um gestor comenta: 'Isso nunca vai funcionar aqui, já tentamos antes'. Qual princípio da ideação foi desrespeitado?</a:t>
            </a:r>
          </a:p>
        </p:txBody>
      </p:sp>
      <p:sp>
        <p:nvSpPr>
          <p:cNvPr id="6" name="Rounded Rectangle 5"/>
          <p:cNvSpPr/>
          <p:nvPr/>
        </p:nvSpPr>
        <p:spPr>
          <a:xfrm>
            <a:off x="548640" y="2240280"/>
            <a:ext cx="11091672" cy="603504"/>
          </a:xfrm>
          <a:prstGeom prst="roundRect">
            <a:avLst>
              <a:gd name="adj" fmla="val 20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722376" y="2350008"/>
            <a:ext cx="384048" cy="384048"/>
          </a:xfrm>
          <a:prstGeom prst="ellipse">
            <a:avLst/>
          </a:prstGeom>
          <a:solidFill>
            <a:srgbClr val="3A413D"/>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300" b="1" i="0">
                <a:solidFill>
                  <a:srgbClr val="B4B8B0"/>
                </a:solidFill>
                <a:latin typeface="Segoe UI Semibold"/>
              </a:rPr>
              <a:t>a</a:t>
            </a:r>
          </a:p>
        </p:txBody>
      </p:sp>
      <p:sp>
        <p:nvSpPr>
          <p:cNvPr id="8" name="TextBox 7"/>
          <p:cNvSpPr txBox="1"/>
          <p:nvPr/>
        </p:nvSpPr>
        <p:spPr>
          <a:xfrm>
            <a:off x="1280160" y="2240280"/>
            <a:ext cx="10149840" cy="603504"/>
          </a:xfrm>
          <a:prstGeom prst="rect">
            <a:avLst/>
          </a:prstGeom>
          <a:noFill/>
        </p:spPr>
        <p:txBody>
          <a:bodyPr wrap="square" lIns="36576" tIns="18288" rIns="36576" bIns="18288" anchor="ctr">
            <a:spAutoFit/>
          </a:bodyPr>
          <a:lstStyle/>
          <a:p>
            <a:pPr algn="l"/>
            <a:r>
              <a:rPr sz="1400" b="0" i="0">
                <a:solidFill>
                  <a:srgbClr val="F2F2EC"/>
                </a:solidFill>
                <a:latin typeface="Segoe UI"/>
              </a:rPr>
              <a:t>Adiar o julgamento: na fase de geração, nenhuma ideia deve ser avaliada ou criticada.</a:t>
            </a:r>
          </a:p>
        </p:txBody>
      </p:sp>
      <p:sp>
        <p:nvSpPr>
          <p:cNvPr id="9" name="Rounded Rectangle 8"/>
          <p:cNvSpPr/>
          <p:nvPr/>
        </p:nvSpPr>
        <p:spPr>
          <a:xfrm>
            <a:off x="548640" y="2953512"/>
            <a:ext cx="11091672" cy="603504"/>
          </a:xfrm>
          <a:prstGeom prst="roundRect">
            <a:avLst>
              <a:gd name="adj" fmla="val 20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722376" y="3063240"/>
            <a:ext cx="384048" cy="384048"/>
          </a:xfrm>
          <a:prstGeom prst="ellipse">
            <a:avLst/>
          </a:prstGeom>
          <a:solidFill>
            <a:srgbClr val="3A413D"/>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300" b="1" i="0">
                <a:solidFill>
                  <a:srgbClr val="B4B8B0"/>
                </a:solidFill>
                <a:latin typeface="Segoe UI Semibold"/>
              </a:rPr>
              <a:t>b</a:t>
            </a:r>
          </a:p>
        </p:txBody>
      </p:sp>
      <p:sp>
        <p:nvSpPr>
          <p:cNvPr id="11" name="TextBox 10"/>
          <p:cNvSpPr txBox="1"/>
          <p:nvPr/>
        </p:nvSpPr>
        <p:spPr>
          <a:xfrm>
            <a:off x="1280160" y="2953512"/>
            <a:ext cx="10149840" cy="603504"/>
          </a:xfrm>
          <a:prstGeom prst="rect">
            <a:avLst/>
          </a:prstGeom>
          <a:noFill/>
        </p:spPr>
        <p:txBody>
          <a:bodyPr wrap="square" lIns="36576" tIns="18288" rIns="36576" bIns="18288" anchor="ctr">
            <a:spAutoFit/>
          </a:bodyPr>
          <a:lstStyle/>
          <a:p>
            <a:pPr algn="l"/>
            <a:r>
              <a:rPr sz="1400" b="0" i="0">
                <a:solidFill>
                  <a:srgbClr val="F2F2EC"/>
                </a:solidFill>
                <a:latin typeface="Segoe UI"/>
              </a:rPr>
              <a:t>Priorizar pela matriz impacto x esforço antes de gerar ideias.</a:t>
            </a:r>
          </a:p>
        </p:txBody>
      </p:sp>
      <p:sp>
        <p:nvSpPr>
          <p:cNvPr id="12" name="Rounded Rectangle 11"/>
          <p:cNvSpPr/>
          <p:nvPr/>
        </p:nvSpPr>
        <p:spPr>
          <a:xfrm>
            <a:off x="548640" y="3666744"/>
            <a:ext cx="11091672" cy="603504"/>
          </a:xfrm>
          <a:prstGeom prst="roundRect">
            <a:avLst>
              <a:gd name="adj" fmla="val 20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722376" y="3776472"/>
            <a:ext cx="384048" cy="384048"/>
          </a:xfrm>
          <a:prstGeom prst="ellipse">
            <a:avLst/>
          </a:prstGeom>
          <a:solidFill>
            <a:srgbClr val="3A413D"/>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300" b="1" i="0">
                <a:solidFill>
                  <a:srgbClr val="B4B8B0"/>
                </a:solidFill>
                <a:latin typeface="Segoe UI Semibold"/>
              </a:rPr>
              <a:t>c</a:t>
            </a:r>
          </a:p>
        </p:txBody>
      </p:sp>
      <p:sp>
        <p:nvSpPr>
          <p:cNvPr id="14" name="TextBox 13"/>
          <p:cNvSpPr txBox="1"/>
          <p:nvPr/>
        </p:nvSpPr>
        <p:spPr>
          <a:xfrm>
            <a:off x="1280160" y="3666744"/>
            <a:ext cx="10149840" cy="603504"/>
          </a:xfrm>
          <a:prstGeom prst="rect">
            <a:avLst/>
          </a:prstGeom>
          <a:noFill/>
        </p:spPr>
        <p:txBody>
          <a:bodyPr wrap="square" lIns="36576" tIns="18288" rIns="36576" bIns="18288" anchor="ctr">
            <a:spAutoFit/>
          </a:bodyPr>
          <a:lstStyle/>
          <a:p>
            <a:pPr algn="l"/>
            <a:r>
              <a:rPr sz="1400" b="0" i="0">
                <a:solidFill>
                  <a:srgbClr val="F2F2EC"/>
                </a:solidFill>
                <a:latin typeface="Segoe UI"/>
              </a:rPr>
              <a:t>Convidar apenas especialistas para a oficina.</a:t>
            </a:r>
          </a:p>
        </p:txBody>
      </p:sp>
      <p:sp>
        <p:nvSpPr>
          <p:cNvPr id="15" name="Rounded Rectangle 14"/>
          <p:cNvSpPr/>
          <p:nvPr/>
        </p:nvSpPr>
        <p:spPr>
          <a:xfrm>
            <a:off x="548640" y="4379976"/>
            <a:ext cx="11091672" cy="603504"/>
          </a:xfrm>
          <a:prstGeom prst="roundRect">
            <a:avLst>
              <a:gd name="adj" fmla="val 20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722376" y="4489704"/>
            <a:ext cx="384048" cy="384048"/>
          </a:xfrm>
          <a:prstGeom prst="ellipse">
            <a:avLst/>
          </a:prstGeom>
          <a:solidFill>
            <a:srgbClr val="3A413D"/>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300" b="1" i="0">
                <a:solidFill>
                  <a:srgbClr val="B4B8B0"/>
                </a:solidFill>
                <a:latin typeface="Segoe UI Semibold"/>
              </a:rPr>
              <a:t>d</a:t>
            </a:r>
          </a:p>
        </p:txBody>
      </p:sp>
      <p:sp>
        <p:nvSpPr>
          <p:cNvPr id="17" name="TextBox 16"/>
          <p:cNvSpPr txBox="1"/>
          <p:nvPr/>
        </p:nvSpPr>
        <p:spPr>
          <a:xfrm>
            <a:off x="1280160" y="4379976"/>
            <a:ext cx="10149840" cy="603504"/>
          </a:xfrm>
          <a:prstGeom prst="rect">
            <a:avLst/>
          </a:prstGeom>
          <a:noFill/>
        </p:spPr>
        <p:txBody>
          <a:bodyPr wrap="square" lIns="36576" tIns="18288" rIns="36576" bIns="18288" anchor="ctr">
            <a:spAutoFit/>
          </a:bodyPr>
          <a:lstStyle/>
          <a:p>
            <a:pPr algn="l"/>
            <a:r>
              <a:rPr sz="1400" b="0" i="0">
                <a:solidFill>
                  <a:srgbClr val="F2F2EC"/>
                </a:solidFill>
                <a:latin typeface="Segoe UI"/>
              </a:rPr>
              <a:t>Trabalhar com ideias de alta fidelidade desde o início.</a:t>
            </a:r>
          </a:p>
        </p:txBody>
      </p:sp>
      <p:sp>
        <p:nvSpPr>
          <p:cNvPr id="18" name="Rectangle 17"/>
          <p:cNvSpPr/>
          <p:nvPr/>
        </p:nvSpPr>
        <p:spPr>
          <a:xfrm>
            <a:off x="502920" y="2926080"/>
            <a:ext cx="11183112" cy="658368"/>
          </a:xfrm>
          <a:prstGeom prst="rect">
            <a:avLst/>
          </a:prstGeom>
          <a:solidFill>
            <a:srgbClr val="1A1A1A">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502920" y="3639312"/>
            <a:ext cx="11183112" cy="658368"/>
          </a:xfrm>
          <a:prstGeom prst="rect">
            <a:avLst/>
          </a:prstGeom>
          <a:solidFill>
            <a:srgbClr val="1A1A1A">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502920" y="4352544"/>
            <a:ext cx="11183112" cy="658368"/>
          </a:xfrm>
          <a:prstGeom prst="rect">
            <a:avLst/>
          </a:prstGeom>
          <a:solidFill>
            <a:srgbClr val="1A1A1A">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ounded Rectangle 20"/>
          <p:cNvSpPr/>
          <p:nvPr/>
        </p:nvSpPr>
        <p:spPr>
          <a:xfrm>
            <a:off x="548640" y="2240280"/>
            <a:ext cx="11091672" cy="603504"/>
          </a:xfrm>
          <a:prstGeom prst="roundRect">
            <a:avLst>
              <a:gd name="adj" fmla="val 20000"/>
            </a:avLst>
          </a:prstGeom>
          <a:noFill/>
          <a:ln w="31750">
            <a:solidFill>
              <a:srgbClr val="9CD84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722376" y="2350008"/>
            <a:ext cx="384048" cy="384048"/>
          </a:xfrm>
          <a:prstGeom prst="ellipse">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300" b="1" i="0">
                <a:solidFill>
                  <a:srgbClr val="1A1A1A"/>
                </a:solidFill>
                <a:latin typeface="Segoe UI Semibold"/>
              </a:rPr>
              <a:t>a</a:t>
            </a:r>
          </a:p>
        </p:txBody>
      </p:sp>
      <p:sp>
        <p:nvSpPr>
          <p:cNvPr id="23" name="Rounded Rectangle 22"/>
          <p:cNvSpPr/>
          <p:nvPr/>
        </p:nvSpPr>
        <p:spPr>
          <a:xfrm>
            <a:off x="10058400" y="2359152"/>
            <a:ext cx="1417320" cy="365760"/>
          </a:xfrm>
          <a:prstGeom prst="roundRect">
            <a:avLst>
              <a:gd name="adj" fmla="val 50000"/>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200" b="1" i="0">
                <a:solidFill>
                  <a:srgbClr val="1A1A1A"/>
                </a:solidFill>
                <a:latin typeface="Segoe UI Semibold"/>
              </a:rPr>
              <a:t>✓  Correta</a:t>
            </a:r>
          </a:p>
        </p:txBody>
      </p:sp>
      <p:sp>
        <p:nvSpPr>
          <p:cNvPr id="24" name="TextBox 23"/>
          <p:cNvSpPr txBox="1"/>
          <p:nvPr/>
        </p:nvSpPr>
        <p:spPr>
          <a:xfrm>
            <a:off x="548640" y="5166360"/>
            <a:ext cx="11064240" cy="1097280"/>
          </a:xfrm>
          <a:prstGeom prst="rect">
            <a:avLst/>
          </a:prstGeom>
          <a:noFill/>
        </p:spPr>
        <p:txBody>
          <a:bodyPr wrap="square" lIns="36576" tIns="18288" rIns="36576" bIns="18288" anchor="t">
            <a:spAutoFit/>
          </a:bodyPr>
          <a:lstStyle/>
          <a:p>
            <a:pPr algn="l"/>
            <a:r>
              <a:rPr sz="1250" b="1" i="0">
                <a:solidFill>
                  <a:srgbClr val="9CD848"/>
                </a:solidFill>
                <a:latin typeface="Segoe UI Semibold"/>
              </a:rPr>
              <a:t>Por quê: </a:t>
            </a:r>
            <a:r>
              <a:rPr sz="1250" b="0" i="0">
                <a:solidFill>
                  <a:srgbClr val="B4B8B0"/>
                </a:solidFill>
                <a:latin typeface="Segoe UI"/>
              </a:rPr>
              <a:t>A ideação é uma zona livre de julgamento: primeiro se diverge (gerar muitas ideias), depois se converge (avaliar). Criticar durante a geração inibe a participação e reduz a quantidade e a diversidade de ideias. A priorização vem depois, e os grupos devem ser diversos, não só de especialistas.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fill="hold"/>
                                        <p:tgtEl>
                                          <p:spTgt spid="5"/>
                                        </p:tgtEl>
                                      </p:cBhvr>
                                    </p:animEffect>
                                  </p:childTnLst>
                                </p:cTn>
                              </p:par>
                              <p:par>
                                <p:cTn id="8" presetID="42" presetClass="entr" presetSubtype="0" decel="100000" fill="hold" grpId="0" nodeType="withEffect">
                                  <p:stCondLst>
                                    <p:cond delay="3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50" fill="hold"/>
                                        <p:tgtEl>
                                          <p:spTgt spid="6"/>
                                        </p:tgtEl>
                                      </p:cBhvr>
                                    </p:animEffect>
                                    <p:anim calcmode="lin" valueType="num">
                                      <p:cBhvr additive="base">
                                        <p:cTn id="11" dur="650" fill="hold"/>
                                        <p:tgtEl>
                                          <p:spTgt spid="6"/>
                                        </p:tgtEl>
                                        <p:attrNameLst>
                                          <p:attrName>ppt_x</p:attrName>
                                        </p:attrNameLst>
                                      </p:cBhvr>
                                      <p:tavLst>
                                        <p:tav tm="0">
                                          <p:val>
                                            <p:strVal val="#ppt_x"/>
                                          </p:val>
                                        </p:tav>
                                        <p:tav tm="100000">
                                          <p:val>
                                            <p:strVal val="#ppt_x"/>
                                          </p:val>
                                        </p:tav>
                                      </p:tavLst>
                                    </p:anim>
                                    <p:anim calcmode="lin" valueType="num">
                                      <p:cBhvr additive="base">
                                        <p:cTn id="12" dur="650" fill="hold"/>
                                        <p:tgtEl>
                                          <p:spTgt spid="6"/>
                                        </p:tgtEl>
                                        <p:attrNameLst>
                                          <p:attrName>ppt_y</p:attrName>
                                        </p:attrNameLst>
                                      </p:cBhvr>
                                      <p:tavLst>
                                        <p:tav tm="0">
                                          <p:val>
                                            <p:strVal val="#ppt_y+.06"/>
                                          </p:val>
                                        </p:tav>
                                        <p:tav tm="100000">
                                          <p:val>
                                            <p:strVal val="#ppt_y"/>
                                          </p:val>
                                        </p:tav>
                                      </p:tavLst>
                                    </p:anim>
                                  </p:childTnLst>
                                </p:cTn>
                              </p:par>
                              <p:par>
                                <p:cTn id="13" presetID="42" presetClass="entr" presetSubtype="0" decel="100000" fill="hold" grpId="0" nodeType="withEffect">
                                  <p:stCondLst>
                                    <p:cond delay="30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fill="hold"/>
                                        <p:tgtEl>
                                          <p:spTgt spid="7"/>
                                        </p:tgtEl>
                                      </p:cBhvr>
                                    </p:animEffect>
                                    <p:anim calcmode="lin" valueType="num">
                                      <p:cBhvr additive="base">
                                        <p:cTn id="16" dur="650" fill="hold"/>
                                        <p:tgtEl>
                                          <p:spTgt spid="7"/>
                                        </p:tgtEl>
                                        <p:attrNameLst>
                                          <p:attrName>ppt_x</p:attrName>
                                        </p:attrNameLst>
                                      </p:cBhvr>
                                      <p:tavLst>
                                        <p:tav tm="0">
                                          <p:val>
                                            <p:strVal val="#ppt_x"/>
                                          </p:val>
                                        </p:tav>
                                        <p:tav tm="100000">
                                          <p:val>
                                            <p:strVal val="#ppt_x"/>
                                          </p:val>
                                        </p:tav>
                                      </p:tavLst>
                                    </p:anim>
                                    <p:anim calcmode="lin" valueType="num">
                                      <p:cBhvr additive="base">
                                        <p:cTn id="17" dur="650" fill="hold"/>
                                        <p:tgtEl>
                                          <p:spTgt spid="7"/>
                                        </p:tgtEl>
                                        <p:attrNameLst>
                                          <p:attrName>ppt_y</p:attrName>
                                        </p:attrNameLst>
                                      </p:cBhvr>
                                      <p:tavLst>
                                        <p:tav tm="0">
                                          <p:val>
                                            <p:strVal val="#ppt_y+.06"/>
                                          </p:val>
                                        </p:tav>
                                        <p:tav tm="100000">
                                          <p:val>
                                            <p:strVal val="#ppt_y"/>
                                          </p:val>
                                        </p:tav>
                                      </p:tavLst>
                                    </p:anim>
                                  </p:childTnLst>
                                </p:cTn>
                              </p:par>
                              <p:par>
                                <p:cTn id="18" presetID="42" presetClass="entr" presetSubtype="0" decel="100000" fill="hold" grpId="0" nodeType="withEffect">
                                  <p:stCondLst>
                                    <p:cond delay="30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650" fill="hold"/>
                                        <p:tgtEl>
                                          <p:spTgt spid="8"/>
                                        </p:tgtEl>
                                      </p:cBhvr>
                                    </p:animEffect>
                                    <p:anim calcmode="lin" valueType="num">
                                      <p:cBhvr additive="base">
                                        <p:cTn id="21" dur="650" fill="hold"/>
                                        <p:tgtEl>
                                          <p:spTgt spid="8"/>
                                        </p:tgtEl>
                                        <p:attrNameLst>
                                          <p:attrName>ppt_x</p:attrName>
                                        </p:attrNameLst>
                                      </p:cBhvr>
                                      <p:tavLst>
                                        <p:tav tm="0">
                                          <p:val>
                                            <p:strVal val="#ppt_x"/>
                                          </p:val>
                                        </p:tav>
                                        <p:tav tm="100000">
                                          <p:val>
                                            <p:strVal val="#ppt_x"/>
                                          </p:val>
                                        </p:tav>
                                      </p:tavLst>
                                    </p:anim>
                                    <p:anim calcmode="lin" valueType="num">
                                      <p:cBhvr additive="base">
                                        <p:cTn id="22" dur="650" fill="hold"/>
                                        <p:tgtEl>
                                          <p:spTgt spid="8"/>
                                        </p:tgtEl>
                                        <p:attrNameLst>
                                          <p:attrName>ppt_y</p:attrName>
                                        </p:attrNameLst>
                                      </p:cBhvr>
                                      <p:tavLst>
                                        <p:tav tm="0">
                                          <p:val>
                                            <p:strVal val="#ppt_y+.06"/>
                                          </p:val>
                                        </p:tav>
                                        <p:tav tm="100000">
                                          <p:val>
                                            <p:strVal val="#ppt_y"/>
                                          </p:val>
                                        </p:tav>
                                      </p:tavLst>
                                    </p:anim>
                                  </p:childTnLst>
                                </p:cTn>
                              </p:par>
                              <p:par>
                                <p:cTn id="23" presetID="42" presetClass="entr" presetSubtype="0" decel="100000" fill="hold" grpId="0" nodeType="withEffect">
                                  <p:stCondLst>
                                    <p:cond delay="45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650" fill="hold"/>
                                        <p:tgtEl>
                                          <p:spTgt spid="9"/>
                                        </p:tgtEl>
                                      </p:cBhvr>
                                    </p:animEffect>
                                    <p:anim calcmode="lin" valueType="num">
                                      <p:cBhvr additive="base">
                                        <p:cTn id="26" dur="650" fill="hold"/>
                                        <p:tgtEl>
                                          <p:spTgt spid="9"/>
                                        </p:tgtEl>
                                        <p:attrNameLst>
                                          <p:attrName>ppt_x</p:attrName>
                                        </p:attrNameLst>
                                      </p:cBhvr>
                                      <p:tavLst>
                                        <p:tav tm="0">
                                          <p:val>
                                            <p:strVal val="#ppt_x"/>
                                          </p:val>
                                        </p:tav>
                                        <p:tav tm="100000">
                                          <p:val>
                                            <p:strVal val="#ppt_x"/>
                                          </p:val>
                                        </p:tav>
                                      </p:tavLst>
                                    </p:anim>
                                    <p:anim calcmode="lin" valueType="num">
                                      <p:cBhvr additive="base">
                                        <p:cTn id="27" dur="650" fill="hold"/>
                                        <p:tgtEl>
                                          <p:spTgt spid="9"/>
                                        </p:tgtEl>
                                        <p:attrNameLst>
                                          <p:attrName>ppt_y</p:attrName>
                                        </p:attrNameLst>
                                      </p:cBhvr>
                                      <p:tavLst>
                                        <p:tav tm="0">
                                          <p:val>
                                            <p:strVal val="#ppt_y+.06"/>
                                          </p:val>
                                        </p:tav>
                                        <p:tav tm="100000">
                                          <p:val>
                                            <p:strVal val="#ppt_y"/>
                                          </p:val>
                                        </p:tav>
                                      </p:tavLst>
                                    </p:anim>
                                  </p:childTnLst>
                                </p:cTn>
                              </p:par>
                              <p:par>
                                <p:cTn id="28" presetID="42" presetClass="entr" presetSubtype="0" decel="100000" fill="hold" grpId="0" nodeType="withEffect">
                                  <p:stCondLst>
                                    <p:cond delay="45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650" fill="hold"/>
                                        <p:tgtEl>
                                          <p:spTgt spid="10"/>
                                        </p:tgtEl>
                                      </p:cBhvr>
                                    </p:animEffect>
                                    <p:anim calcmode="lin" valueType="num">
                                      <p:cBhvr additive="base">
                                        <p:cTn id="31" dur="650" fill="hold"/>
                                        <p:tgtEl>
                                          <p:spTgt spid="10"/>
                                        </p:tgtEl>
                                        <p:attrNameLst>
                                          <p:attrName>ppt_x</p:attrName>
                                        </p:attrNameLst>
                                      </p:cBhvr>
                                      <p:tavLst>
                                        <p:tav tm="0">
                                          <p:val>
                                            <p:strVal val="#ppt_x"/>
                                          </p:val>
                                        </p:tav>
                                        <p:tav tm="100000">
                                          <p:val>
                                            <p:strVal val="#ppt_x"/>
                                          </p:val>
                                        </p:tav>
                                      </p:tavLst>
                                    </p:anim>
                                    <p:anim calcmode="lin" valueType="num">
                                      <p:cBhvr additive="base">
                                        <p:cTn id="32" dur="650" fill="hold"/>
                                        <p:tgtEl>
                                          <p:spTgt spid="10"/>
                                        </p:tgtEl>
                                        <p:attrNameLst>
                                          <p:attrName>ppt_y</p:attrName>
                                        </p:attrNameLst>
                                      </p:cBhvr>
                                      <p:tavLst>
                                        <p:tav tm="0">
                                          <p:val>
                                            <p:strVal val="#ppt_y+.06"/>
                                          </p:val>
                                        </p:tav>
                                        <p:tav tm="100000">
                                          <p:val>
                                            <p:strVal val="#ppt_y"/>
                                          </p:val>
                                        </p:tav>
                                      </p:tavLst>
                                    </p:anim>
                                  </p:childTnLst>
                                </p:cTn>
                              </p:par>
                              <p:par>
                                <p:cTn id="33" presetID="42" presetClass="entr" presetSubtype="0" decel="100000" fill="hold" grpId="0" nodeType="withEffect">
                                  <p:stCondLst>
                                    <p:cond delay="45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650" fill="hold"/>
                                        <p:tgtEl>
                                          <p:spTgt spid="11"/>
                                        </p:tgtEl>
                                      </p:cBhvr>
                                    </p:animEffect>
                                    <p:anim calcmode="lin" valueType="num">
                                      <p:cBhvr additive="base">
                                        <p:cTn id="36" dur="650" fill="hold"/>
                                        <p:tgtEl>
                                          <p:spTgt spid="11"/>
                                        </p:tgtEl>
                                        <p:attrNameLst>
                                          <p:attrName>ppt_x</p:attrName>
                                        </p:attrNameLst>
                                      </p:cBhvr>
                                      <p:tavLst>
                                        <p:tav tm="0">
                                          <p:val>
                                            <p:strVal val="#ppt_x"/>
                                          </p:val>
                                        </p:tav>
                                        <p:tav tm="100000">
                                          <p:val>
                                            <p:strVal val="#ppt_x"/>
                                          </p:val>
                                        </p:tav>
                                      </p:tavLst>
                                    </p:anim>
                                    <p:anim calcmode="lin" valueType="num">
                                      <p:cBhvr additive="base">
                                        <p:cTn id="37" dur="650" fill="hold"/>
                                        <p:tgtEl>
                                          <p:spTgt spid="11"/>
                                        </p:tgtEl>
                                        <p:attrNameLst>
                                          <p:attrName>ppt_y</p:attrName>
                                        </p:attrNameLst>
                                      </p:cBhvr>
                                      <p:tavLst>
                                        <p:tav tm="0">
                                          <p:val>
                                            <p:strVal val="#ppt_y+.06"/>
                                          </p:val>
                                        </p:tav>
                                        <p:tav tm="100000">
                                          <p:val>
                                            <p:strVal val="#ppt_y"/>
                                          </p:val>
                                        </p:tav>
                                      </p:tavLst>
                                    </p:anim>
                                  </p:childTnLst>
                                </p:cTn>
                              </p:par>
                              <p:par>
                                <p:cTn id="38" presetID="42" presetClass="entr" presetSubtype="0" decel="100000" fill="hold" grpId="0" nodeType="withEffect">
                                  <p:stCondLst>
                                    <p:cond delay="60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650" fill="hold"/>
                                        <p:tgtEl>
                                          <p:spTgt spid="12"/>
                                        </p:tgtEl>
                                      </p:cBhvr>
                                    </p:animEffect>
                                    <p:anim calcmode="lin" valueType="num">
                                      <p:cBhvr additive="base">
                                        <p:cTn id="41" dur="650" fill="hold"/>
                                        <p:tgtEl>
                                          <p:spTgt spid="12"/>
                                        </p:tgtEl>
                                        <p:attrNameLst>
                                          <p:attrName>ppt_x</p:attrName>
                                        </p:attrNameLst>
                                      </p:cBhvr>
                                      <p:tavLst>
                                        <p:tav tm="0">
                                          <p:val>
                                            <p:strVal val="#ppt_x"/>
                                          </p:val>
                                        </p:tav>
                                        <p:tav tm="100000">
                                          <p:val>
                                            <p:strVal val="#ppt_x"/>
                                          </p:val>
                                        </p:tav>
                                      </p:tavLst>
                                    </p:anim>
                                    <p:anim calcmode="lin" valueType="num">
                                      <p:cBhvr additive="base">
                                        <p:cTn id="42" dur="650" fill="hold"/>
                                        <p:tgtEl>
                                          <p:spTgt spid="12"/>
                                        </p:tgtEl>
                                        <p:attrNameLst>
                                          <p:attrName>ppt_y</p:attrName>
                                        </p:attrNameLst>
                                      </p:cBhvr>
                                      <p:tavLst>
                                        <p:tav tm="0">
                                          <p:val>
                                            <p:strVal val="#ppt_y+.06"/>
                                          </p:val>
                                        </p:tav>
                                        <p:tav tm="100000">
                                          <p:val>
                                            <p:strVal val="#ppt_y"/>
                                          </p:val>
                                        </p:tav>
                                      </p:tavLst>
                                    </p:anim>
                                  </p:childTnLst>
                                </p:cTn>
                              </p:par>
                              <p:par>
                                <p:cTn id="43" presetID="42" presetClass="entr" presetSubtype="0" decel="100000" fill="hold" grpId="0" nodeType="withEffect">
                                  <p:stCondLst>
                                    <p:cond delay="60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650" fill="hold"/>
                                        <p:tgtEl>
                                          <p:spTgt spid="13"/>
                                        </p:tgtEl>
                                      </p:cBhvr>
                                    </p:animEffect>
                                    <p:anim calcmode="lin" valueType="num">
                                      <p:cBhvr additive="base">
                                        <p:cTn id="46" dur="650" fill="hold"/>
                                        <p:tgtEl>
                                          <p:spTgt spid="13"/>
                                        </p:tgtEl>
                                        <p:attrNameLst>
                                          <p:attrName>ppt_x</p:attrName>
                                        </p:attrNameLst>
                                      </p:cBhvr>
                                      <p:tavLst>
                                        <p:tav tm="0">
                                          <p:val>
                                            <p:strVal val="#ppt_x"/>
                                          </p:val>
                                        </p:tav>
                                        <p:tav tm="100000">
                                          <p:val>
                                            <p:strVal val="#ppt_x"/>
                                          </p:val>
                                        </p:tav>
                                      </p:tavLst>
                                    </p:anim>
                                    <p:anim calcmode="lin" valueType="num">
                                      <p:cBhvr additive="base">
                                        <p:cTn id="47" dur="650" fill="hold"/>
                                        <p:tgtEl>
                                          <p:spTgt spid="13"/>
                                        </p:tgtEl>
                                        <p:attrNameLst>
                                          <p:attrName>ppt_y</p:attrName>
                                        </p:attrNameLst>
                                      </p:cBhvr>
                                      <p:tavLst>
                                        <p:tav tm="0">
                                          <p:val>
                                            <p:strVal val="#ppt_y+.06"/>
                                          </p:val>
                                        </p:tav>
                                        <p:tav tm="100000">
                                          <p:val>
                                            <p:strVal val="#ppt_y"/>
                                          </p:val>
                                        </p:tav>
                                      </p:tavLst>
                                    </p:anim>
                                  </p:childTnLst>
                                </p:cTn>
                              </p:par>
                              <p:par>
                                <p:cTn id="48" presetID="42" presetClass="entr" presetSubtype="0" decel="100000" fill="hold" grpId="0" nodeType="withEffect">
                                  <p:stCondLst>
                                    <p:cond delay="60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650" fill="hold"/>
                                        <p:tgtEl>
                                          <p:spTgt spid="14"/>
                                        </p:tgtEl>
                                      </p:cBhvr>
                                    </p:animEffect>
                                    <p:anim calcmode="lin" valueType="num">
                                      <p:cBhvr additive="base">
                                        <p:cTn id="51" dur="650" fill="hold"/>
                                        <p:tgtEl>
                                          <p:spTgt spid="14"/>
                                        </p:tgtEl>
                                        <p:attrNameLst>
                                          <p:attrName>ppt_x</p:attrName>
                                        </p:attrNameLst>
                                      </p:cBhvr>
                                      <p:tavLst>
                                        <p:tav tm="0">
                                          <p:val>
                                            <p:strVal val="#ppt_x"/>
                                          </p:val>
                                        </p:tav>
                                        <p:tav tm="100000">
                                          <p:val>
                                            <p:strVal val="#ppt_x"/>
                                          </p:val>
                                        </p:tav>
                                      </p:tavLst>
                                    </p:anim>
                                    <p:anim calcmode="lin" valueType="num">
                                      <p:cBhvr additive="base">
                                        <p:cTn id="52" dur="650" fill="hold"/>
                                        <p:tgtEl>
                                          <p:spTgt spid="14"/>
                                        </p:tgtEl>
                                        <p:attrNameLst>
                                          <p:attrName>ppt_y</p:attrName>
                                        </p:attrNameLst>
                                      </p:cBhvr>
                                      <p:tavLst>
                                        <p:tav tm="0">
                                          <p:val>
                                            <p:strVal val="#ppt_y+.06"/>
                                          </p:val>
                                        </p:tav>
                                        <p:tav tm="100000">
                                          <p:val>
                                            <p:strVal val="#ppt_y"/>
                                          </p:val>
                                        </p:tav>
                                      </p:tavLst>
                                    </p:anim>
                                  </p:childTnLst>
                                </p:cTn>
                              </p:par>
                              <p:par>
                                <p:cTn id="53" presetID="42" presetClass="entr" presetSubtype="0" decel="100000" fill="hold" grpId="0" nodeType="withEffect">
                                  <p:stCondLst>
                                    <p:cond delay="75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650" fill="hold"/>
                                        <p:tgtEl>
                                          <p:spTgt spid="15"/>
                                        </p:tgtEl>
                                      </p:cBhvr>
                                    </p:animEffect>
                                    <p:anim calcmode="lin" valueType="num">
                                      <p:cBhvr additive="base">
                                        <p:cTn id="56" dur="650" fill="hold"/>
                                        <p:tgtEl>
                                          <p:spTgt spid="15"/>
                                        </p:tgtEl>
                                        <p:attrNameLst>
                                          <p:attrName>ppt_x</p:attrName>
                                        </p:attrNameLst>
                                      </p:cBhvr>
                                      <p:tavLst>
                                        <p:tav tm="0">
                                          <p:val>
                                            <p:strVal val="#ppt_x"/>
                                          </p:val>
                                        </p:tav>
                                        <p:tav tm="100000">
                                          <p:val>
                                            <p:strVal val="#ppt_x"/>
                                          </p:val>
                                        </p:tav>
                                      </p:tavLst>
                                    </p:anim>
                                    <p:anim calcmode="lin" valueType="num">
                                      <p:cBhvr additive="base">
                                        <p:cTn id="57" dur="650" fill="hold"/>
                                        <p:tgtEl>
                                          <p:spTgt spid="15"/>
                                        </p:tgtEl>
                                        <p:attrNameLst>
                                          <p:attrName>ppt_y</p:attrName>
                                        </p:attrNameLst>
                                      </p:cBhvr>
                                      <p:tavLst>
                                        <p:tav tm="0">
                                          <p:val>
                                            <p:strVal val="#ppt_y+.06"/>
                                          </p:val>
                                        </p:tav>
                                        <p:tav tm="100000">
                                          <p:val>
                                            <p:strVal val="#ppt_y"/>
                                          </p:val>
                                        </p:tav>
                                      </p:tavLst>
                                    </p:anim>
                                  </p:childTnLst>
                                </p:cTn>
                              </p:par>
                              <p:par>
                                <p:cTn id="58" presetID="42" presetClass="entr" presetSubtype="0" decel="100000" fill="hold" grpId="0" nodeType="withEffect">
                                  <p:stCondLst>
                                    <p:cond delay="75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650" fill="hold"/>
                                        <p:tgtEl>
                                          <p:spTgt spid="16"/>
                                        </p:tgtEl>
                                      </p:cBhvr>
                                    </p:animEffect>
                                    <p:anim calcmode="lin" valueType="num">
                                      <p:cBhvr additive="base">
                                        <p:cTn id="61" dur="650" fill="hold"/>
                                        <p:tgtEl>
                                          <p:spTgt spid="16"/>
                                        </p:tgtEl>
                                        <p:attrNameLst>
                                          <p:attrName>ppt_x</p:attrName>
                                        </p:attrNameLst>
                                      </p:cBhvr>
                                      <p:tavLst>
                                        <p:tav tm="0">
                                          <p:val>
                                            <p:strVal val="#ppt_x"/>
                                          </p:val>
                                        </p:tav>
                                        <p:tav tm="100000">
                                          <p:val>
                                            <p:strVal val="#ppt_x"/>
                                          </p:val>
                                        </p:tav>
                                      </p:tavLst>
                                    </p:anim>
                                    <p:anim calcmode="lin" valueType="num">
                                      <p:cBhvr additive="base">
                                        <p:cTn id="62" dur="650" fill="hold"/>
                                        <p:tgtEl>
                                          <p:spTgt spid="16"/>
                                        </p:tgtEl>
                                        <p:attrNameLst>
                                          <p:attrName>ppt_y</p:attrName>
                                        </p:attrNameLst>
                                      </p:cBhvr>
                                      <p:tavLst>
                                        <p:tav tm="0">
                                          <p:val>
                                            <p:strVal val="#ppt_y+.06"/>
                                          </p:val>
                                        </p:tav>
                                        <p:tav tm="100000">
                                          <p:val>
                                            <p:strVal val="#ppt_y"/>
                                          </p:val>
                                        </p:tav>
                                      </p:tavLst>
                                    </p:anim>
                                  </p:childTnLst>
                                </p:cTn>
                              </p:par>
                              <p:par>
                                <p:cTn id="63" presetID="42" presetClass="entr" presetSubtype="0" decel="100000" fill="hold" grpId="0" nodeType="withEffect">
                                  <p:stCondLst>
                                    <p:cond delay="750"/>
                                  </p:stCondLst>
                                  <p:childTnLst>
                                    <p:set>
                                      <p:cBhvr>
                                        <p:cTn id="64" dur="1" fill="hold">
                                          <p:stCondLst>
                                            <p:cond delay="0"/>
                                          </p:stCondLst>
                                        </p:cTn>
                                        <p:tgtEl>
                                          <p:spTgt spid="17"/>
                                        </p:tgtEl>
                                        <p:attrNameLst>
                                          <p:attrName>style.visibility</p:attrName>
                                        </p:attrNameLst>
                                      </p:cBhvr>
                                      <p:to>
                                        <p:strVal val="visible"/>
                                      </p:to>
                                    </p:set>
                                    <p:animEffect transition="in" filter="fade">
                                      <p:cBhvr>
                                        <p:cTn id="65" dur="650" fill="hold"/>
                                        <p:tgtEl>
                                          <p:spTgt spid="17"/>
                                        </p:tgtEl>
                                      </p:cBhvr>
                                    </p:animEffect>
                                    <p:anim calcmode="lin" valueType="num">
                                      <p:cBhvr additive="base">
                                        <p:cTn id="66" dur="650" fill="hold"/>
                                        <p:tgtEl>
                                          <p:spTgt spid="17"/>
                                        </p:tgtEl>
                                        <p:attrNameLst>
                                          <p:attrName>ppt_x</p:attrName>
                                        </p:attrNameLst>
                                      </p:cBhvr>
                                      <p:tavLst>
                                        <p:tav tm="0">
                                          <p:val>
                                            <p:strVal val="#ppt_x"/>
                                          </p:val>
                                        </p:tav>
                                        <p:tav tm="100000">
                                          <p:val>
                                            <p:strVal val="#ppt_x"/>
                                          </p:val>
                                        </p:tav>
                                      </p:tavLst>
                                    </p:anim>
                                    <p:anim calcmode="lin" valueType="num">
                                      <p:cBhvr additive="base">
                                        <p:cTn id="67" dur="650" fill="hold"/>
                                        <p:tgtEl>
                                          <p:spTgt spid="17"/>
                                        </p:tgtEl>
                                        <p:attrNameLst>
                                          <p:attrName>ppt_y</p:attrName>
                                        </p:attrNameLst>
                                      </p:cBhvr>
                                      <p:tavLst>
                                        <p:tav tm="0">
                                          <p:val>
                                            <p:strVal val="#ppt_y+.06"/>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600" fill="hold"/>
                                        <p:tgtEl>
                                          <p:spTgt spid="18"/>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600" fill="hold"/>
                                        <p:tgtEl>
                                          <p:spTgt spid="19"/>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600" fill="hold"/>
                                        <p:tgtEl>
                                          <p:spTgt spid="20"/>
                                        </p:tgtEl>
                                      </p:cBhvr>
                                    </p:animEffect>
                                  </p:childTnLst>
                                </p:cTn>
                              </p:par>
                              <p:par>
                                <p:cTn id="79" presetID="53" presetClass="entr" presetSubtype="16" decel="100000" fill="hold" grpId="0" nodeType="withEffect">
                                  <p:stCondLst>
                                    <p:cond delay="100"/>
                                  </p:stCondLst>
                                  <p:childTnLst>
                                    <p:set>
                                      <p:cBhvr>
                                        <p:cTn id="80" dur="1" fill="hold">
                                          <p:stCondLst>
                                            <p:cond delay="0"/>
                                          </p:stCondLst>
                                        </p:cTn>
                                        <p:tgtEl>
                                          <p:spTgt spid="21"/>
                                        </p:tgtEl>
                                        <p:attrNameLst>
                                          <p:attrName>style.visibility</p:attrName>
                                        </p:attrNameLst>
                                      </p:cBhvr>
                                      <p:to>
                                        <p:strVal val="visible"/>
                                      </p:to>
                                    </p:set>
                                    <p:anim calcmode="lin" valueType="num">
                                      <p:cBhvr additive="base">
                                        <p:cTn id="81" dur="450" fill="hold"/>
                                        <p:tgtEl>
                                          <p:spTgt spid="21"/>
                                        </p:tgtEl>
                                        <p:attrNameLst>
                                          <p:attrName>ppt_w</p:attrName>
                                        </p:attrNameLst>
                                      </p:cBhvr>
                                      <p:tavLst>
                                        <p:tav tm="0">
                                          <p:val>
                                            <p:strVal val="0"/>
                                          </p:val>
                                        </p:tav>
                                        <p:tav tm="70000">
                                          <p:val>
                                            <p:strVal val="#ppt_w*1.08"/>
                                          </p:val>
                                        </p:tav>
                                        <p:tav tm="100000">
                                          <p:val>
                                            <p:strVal val="#ppt_w"/>
                                          </p:val>
                                        </p:tav>
                                      </p:tavLst>
                                    </p:anim>
                                    <p:anim calcmode="lin" valueType="num">
                                      <p:cBhvr additive="base">
                                        <p:cTn id="82" dur="450" fill="hold"/>
                                        <p:tgtEl>
                                          <p:spTgt spid="21"/>
                                        </p:tgtEl>
                                        <p:attrNameLst>
                                          <p:attrName>ppt_h</p:attrName>
                                        </p:attrNameLst>
                                      </p:cBhvr>
                                      <p:tavLst>
                                        <p:tav tm="0">
                                          <p:val>
                                            <p:strVal val="0"/>
                                          </p:val>
                                        </p:tav>
                                        <p:tav tm="70000">
                                          <p:val>
                                            <p:strVal val="#ppt_h*1.08"/>
                                          </p:val>
                                        </p:tav>
                                        <p:tav tm="100000">
                                          <p:val>
                                            <p:strVal val="#ppt_h"/>
                                          </p:val>
                                        </p:tav>
                                      </p:tavLst>
                                    </p:anim>
                                    <p:animEffect transition="in" filter="fade">
                                      <p:cBhvr>
                                        <p:cTn id="83" dur="270" fill="hold"/>
                                        <p:tgtEl>
                                          <p:spTgt spid="21"/>
                                        </p:tgtEl>
                                      </p:cBhvr>
                                    </p:animEffect>
                                  </p:childTnLst>
                                </p:cTn>
                              </p:par>
                              <p:par>
                                <p:cTn id="84" presetID="53" presetClass="entr" presetSubtype="16" decel="100000" fill="hold" grpId="0" nodeType="withEffect">
                                  <p:stCondLst>
                                    <p:cond delay="100"/>
                                  </p:stCondLst>
                                  <p:childTnLst>
                                    <p:set>
                                      <p:cBhvr>
                                        <p:cTn id="85" dur="1" fill="hold">
                                          <p:stCondLst>
                                            <p:cond delay="0"/>
                                          </p:stCondLst>
                                        </p:cTn>
                                        <p:tgtEl>
                                          <p:spTgt spid="22"/>
                                        </p:tgtEl>
                                        <p:attrNameLst>
                                          <p:attrName>style.visibility</p:attrName>
                                        </p:attrNameLst>
                                      </p:cBhvr>
                                      <p:to>
                                        <p:strVal val="visible"/>
                                      </p:to>
                                    </p:set>
                                    <p:anim calcmode="lin" valueType="num">
                                      <p:cBhvr additive="base">
                                        <p:cTn id="86" dur="450" fill="hold"/>
                                        <p:tgtEl>
                                          <p:spTgt spid="22"/>
                                        </p:tgtEl>
                                        <p:attrNameLst>
                                          <p:attrName>ppt_w</p:attrName>
                                        </p:attrNameLst>
                                      </p:cBhvr>
                                      <p:tavLst>
                                        <p:tav tm="0">
                                          <p:val>
                                            <p:strVal val="0"/>
                                          </p:val>
                                        </p:tav>
                                        <p:tav tm="70000">
                                          <p:val>
                                            <p:strVal val="#ppt_w*1.08"/>
                                          </p:val>
                                        </p:tav>
                                        <p:tav tm="100000">
                                          <p:val>
                                            <p:strVal val="#ppt_w"/>
                                          </p:val>
                                        </p:tav>
                                      </p:tavLst>
                                    </p:anim>
                                    <p:anim calcmode="lin" valueType="num">
                                      <p:cBhvr additive="base">
                                        <p:cTn id="87" dur="450" fill="hold"/>
                                        <p:tgtEl>
                                          <p:spTgt spid="22"/>
                                        </p:tgtEl>
                                        <p:attrNameLst>
                                          <p:attrName>ppt_h</p:attrName>
                                        </p:attrNameLst>
                                      </p:cBhvr>
                                      <p:tavLst>
                                        <p:tav tm="0">
                                          <p:val>
                                            <p:strVal val="0"/>
                                          </p:val>
                                        </p:tav>
                                        <p:tav tm="70000">
                                          <p:val>
                                            <p:strVal val="#ppt_h*1.08"/>
                                          </p:val>
                                        </p:tav>
                                        <p:tav tm="100000">
                                          <p:val>
                                            <p:strVal val="#ppt_h"/>
                                          </p:val>
                                        </p:tav>
                                      </p:tavLst>
                                    </p:anim>
                                    <p:animEffect transition="in" filter="fade">
                                      <p:cBhvr>
                                        <p:cTn id="88" dur="270" fill="hold"/>
                                        <p:tgtEl>
                                          <p:spTgt spid="22"/>
                                        </p:tgtEl>
                                      </p:cBhvr>
                                    </p:animEffect>
                                  </p:childTnLst>
                                </p:cTn>
                              </p:par>
                              <p:par>
                                <p:cTn id="89" presetID="53" presetClass="entr" presetSubtype="16" decel="100000" fill="hold" grpId="0" nodeType="withEffect">
                                  <p:stCondLst>
                                    <p:cond delay="350"/>
                                  </p:stCondLst>
                                  <p:childTnLst>
                                    <p:set>
                                      <p:cBhvr>
                                        <p:cTn id="90" dur="1" fill="hold">
                                          <p:stCondLst>
                                            <p:cond delay="0"/>
                                          </p:stCondLst>
                                        </p:cTn>
                                        <p:tgtEl>
                                          <p:spTgt spid="23"/>
                                        </p:tgtEl>
                                        <p:attrNameLst>
                                          <p:attrName>style.visibility</p:attrName>
                                        </p:attrNameLst>
                                      </p:cBhvr>
                                      <p:to>
                                        <p:strVal val="visible"/>
                                      </p:to>
                                    </p:set>
                                    <p:anim calcmode="lin" valueType="num">
                                      <p:cBhvr additive="base">
                                        <p:cTn id="91" dur="450" fill="hold"/>
                                        <p:tgtEl>
                                          <p:spTgt spid="23"/>
                                        </p:tgtEl>
                                        <p:attrNameLst>
                                          <p:attrName>ppt_w</p:attrName>
                                        </p:attrNameLst>
                                      </p:cBhvr>
                                      <p:tavLst>
                                        <p:tav tm="0">
                                          <p:val>
                                            <p:strVal val="0"/>
                                          </p:val>
                                        </p:tav>
                                        <p:tav tm="70000">
                                          <p:val>
                                            <p:strVal val="#ppt_w*1.08"/>
                                          </p:val>
                                        </p:tav>
                                        <p:tav tm="100000">
                                          <p:val>
                                            <p:strVal val="#ppt_w"/>
                                          </p:val>
                                        </p:tav>
                                      </p:tavLst>
                                    </p:anim>
                                    <p:anim calcmode="lin" valueType="num">
                                      <p:cBhvr additive="base">
                                        <p:cTn id="92" dur="450" fill="hold"/>
                                        <p:tgtEl>
                                          <p:spTgt spid="23"/>
                                        </p:tgtEl>
                                        <p:attrNameLst>
                                          <p:attrName>ppt_h</p:attrName>
                                        </p:attrNameLst>
                                      </p:cBhvr>
                                      <p:tavLst>
                                        <p:tav tm="0">
                                          <p:val>
                                            <p:strVal val="0"/>
                                          </p:val>
                                        </p:tav>
                                        <p:tav tm="70000">
                                          <p:val>
                                            <p:strVal val="#ppt_h*1.08"/>
                                          </p:val>
                                        </p:tav>
                                        <p:tav tm="100000">
                                          <p:val>
                                            <p:strVal val="#ppt_h"/>
                                          </p:val>
                                        </p:tav>
                                      </p:tavLst>
                                    </p:anim>
                                    <p:animEffect transition="in" filter="fade">
                                      <p:cBhvr>
                                        <p:cTn id="93" dur="270" fill="hold"/>
                                        <p:tgtEl>
                                          <p:spTgt spid="23"/>
                                        </p:tgtEl>
                                      </p:cBhvr>
                                    </p:animEffect>
                                  </p:childTnLst>
                                </p:cTn>
                              </p:par>
                              <p:par>
                                <p:cTn id="94" presetID="42" presetClass="entr" presetSubtype="0" decel="100000" fill="hold" grpId="0" nodeType="withEffect">
                                  <p:stCondLst>
                                    <p:cond delay="700"/>
                                  </p:stCondLst>
                                  <p:childTnLst>
                                    <p:set>
                                      <p:cBhvr>
                                        <p:cTn id="95" dur="1" fill="hold">
                                          <p:stCondLst>
                                            <p:cond delay="0"/>
                                          </p:stCondLst>
                                        </p:cTn>
                                        <p:tgtEl>
                                          <p:spTgt spid="24"/>
                                        </p:tgtEl>
                                        <p:attrNameLst>
                                          <p:attrName>style.visibility</p:attrName>
                                        </p:attrNameLst>
                                      </p:cBhvr>
                                      <p:to>
                                        <p:strVal val="visible"/>
                                      </p:to>
                                    </p:set>
                                    <p:animEffect transition="in" filter="fade">
                                      <p:cBhvr>
                                        <p:cTn id="96" dur="650" fill="hold"/>
                                        <p:tgtEl>
                                          <p:spTgt spid="24"/>
                                        </p:tgtEl>
                                      </p:cBhvr>
                                    </p:animEffect>
                                    <p:anim calcmode="lin" valueType="num">
                                      <p:cBhvr additive="base">
                                        <p:cTn id="97" dur="650" fill="hold"/>
                                        <p:tgtEl>
                                          <p:spTgt spid="24"/>
                                        </p:tgtEl>
                                        <p:attrNameLst>
                                          <p:attrName>ppt_x</p:attrName>
                                        </p:attrNameLst>
                                      </p:cBhvr>
                                      <p:tavLst>
                                        <p:tav tm="0">
                                          <p:val>
                                            <p:strVal val="#ppt_x"/>
                                          </p:val>
                                        </p:tav>
                                        <p:tav tm="100000">
                                          <p:val>
                                            <p:strVal val="#ppt_x"/>
                                          </p:val>
                                        </p:tav>
                                      </p:tavLst>
                                    </p:anim>
                                    <p:anim calcmode="lin" valueType="num">
                                      <p:cBhvr additive="base">
                                        <p:cTn id="98" dur="650" fill="hold"/>
                                        <p:tgtEl>
                                          <p:spTgt spid="24"/>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2A9FC0"/>
                </a:solidFill>
                <a:latin typeface="Segoe UI Semibold"/>
              </a:rPr>
              <a:t>CORREÇÃO COMENTADA  ·  QUESTÃO 5</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94360"/>
            <a:ext cx="11064240" cy="1463040"/>
          </a:xfrm>
          <a:prstGeom prst="rect">
            <a:avLst/>
          </a:prstGeom>
          <a:noFill/>
        </p:spPr>
        <p:txBody>
          <a:bodyPr wrap="square" lIns="36576" tIns="18288" rIns="36576" bIns="18288" anchor="t">
            <a:spAutoFit/>
          </a:bodyPr>
          <a:lstStyle/>
          <a:p>
            <a:pPr algn="l">
              <a:lnSpc>
                <a:spcPct val="108000"/>
              </a:lnSpc>
            </a:pPr>
            <a:r>
              <a:rPr sz="1700" b="1" i="0">
                <a:solidFill>
                  <a:srgbClr val="F2F2EC"/>
                </a:solidFill>
                <a:latin typeface="Segoe UI Semibold"/>
              </a:rPr>
              <a:t>Uma equipe tem uma ideia para um novo processo de atendimento no balcão e quer validá-la ainda esta semana, com orçamento quase zero. Qual é a abordagem de prototipagem mais adequada?</a:t>
            </a:r>
          </a:p>
        </p:txBody>
      </p:sp>
      <p:sp>
        <p:nvSpPr>
          <p:cNvPr id="6" name="Rounded Rectangle 5"/>
          <p:cNvSpPr/>
          <p:nvPr/>
        </p:nvSpPr>
        <p:spPr>
          <a:xfrm>
            <a:off x="548640" y="2240280"/>
            <a:ext cx="11091672" cy="603504"/>
          </a:xfrm>
          <a:prstGeom prst="roundRect">
            <a:avLst>
              <a:gd name="adj" fmla="val 20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722376" y="2350008"/>
            <a:ext cx="384048" cy="384048"/>
          </a:xfrm>
          <a:prstGeom prst="ellipse">
            <a:avLst/>
          </a:prstGeom>
          <a:solidFill>
            <a:srgbClr val="3A413D"/>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300" b="1" i="0">
                <a:solidFill>
                  <a:srgbClr val="B4B8B0"/>
                </a:solidFill>
                <a:latin typeface="Segoe UI Semibold"/>
              </a:rPr>
              <a:t>a</a:t>
            </a:r>
          </a:p>
        </p:txBody>
      </p:sp>
      <p:sp>
        <p:nvSpPr>
          <p:cNvPr id="8" name="TextBox 7"/>
          <p:cNvSpPr txBox="1"/>
          <p:nvPr/>
        </p:nvSpPr>
        <p:spPr>
          <a:xfrm>
            <a:off x="1280160" y="2240280"/>
            <a:ext cx="10149840" cy="603504"/>
          </a:xfrm>
          <a:prstGeom prst="rect">
            <a:avLst/>
          </a:prstGeom>
          <a:noFill/>
        </p:spPr>
        <p:txBody>
          <a:bodyPr wrap="square" lIns="36576" tIns="18288" rIns="36576" bIns="18288" anchor="ctr">
            <a:spAutoFit/>
          </a:bodyPr>
          <a:lstStyle/>
          <a:p>
            <a:pPr algn="l"/>
            <a:r>
              <a:rPr sz="1400" b="0" i="0">
                <a:solidFill>
                  <a:srgbClr val="F2F2EC"/>
                </a:solidFill>
                <a:latin typeface="Segoe UI"/>
              </a:rPr>
              <a:t>Contratar uma empresa para desenvolver o sistema completo e testá-lo depois do lançamento.</a:t>
            </a:r>
          </a:p>
        </p:txBody>
      </p:sp>
      <p:sp>
        <p:nvSpPr>
          <p:cNvPr id="9" name="Rounded Rectangle 8"/>
          <p:cNvSpPr/>
          <p:nvPr/>
        </p:nvSpPr>
        <p:spPr>
          <a:xfrm>
            <a:off x="548640" y="2953512"/>
            <a:ext cx="11091672" cy="603504"/>
          </a:xfrm>
          <a:prstGeom prst="roundRect">
            <a:avLst>
              <a:gd name="adj" fmla="val 20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722376" y="3063240"/>
            <a:ext cx="384048" cy="384048"/>
          </a:xfrm>
          <a:prstGeom prst="ellipse">
            <a:avLst/>
          </a:prstGeom>
          <a:solidFill>
            <a:srgbClr val="3A413D"/>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300" b="1" i="0">
                <a:solidFill>
                  <a:srgbClr val="B4B8B0"/>
                </a:solidFill>
                <a:latin typeface="Segoe UI Semibold"/>
              </a:rPr>
              <a:t>b</a:t>
            </a:r>
          </a:p>
        </p:txBody>
      </p:sp>
      <p:sp>
        <p:nvSpPr>
          <p:cNvPr id="11" name="TextBox 10"/>
          <p:cNvSpPr txBox="1"/>
          <p:nvPr/>
        </p:nvSpPr>
        <p:spPr>
          <a:xfrm>
            <a:off x="1280160" y="2953512"/>
            <a:ext cx="10149840" cy="603504"/>
          </a:xfrm>
          <a:prstGeom prst="rect">
            <a:avLst/>
          </a:prstGeom>
          <a:noFill/>
        </p:spPr>
        <p:txBody>
          <a:bodyPr wrap="square" lIns="36576" tIns="18288" rIns="36576" bIns="18288" anchor="ctr">
            <a:spAutoFit/>
          </a:bodyPr>
          <a:lstStyle/>
          <a:p>
            <a:pPr algn="l"/>
            <a:r>
              <a:rPr sz="1400" b="0" i="0">
                <a:solidFill>
                  <a:srgbClr val="F2F2EC"/>
                </a:solidFill>
                <a:latin typeface="Segoe UI"/>
              </a:rPr>
              <a:t>Fazer um protótipo de baixa fidelidade, como uma encenação do atendimento, e testá-lo com alguns clientes reais.</a:t>
            </a:r>
          </a:p>
        </p:txBody>
      </p:sp>
      <p:sp>
        <p:nvSpPr>
          <p:cNvPr id="12" name="Rounded Rectangle 11"/>
          <p:cNvSpPr/>
          <p:nvPr/>
        </p:nvSpPr>
        <p:spPr>
          <a:xfrm>
            <a:off x="548640" y="3666744"/>
            <a:ext cx="11091672" cy="603504"/>
          </a:xfrm>
          <a:prstGeom prst="roundRect">
            <a:avLst>
              <a:gd name="adj" fmla="val 20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722376" y="3776472"/>
            <a:ext cx="384048" cy="384048"/>
          </a:xfrm>
          <a:prstGeom prst="ellipse">
            <a:avLst/>
          </a:prstGeom>
          <a:solidFill>
            <a:srgbClr val="3A413D"/>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300" b="1" i="0">
                <a:solidFill>
                  <a:srgbClr val="B4B8B0"/>
                </a:solidFill>
                <a:latin typeface="Segoe UI Semibold"/>
              </a:rPr>
              <a:t>c</a:t>
            </a:r>
          </a:p>
        </p:txBody>
      </p:sp>
      <p:sp>
        <p:nvSpPr>
          <p:cNvPr id="14" name="TextBox 13"/>
          <p:cNvSpPr txBox="1"/>
          <p:nvPr/>
        </p:nvSpPr>
        <p:spPr>
          <a:xfrm>
            <a:off x="1280160" y="3666744"/>
            <a:ext cx="10149840" cy="603504"/>
          </a:xfrm>
          <a:prstGeom prst="rect">
            <a:avLst/>
          </a:prstGeom>
          <a:noFill/>
        </p:spPr>
        <p:txBody>
          <a:bodyPr wrap="square" lIns="36576" tIns="18288" rIns="36576" bIns="18288" anchor="ctr">
            <a:spAutoFit/>
          </a:bodyPr>
          <a:lstStyle/>
          <a:p>
            <a:pPr algn="l"/>
            <a:r>
              <a:rPr sz="1400" b="0" i="0">
                <a:solidFill>
                  <a:srgbClr val="F2F2EC"/>
                </a:solidFill>
                <a:latin typeface="Segoe UI"/>
              </a:rPr>
              <a:t>Criar um protótipo de alta fidelidade no Figma com todas as telas.</a:t>
            </a:r>
          </a:p>
        </p:txBody>
      </p:sp>
      <p:sp>
        <p:nvSpPr>
          <p:cNvPr id="15" name="Rounded Rectangle 14"/>
          <p:cNvSpPr/>
          <p:nvPr/>
        </p:nvSpPr>
        <p:spPr>
          <a:xfrm>
            <a:off x="548640" y="4379976"/>
            <a:ext cx="11091672" cy="603504"/>
          </a:xfrm>
          <a:prstGeom prst="roundRect">
            <a:avLst>
              <a:gd name="adj" fmla="val 20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722376" y="4489704"/>
            <a:ext cx="384048" cy="384048"/>
          </a:xfrm>
          <a:prstGeom prst="ellipse">
            <a:avLst/>
          </a:prstGeom>
          <a:solidFill>
            <a:srgbClr val="3A413D"/>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300" b="1" i="0">
                <a:solidFill>
                  <a:srgbClr val="B4B8B0"/>
                </a:solidFill>
                <a:latin typeface="Segoe UI Semibold"/>
              </a:rPr>
              <a:t>d</a:t>
            </a:r>
          </a:p>
        </p:txBody>
      </p:sp>
      <p:sp>
        <p:nvSpPr>
          <p:cNvPr id="17" name="TextBox 16"/>
          <p:cNvSpPr txBox="1"/>
          <p:nvPr/>
        </p:nvSpPr>
        <p:spPr>
          <a:xfrm>
            <a:off x="1280160" y="4379976"/>
            <a:ext cx="10149840" cy="603504"/>
          </a:xfrm>
          <a:prstGeom prst="rect">
            <a:avLst/>
          </a:prstGeom>
          <a:noFill/>
        </p:spPr>
        <p:txBody>
          <a:bodyPr wrap="square" lIns="36576" tIns="18288" rIns="36576" bIns="18288" anchor="ctr">
            <a:spAutoFit/>
          </a:bodyPr>
          <a:lstStyle/>
          <a:p>
            <a:pPr algn="l"/>
            <a:r>
              <a:rPr sz="1400" b="0" i="0">
                <a:solidFill>
                  <a:srgbClr val="F2F2EC"/>
                </a:solidFill>
                <a:latin typeface="Segoe UI"/>
              </a:rPr>
              <a:t>Pular o protótipo e implementar direto, pois testes atrasam o projeto.</a:t>
            </a:r>
          </a:p>
        </p:txBody>
      </p:sp>
      <p:sp>
        <p:nvSpPr>
          <p:cNvPr id="18" name="Rectangle 17"/>
          <p:cNvSpPr/>
          <p:nvPr/>
        </p:nvSpPr>
        <p:spPr>
          <a:xfrm>
            <a:off x="502920" y="2212848"/>
            <a:ext cx="11183112" cy="658368"/>
          </a:xfrm>
          <a:prstGeom prst="rect">
            <a:avLst/>
          </a:prstGeom>
          <a:solidFill>
            <a:srgbClr val="1A1A1A">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502920" y="3639312"/>
            <a:ext cx="11183112" cy="658368"/>
          </a:xfrm>
          <a:prstGeom prst="rect">
            <a:avLst/>
          </a:prstGeom>
          <a:solidFill>
            <a:srgbClr val="1A1A1A">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502920" y="4352544"/>
            <a:ext cx="11183112" cy="658368"/>
          </a:xfrm>
          <a:prstGeom prst="rect">
            <a:avLst/>
          </a:prstGeom>
          <a:solidFill>
            <a:srgbClr val="1A1A1A">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ounded Rectangle 20"/>
          <p:cNvSpPr/>
          <p:nvPr/>
        </p:nvSpPr>
        <p:spPr>
          <a:xfrm>
            <a:off x="548640" y="2953512"/>
            <a:ext cx="11091672" cy="603504"/>
          </a:xfrm>
          <a:prstGeom prst="roundRect">
            <a:avLst>
              <a:gd name="adj" fmla="val 20000"/>
            </a:avLst>
          </a:prstGeom>
          <a:noFill/>
          <a:ln w="31750">
            <a:solidFill>
              <a:srgbClr val="9CD84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722376" y="3063240"/>
            <a:ext cx="384048" cy="384048"/>
          </a:xfrm>
          <a:prstGeom prst="ellipse">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300" b="1" i="0">
                <a:solidFill>
                  <a:srgbClr val="1A1A1A"/>
                </a:solidFill>
                <a:latin typeface="Segoe UI Semibold"/>
              </a:rPr>
              <a:t>b</a:t>
            </a:r>
          </a:p>
        </p:txBody>
      </p:sp>
      <p:sp>
        <p:nvSpPr>
          <p:cNvPr id="23" name="Rounded Rectangle 22"/>
          <p:cNvSpPr/>
          <p:nvPr/>
        </p:nvSpPr>
        <p:spPr>
          <a:xfrm>
            <a:off x="10058400" y="3072384"/>
            <a:ext cx="1417320" cy="365760"/>
          </a:xfrm>
          <a:prstGeom prst="roundRect">
            <a:avLst>
              <a:gd name="adj" fmla="val 50000"/>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200" b="1" i="0">
                <a:solidFill>
                  <a:srgbClr val="1A1A1A"/>
                </a:solidFill>
                <a:latin typeface="Segoe UI Semibold"/>
              </a:rPr>
              <a:t>✓  Correta</a:t>
            </a:r>
          </a:p>
        </p:txBody>
      </p:sp>
      <p:sp>
        <p:nvSpPr>
          <p:cNvPr id="24" name="TextBox 23"/>
          <p:cNvSpPr txBox="1"/>
          <p:nvPr/>
        </p:nvSpPr>
        <p:spPr>
          <a:xfrm>
            <a:off x="548640" y="5166360"/>
            <a:ext cx="11064240" cy="1097280"/>
          </a:xfrm>
          <a:prstGeom prst="rect">
            <a:avLst/>
          </a:prstGeom>
          <a:noFill/>
        </p:spPr>
        <p:txBody>
          <a:bodyPr wrap="square" lIns="36576" tIns="18288" rIns="36576" bIns="18288" anchor="t">
            <a:spAutoFit/>
          </a:bodyPr>
          <a:lstStyle/>
          <a:p>
            <a:pPr algn="l"/>
            <a:r>
              <a:rPr sz="1250" b="1" i="0">
                <a:solidFill>
                  <a:srgbClr val="9CD848"/>
                </a:solidFill>
                <a:latin typeface="Segoe UI Semibold"/>
              </a:rPr>
              <a:t>Por quê: </a:t>
            </a:r>
            <a:r>
              <a:rPr sz="1250" b="0" i="0">
                <a:solidFill>
                  <a:srgbClr val="B4B8B0"/>
                </a:solidFill>
                <a:latin typeface="Segoe UI"/>
              </a:rPr>
              <a:t>No início do projeto, com pouco tempo e orçamento, o protótipo de baixa fidelidade (encenação, papel, 'Mágico de Oz') é rápido, barato e suficiente para validar o conceito com pessoas reais. Alta fidelidade e desenvolvimento completo são caros para essa fase, e pular o teste elimina justamente a redução de risco.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fill="hold"/>
                                        <p:tgtEl>
                                          <p:spTgt spid="5"/>
                                        </p:tgtEl>
                                      </p:cBhvr>
                                    </p:animEffect>
                                  </p:childTnLst>
                                </p:cTn>
                              </p:par>
                              <p:par>
                                <p:cTn id="8" presetID="42" presetClass="entr" presetSubtype="0" decel="100000" fill="hold" grpId="0" nodeType="withEffect">
                                  <p:stCondLst>
                                    <p:cond delay="3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50" fill="hold"/>
                                        <p:tgtEl>
                                          <p:spTgt spid="6"/>
                                        </p:tgtEl>
                                      </p:cBhvr>
                                    </p:animEffect>
                                    <p:anim calcmode="lin" valueType="num">
                                      <p:cBhvr additive="base">
                                        <p:cTn id="11" dur="650" fill="hold"/>
                                        <p:tgtEl>
                                          <p:spTgt spid="6"/>
                                        </p:tgtEl>
                                        <p:attrNameLst>
                                          <p:attrName>ppt_x</p:attrName>
                                        </p:attrNameLst>
                                      </p:cBhvr>
                                      <p:tavLst>
                                        <p:tav tm="0">
                                          <p:val>
                                            <p:strVal val="#ppt_x"/>
                                          </p:val>
                                        </p:tav>
                                        <p:tav tm="100000">
                                          <p:val>
                                            <p:strVal val="#ppt_x"/>
                                          </p:val>
                                        </p:tav>
                                      </p:tavLst>
                                    </p:anim>
                                    <p:anim calcmode="lin" valueType="num">
                                      <p:cBhvr additive="base">
                                        <p:cTn id="12" dur="650" fill="hold"/>
                                        <p:tgtEl>
                                          <p:spTgt spid="6"/>
                                        </p:tgtEl>
                                        <p:attrNameLst>
                                          <p:attrName>ppt_y</p:attrName>
                                        </p:attrNameLst>
                                      </p:cBhvr>
                                      <p:tavLst>
                                        <p:tav tm="0">
                                          <p:val>
                                            <p:strVal val="#ppt_y+.06"/>
                                          </p:val>
                                        </p:tav>
                                        <p:tav tm="100000">
                                          <p:val>
                                            <p:strVal val="#ppt_y"/>
                                          </p:val>
                                        </p:tav>
                                      </p:tavLst>
                                    </p:anim>
                                  </p:childTnLst>
                                </p:cTn>
                              </p:par>
                              <p:par>
                                <p:cTn id="13" presetID="42" presetClass="entr" presetSubtype="0" decel="100000" fill="hold" grpId="0" nodeType="withEffect">
                                  <p:stCondLst>
                                    <p:cond delay="30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fill="hold"/>
                                        <p:tgtEl>
                                          <p:spTgt spid="7"/>
                                        </p:tgtEl>
                                      </p:cBhvr>
                                    </p:animEffect>
                                    <p:anim calcmode="lin" valueType="num">
                                      <p:cBhvr additive="base">
                                        <p:cTn id="16" dur="650" fill="hold"/>
                                        <p:tgtEl>
                                          <p:spTgt spid="7"/>
                                        </p:tgtEl>
                                        <p:attrNameLst>
                                          <p:attrName>ppt_x</p:attrName>
                                        </p:attrNameLst>
                                      </p:cBhvr>
                                      <p:tavLst>
                                        <p:tav tm="0">
                                          <p:val>
                                            <p:strVal val="#ppt_x"/>
                                          </p:val>
                                        </p:tav>
                                        <p:tav tm="100000">
                                          <p:val>
                                            <p:strVal val="#ppt_x"/>
                                          </p:val>
                                        </p:tav>
                                      </p:tavLst>
                                    </p:anim>
                                    <p:anim calcmode="lin" valueType="num">
                                      <p:cBhvr additive="base">
                                        <p:cTn id="17" dur="650" fill="hold"/>
                                        <p:tgtEl>
                                          <p:spTgt spid="7"/>
                                        </p:tgtEl>
                                        <p:attrNameLst>
                                          <p:attrName>ppt_y</p:attrName>
                                        </p:attrNameLst>
                                      </p:cBhvr>
                                      <p:tavLst>
                                        <p:tav tm="0">
                                          <p:val>
                                            <p:strVal val="#ppt_y+.06"/>
                                          </p:val>
                                        </p:tav>
                                        <p:tav tm="100000">
                                          <p:val>
                                            <p:strVal val="#ppt_y"/>
                                          </p:val>
                                        </p:tav>
                                      </p:tavLst>
                                    </p:anim>
                                  </p:childTnLst>
                                </p:cTn>
                              </p:par>
                              <p:par>
                                <p:cTn id="18" presetID="42" presetClass="entr" presetSubtype="0" decel="100000" fill="hold" grpId="0" nodeType="withEffect">
                                  <p:stCondLst>
                                    <p:cond delay="30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650" fill="hold"/>
                                        <p:tgtEl>
                                          <p:spTgt spid="8"/>
                                        </p:tgtEl>
                                      </p:cBhvr>
                                    </p:animEffect>
                                    <p:anim calcmode="lin" valueType="num">
                                      <p:cBhvr additive="base">
                                        <p:cTn id="21" dur="650" fill="hold"/>
                                        <p:tgtEl>
                                          <p:spTgt spid="8"/>
                                        </p:tgtEl>
                                        <p:attrNameLst>
                                          <p:attrName>ppt_x</p:attrName>
                                        </p:attrNameLst>
                                      </p:cBhvr>
                                      <p:tavLst>
                                        <p:tav tm="0">
                                          <p:val>
                                            <p:strVal val="#ppt_x"/>
                                          </p:val>
                                        </p:tav>
                                        <p:tav tm="100000">
                                          <p:val>
                                            <p:strVal val="#ppt_x"/>
                                          </p:val>
                                        </p:tav>
                                      </p:tavLst>
                                    </p:anim>
                                    <p:anim calcmode="lin" valueType="num">
                                      <p:cBhvr additive="base">
                                        <p:cTn id="22" dur="650" fill="hold"/>
                                        <p:tgtEl>
                                          <p:spTgt spid="8"/>
                                        </p:tgtEl>
                                        <p:attrNameLst>
                                          <p:attrName>ppt_y</p:attrName>
                                        </p:attrNameLst>
                                      </p:cBhvr>
                                      <p:tavLst>
                                        <p:tav tm="0">
                                          <p:val>
                                            <p:strVal val="#ppt_y+.06"/>
                                          </p:val>
                                        </p:tav>
                                        <p:tav tm="100000">
                                          <p:val>
                                            <p:strVal val="#ppt_y"/>
                                          </p:val>
                                        </p:tav>
                                      </p:tavLst>
                                    </p:anim>
                                  </p:childTnLst>
                                </p:cTn>
                              </p:par>
                              <p:par>
                                <p:cTn id="23" presetID="42" presetClass="entr" presetSubtype="0" decel="100000" fill="hold" grpId="0" nodeType="withEffect">
                                  <p:stCondLst>
                                    <p:cond delay="45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650" fill="hold"/>
                                        <p:tgtEl>
                                          <p:spTgt spid="9"/>
                                        </p:tgtEl>
                                      </p:cBhvr>
                                    </p:animEffect>
                                    <p:anim calcmode="lin" valueType="num">
                                      <p:cBhvr additive="base">
                                        <p:cTn id="26" dur="650" fill="hold"/>
                                        <p:tgtEl>
                                          <p:spTgt spid="9"/>
                                        </p:tgtEl>
                                        <p:attrNameLst>
                                          <p:attrName>ppt_x</p:attrName>
                                        </p:attrNameLst>
                                      </p:cBhvr>
                                      <p:tavLst>
                                        <p:tav tm="0">
                                          <p:val>
                                            <p:strVal val="#ppt_x"/>
                                          </p:val>
                                        </p:tav>
                                        <p:tav tm="100000">
                                          <p:val>
                                            <p:strVal val="#ppt_x"/>
                                          </p:val>
                                        </p:tav>
                                      </p:tavLst>
                                    </p:anim>
                                    <p:anim calcmode="lin" valueType="num">
                                      <p:cBhvr additive="base">
                                        <p:cTn id="27" dur="650" fill="hold"/>
                                        <p:tgtEl>
                                          <p:spTgt spid="9"/>
                                        </p:tgtEl>
                                        <p:attrNameLst>
                                          <p:attrName>ppt_y</p:attrName>
                                        </p:attrNameLst>
                                      </p:cBhvr>
                                      <p:tavLst>
                                        <p:tav tm="0">
                                          <p:val>
                                            <p:strVal val="#ppt_y+.06"/>
                                          </p:val>
                                        </p:tav>
                                        <p:tav tm="100000">
                                          <p:val>
                                            <p:strVal val="#ppt_y"/>
                                          </p:val>
                                        </p:tav>
                                      </p:tavLst>
                                    </p:anim>
                                  </p:childTnLst>
                                </p:cTn>
                              </p:par>
                              <p:par>
                                <p:cTn id="28" presetID="42" presetClass="entr" presetSubtype="0" decel="100000" fill="hold" grpId="0" nodeType="withEffect">
                                  <p:stCondLst>
                                    <p:cond delay="45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650" fill="hold"/>
                                        <p:tgtEl>
                                          <p:spTgt spid="10"/>
                                        </p:tgtEl>
                                      </p:cBhvr>
                                    </p:animEffect>
                                    <p:anim calcmode="lin" valueType="num">
                                      <p:cBhvr additive="base">
                                        <p:cTn id="31" dur="650" fill="hold"/>
                                        <p:tgtEl>
                                          <p:spTgt spid="10"/>
                                        </p:tgtEl>
                                        <p:attrNameLst>
                                          <p:attrName>ppt_x</p:attrName>
                                        </p:attrNameLst>
                                      </p:cBhvr>
                                      <p:tavLst>
                                        <p:tav tm="0">
                                          <p:val>
                                            <p:strVal val="#ppt_x"/>
                                          </p:val>
                                        </p:tav>
                                        <p:tav tm="100000">
                                          <p:val>
                                            <p:strVal val="#ppt_x"/>
                                          </p:val>
                                        </p:tav>
                                      </p:tavLst>
                                    </p:anim>
                                    <p:anim calcmode="lin" valueType="num">
                                      <p:cBhvr additive="base">
                                        <p:cTn id="32" dur="650" fill="hold"/>
                                        <p:tgtEl>
                                          <p:spTgt spid="10"/>
                                        </p:tgtEl>
                                        <p:attrNameLst>
                                          <p:attrName>ppt_y</p:attrName>
                                        </p:attrNameLst>
                                      </p:cBhvr>
                                      <p:tavLst>
                                        <p:tav tm="0">
                                          <p:val>
                                            <p:strVal val="#ppt_y+.06"/>
                                          </p:val>
                                        </p:tav>
                                        <p:tav tm="100000">
                                          <p:val>
                                            <p:strVal val="#ppt_y"/>
                                          </p:val>
                                        </p:tav>
                                      </p:tavLst>
                                    </p:anim>
                                  </p:childTnLst>
                                </p:cTn>
                              </p:par>
                              <p:par>
                                <p:cTn id="33" presetID="42" presetClass="entr" presetSubtype="0" decel="100000" fill="hold" grpId="0" nodeType="withEffect">
                                  <p:stCondLst>
                                    <p:cond delay="45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650" fill="hold"/>
                                        <p:tgtEl>
                                          <p:spTgt spid="11"/>
                                        </p:tgtEl>
                                      </p:cBhvr>
                                    </p:animEffect>
                                    <p:anim calcmode="lin" valueType="num">
                                      <p:cBhvr additive="base">
                                        <p:cTn id="36" dur="650" fill="hold"/>
                                        <p:tgtEl>
                                          <p:spTgt spid="11"/>
                                        </p:tgtEl>
                                        <p:attrNameLst>
                                          <p:attrName>ppt_x</p:attrName>
                                        </p:attrNameLst>
                                      </p:cBhvr>
                                      <p:tavLst>
                                        <p:tav tm="0">
                                          <p:val>
                                            <p:strVal val="#ppt_x"/>
                                          </p:val>
                                        </p:tav>
                                        <p:tav tm="100000">
                                          <p:val>
                                            <p:strVal val="#ppt_x"/>
                                          </p:val>
                                        </p:tav>
                                      </p:tavLst>
                                    </p:anim>
                                    <p:anim calcmode="lin" valueType="num">
                                      <p:cBhvr additive="base">
                                        <p:cTn id="37" dur="650" fill="hold"/>
                                        <p:tgtEl>
                                          <p:spTgt spid="11"/>
                                        </p:tgtEl>
                                        <p:attrNameLst>
                                          <p:attrName>ppt_y</p:attrName>
                                        </p:attrNameLst>
                                      </p:cBhvr>
                                      <p:tavLst>
                                        <p:tav tm="0">
                                          <p:val>
                                            <p:strVal val="#ppt_y+.06"/>
                                          </p:val>
                                        </p:tav>
                                        <p:tav tm="100000">
                                          <p:val>
                                            <p:strVal val="#ppt_y"/>
                                          </p:val>
                                        </p:tav>
                                      </p:tavLst>
                                    </p:anim>
                                  </p:childTnLst>
                                </p:cTn>
                              </p:par>
                              <p:par>
                                <p:cTn id="38" presetID="42" presetClass="entr" presetSubtype="0" decel="100000" fill="hold" grpId="0" nodeType="withEffect">
                                  <p:stCondLst>
                                    <p:cond delay="60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650" fill="hold"/>
                                        <p:tgtEl>
                                          <p:spTgt spid="12"/>
                                        </p:tgtEl>
                                      </p:cBhvr>
                                    </p:animEffect>
                                    <p:anim calcmode="lin" valueType="num">
                                      <p:cBhvr additive="base">
                                        <p:cTn id="41" dur="650" fill="hold"/>
                                        <p:tgtEl>
                                          <p:spTgt spid="12"/>
                                        </p:tgtEl>
                                        <p:attrNameLst>
                                          <p:attrName>ppt_x</p:attrName>
                                        </p:attrNameLst>
                                      </p:cBhvr>
                                      <p:tavLst>
                                        <p:tav tm="0">
                                          <p:val>
                                            <p:strVal val="#ppt_x"/>
                                          </p:val>
                                        </p:tav>
                                        <p:tav tm="100000">
                                          <p:val>
                                            <p:strVal val="#ppt_x"/>
                                          </p:val>
                                        </p:tav>
                                      </p:tavLst>
                                    </p:anim>
                                    <p:anim calcmode="lin" valueType="num">
                                      <p:cBhvr additive="base">
                                        <p:cTn id="42" dur="650" fill="hold"/>
                                        <p:tgtEl>
                                          <p:spTgt spid="12"/>
                                        </p:tgtEl>
                                        <p:attrNameLst>
                                          <p:attrName>ppt_y</p:attrName>
                                        </p:attrNameLst>
                                      </p:cBhvr>
                                      <p:tavLst>
                                        <p:tav tm="0">
                                          <p:val>
                                            <p:strVal val="#ppt_y+.06"/>
                                          </p:val>
                                        </p:tav>
                                        <p:tav tm="100000">
                                          <p:val>
                                            <p:strVal val="#ppt_y"/>
                                          </p:val>
                                        </p:tav>
                                      </p:tavLst>
                                    </p:anim>
                                  </p:childTnLst>
                                </p:cTn>
                              </p:par>
                              <p:par>
                                <p:cTn id="43" presetID="42" presetClass="entr" presetSubtype="0" decel="100000" fill="hold" grpId="0" nodeType="withEffect">
                                  <p:stCondLst>
                                    <p:cond delay="60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650" fill="hold"/>
                                        <p:tgtEl>
                                          <p:spTgt spid="13"/>
                                        </p:tgtEl>
                                      </p:cBhvr>
                                    </p:animEffect>
                                    <p:anim calcmode="lin" valueType="num">
                                      <p:cBhvr additive="base">
                                        <p:cTn id="46" dur="650" fill="hold"/>
                                        <p:tgtEl>
                                          <p:spTgt spid="13"/>
                                        </p:tgtEl>
                                        <p:attrNameLst>
                                          <p:attrName>ppt_x</p:attrName>
                                        </p:attrNameLst>
                                      </p:cBhvr>
                                      <p:tavLst>
                                        <p:tav tm="0">
                                          <p:val>
                                            <p:strVal val="#ppt_x"/>
                                          </p:val>
                                        </p:tav>
                                        <p:tav tm="100000">
                                          <p:val>
                                            <p:strVal val="#ppt_x"/>
                                          </p:val>
                                        </p:tav>
                                      </p:tavLst>
                                    </p:anim>
                                    <p:anim calcmode="lin" valueType="num">
                                      <p:cBhvr additive="base">
                                        <p:cTn id="47" dur="650" fill="hold"/>
                                        <p:tgtEl>
                                          <p:spTgt spid="13"/>
                                        </p:tgtEl>
                                        <p:attrNameLst>
                                          <p:attrName>ppt_y</p:attrName>
                                        </p:attrNameLst>
                                      </p:cBhvr>
                                      <p:tavLst>
                                        <p:tav tm="0">
                                          <p:val>
                                            <p:strVal val="#ppt_y+.06"/>
                                          </p:val>
                                        </p:tav>
                                        <p:tav tm="100000">
                                          <p:val>
                                            <p:strVal val="#ppt_y"/>
                                          </p:val>
                                        </p:tav>
                                      </p:tavLst>
                                    </p:anim>
                                  </p:childTnLst>
                                </p:cTn>
                              </p:par>
                              <p:par>
                                <p:cTn id="48" presetID="42" presetClass="entr" presetSubtype="0" decel="100000" fill="hold" grpId="0" nodeType="withEffect">
                                  <p:stCondLst>
                                    <p:cond delay="60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650" fill="hold"/>
                                        <p:tgtEl>
                                          <p:spTgt spid="14"/>
                                        </p:tgtEl>
                                      </p:cBhvr>
                                    </p:animEffect>
                                    <p:anim calcmode="lin" valueType="num">
                                      <p:cBhvr additive="base">
                                        <p:cTn id="51" dur="650" fill="hold"/>
                                        <p:tgtEl>
                                          <p:spTgt spid="14"/>
                                        </p:tgtEl>
                                        <p:attrNameLst>
                                          <p:attrName>ppt_x</p:attrName>
                                        </p:attrNameLst>
                                      </p:cBhvr>
                                      <p:tavLst>
                                        <p:tav tm="0">
                                          <p:val>
                                            <p:strVal val="#ppt_x"/>
                                          </p:val>
                                        </p:tav>
                                        <p:tav tm="100000">
                                          <p:val>
                                            <p:strVal val="#ppt_x"/>
                                          </p:val>
                                        </p:tav>
                                      </p:tavLst>
                                    </p:anim>
                                    <p:anim calcmode="lin" valueType="num">
                                      <p:cBhvr additive="base">
                                        <p:cTn id="52" dur="650" fill="hold"/>
                                        <p:tgtEl>
                                          <p:spTgt spid="14"/>
                                        </p:tgtEl>
                                        <p:attrNameLst>
                                          <p:attrName>ppt_y</p:attrName>
                                        </p:attrNameLst>
                                      </p:cBhvr>
                                      <p:tavLst>
                                        <p:tav tm="0">
                                          <p:val>
                                            <p:strVal val="#ppt_y+.06"/>
                                          </p:val>
                                        </p:tav>
                                        <p:tav tm="100000">
                                          <p:val>
                                            <p:strVal val="#ppt_y"/>
                                          </p:val>
                                        </p:tav>
                                      </p:tavLst>
                                    </p:anim>
                                  </p:childTnLst>
                                </p:cTn>
                              </p:par>
                              <p:par>
                                <p:cTn id="53" presetID="42" presetClass="entr" presetSubtype="0" decel="100000" fill="hold" grpId="0" nodeType="withEffect">
                                  <p:stCondLst>
                                    <p:cond delay="75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650" fill="hold"/>
                                        <p:tgtEl>
                                          <p:spTgt spid="15"/>
                                        </p:tgtEl>
                                      </p:cBhvr>
                                    </p:animEffect>
                                    <p:anim calcmode="lin" valueType="num">
                                      <p:cBhvr additive="base">
                                        <p:cTn id="56" dur="650" fill="hold"/>
                                        <p:tgtEl>
                                          <p:spTgt spid="15"/>
                                        </p:tgtEl>
                                        <p:attrNameLst>
                                          <p:attrName>ppt_x</p:attrName>
                                        </p:attrNameLst>
                                      </p:cBhvr>
                                      <p:tavLst>
                                        <p:tav tm="0">
                                          <p:val>
                                            <p:strVal val="#ppt_x"/>
                                          </p:val>
                                        </p:tav>
                                        <p:tav tm="100000">
                                          <p:val>
                                            <p:strVal val="#ppt_x"/>
                                          </p:val>
                                        </p:tav>
                                      </p:tavLst>
                                    </p:anim>
                                    <p:anim calcmode="lin" valueType="num">
                                      <p:cBhvr additive="base">
                                        <p:cTn id="57" dur="650" fill="hold"/>
                                        <p:tgtEl>
                                          <p:spTgt spid="15"/>
                                        </p:tgtEl>
                                        <p:attrNameLst>
                                          <p:attrName>ppt_y</p:attrName>
                                        </p:attrNameLst>
                                      </p:cBhvr>
                                      <p:tavLst>
                                        <p:tav tm="0">
                                          <p:val>
                                            <p:strVal val="#ppt_y+.06"/>
                                          </p:val>
                                        </p:tav>
                                        <p:tav tm="100000">
                                          <p:val>
                                            <p:strVal val="#ppt_y"/>
                                          </p:val>
                                        </p:tav>
                                      </p:tavLst>
                                    </p:anim>
                                  </p:childTnLst>
                                </p:cTn>
                              </p:par>
                              <p:par>
                                <p:cTn id="58" presetID="42" presetClass="entr" presetSubtype="0" decel="100000" fill="hold" grpId="0" nodeType="withEffect">
                                  <p:stCondLst>
                                    <p:cond delay="75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650" fill="hold"/>
                                        <p:tgtEl>
                                          <p:spTgt spid="16"/>
                                        </p:tgtEl>
                                      </p:cBhvr>
                                    </p:animEffect>
                                    <p:anim calcmode="lin" valueType="num">
                                      <p:cBhvr additive="base">
                                        <p:cTn id="61" dur="650" fill="hold"/>
                                        <p:tgtEl>
                                          <p:spTgt spid="16"/>
                                        </p:tgtEl>
                                        <p:attrNameLst>
                                          <p:attrName>ppt_x</p:attrName>
                                        </p:attrNameLst>
                                      </p:cBhvr>
                                      <p:tavLst>
                                        <p:tav tm="0">
                                          <p:val>
                                            <p:strVal val="#ppt_x"/>
                                          </p:val>
                                        </p:tav>
                                        <p:tav tm="100000">
                                          <p:val>
                                            <p:strVal val="#ppt_x"/>
                                          </p:val>
                                        </p:tav>
                                      </p:tavLst>
                                    </p:anim>
                                    <p:anim calcmode="lin" valueType="num">
                                      <p:cBhvr additive="base">
                                        <p:cTn id="62" dur="650" fill="hold"/>
                                        <p:tgtEl>
                                          <p:spTgt spid="16"/>
                                        </p:tgtEl>
                                        <p:attrNameLst>
                                          <p:attrName>ppt_y</p:attrName>
                                        </p:attrNameLst>
                                      </p:cBhvr>
                                      <p:tavLst>
                                        <p:tav tm="0">
                                          <p:val>
                                            <p:strVal val="#ppt_y+.06"/>
                                          </p:val>
                                        </p:tav>
                                        <p:tav tm="100000">
                                          <p:val>
                                            <p:strVal val="#ppt_y"/>
                                          </p:val>
                                        </p:tav>
                                      </p:tavLst>
                                    </p:anim>
                                  </p:childTnLst>
                                </p:cTn>
                              </p:par>
                              <p:par>
                                <p:cTn id="63" presetID="42" presetClass="entr" presetSubtype="0" decel="100000" fill="hold" grpId="0" nodeType="withEffect">
                                  <p:stCondLst>
                                    <p:cond delay="750"/>
                                  </p:stCondLst>
                                  <p:childTnLst>
                                    <p:set>
                                      <p:cBhvr>
                                        <p:cTn id="64" dur="1" fill="hold">
                                          <p:stCondLst>
                                            <p:cond delay="0"/>
                                          </p:stCondLst>
                                        </p:cTn>
                                        <p:tgtEl>
                                          <p:spTgt spid="17"/>
                                        </p:tgtEl>
                                        <p:attrNameLst>
                                          <p:attrName>style.visibility</p:attrName>
                                        </p:attrNameLst>
                                      </p:cBhvr>
                                      <p:to>
                                        <p:strVal val="visible"/>
                                      </p:to>
                                    </p:set>
                                    <p:animEffect transition="in" filter="fade">
                                      <p:cBhvr>
                                        <p:cTn id="65" dur="650" fill="hold"/>
                                        <p:tgtEl>
                                          <p:spTgt spid="17"/>
                                        </p:tgtEl>
                                      </p:cBhvr>
                                    </p:animEffect>
                                    <p:anim calcmode="lin" valueType="num">
                                      <p:cBhvr additive="base">
                                        <p:cTn id="66" dur="650" fill="hold"/>
                                        <p:tgtEl>
                                          <p:spTgt spid="17"/>
                                        </p:tgtEl>
                                        <p:attrNameLst>
                                          <p:attrName>ppt_x</p:attrName>
                                        </p:attrNameLst>
                                      </p:cBhvr>
                                      <p:tavLst>
                                        <p:tav tm="0">
                                          <p:val>
                                            <p:strVal val="#ppt_x"/>
                                          </p:val>
                                        </p:tav>
                                        <p:tav tm="100000">
                                          <p:val>
                                            <p:strVal val="#ppt_x"/>
                                          </p:val>
                                        </p:tav>
                                      </p:tavLst>
                                    </p:anim>
                                    <p:anim calcmode="lin" valueType="num">
                                      <p:cBhvr additive="base">
                                        <p:cTn id="67" dur="650" fill="hold"/>
                                        <p:tgtEl>
                                          <p:spTgt spid="17"/>
                                        </p:tgtEl>
                                        <p:attrNameLst>
                                          <p:attrName>ppt_y</p:attrName>
                                        </p:attrNameLst>
                                      </p:cBhvr>
                                      <p:tavLst>
                                        <p:tav tm="0">
                                          <p:val>
                                            <p:strVal val="#ppt_y+.06"/>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600" fill="hold"/>
                                        <p:tgtEl>
                                          <p:spTgt spid="18"/>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600" fill="hold"/>
                                        <p:tgtEl>
                                          <p:spTgt spid="19"/>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600" fill="hold"/>
                                        <p:tgtEl>
                                          <p:spTgt spid="20"/>
                                        </p:tgtEl>
                                      </p:cBhvr>
                                    </p:animEffect>
                                  </p:childTnLst>
                                </p:cTn>
                              </p:par>
                              <p:par>
                                <p:cTn id="79" presetID="53" presetClass="entr" presetSubtype="16" decel="100000" fill="hold" grpId="0" nodeType="withEffect">
                                  <p:stCondLst>
                                    <p:cond delay="100"/>
                                  </p:stCondLst>
                                  <p:childTnLst>
                                    <p:set>
                                      <p:cBhvr>
                                        <p:cTn id="80" dur="1" fill="hold">
                                          <p:stCondLst>
                                            <p:cond delay="0"/>
                                          </p:stCondLst>
                                        </p:cTn>
                                        <p:tgtEl>
                                          <p:spTgt spid="21"/>
                                        </p:tgtEl>
                                        <p:attrNameLst>
                                          <p:attrName>style.visibility</p:attrName>
                                        </p:attrNameLst>
                                      </p:cBhvr>
                                      <p:to>
                                        <p:strVal val="visible"/>
                                      </p:to>
                                    </p:set>
                                    <p:anim calcmode="lin" valueType="num">
                                      <p:cBhvr additive="base">
                                        <p:cTn id="81" dur="450" fill="hold"/>
                                        <p:tgtEl>
                                          <p:spTgt spid="21"/>
                                        </p:tgtEl>
                                        <p:attrNameLst>
                                          <p:attrName>ppt_w</p:attrName>
                                        </p:attrNameLst>
                                      </p:cBhvr>
                                      <p:tavLst>
                                        <p:tav tm="0">
                                          <p:val>
                                            <p:strVal val="0"/>
                                          </p:val>
                                        </p:tav>
                                        <p:tav tm="70000">
                                          <p:val>
                                            <p:strVal val="#ppt_w*1.08"/>
                                          </p:val>
                                        </p:tav>
                                        <p:tav tm="100000">
                                          <p:val>
                                            <p:strVal val="#ppt_w"/>
                                          </p:val>
                                        </p:tav>
                                      </p:tavLst>
                                    </p:anim>
                                    <p:anim calcmode="lin" valueType="num">
                                      <p:cBhvr additive="base">
                                        <p:cTn id="82" dur="450" fill="hold"/>
                                        <p:tgtEl>
                                          <p:spTgt spid="21"/>
                                        </p:tgtEl>
                                        <p:attrNameLst>
                                          <p:attrName>ppt_h</p:attrName>
                                        </p:attrNameLst>
                                      </p:cBhvr>
                                      <p:tavLst>
                                        <p:tav tm="0">
                                          <p:val>
                                            <p:strVal val="0"/>
                                          </p:val>
                                        </p:tav>
                                        <p:tav tm="70000">
                                          <p:val>
                                            <p:strVal val="#ppt_h*1.08"/>
                                          </p:val>
                                        </p:tav>
                                        <p:tav tm="100000">
                                          <p:val>
                                            <p:strVal val="#ppt_h"/>
                                          </p:val>
                                        </p:tav>
                                      </p:tavLst>
                                    </p:anim>
                                    <p:animEffect transition="in" filter="fade">
                                      <p:cBhvr>
                                        <p:cTn id="83" dur="270" fill="hold"/>
                                        <p:tgtEl>
                                          <p:spTgt spid="21"/>
                                        </p:tgtEl>
                                      </p:cBhvr>
                                    </p:animEffect>
                                  </p:childTnLst>
                                </p:cTn>
                              </p:par>
                              <p:par>
                                <p:cTn id="84" presetID="53" presetClass="entr" presetSubtype="16" decel="100000" fill="hold" grpId="0" nodeType="withEffect">
                                  <p:stCondLst>
                                    <p:cond delay="100"/>
                                  </p:stCondLst>
                                  <p:childTnLst>
                                    <p:set>
                                      <p:cBhvr>
                                        <p:cTn id="85" dur="1" fill="hold">
                                          <p:stCondLst>
                                            <p:cond delay="0"/>
                                          </p:stCondLst>
                                        </p:cTn>
                                        <p:tgtEl>
                                          <p:spTgt spid="22"/>
                                        </p:tgtEl>
                                        <p:attrNameLst>
                                          <p:attrName>style.visibility</p:attrName>
                                        </p:attrNameLst>
                                      </p:cBhvr>
                                      <p:to>
                                        <p:strVal val="visible"/>
                                      </p:to>
                                    </p:set>
                                    <p:anim calcmode="lin" valueType="num">
                                      <p:cBhvr additive="base">
                                        <p:cTn id="86" dur="450" fill="hold"/>
                                        <p:tgtEl>
                                          <p:spTgt spid="22"/>
                                        </p:tgtEl>
                                        <p:attrNameLst>
                                          <p:attrName>ppt_w</p:attrName>
                                        </p:attrNameLst>
                                      </p:cBhvr>
                                      <p:tavLst>
                                        <p:tav tm="0">
                                          <p:val>
                                            <p:strVal val="0"/>
                                          </p:val>
                                        </p:tav>
                                        <p:tav tm="70000">
                                          <p:val>
                                            <p:strVal val="#ppt_w*1.08"/>
                                          </p:val>
                                        </p:tav>
                                        <p:tav tm="100000">
                                          <p:val>
                                            <p:strVal val="#ppt_w"/>
                                          </p:val>
                                        </p:tav>
                                      </p:tavLst>
                                    </p:anim>
                                    <p:anim calcmode="lin" valueType="num">
                                      <p:cBhvr additive="base">
                                        <p:cTn id="87" dur="450" fill="hold"/>
                                        <p:tgtEl>
                                          <p:spTgt spid="22"/>
                                        </p:tgtEl>
                                        <p:attrNameLst>
                                          <p:attrName>ppt_h</p:attrName>
                                        </p:attrNameLst>
                                      </p:cBhvr>
                                      <p:tavLst>
                                        <p:tav tm="0">
                                          <p:val>
                                            <p:strVal val="0"/>
                                          </p:val>
                                        </p:tav>
                                        <p:tav tm="70000">
                                          <p:val>
                                            <p:strVal val="#ppt_h*1.08"/>
                                          </p:val>
                                        </p:tav>
                                        <p:tav tm="100000">
                                          <p:val>
                                            <p:strVal val="#ppt_h"/>
                                          </p:val>
                                        </p:tav>
                                      </p:tavLst>
                                    </p:anim>
                                    <p:animEffect transition="in" filter="fade">
                                      <p:cBhvr>
                                        <p:cTn id="88" dur="270" fill="hold"/>
                                        <p:tgtEl>
                                          <p:spTgt spid="22"/>
                                        </p:tgtEl>
                                      </p:cBhvr>
                                    </p:animEffect>
                                  </p:childTnLst>
                                </p:cTn>
                              </p:par>
                              <p:par>
                                <p:cTn id="89" presetID="53" presetClass="entr" presetSubtype="16" decel="100000" fill="hold" grpId="0" nodeType="withEffect">
                                  <p:stCondLst>
                                    <p:cond delay="350"/>
                                  </p:stCondLst>
                                  <p:childTnLst>
                                    <p:set>
                                      <p:cBhvr>
                                        <p:cTn id="90" dur="1" fill="hold">
                                          <p:stCondLst>
                                            <p:cond delay="0"/>
                                          </p:stCondLst>
                                        </p:cTn>
                                        <p:tgtEl>
                                          <p:spTgt spid="23"/>
                                        </p:tgtEl>
                                        <p:attrNameLst>
                                          <p:attrName>style.visibility</p:attrName>
                                        </p:attrNameLst>
                                      </p:cBhvr>
                                      <p:to>
                                        <p:strVal val="visible"/>
                                      </p:to>
                                    </p:set>
                                    <p:anim calcmode="lin" valueType="num">
                                      <p:cBhvr additive="base">
                                        <p:cTn id="91" dur="450" fill="hold"/>
                                        <p:tgtEl>
                                          <p:spTgt spid="23"/>
                                        </p:tgtEl>
                                        <p:attrNameLst>
                                          <p:attrName>ppt_w</p:attrName>
                                        </p:attrNameLst>
                                      </p:cBhvr>
                                      <p:tavLst>
                                        <p:tav tm="0">
                                          <p:val>
                                            <p:strVal val="0"/>
                                          </p:val>
                                        </p:tav>
                                        <p:tav tm="70000">
                                          <p:val>
                                            <p:strVal val="#ppt_w*1.08"/>
                                          </p:val>
                                        </p:tav>
                                        <p:tav tm="100000">
                                          <p:val>
                                            <p:strVal val="#ppt_w"/>
                                          </p:val>
                                        </p:tav>
                                      </p:tavLst>
                                    </p:anim>
                                    <p:anim calcmode="lin" valueType="num">
                                      <p:cBhvr additive="base">
                                        <p:cTn id="92" dur="450" fill="hold"/>
                                        <p:tgtEl>
                                          <p:spTgt spid="23"/>
                                        </p:tgtEl>
                                        <p:attrNameLst>
                                          <p:attrName>ppt_h</p:attrName>
                                        </p:attrNameLst>
                                      </p:cBhvr>
                                      <p:tavLst>
                                        <p:tav tm="0">
                                          <p:val>
                                            <p:strVal val="0"/>
                                          </p:val>
                                        </p:tav>
                                        <p:tav tm="70000">
                                          <p:val>
                                            <p:strVal val="#ppt_h*1.08"/>
                                          </p:val>
                                        </p:tav>
                                        <p:tav tm="100000">
                                          <p:val>
                                            <p:strVal val="#ppt_h"/>
                                          </p:val>
                                        </p:tav>
                                      </p:tavLst>
                                    </p:anim>
                                    <p:animEffect transition="in" filter="fade">
                                      <p:cBhvr>
                                        <p:cTn id="93" dur="270" fill="hold"/>
                                        <p:tgtEl>
                                          <p:spTgt spid="23"/>
                                        </p:tgtEl>
                                      </p:cBhvr>
                                    </p:animEffect>
                                  </p:childTnLst>
                                </p:cTn>
                              </p:par>
                              <p:par>
                                <p:cTn id="94" presetID="42" presetClass="entr" presetSubtype="0" decel="100000" fill="hold" grpId="0" nodeType="withEffect">
                                  <p:stCondLst>
                                    <p:cond delay="700"/>
                                  </p:stCondLst>
                                  <p:childTnLst>
                                    <p:set>
                                      <p:cBhvr>
                                        <p:cTn id="95" dur="1" fill="hold">
                                          <p:stCondLst>
                                            <p:cond delay="0"/>
                                          </p:stCondLst>
                                        </p:cTn>
                                        <p:tgtEl>
                                          <p:spTgt spid="24"/>
                                        </p:tgtEl>
                                        <p:attrNameLst>
                                          <p:attrName>style.visibility</p:attrName>
                                        </p:attrNameLst>
                                      </p:cBhvr>
                                      <p:to>
                                        <p:strVal val="visible"/>
                                      </p:to>
                                    </p:set>
                                    <p:animEffect transition="in" filter="fade">
                                      <p:cBhvr>
                                        <p:cTn id="96" dur="650" fill="hold"/>
                                        <p:tgtEl>
                                          <p:spTgt spid="24"/>
                                        </p:tgtEl>
                                      </p:cBhvr>
                                    </p:animEffect>
                                    <p:anim calcmode="lin" valueType="num">
                                      <p:cBhvr additive="base">
                                        <p:cTn id="97" dur="650" fill="hold"/>
                                        <p:tgtEl>
                                          <p:spTgt spid="24"/>
                                        </p:tgtEl>
                                        <p:attrNameLst>
                                          <p:attrName>ppt_x</p:attrName>
                                        </p:attrNameLst>
                                      </p:cBhvr>
                                      <p:tavLst>
                                        <p:tav tm="0">
                                          <p:val>
                                            <p:strVal val="#ppt_x"/>
                                          </p:val>
                                        </p:tav>
                                        <p:tav tm="100000">
                                          <p:val>
                                            <p:strVal val="#ppt_x"/>
                                          </p:val>
                                        </p:tav>
                                      </p:tavLst>
                                    </p:anim>
                                    <p:anim calcmode="lin" valueType="num">
                                      <p:cBhvr additive="base">
                                        <p:cTn id="98" dur="650" fill="hold"/>
                                        <p:tgtEl>
                                          <p:spTgt spid="24"/>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36576" tIns="18288" rIns="36576" bIns="18288" anchor="t">
            <a:spAutoFit/>
          </a:bodyPr>
          <a:lstStyle/>
          <a:p>
            <a:pPr algn="l"/>
            <a:r>
              <a:rPr sz="1100" b="1" i="0" spc="200">
                <a:solidFill>
                  <a:srgbClr val="2A9FC0"/>
                </a:solidFill>
                <a:latin typeface="Segoe UI Semibold"/>
              </a:rPr>
              <a:t>CORREÇÃO COMENTADA  ·  QUESTÃO 6</a:t>
            </a:r>
          </a:p>
        </p:txBody>
      </p:sp>
      <p:sp>
        <p:nvSpPr>
          <p:cNvPr id="3" name="TextBox 2"/>
          <p:cNvSpPr txBox="1"/>
          <p:nvPr/>
        </p:nvSpPr>
        <p:spPr>
          <a:xfrm>
            <a:off x="548640" y="6400800"/>
            <a:ext cx="7315200" cy="274320"/>
          </a:xfrm>
          <a:prstGeom prst="rect">
            <a:avLst/>
          </a:prstGeom>
          <a:noFill/>
        </p:spPr>
        <p:txBody>
          <a:bodyPr wrap="square" lIns="36576" tIns="18288" rIns="36576" bIns="18288" anchor="t">
            <a:spAutoFit/>
          </a:bodyPr>
          <a:lstStyle/>
          <a:p>
            <a:pPr algn="l"/>
            <a:r>
              <a:rPr sz="1000" b="0" i="0">
                <a:solidFill>
                  <a:srgbClr val="7D827B"/>
                </a:solidFill>
                <a:latin typeface="Segoe UI"/>
              </a:rPr>
              <a:t>HayaiDataSystems  ·  Design Thinking na Prática</a:t>
            </a:r>
          </a:p>
        </p:txBody>
      </p:sp>
      <p:pic>
        <p:nvPicPr>
          <p:cNvPr id="4" name="Picture 3" descr="logo_icon_t.png"/>
          <p:cNvPicPr>
            <a:picLocks noChangeAspect="1"/>
          </p:cNvPicPr>
          <p:nvPr/>
        </p:nvPicPr>
        <p:blipFill>
          <a:blip r:embed="rId3"/>
          <a:stretch>
            <a:fillRect/>
          </a:stretch>
        </p:blipFill>
        <p:spPr>
          <a:xfrm>
            <a:off x="11167567" y="6291072"/>
            <a:ext cx="585673" cy="384048"/>
          </a:xfrm>
          <a:prstGeom prst="rect">
            <a:avLst/>
          </a:prstGeom>
        </p:spPr>
      </p:pic>
      <p:sp>
        <p:nvSpPr>
          <p:cNvPr id="5" name="TextBox 4"/>
          <p:cNvSpPr txBox="1"/>
          <p:nvPr/>
        </p:nvSpPr>
        <p:spPr>
          <a:xfrm>
            <a:off x="548640" y="594360"/>
            <a:ext cx="11064240" cy="1463040"/>
          </a:xfrm>
          <a:prstGeom prst="rect">
            <a:avLst/>
          </a:prstGeom>
          <a:noFill/>
        </p:spPr>
        <p:txBody>
          <a:bodyPr wrap="square" lIns="36576" tIns="18288" rIns="36576" bIns="18288" anchor="t">
            <a:spAutoFit/>
          </a:bodyPr>
          <a:lstStyle/>
          <a:p>
            <a:pPr algn="l">
              <a:lnSpc>
                <a:spcPct val="108000"/>
              </a:lnSpc>
            </a:pPr>
            <a:r>
              <a:rPr sz="1700" b="1" i="0">
                <a:solidFill>
                  <a:srgbClr val="F2F2EC"/>
                </a:solidFill>
                <a:latin typeface="Segoe UI Semibold"/>
              </a:rPr>
              <a:t>No estudo de caso da Clínica Movimento, suponha que o teste do lembrete por WhatsApp tivesse revelado que a maioria dos pacientes não tinha dificuldade para remarcar, mas sim para chegar à clínica (falta de transporte). Segundo o Design Thinking, o que a equipe deveria fazer?</a:t>
            </a:r>
          </a:p>
        </p:txBody>
      </p:sp>
      <p:sp>
        <p:nvSpPr>
          <p:cNvPr id="6" name="Rounded Rectangle 5"/>
          <p:cNvSpPr/>
          <p:nvPr/>
        </p:nvSpPr>
        <p:spPr>
          <a:xfrm>
            <a:off x="548640" y="2240280"/>
            <a:ext cx="11091672" cy="603504"/>
          </a:xfrm>
          <a:prstGeom prst="roundRect">
            <a:avLst>
              <a:gd name="adj" fmla="val 20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722376" y="2350008"/>
            <a:ext cx="384048" cy="384048"/>
          </a:xfrm>
          <a:prstGeom prst="ellipse">
            <a:avLst/>
          </a:prstGeom>
          <a:solidFill>
            <a:srgbClr val="3A413D"/>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300" b="1" i="0">
                <a:solidFill>
                  <a:srgbClr val="B4B8B0"/>
                </a:solidFill>
                <a:latin typeface="Segoe UI Semibold"/>
              </a:rPr>
              <a:t>a</a:t>
            </a:r>
          </a:p>
        </p:txBody>
      </p:sp>
      <p:sp>
        <p:nvSpPr>
          <p:cNvPr id="8" name="TextBox 7"/>
          <p:cNvSpPr txBox="1"/>
          <p:nvPr/>
        </p:nvSpPr>
        <p:spPr>
          <a:xfrm>
            <a:off x="1280160" y="2240280"/>
            <a:ext cx="10149840" cy="603504"/>
          </a:xfrm>
          <a:prstGeom prst="rect">
            <a:avLst/>
          </a:prstGeom>
          <a:noFill/>
        </p:spPr>
        <p:txBody>
          <a:bodyPr wrap="square" lIns="36576" tIns="18288" rIns="36576" bIns="18288" anchor="ctr">
            <a:spAutoFit/>
          </a:bodyPr>
          <a:lstStyle/>
          <a:p>
            <a:pPr algn="l"/>
            <a:r>
              <a:rPr sz="1400" b="0" i="0">
                <a:solidFill>
                  <a:srgbClr val="F2F2EC"/>
                </a:solidFill>
                <a:latin typeface="Segoe UI"/>
              </a:rPr>
              <a:t>Lançar o lembrete mesmo assim, pois já foi desenvolvido.</a:t>
            </a:r>
          </a:p>
        </p:txBody>
      </p:sp>
      <p:sp>
        <p:nvSpPr>
          <p:cNvPr id="9" name="Rounded Rectangle 8"/>
          <p:cNvSpPr/>
          <p:nvPr/>
        </p:nvSpPr>
        <p:spPr>
          <a:xfrm>
            <a:off x="548640" y="2953512"/>
            <a:ext cx="11091672" cy="603504"/>
          </a:xfrm>
          <a:prstGeom prst="roundRect">
            <a:avLst>
              <a:gd name="adj" fmla="val 20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722376" y="3063240"/>
            <a:ext cx="384048" cy="384048"/>
          </a:xfrm>
          <a:prstGeom prst="ellipse">
            <a:avLst/>
          </a:prstGeom>
          <a:solidFill>
            <a:srgbClr val="3A413D"/>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300" b="1" i="0">
                <a:solidFill>
                  <a:srgbClr val="B4B8B0"/>
                </a:solidFill>
                <a:latin typeface="Segoe UI Semibold"/>
              </a:rPr>
              <a:t>b</a:t>
            </a:r>
          </a:p>
        </p:txBody>
      </p:sp>
      <p:sp>
        <p:nvSpPr>
          <p:cNvPr id="11" name="TextBox 10"/>
          <p:cNvSpPr txBox="1"/>
          <p:nvPr/>
        </p:nvSpPr>
        <p:spPr>
          <a:xfrm>
            <a:off x="1280160" y="2953512"/>
            <a:ext cx="10149840" cy="603504"/>
          </a:xfrm>
          <a:prstGeom prst="rect">
            <a:avLst/>
          </a:prstGeom>
          <a:noFill/>
        </p:spPr>
        <p:txBody>
          <a:bodyPr wrap="square" lIns="36576" tIns="18288" rIns="36576" bIns="18288" anchor="ctr">
            <a:spAutoFit/>
          </a:bodyPr>
          <a:lstStyle/>
          <a:p>
            <a:pPr algn="l"/>
            <a:r>
              <a:rPr sz="1400" b="0" i="0">
                <a:solidFill>
                  <a:srgbClr val="F2F2EC"/>
                </a:solidFill>
                <a:latin typeface="Segoe UI"/>
              </a:rPr>
              <a:t>Encerrar o projeto, pois o Design Thinking falhou.</a:t>
            </a:r>
          </a:p>
        </p:txBody>
      </p:sp>
      <p:sp>
        <p:nvSpPr>
          <p:cNvPr id="12" name="Rounded Rectangle 11"/>
          <p:cNvSpPr/>
          <p:nvPr/>
        </p:nvSpPr>
        <p:spPr>
          <a:xfrm>
            <a:off x="548640" y="3666744"/>
            <a:ext cx="11091672" cy="603504"/>
          </a:xfrm>
          <a:prstGeom prst="roundRect">
            <a:avLst>
              <a:gd name="adj" fmla="val 20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722376" y="3776472"/>
            <a:ext cx="384048" cy="384048"/>
          </a:xfrm>
          <a:prstGeom prst="ellipse">
            <a:avLst/>
          </a:prstGeom>
          <a:solidFill>
            <a:srgbClr val="3A413D"/>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300" b="1" i="0">
                <a:solidFill>
                  <a:srgbClr val="B4B8B0"/>
                </a:solidFill>
                <a:latin typeface="Segoe UI Semibold"/>
              </a:rPr>
              <a:t>c</a:t>
            </a:r>
          </a:p>
        </p:txBody>
      </p:sp>
      <p:sp>
        <p:nvSpPr>
          <p:cNvPr id="14" name="TextBox 13"/>
          <p:cNvSpPr txBox="1"/>
          <p:nvPr/>
        </p:nvSpPr>
        <p:spPr>
          <a:xfrm>
            <a:off x="1280160" y="3666744"/>
            <a:ext cx="10149840" cy="603504"/>
          </a:xfrm>
          <a:prstGeom prst="rect">
            <a:avLst/>
          </a:prstGeom>
          <a:noFill/>
        </p:spPr>
        <p:txBody>
          <a:bodyPr wrap="square" lIns="36576" tIns="18288" rIns="36576" bIns="18288" anchor="ctr">
            <a:spAutoFit/>
          </a:bodyPr>
          <a:lstStyle/>
          <a:p>
            <a:pPr algn="l"/>
            <a:r>
              <a:rPr sz="1400" b="0" i="0">
                <a:solidFill>
                  <a:srgbClr val="F2F2EC"/>
                </a:solidFill>
                <a:latin typeface="Segoe UI"/>
              </a:rPr>
              <a:t>Aplicar uma taxa por falta para forçar a presença.</a:t>
            </a:r>
          </a:p>
        </p:txBody>
      </p:sp>
      <p:sp>
        <p:nvSpPr>
          <p:cNvPr id="15" name="Rounded Rectangle 14"/>
          <p:cNvSpPr/>
          <p:nvPr/>
        </p:nvSpPr>
        <p:spPr>
          <a:xfrm>
            <a:off x="548640" y="4379976"/>
            <a:ext cx="11091672" cy="603504"/>
          </a:xfrm>
          <a:prstGeom prst="roundRect">
            <a:avLst>
              <a:gd name="adj" fmla="val 20000"/>
            </a:avLst>
          </a:prstGeom>
          <a:solidFill>
            <a:srgbClr val="24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722376" y="4489704"/>
            <a:ext cx="384048" cy="384048"/>
          </a:xfrm>
          <a:prstGeom prst="ellipse">
            <a:avLst/>
          </a:prstGeom>
          <a:solidFill>
            <a:srgbClr val="3A413D"/>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300" b="1" i="0">
                <a:solidFill>
                  <a:srgbClr val="B4B8B0"/>
                </a:solidFill>
                <a:latin typeface="Segoe UI Semibold"/>
              </a:rPr>
              <a:t>d</a:t>
            </a:r>
          </a:p>
        </p:txBody>
      </p:sp>
      <p:sp>
        <p:nvSpPr>
          <p:cNvPr id="17" name="TextBox 16"/>
          <p:cNvSpPr txBox="1"/>
          <p:nvPr/>
        </p:nvSpPr>
        <p:spPr>
          <a:xfrm>
            <a:off x="1280160" y="4379976"/>
            <a:ext cx="10149840" cy="603504"/>
          </a:xfrm>
          <a:prstGeom prst="rect">
            <a:avLst/>
          </a:prstGeom>
          <a:noFill/>
        </p:spPr>
        <p:txBody>
          <a:bodyPr wrap="square" lIns="36576" tIns="18288" rIns="36576" bIns="18288" anchor="ctr">
            <a:spAutoFit/>
          </a:bodyPr>
          <a:lstStyle/>
          <a:p>
            <a:pPr algn="l"/>
            <a:r>
              <a:rPr sz="1400" b="0" i="0">
                <a:solidFill>
                  <a:srgbClr val="F2F2EC"/>
                </a:solidFill>
                <a:latin typeface="Segoe UI"/>
              </a:rPr>
              <a:t>Voltar às etapas anteriores, redefinir o problema com o novo aprendizado e gerar novas ideias.</a:t>
            </a:r>
          </a:p>
        </p:txBody>
      </p:sp>
      <p:sp>
        <p:nvSpPr>
          <p:cNvPr id="18" name="Rectangle 17"/>
          <p:cNvSpPr/>
          <p:nvPr/>
        </p:nvSpPr>
        <p:spPr>
          <a:xfrm>
            <a:off x="502920" y="2212848"/>
            <a:ext cx="11183112" cy="658368"/>
          </a:xfrm>
          <a:prstGeom prst="rect">
            <a:avLst/>
          </a:prstGeom>
          <a:solidFill>
            <a:srgbClr val="1A1A1A">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502920" y="2926080"/>
            <a:ext cx="11183112" cy="658368"/>
          </a:xfrm>
          <a:prstGeom prst="rect">
            <a:avLst/>
          </a:prstGeom>
          <a:solidFill>
            <a:srgbClr val="1A1A1A">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502920" y="3639312"/>
            <a:ext cx="11183112" cy="658368"/>
          </a:xfrm>
          <a:prstGeom prst="rect">
            <a:avLst/>
          </a:prstGeom>
          <a:solidFill>
            <a:srgbClr val="1A1A1A">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ounded Rectangle 20"/>
          <p:cNvSpPr/>
          <p:nvPr/>
        </p:nvSpPr>
        <p:spPr>
          <a:xfrm>
            <a:off x="548640" y="4379976"/>
            <a:ext cx="11091672" cy="603504"/>
          </a:xfrm>
          <a:prstGeom prst="roundRect">
            <a:avLst>
              <a:gd name="adj" fmla="val 20000"/>
            </a:avLst>
          </a:prstGeom>
          <a:noFill/>
          <a:ln w="31750">
            <a:solidFill>
              <a:srgbClr val="9CD84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722376" y="4489704"/>
            <a:ext cx="384048" cy="384048"/>
          </a:xfrm>
          <a:prstGeom prst="ellipse">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sz="1300" b="1" i="0">
                <a:solidFill>
                  <a:srgbClr val="1A1A1A"/>
                </a:solidFill>
                <a:latin typeface="Segoe UI Semibold"/>
              </a:rPr>
              <a:t>d</a:t>
            </a:r>
          </a:p>
        </p:txBody>
      </p:sp>
      <p:sp>
        <p:nvSpPr>
          <p:cNvPr id="23" name="Rounded Rectangle 22"/>
          <p:cNvSpPr/>
          <p:nvPr/>
        </p:nvSpPr>
        <p:spPr>
          <a:xfrm>
            <a:off x="10058400" y="4498848"/>
            <a:ext cx="1417320" cy="365760"/>
          </a:xfrm>
          <a:prstGeom prst="roundRect">
            <a:avLst>
              <a:gd name="adj" fmla="val 50000"/>
            </a:avLst>
          </a:prstGeom>
          <a:solidFill>
            <a:srgbClr val="9CD848"/>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200" b="1" i="0">
                <a:solidFill>
                  <a:srgbClr val="1A1A1A"/>
                </a:solidFill>
                <a:latin typeface="Segoe UI Semibold"/>
              </a:rPr>
              <a:t>✓  Correta</a:t>
            </a:r>
          </a:p>
        </p:txBody>
      </p:sp>
      <p:sp>
        <p:nvSpPr>
          <p:cNvPr id="24" name="TextBox 23"/>
          <p:cNvSpPr txBox="1"/>
          <p:nvPr/>
        </p:nvSpPr>
        <p:spPr>
          <a:xfrm>
            <a:off x="548640" y="5166360"/>
            <a:ext cx="11064240" cy="1097280"/>
          </a:xfrm>
          <a:prstGeom prst="rect">
            <a:avLst/>
          </a:prstGeom>
          <a:noFill/>
        </p:spPr>
        <p:txBody>
          <a:bodyPr wrap="square" lIns="36576" tIns="18288" rIns="36576" bIns="18288" anchor="t">
            <a:spAutoFit/>
          </a:bodyPr>
          <a:lstStyle/>
          <a:p>
            <a:pPr algn="l"/>
            <a:r>
              <a:rPr sz="1250" b="1" i="0">
                <a:solidFill>
                  <a:srgbClr val="9CD848"/>
                </a:solidFill>
                <a:latin typeface="Segoe UI Semibold"/>
              </a:rPr>
              <a:t>Por quê: </a:t>
            </a:r>
            <a:r>
              <a:rPr sz="1250" b="0" i="0">
                <a:solidFill>
                  <a:srgbClr val="B4B8B0"/>
                </a:solidFill>
                <a:latin typeface="Segoe UI"/>
              </a:rPr>
              <a:t>O Design Thinking é iterativo e não linear: um teste que revela um problema diferente é um aprendizado valioso. A equipe deve voltar a Definir (e, se preciso, a Empatizar) e gerar novas ideias. Lançar algo que não resolve o problema real, desistir ou punir o paciente contrariam o método.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fill="hold"/>
                                        <p:tgtEl>
                                          <p:spTgt spid="5"/>
                                        </p:tgtEl>
                                      </p:cBhvr>
                                    </p:animEffect>
                                  </p:childTnLst>
                                </p:cTn>
                              </p:par>
                              <p:par>
                                <p:cTn id="8" presetID="42" presetClass="entr" presetSubtype="0" decel="100000" fill="hold" grpId="0" nodeType="withEffect">
                                  <p:stCondLst>
                                    <p:cond delay="3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50" fill="hold"/>
                                        <p:tgtEl>
                                          <p:spTgt spid="6"/>
                                        </p:tgtEl>
                                      </p:cBhvr>
                                    </p:animEffect>
                                    <p:anim calcmode="lin" valueType="num">
                                      <p:cBhvr additive="base">
                                        <p:cTn id="11" dur="650" fill="hold"/>
                                        <p:tgtEl>
                                          <p:spTgt spid="6"/>
                                        </p:tgtEl>
                                        <p:attrNameLst>
                                          <p:attrName>ppt_x</p:attrName>
                                        </p:attrNameLst>
                                      </p:cBhvr>
                                      <p:tavLst>
                                        <p:tav tm="0">
                                          <p:val>
                                            <p:strVal val="#ppt_x"/>
                                          </p:val>
                                        </p:tav>
                                        <p:tav tm="100000">
                                          <p:val>
                                            <p:strVal val="#ppt_x"/>
                                          </p:val>
                                        </p:tav>
                                      </p:tavLst>
                                    </p:anim>
                                    <p:anim calcmode="lin" valueType="num">
                                      <p:cBhvr additive="base">
                                        <p:cTn id="12" dur="650" fill="hold"/>
                                        <p:tgtEl>
                                          <p:spTgt spid="6"/>
                                        </p:tgtEl>
                                        <p:attrNameLst>
                                          <p:attrName>ppt_y</p:attrName>
                                        </p:attrNameLst>
                                      </p:cBhvr>
                                      <p:tavLst>
                                        <p:tav tm="0">
                                          <p:val>
                                            <p:strVal val="#ppt_y+.06"/>
                                          </p:val>
                                        </p:tav>
                                        <p:tav tm="100000">
                                          <p:val>
                                            <p:strVal val="#ppt_y"/>
                                          </p:val>
                                        </p:tav>
                                      </p:tavLst>
                                    </p:anim>
                                  </p:childTnLst>
                                </p:cTn>
                              </p:par>
                              <p:par>
                                <p:cTn id="13" presetID="42" presetClass="entr" presetSubtype="0" decel="100000" fill="hold" grpId="0" nodeType="withEffect">
                                  <p:stCondLst>
                                    <p:cond delay="30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fill="hold"/>
                                        <p:tgtEl>
                                          <p:spTgt spid="7"/>
                                        </p:tgtEl>
                                      </p:cBhvr>
                                    </p:animEffect>
                                    <p:anim calcmode="lin" valueType="num">
                                      <p:cBhvr additive="base">
                                        <p:cTn id="16" dur="650" fill="hold"/>
                                        <p:tgtEl>
                                          <p:spTgt spid="7"/>
                                        </p:tgtEl>
                                        <p:attrNameLst>
                                          <p:attrName>ppt_x</p:attrName>
                                        </p:attrNameLst>
                                      </p:cBhvr>
                                      <p:tavLst>
                                        <p:tav tm="0">
                                          <p:val>
                                            <p:strVal val="#ppt_x"/>
                                          </p:val>
                                        </p:tav>
                                        <p:tav tm="100000">
                                          <p:val>
                                            <p:strVal val="#ppt_x"/>
                                          </p:val>
                                        </p:tav>
                                      </p:tavLst>
                                    </p:anim>
                                    <p:anim calcmode="lin" valueType="num">
                                      <p:cBhvr additive="base">
                                        <p:cTn id="17" dur="650" fill="hold"/>
                                        <p:tgtEl>
                                          <p:spTgt spid="7"/>
                                        </p:tgtEl>
                                        <p:attrNameLst>
                                          <p:attrName>ppt_y</p:attrName>
                                        </p:attrNameLst>
                                      </p:cBhvr>
                                      <p:tavLst>
                                        <p:tav tm="0">
                                          <p:val>
                                            <p:strVal val="#ppt_y+.06"/>
                                          </p:val>
                                        </p:tav>
                                        <p:tav tm="100000">
                                          <p:val>
                                            <p:strVal val="#ppt_y"/>
                                          </p:val>
                                        </p:tav>
                                      </p:tavLst>
                                    </p:anim>
                                  </p:childTnLst>
                                </p:cTn>
                              </p:par>
                              <p:par>
                                <p:cTn id="18" presetID="42" presetClass="entr" presetSubtype="0" decel="100000" fill="hold" grpId="0" nodeType="withEffect">
                                  <p:stCondLst>
                                    <p:cond delay="30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650" fill="hold"/>
                                        <p:tgtEl>
                                          <p:spTgt spid="8"/>
                                        </p:tgtEl>
                                      </p:cBhvr>
                                    </p:animEffect>
                                    <p:anim calcmode="lin" valueType="num">
                                      <p:cBhvr additive="base">
                                        <p:cTn id="21" dur="650" fill="hold"/>
                                        <p:tgtEl>
                                          <p:spTgt spid="8"/>
                                        </p:tgtEl>
                                        <p:attrNameLst>
                                          <p:attrName>ppt_x</p:attrName>
                                        </p:attrNameLst>
                                      </p:cBhvr>
                                      <p:tavLst>
                                        <p:tav tm="0">
                                          <p:val>
                                            <p:strVal val="#ppt_x"/>
                                          </p:val>
                                        </p:tav>
                                        <p:tav tm="100000">
                                          <p:val>
                                            <p:strVal val="#ppt_x"/>
                                          </p:val>
                                        </p:tav>
                                      </p:tavLst>
                                    </p:anim>
                                    <p:anim calcmode="lin" valueType="num">
                                      <p:cBhvr additive="base">
                                        <p:cTn id="22" dur="650" fill="hold"/>
                                        <p:tgtEl>
                                          <p:spTgt spid="8"/>
                                        </p:tgtEl>
                                        <p:attrNameLst>
                                          <p:attrName>ppt_y</p:attrName>
                                        </p:attrNameLst>
                                      </p:cBhvr>
                                      <p:tavLst>
                                        <p:tav tm="0">
                                          <p:val>
                                            <p:strVal val="#ppt_y+.06"/>
                                          </p:val>
                                        </p:tav>
                                        <p:tav tm="100000">
                                          <p:val>
                                            <p:strVal val="#ppt_y"/>
                                          </p:val>
                                        </p:tav>
                                      </p:tavLst>
                                    </p:anim>
                                  </p:childTnLst>
                                </p:cTn>
                              </p:par>
                              <p:par>
                                <p:cTn id="23" presetID="42" presetClass="entr" presetSubtype="0" decel="100000" fill="hold" grpId="0" nodeType="withEffect">
                                  <p:stCondLst>
                                    <p:cond delay="45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650" fill="hold"/>
                                        <p:tgtEl>
                                          <p:spTgt spid="9"/>
                                        </p:tgtEl>
                                      </p:cBhvr>
                                    </p:animEffect>
                                    <p:anim calcmode="lin" valueType="num">
                                      <p:cBhvr additive="base">
                                        <p:cTn id="26" dur="650" fill="hold"/>
                                        <p:tgtEl>
                                          <p:spTgt spid="9"/>
                                        </p:tgtEl>
                                        <p:attrNameLst>
                                          <p:attrName>ppt_x</p:attrName>
                                        </p:attrNameLst>
                                      </p:cBhvr>
                                      <p:tavLst>
                                        <p:tav tm="0">
                                          <p:val>
                                            <p:strVal val="#ppt_x"/>
                                          </p:val>
                                        </p:tav>
                                        <p:tav tm="100000">
                                          <p:val>
                                            <p:strVal val="#ppt_x"/>
                                          </p:val>
                                        </p:tav>
                                      </p:tavLst>
                                    </p:anim>
                                    <p:anim calcmode="lin" valueType="num">
                                      <p:cBhvr additive="base">
                                        <p:cTn id="27" dur="650" fill="hold"/>
                                        <p:tgtEl>
                                          <p:spTgt spid="9"/>
                                        </p:tgtEl>
                                        <p:attrNameLst>
                                          <p:attrName>ppt_y</p:attrName>
                                        </p:attrNameLst>
                                      </p:cBhvr>
                                      <p:tavLst>
                                        <p:tav tm="0">
                                          <p:val>
                                            <p:strVal val="#ppt_y+.06"/>
                                          </p:val>
                                        </p:tav>
                                        <p:tav tm="100000">
                                          <p:val>
                                            <p:strVal val="#ppt_y"/>
                                          </p:val>
                                        </p:tav>
                                      </p:tavLst>
                                    </p:anim>
                                  </p:childTnLst>
                                </p:cTn>
                              </p:par>
                              <p:par>
                                <p:cTn id="28" presetID="42" presetClass="entr" presetSubtype="0" decel="100000" fill="hold" grpId="0" nodeType="withEffect">
                                  <p:stCondLst>
                                    <p:cond delay="45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650" fill="hold"/>
                                        <p:tgtEl>
                                          <p:spTgt spid="10"/>
                                        </p:tgtEl>
                                      </p:cBhvr>
                                    </p:animEffect>
                                    <p:anim calcmode="lin" valueType="num">
                                      <p:cBhvr additive="base">
                                        <p:cTn id="31" dur="650" fill="hold"/>
                                        <p:tgtEl>
                                          <p:spTgt spid="10"/>
                                        </p:tgtEl>
                                        <p:attrNameLst>
                                          <p:attrName>ppt_x</p:attrName>
                                        </p:attrNameLst>
                                      </p:cBhvr>
                                      <p:tavLst>
                                        <p:tav tm="0">
                                          <p:val>
                                            <p:strVal val="#ppt_x"/>
                                          </p:val>
                                        </p:tav>
                                        <p:tav tm="100000">
                                          <p:val>
                                            <p:strVal val="#ppt_x"/>
                                          </p:val>
                                        </p:tav>
                                      </p:tavLst>
                                    </p:anim>
                                    <p:anim calcmode="lin" valueType="num">
                                      <p:cBhvr additive="base">
                                        <p:cTn id="32" dur="650" fill="hold"/>
                                        <p:tgtEl>
                                          <p:spTgt spid="10"/>
                                        </p:tgtEl>
                                        <p:attrNameLst>
                                          <p:attrName>ppt_y</p:attrName>
                                        </p:attrNameLst>
                                      </p:cBhvr>
                                      <p:tavLst>
                                        <p:tav tm="0">
                                          <p:val>
                                            <p:strVal val="#ppt_y+.06"/>
                                          </p:val>
                                        </p:tav>
                                        <p:tav tm="100000">
                                          <p:val>
                                            <p:strVal val="#ppt_y"/>
                                          </p:val>
                                        </p:tav>
                                      </p:tavLst>
                                    </p:anim>
                                  </p:childTnLst>
                                </p:cTn>
                              </p:par>
                              <p:par>
                                <p:cTn id="33" presetID="42" presetClass="entr" presetSubtype="0" decel="100000" fill="hold" grpId="0" nodeType="withEffect">
                                  <p:stCondLst>
                                    <p:cond delay="45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650" fill="hold"/>
                                        <p:tgtEl>
                                          <p:spTgt spid="11"/>
                                        </p:tgtEl>
                                      </p:cBhvr>
                                    </p:animEffect>
                                    <p:anim calcmode="lin" valueType="num">
                                      <p:cBhvr additive="base">
                                        <p:cTn id="36" dur="650" fill="hold"/>
                                        <p:tgtEl>
                                          <p:spTgt spid="11"/>
                                        </p:tgtEl>
                                        <p:attrNameLst>
                                          <p:attrName>ppt_x</p:attrName>
                                        </p:attrNameLst>
                                      </p:cBhvr>
                                      <p:tavLst>
                                        <p:tav tm="0">
                                          <p:val>
                                            <p:strVal val="#ppt_x"/>
                                          </p:val>
                                        </p:tav>
                                        <p:tav tm="100000">
                                          <p:val>
                                            <p:strVal val="#ppt_x"/>
                                          </p:val>
                                        </p:tav>
                                      </p:tavLst>
                                    </p:anim>
                                    <p:anim calcmode="lin" valueType="num">
                                      <p:cBhvr additive="base">
                                        <p:cTn id="37" dur="650" fill="hold"/>
                                        <p:tgtEl>
                                          <p:spTgt spid="11"/>
                                        </p:tgtEl>
                                        <p:attrNameLst>
                                          <p:attrName>ppt_y</p:attrName>
                                        </p:attrNameLst>
                                      </p:cBhvr>
                                      <p:tavLst>
                                        <p:tav tm="0">
                                          <p:val>
                                            <p:strVal val="#ppt_y+.06"/>
                                          </p:val>
                                        </p:tav>
                                        <p:tav tm="100000">
                                          <p:val>
                                            <p:strVal val="#ppt_y"/>
                                          </p:val>
                                        </p:tav>
                                      </p:tavLst>
                                    </p:anim>
                                  </p:childTnLst>
                                </p:cTn>
                              </p:par>
                              <p:par>
                                <p:cTn id="38" presetID="42" presetClass="entr" presetSubtype="0" decel="100000" fill="hold" grpId="0" nodeType="withEffect">
                                  <p:stCondLst>
                                    <p:cond delay="60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650" fill="hold"/>
                                        <p:tgtEl>
                                          <p:spTgt spid="12"/>
                                        </p:tgtEl>
                                      </p:cBhvr>
                                    </p:animEffect>
                                    <p:anim calcmode="lin" valueType="num">
                                      <p:cBhvr additive="base">
                                        <p:cTn id="41" dur="650" fill="hold"/>
                                        <p:tgtEl>
                                          <p:spTgt spid="12"/>
                                        </p:tgtEl>
                                        <p:attrNameLst>
                                          <p:attrName>ppt_x</p:attrName>
                                        </p:attrNameLst>
                                      </p:cBhvr>
                                      <p:tavLst>
                                        <p:tav tm="0">
                                          <p:val>
                                            <p:strVal val="#ppt_x"/>
                                          </p:val>
                                        </p:tav>
                                        <p:tav tm="100000">
                                          <p:val>
                                            <p:strVal val="#ppt_x"/>
                                          </p:val>
                                        </p:tav>
                                      </p:tavLst>
                                    </p:anim>
                                    <p:anim calcmode="lin" valueType="num">
                                      <p:cBhvr additive="base">
                                        <p:cTn id="42" dur="650" fill="hold"/>
                                        <p:tgtEl>
                                          <p:spTgt spid="12"/>
                                        </p:tgtEl>
                                        <p:attrNameLst>
                                          <p:attrName>ppt_y</p:attrName>
                                        </p:attrNameLst>
                                      </p:cBhvr>
                                      <p:tavLst>
                                        <p:tav tm="0">
                                          <p:val>
                                            <p:strVal val="#ppt_y+.06"/>
                                          </p:val>
                                        </p:tav>
                                        <p:tav tm="100000">
                                          <p:val>
                                            <p:strVal val="#ppt_y"/>
                                          </p:val>
                                        </p:tav>
                                      </p:tavLst>
                                    </p:anim>
                                  </p:childTnLst>
                                </p:cTn>
                              </p:par>
                              <p:par>
                                <p:cTn id="43" presetID="42" presetClass="entr" presetSubtype="0" decel="100000" fill="hold" grpId="0" nodeType="withEffect">
                                  <p:stCondLst>
                                    <p:cond delay="60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650" fill="hold"/>
                                        <p:tgtEl>
                                          <p:spTgt spid="13"/>
                                        </p:tgtEl>
                                      </p:cBhvr>
                                    </p:animEffect>
                                    <p:anim calcmode="lin" valueType="num">
                                      <p:cBhvr additive="base">
                                        <p:cTn id="46" dur="650" fill="hold"/>
                                        <p:tgtEl>
                                          <p:spTgt spid="13"/>
                                        </p:tgtEl>
                                        <p:attrNameLst>
                                          <p:attrName>ppt_x</p:attrName>
                                        </p:attrNameLst>
                                      </p:cBhvr>
                                      <p:tavLst>
                                        <p:tav tm="0">
                                          <p:val>
                                            <p:strVal val="#ppt_x"/>
                                          </p:val>
                                        </p:tav>
                                        <p:tav tm="100000">
                                          <p:val>
                                            <p:strVal val="#ppt_x"/>
                                          </p:val>
                                        </p:tav>
                                      </p:tavLst>
                                    </p:anim>
                                    <p:anim calcmode="lin" valueType="num">
                                      <p:cBhvr additive="base">
                                        <p:cTn id="47" dur="650" fill="hold"/>
                                        <p:tgtEl>
                                          <p:spTgt spid="13"/>
                                        </p:tgtEl>
                                        <p:attrNameLst>
                                          <p:attrName>ppt_y</p:attrName>
                                        </p:attrNameLst>
                                      </p:cBhvr>
                                      <p:tavLst>
                                        <p:tav tm="0">
                                          <p:val>
                                            <p:strVal val="#ppt_y+.06"/>
                                          </p:val>
                                        </p:tav>
                                        <p:tav tm="100000">
                                          <p:val>
                                            <p:strVal val="#ppt_y"/>
                                          </p:val>
                                        </p:tav>
                                      </p:tavLst>
                                    </p:anim>
                                  </p:childTnLst>
                                </p:cTn>
                              </p:par>
                              <p:par>
                                <p:cTn id="48" presetID="42" presetClass="entr" presetSubtype="0" decel="100000" fill="hold" grpId="0" nodeType="withEffect">
                                  <p:stCondLst>
                                    <p:cond delay="60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650" fill="hold"/>
                                        <p:tgtEl>
                                          <p:spTgt spid="14"/>
                                        </p:tgtEl>
                                      </p:cBhvr>
                                    </p:animEffect>
                                    <p:anim calcmode="lin" valueType="num">
                                      <p:cBhvr additive="base">
                                        <p:cTn id="51" dur="650" fill="hold"/>
                                        <p:tgtEl>
                                          <p:spTgt spid="14"/>
                                        </p:tgtEl>
                                        <p:attrNameLst>
                                          <p:attrName>ppt_x</p:attrName>
                                        </p:attrNameLst>
                                      </p:cBhvr>
                                      <p:tavLst>
                                        <p:tav tm="0">
                                          <p:val>
                                            <p:strVal val="#ppt_x"/>
                                          </p:val>
                                        </p:tav>
                                        <p:tav tm="100000">
                                          <p:val>
                                            <p:strVal val="#ppt_x"/>
                                          </p:val>
                                        </p:tav>
                                      </p:tavLst>
                                    </p:anim>
                                    <p:anim calcmode="lin" valueType="num">
                                      <p:cBhvr additive="base">
                                        <p:cTn id="52" dur="650" fill="hold"/>
                                        <p:tgtEl>
                                          <p:spTgt spid="14"/>
                                        </p:tgtEl>
                                        <p:attrNameLst>
                                          <p:attrName>ppt_y</p:attrName>
                                        </p:attrNameLst>
                                      </p:cBhvr>
                                      <p:tavLst>
                                        <p:tav tm="0">
                                          <p:val>
                                            <p:strVal val="#ppt_y+.06"/>
                                          </p:val>
                                        </p:tav>
                                        <p:tav tm="100000">
                                          <p:val>
                                            <p:strVal val="#ppt_y"/>
                                          </p:val>
                                        </p:tav>
                                      </p:tavLst>
                                    </p:anim>
                                  </p:childTnLst>
                                </p:cTn>
                              </p:par>
                              <p:par>
                                <p:cTn id="53" presetID="42" presetClass="entr" presetSubtype="0" decel="100000" fill="hold" grpId="0" nodeType="withEffect">
                                  <p:stCondLst>
                                    <p:cond delay="75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650" fill="hold"/>
                                        <p:tgtEl>
                                          <p:spTgt spid="15"/>
                                        </p:tgtEl>
                                      </p:cBhvr>
                                    </p:animEffect>
                                    <p:anim calcmode="lin" valueType="num">
                                      <p:cBhvr additive="base">
                                        <p:cTn id="56" dur="650" fill="hold"/>
                                        <p:tgtEl>
                                          <p:spTgt spid="15"/>
                                        </p:tgtEl>
                                        <p:attrNameLst>
                                          <p:attrName>ppt_x</p:attrName>
                                        </p:attrNameLst>
                                      </p:cBhvr>
                                      <p:tavLst>
                                        <p:tav tm="0">
                                          <p:val>
                                            <p:strVal val="#ppt_x"/>
                                          </p:val>
                                        </p:tav>
                                        <p:tav tm="100000">
                                          <p:val>
                                            <p:strVal val="#ppt_x"/>
                                          </p:val>
                                        </p:tav>
                                      </p:tavLst>
                                    </p:anim>
                                    <p:anim calcmode="lin" valueType="num">
                                      <p:cBhvr additive="base">
                                        <p:cTn id="57" dur="650" fill="hold"/>
                                        <p:tgtEl>
                                          <p:spTgt spid="15"/>
                                        </p:tgtEl>
                                        <p:attrNameLst>
                                          <p:attrName>ppt_y</p:attrName>
                                        </p:attrNameLst>
                                      </p:cBhvr>
                                      <p:tavLst>
                                        <p:tav tm="0">
                                          <p:val>
                                            <p:strVal val="#ppt_y+.06"/>
                                          </p:val>
                                        </p:tav>
                                        <p:tav tm="100000">
                                          <p:val>
                                            <p:strVal val="#ppt_y"/>
                                          </p:val>
                                        </p:tav>
                                      </p:tavLst>
                                    </p:anim>
                                  </p:childTnLst>
                                </p:cTn>
                              </p:par>
                              <p:par>
                                <p:cTn id="58" presetID="42" presetClass="entr" presetSubtype="0" decel="100000" fill="hold" grpId="0" nodeType="withEffect">
                                  <p:stCondLst>
                                    <p:cond delay="75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650" fill="hold"/>
                                        <p:tgtEl>
                                          <p:spTgt spid="16"/>
                                        </p:tgtEl>
                                      </p:cBhvr>
                                    </p:animEffect>
                                    <p:anim calcmode="lin" valueType="num">
                                      <p:cBhvr additive="base">
                                        <p:cTn id="61" dur="650" fill="hold"/>
                                        <p:tgtEl>
                                          <p:spTgt spid="16"/>
                                        </p:tgtEl>
                                        <p:attrNameLst>
                                          <p:attrName>ppt_x</p:attrName>
                                        </p:attrNameLst>
                                      </p:cBhvr>
                                      <p:tavLst>
                                        <p:tav tm="0">
                                          <p:val>
                                            <p:strVal val="#ppt_x"/>
                                          </p:val>
                                        </p:tav>
                                        <p:tav tm="100000">
                                          <p:val>
                                            <p:strVal val="#ppt_x"/>
                                          </p:val>
                                        </p:tav>
                                      </p:tavLst>
                                    </p:anim>
                                    <p:anim calcmode="lin" valueType="num">
                                      <p:cBhvr additive="base">
                                        <p:cTn id="62" dur="650" fill="hold"/>
                                        <p:tgtEl>
                                          <p:spTgt spid="16"/>
                                        </p:tgtEl>
                                        <p:attrNameLst>
                                          <p:attrName>ppt_y</p:attrName>
                                        </p:attrNameLst>
                                      </p:cBhvr>
                                      <p:tavLst>
                                        <p:tav tm="0">
                                          <p:val>
                                            <p:strVal val="#ppt_y+.06"/>
                                          </p:val>
                                        </p:tav>
                                        <p:tav tm="100000">
                                          <p:val>
                                            <p:strVal val="#ppt_y"/>
                                          </p:val>
                                        </p:tav>
                                      </p:tavLst>
                                    </p:anim>
                                  </p:childTnLst>
                                </p:cTn>
                              </p:par>
                              <p:par>
                                <p:cTn id="63" presetID="42" presetClass="entr" presetSubtype="0" decel="100000" fill="hold" grpId="0" nodeType="withEffect">
                                  <p:stCondLst>
                                    <p:cond delay="750"/>
                                  </p:stCondLst>
                                  <p:childTnLst>
                                    <p:set>
                                      <p:cBhvr>
                                        <p:cTn id="64" dur="1" fill="hold">
                                          <p:stCondLst>
                                            <p:cond delay="0"/>
                                          </p:stCondLst>
                                        </p:cTn>
                                        <p:tgtEl>
                                          <p:spTgt spid="17"/>
                                        </p:tgtEl>
                                        <p:attrNameLst>
                                          <p:attrName>style.visibility</p:attrName>
                                        </p:attrNameLst>
                                      </p:cBhvr>
                                      <p:to>
                                        <p:strVal val="visible"/>
                                      </p:to>
                                    </p:set>
                                    <p:animEffect transition="in" filter="fade">
                                      <p:cBhvr>
                                        <p:cTn id="65" dur="650" fill="hold"/>
                                        <p:tgtEl>
                                          <p:spTgt spid="17"/>
                                        </p:tgtEl>
                                      </p:cBhvr>
                                    </p:animEffect>
                                    <p:anim calcmode="lin" valueType="num">
                                      <p:cBhvr additive="base">
                                        <p:cTn id="66" dur="650" fill="hold"/>
                                        <p:tgtEl>
                                          <p:spTgt spid="17"/>
                                        </p:tgtEl>
                                        <p:attrNameLst>
                                          <p:attrName>ppt_x</p:attrName>
                                        </p:attrNameLst>
                                      </p:cBhvr>
                                      <p:tavLst>
                                        <p:tav tm="0">
                                          <p:val>
                                            <p:strVal val="#ppt_x"/>
                                          </p:val>
                                        </p:tav>
                                        <p:tav tm="100000">
                                          <p:val>
                                            <p:strVal val="#ppt_x"/>
                                          </p:val>
                                        </p:tav>
                                      </p:tavLst>
                                    </p:anim>
                                    <p:anim calcmode="lin" valueType="num">
                                      <p:cBhvr additive="base">
                                        <p:cTn id="67" dur="650" fill="hold"/>
                                        <p:tgtEl>
                                          <p:spTgt spid="17"/>
                                        </p:tgtEl>
                                        <p:attrNameLst>
                                          <p:attrName>ppt_y</p:attrName>
                                        </p:attrNameLst>
                                      </p:cBhvr>
                                      <p:tavLst>
                                        <p:tav tm="0">
                                          <p:val>
                                            <p:strVal val="#ppt_y+.06"/>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600" fill="hold"/>
                                        <p:tgtEl>
                                          <p:spTgt spid="18"/>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600" fill="hold"/>
                                        <p:tgtEl>
                                          <p:spTgt spid="19"/>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600" fill="hold"/>
                                        <p:tgtEl>
                                          <p:spTgt spid="20"/>
                                        </p:tgtEl>
                                      </p:cBhvr>
                                    </p:animEffect>
                                  </p:childTnLst>
                                </p:cTn>
                              </p:par>
                              <p:par>
                                <p:cTn id="79" presetID="53" presetClass="entr" presetSubtype="16" decel="100000" fill="hold" grpId="0" nodeType="withEffect">
                                  <p:stCondLst>
                                    <p:cond delay="100"/>
                                  </p:stCondLst>
                                  <p:childTnLst>
                                    <p:set>
                                      <p:cBhvr>
                                        <p:cTn id="80" dur="1" fill="hold">
                                          <p:stCondLst>
                                            <p:cond delay="0"/>
                                          </p:stCondLst>
                                        </p:cTn>
                                        <p:tgtEl>
                                          <p:spTgt spid="21"/>
                                        </p:tgtEl>
                                        <p:attrNameLst>
                                          <p:attrName>style.visibility</p:attrName>
                                        </p:attrNameLst>
                                      </p:cBhvr>
                                      <p:to>
                                        <p:strVal val="visible"/>
                                      </p:to>
                                    </p:set>
                                    <p:anim calcmode="lin" valueType="num">
                                      <p:cBhvr additive="base">
                                        <p:cTn id="81" dur="450" fill="hold"/>
                                        <p:tgtEl>
                                          <p:spTgt spid="21"/>
                                        </p:tgtEl>
                                        <p:attrNameLst>
                                          <p:attrName>ppt_w</p:attrName>
                                        </p:attrNameLst>
                                      </p:cBhvr>
                                      <p:tavLst>
                                        <p:tav tm="0">
                                          <p:val>
                                            <p:strVal val="0"/>
                                          </p:val>
                                        </p:tav>
                                        <p:tav tm="70000">
                                          <p:val>
                                            <p:strVal val="#ppt_w*1.08"/>
                                          </p:val>
                                        </p:tav>
                                        <p:tav tm="100000">
                                          <p:val>
                                            <p:strVal val="#ppt_w"/>
                                          </p:val>
                                        </p:tav>
                                      </p:tavLst>
                                    </p:anim>
                                    <p:anim calcmode="lin" valueType="num">
                                      <p:cBhvr additive="base">
                                        <p:cTn id="82" dur="450" fill="hold"/>
                                        <p:tgtEl>
                                          <p:spTgt spid="21"/>
                                        </p:tgtEl>
                                        <p:attrNameLst>
                                          <p:attrName>ppt_h</p:attrName>
                                        </p:attrNameLst>
                                      </p:cBhvr>
                                      <p:tavLst>
                                        <p:tav tm="0">
                                          <p:val>
                                            <p:strVal val="0"/>
                                          </p:val>
                                        </p:tav>
                                        <p:tav tm="70000">
                                          <p:val>
                                            <p:strVal val="#ppt_h*1.08"/>
                                          </p:val>
                                        </p:tav>
                                        <p:tav tm="100000">
                                          <p:val>
                                            <p:strVal val="#ppt_h"/>
                                          </p:val>
                                        </p:tav>
                                      </p:tavLst>
                                    </p:anim>
                                    <p:animEffect transition="in" filter="fade">
                                      <p:cBhvr>
                                        <p:cTn id="83" dur="270" fill="hold"/>
                                        <p:tgtEl>
                                          <p:spTgt spid="21"/>
                                        </p:tgtEl>
                                      </p:cBhvr>
                                    </p:animEffect>
                                  </p:childTnLst>
                                </p:cTn>
                              </p:par>
                              <p:par>
                                <p:cTn id="84" presetID="53" presetClass="entr" presetSubtype="16" decel="100000" fill="hold" grpId="0" nodeType="withEffect">
                                  <p:stCondLst>
                                    <p:cond delay="100"/>
                                  </p:stCondLst>
                                  <p:childTnLst>
                                    <p:set>
                                      <p:cBhvr>
                                        <p:cTn id="85" dur="1" fill="hold">
                                          <p:stCondLst>
                                            <p:cond delay="0"/>
                                          </p:stCondLst>
                                        </p:cTn>
                                        <p:tgtEl>
                                          <p:spTgt spid="22"/>
                                        </p:tgtEl>
                                        <p:attrNameLst>
                                          <p:attrName>style.visibility</p:attrName>
                                        </p:attrNameLst>
                                      </p:cBhvr>
                                      <p:to>
                                        <p:strVal val="visible"/>
                                      </p:to>
                                    </p:set>
                                    <p:anim calcmode="lin" valueType="num">
                                      <p:cBhvr additive="base">
                                        <p:cTn id="86" dur="450" fill="hold"/>
                                        <p:tgtEl>
                                          <p:spTgt spid="22"/>
                                        </p:tgtEl>
                                        <p:attrNameLst>
                                          <p:attrName>ppt_w</p:attrName>
                                        </p:attrNameLst>
                                      </p:cBhvr>
                                      <p:tavLst>
                                        <p:tav tm="0">
                                          <p:val>
                                            <p:strVal val="0"/>
                                          </p:val>
                                        </p:tav>
                                        <p:tav tm="70000">
                                          <p:val>
                                            <p:strVal val="#ppt_w*1.08"/>
                                          </p:val>
                                        </p:tav>
                                        <p:tav tm="100000">
                                          <p:val>
                                            <p:strVal val="#ppt_w"/>
                                          </p:val>
                                        </p:tav>
                                      </p:tavLst>
                                    </p:anim>
                                    <p:anim calcmode="lin" valueType="num">
                                      <p:cBhvr additive="base">
                                        <p:cTn id="87" dur="450" fill="hold"/>
                                        <p:tgtEl>
                                          <p:spTgt spid="22"/>
                                        </p:tgtEl>
                                        <p:attrNameLst>
                                          <p:attrName>ppt_h</p:attrName>
                                        </p:attrNameLst>
                                      </p:cBhvr>
                                      <p:tavLst>
                                        <p:tav tm="0">
                                          <p:val>
                                            <p:strVal val="0"/>
                                          </p:val>
                                        </p:tav>
                                        <p:tav tm="70000">
                                          <p:val>
                                            <p:strVal val="#ppt_h*1.08"/>
                                          </p:val>
                                        </p:tav>
                                        <p:tav tm="100000">
                                          <p:val>
                                            <p:strVal val="#ppt_h"/>
                                          </p:val>
                                        </p:tav>
                                      </p:tavLst>
                                    </p:anim>
                                    <p:animEffect transition="in" filter="fade">
                                      <p:cBhvr>
                                        <p:cTn id="88" dur="270" fill="hold"/>
                                        <p:tgtEl>
                                          <p:spTgt spid="22"/>
                                        </p:tgtEl>
                                      </p:cBhvr>
                                    </p:animEffect>
                                  </p:childTnLst>
                                </p:cTn>
                              </p:par>
                              <p:par>
                                <p:cTn id="89" presetID="53" presetClass="entr" presetSubtype="16" decel="100000" fill="hold" grpId="0" nodeType="withEffect">
                                  <p:stCondLst>
                                    <p:cond delay="350"/>
                                  </p:stCondLst>
                                  <p:childTnLst>
                                    <p:set>
                                      <p:cBhvr>
                                        <p:cTn id="90" dur="1" fill="hold">
                                          <p:stCondLst>
                                            <p:cond delay="0"/>
                                          </p:stCondLst>
                                        </p:cTn>
                                        <p:tgtEl>
                                          <p:spTgt spid="23"/>
                                        </p:tgtEl>
                                        <p:attrNameLst>
                                          <p:attrName>style.visibility</p:attrName>
                                        </p:attrNameLst>
                                      </p:cBhvr>
                                      <p:to>
                                        <p:strVal val="visible"/>
                                      </p:to>
                                    </p:set>
                                    <p:anim calcmode="lin" valueType="num">
                                      <p:cBhvr additive="base">
                                        <p:cTn id="91" dur="450" fill="hold"/>
                                        <p:tgtEl>
                                          <p:spTgt spid="23"/>
                                        </p:tgtEl>
                                        <p:attrNameLst>
                                          <p:attrName>ppt_w</p:attrName>
                                        </p:attrNameLst>
                                      </p:cBhvr>
                                      <p:tavLst>
                                        <p:tav tm="0">
                                          <p:val>
                                            <p:strVal val="0"/>
                                          </p:val>
                                        </p:tav>
                                        <p:tav tm="70000">
                                          <p:val>
                                            <p:strVal val="#ppt_w*1.08"/>
                                          </p:val>
                                        </p:tav>
                                        <p:tav tm="100000">
                                          <p:val>
                                            <p:strVal val="#ppt_w"/>
                                          </p:val>
                                        </p:tav>
                                      </p:tavLst>
                                    </p:anim>
                                    <p:anim calcmode="lin" valueType="num">
                                      <p:cBhvr additive="base">
                                        <p:cTn id="92" dur="450" fill="hold"/>
                                        <p:tgtEl>
                                          <p:spTgt spid="23"/>
                                        </p:tgtEl>
                                        <p:attrNameLst>
                                          <p:attrName>ppt_h</p:attrName>
                                        </p:attrNameLst>
                                      </p:cBhvr>
                                      <p:tavLst>
                                        <p:tav tm="0">
                                          <p:val>
                                            <p:strVal val="0"/>
                                          </p:val>
                                        </p:tav>
                                        <p:tav tm="70000">
                                          <p:val>
                                            <p:strVal val="#ppt_h*1.08"/>
                                          </p:val>
                                        </p:tav>
                                        <p:tav tm="100000">
                                          <p:val>
                                            <p:strVal val="#ppt_h"/>
                                          </p:val>
                                        </p:tav>
                                      </p:tavLst>
                                    </p:anim>
                                    <p:animEffect transition="in" filter="fade">
                                      <p:cBhvr>
                                        <p:cTn id="93" dur="270" fill="hold"/>
                                        <p:tgtEl>
                                          <p:spTgt spid="23"/>
                                        </p:tgtEl>
                                      </p:cBhvr>
                                    </p:animEffect>
                                  </p:childTnLst>
                                </p:cTn>
                              </p:par>
                              <p:par>
                                <p:cTn id="94" presetID="42" presetClass="entr" presetSubtype="0" decel="100000" fill="hold" grpId="0" nodeType="withEffect">
                                  <p:stCondLst>
                                    <p:cond delay="700"/>
                                  </p:stCondLst>
                                  <p:childTnLst>
                                    <p:set>
                                      <p:cBhvr>
                                        <p:cTn id="95" dur="1" fill="hold">
                                          <p:stCondLst>
                                            <p:cond delay="0"/>
                                          </p:stCondLst>
                                        </p:cTn>
                                        <p:tgtEl>
                                          <p:spTgt spid="24"/>
                                        </p:tgtEl>
                                        <p:attrNameLst>
                                          <p:attrName>style.visibility</p:attrName>
                                        </p:attrNameLst>
                                      </p:cBhvr>
                                      <p:to>
                                        <p:strVal val="visible"/>
                                      </p:to>
                                    </p:set>
                                    <p:animEffect transition="in" filter="fade">
                                      <p:cBhvr>
                                        <p:cTn id="96" dur="650" fill="hold"/>
                                        <p:tgtEl>
                                          <p:spTgt spid="24"/>
                                        </p:tgtEl>
                                      </p:cBhvr>
                                    </p:animEffect>
                                    <p:anim calcmode="lin" valueType="num">
                                      <p:cBhvr additive="base">
                                        <p:cTn id="97" dur="650" fill="hold"/>
                                        <p:tgtEl>
                                          <p:spTgt spid="24"/>
                                        </p:tgtEl>
                                        <p:attrNameLst>
                                          <p:attrName>ppt_x</p:attrName>
                                        </p:attrNameLst>
                                      </p:cBhvr>
                                      <p:tavLst>
                                        <p:tav tm="0">
                                          <p:val>
                                            <p:strVal val="#ppt_x"/>
                                          </p:val>
                                        </p:tav>
                                        <p:tav tm="100000">
                                          <p:val>
                                            <p:strVal val="#ppt_x"/>
                                          </p:val>
                                        </p:tav>
                                      </p:tavLst>
                                    </p:anim>
                                    <p:anim calcmode="lin" valueType="num">
                                      <p:cBhvr additive="base">
                                        <p:cTn id="98" dur="650" fill="hold"/>
                                        <p:tgtEl>
                                          <p:spTgt spid="24"/>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1463040"/>
            <a:ext cx="5760720" cy="365760"/>
          </a:xfrm>
          <a:prstGeom prst="rect">
            <a:avLst/>
          </a:prstGeom>
          <a:noFill/>
        </p:spPr>
        <p:txBody>
          <a:bodyPr wrap="square" lIns="36576" tIns="18288" rIns="36576" bIns="18288" anchor="t">
            <a:spAutoFit/>
          </a:bodyPr>
          <a:lstStyle/>
          <a:p>
            <a:pPr algn="l"/>
            <a:r>
              <a:rPr sz="1400" b="1" i="0" spc="300">
                <a:solidFill>
                  <a:srgbClr val="9CD848"/>
                </a:solidFill>
                <a:latin typeface="Segoe UI Semibold"/>
              </a:rPr>
              <a:t>OBRIGADO!</a:t>
            </a:r>
          </a:p>
        </p:txBody>
      </p:sp>
      <p:sp>
        <p:nvSpPr>
          <p:cNvPr id="3" name="TextBox 2"/>
          <p:cNvSpPr txBox="1"/>
          <p:nvPr/>
        </p:nvSpPr>
        <p:spPr>
          <a:xfrm>
            <a:off x="731520" y="1920240"/>
            <a:ext cx="5760720" cy="1828800"/>
          </a:xfrm>
          <a:prstGeom prst="rect">
            <a:avLst/>
          </a:prstGeom>
          <a:noFill/>
        </p:spPr>
        <p:txBody>
          <a:bodyPr wrap="square" lIns="36576" tIns="18288" rIns="36576" bIns="18288" anchor="t">
            <a:spAutoFit/>
          </a:bodyPr>
          <a:lstStyle/>
          <a:p>
            <a:pPr algn="l">
              <a:lnSpc>
                <a:spcPct val="95000"/>
              </a:lnSpc>
            </a:pPr>
            <a:r>
              <a:rPr sz="4400" b="1" i="0">
                <a:solidFill>
                  <a:srgbClr val="F2F2EC"/>
                </a:solidFill>
                <a:latin typeface="Segoe UI Semibold"/>
              </a:rPr>
              <a:t>Agora é colocar em prática.</a:t>
            </a:r>
          </a:p>
        </p:txBody>
      </p:sp>
      <p:pic>
        <p:nvPicPr>
          <p:cNvPr id="4" name="Picture 3" descr="logo_full_t.png"/>
          <p:cNvPicPr>
            <a:picLocks noChangeAspect="1"/>
          </p:cNvPicPr>
          <p:nvPr/>
        </p:nvPicPr>
        <p:blipFill>
          <a:blip r:embed="rId3"/>
          <a:stretch>
            <a:fillRect/>
          </a:stretch>
        </p:blipFill>
        <p:spPr>
          <a:xfrm>
            <a:off x="6766560" y="1280160"/>
            <a:ext cx="5052060" cy="3108960"/>
          </a:xfrm>
          <a:prstGeom prst="rect">
            <a:avLst/>
          </a:prstGeom>
        </p:spPr>
      </p:pic>
      <p:sp>
        <p:nvSpPr>
          <p:cNvPr id="5" name="TextBox 4"/>
          <p:cNvSpPr txBox="1"/>
          <p:nvPr/>
        </p:nvSpPr>
        <p:spPr>
          <a:xfrm>
            <a:off x="731520" y="3657600"/>
            <a:ext cx="5760720" cy="914400"/>
          </a:xfrm>
          <a:prstGeom prst="rect">
            <a:avLst/>
          </a:prstGeom>
          <a:noFill/>
        </p:spPr>
        <p:txBody>
          <a:bodyPr wrap="square" lIns="36576" tIns="18288" rIns="36576" bIns="18288" anchor="t">
            <a:spAutoFit/>
          </a:bodyPr>
          <a:lstStyle/>
          <a:p>
            <a:pPr algn="l"/>
            <a:r>
              <a:rPr sz="1800" b="0" i="0">
                <a:solidFill>
                  <a:srgbClr val="B4B8B0"/>
                </a:solidFill>
                <a:latin typeface="Segoe UI"/>
              </a:rPr>
              <a:t>Comece pequeno: escolha um problema, converse com 5 clientes esta semana.</a:t>
            </a:r>
          </a:p>
        </p:txBody>
      </p:sp>
      <p:sp>
        <p:nvSpPr>
          <p:cNvPr id="6" name="TextBox 5"/>
          <p:cNvSpPr txBox="1"/>
          <p:nvPr/>
        </p:nvSpPr>
        <p:spPr>
          <a:xfrm>
            <a:off x="731520" y="4846320"/>
            <a:ext cx="5760720" cy="914400"/>
          </a:xfrm>
          <a:prstGeom prst="rect">
            <a:avLst/>
          </a:prstGeom>
          <a:noFill/>
        </p:spPr>
        <p:txBody>
          <a:bodyPr wrap="square" lIns="36576" tIns="18288" rIns="36576" bIns="18288" anchor="t">
            <a:spAutoFit/>
          </a:bodyPr>
          <a:lstStyle/>
          <a:p>
            <a:pPr algn="l">
              <a:spcAft>
                <a:spcPts val="400"/>
              </a:spcAft>
            </a:pPr>
            <a:r>
              <a:rPr sz="1600" b="1" i="0">
                <a:solidFill>
                  <a:srgbClr val="F2F2EC"/>
                </a:solidFill>
                <a:latin typeface="Segoe UI Semibold"/>
              </a:rPr>
              <a:t>Milton Carlos Ribeiro</a:t>
            </a:r>
          </a:p>
          <a:p>
            <a:pPr algn="l"/>
            <a:r>
              <a:rPr sz="1600" b="0" i="0">
                <a:solidFill>
                  <a:srgbClr val="9CD848"/>
                </a:solidFill>
                <a:latin typeface="Segoe UI"/>
              </a:rPr>
              <a:t>hayaidatasystems@gmail.com</a:t>
            </a:r>
          </a:p>
        </p:txBody>
      </p:sp>
      <p:sp>
        <p:nvSpPr>
          <p:cNvPr id="7" name="TextBox 6"/>
          <p:cNvSpPr txBox="1"/>
          <p:nvPr/>
        </p:nvSpPr>
        <p:spPr>
          <a:xfrm>
            <a:off x="731520" y="6263640"/>
            <a:ext cx="7315200" cy="274320"/>
          </a:xfrm>
          <a:prstGeom prst="rect">
            <a:avLst/>
          </a:prstGeom>
          <a:noFill/>
        </p:spPr>
        <p:txBody>
          <a:bodyPr wrap="square" lIns="36576" tIns="18288" rIns="36576" bIns="18288" anchor="t">
            <a:spAutoFit/>
          </a:bodyPr>
          <a:lstStyle/>
          <a:p>
            <a:pPr algn="l"/>
            <a:r>
              <a:rPr sz="1100" b="0" i="0">
                <a:solidFill>
                  <a:srgbClr val="7D827B"/>
                </a:solidFill>
                <a:latin typeface="Segoe UI"/>
              </a:rPr>
              <a:t>HayaiDataSystems  ·  Dados que potencializam decisões</a:t>
            </a: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fill="hold"/>
                                        <p:tgtEl>
                                          <p:spTgt spid="2"/>
                                        </p:tgtEl>
                                      </p:cBhvr>
                                    </p:animEffect>
                                  </p:childTnLst>
                                </p:cTn>
                              </p:par>
                              <p:par>
                                <p:cTn id="8" presetID="10" presetClass="entr" presetSubtype="0" fill="hold" grpId="0" nodeType="withEffect">
                                  <p:stCondLst>
                                    <p:cond delay="250"/>
                                  </p:stCondLst>
                                  <p:iterate type="wd">
                                    <p:tmPct val="55000"/>
                                  </p:iterate>
                                  <p:childTnLst>
                                    <p:set>
                                      <p:cBhvr>
                                        <p:cTn id="9" dur="1" fill="hold">
                                          <p:stCondLst>
                                            <p:cond delay="0"/>
                                          </p:stCondLst>
                                        </p:cTn>
                                        <p:tgtEl>
                                          <p:spTgt spid="3"/>
                                        </p:tgtEl>
                                        <p:attrNameLst>
                                          <p:attrName>style.visibility</p:attrName>
                                        </p:attrNameLst>
                                      </p:cBhvr>
                                      <p:to>
                                        <p:strVal val="visible"/>
                                      </p:to>
                                    </p:set>
                                    <p:animEffect transition="in" filter="fade">
                                      <p:cBhvr>
                                        <p:cTn id="10" dur="500" fill="hold"/>
                                        <p:tgtEl>
                                          <p:spTgt spid="3"/>
                                        </p:tgtEl>
                                      </p:cBhvr>
                                    </p:animEffect>
                                  </p:childTnLst>
                                </p:cTn>
                              </p:par>
                              <p:par>
                                <p:cTn id="11" presetID="53" presetClass="entr" presetSubtype="16" decel="100000" fill="hold" nodeType="withEffect">
                                  <p:stCondLst>
                                    <p:cond delay="45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900" fill="hold"/>
                                        <p:tgtEl>
                                          <p:spTgt spid="4"/>
                                        </p:tgtEl>
                                        <p:attrNameLst>
                                          <p:attrName>ppt_w</p:attrName>
                                        </p:attrNameLst>
                                      </p:cBhvr>
                                      <p:tavLst>
                                        <p:tav tm="0">
                                          <p:val>
                                            <p:strVal val="0"/>
                                          </p:val>
                                        </p:tav>
                                        <p:tav tm="70000">
                                          <p:val>
                                            <p:strVal val="#ppt_w*1.08"/>
                                          </p:val>
                                        </p:tav>
                                        <p:tav tm="100000">
                                          <p:val>
                                            <p:strVal val="#ppt_w"/>
                                          </p:val>
                                        </p:tav>
                                      </p:tavLst>
                                    </p:anim>
                                    <p:anim calcmode="lin" valueType="num">
                                      <p:cBhvr additive="base">
                                        <p:cTn id="14" dur="900" fill="hold"/>
                                        <p:tgtEl>
                                          <p:spTgt spid="4"/>
                                        </p:tgtEl>
                                        <p:attrNameLst>
                                          <p:attrName>ppt_h</p:attrName>
                                        </p:attrNameLst>
                                      </p:cBhvr>
                                      <p:tavLst>
                                        <p:tav tm="0">
                                          <p:val>
                                            <p:strVal val="0"/>
                                          </p:val>
                                        </p:tav>
                                        <p:tav tm="70000">
                                          <p:val>
                                            <p:strVal val="#ppt_h*1.08"/>
                                          </p:val>
                                        </p:tav>
                                        <p:tav tm="100000">
                                          <p:val>
                                            <p:strVal val="#ppt_h"/>
                                          </p:val>
                                        </p:tav>
                                      </p:tavLst>
                                    </p:anim>
                                    <p:animEffect transition="in" filter="fade">
                                      <p:cBhvr>
                                        <p:cTn id="15" dur="540" fill="hold"/>
                                        <p:tgtEl>
                                          <p:spTgt spid="4"/>
                                        </p:tgtEl>
                                      </p:cBhvr>
                                    </p:animEffect>
                                  </p:childTnLst>
                                </p:cTn>
                              </p:par>
                              <p:par>
                                <p:cTn id="16" presetID="42" presetClass="entr" presetSubtype="0" decel="100000" fill="hold" grpId="0" nodeType="withEffect">
                                  <p:stCondLst>
                                    <p:cond delay="225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650" fill="hold"/>
                                        <p:tgtEl>
                                          <p:spTgt spid="5"/>
                                        </p:tgtEl>
                                      </p:cBhvr>
                                    </p:animEffect>
                                    <p:anim calcmode="lin" valueType="num">
                                      <p:cBhvr additive="base">
                                        <p:cTn id="19" dur="650" fill="hold"/>
                                        <p:tgtEl>
                                          <p:spTgt spid="5"/>
                                        </p:tgtEl>
                                        <p:attrNameLst>
                                          <p:attrName>ppt_x</p:attrName>
                                        </p:attrNameLst>
                                      </p:cBhvr>
                                      <p:tavLst>
                                        <p:tav tm="0">
                                          <p:val>
                                            <p:strVal val="#ppt_x"/>
                                          </p:val>
                                        </p:tav>
                                        <p:tav tm="100000">
                                          <p:val>
                                            <p:strVal val="#ppt_x"/>
                                          </p:val>
                                        </p:tav>
                                      </p:tavLst>
                                    </p:anim>
                                    <p:anim calcmode="lin" valueType="num">
                                      <p:cBhvr additive="base">
                                        <p:cTn id="20" dur="650" fill="hold"/>
                                        <p:tgtEl>
                                          <p:spTgt spid="5"/>
                                        </p:tgtEl>
                                        <p:attrNameLst>
                                          <p:attrName>ppt_y</p:attrName>
                                        </p:attrNameLst>
                                      </p:cBhvr>
                                      <p:tavLst>
                                        <p:tav tm="0">
                                          <p:val>
                                            <p:strVal val="#ppt_y+.06"/>
                                          </p:val>
                                        </p:tav>
                                        <p:tav tm="100000">
                                          <p:val>
                                            <p:strVal val="#ppt_y"/>
                                          </p:val>
                                        </p:tav>
                                      </p:tavLst>
                                    </p:anim>
                                  </p:childTnLst>
                                </p:cTn>
                              </p:par>
                              <p:par>
                                <p:cTn id="21" presetID="42" presetClass="entr" presetSubtype="0" decel="100000" fill="hold" grpId="0" nodeType="withEffect">
                                  <p:stCondLst>
                                    <p:cond delay="255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650" fill="hold"/>
                                        <p:tgtEl>
                                          <p:spTgt spid="6"/>
                                        </p:tgtEl>
                                      </p:cBhvr>
                                    </p:animEffect>
                                    <p:anim calcmode="lin" valueType="num">
                                      <p:cBhvr additive="base">
                                        <p:cTn id="24" dur="650" fill="hold"/>
                                        <p:tgtEl>
                                          <p:spTgt spid="6"/>
                                        </p:tgtEl>
                                        <p:attrNameLst>
                                          <p:attrName>ppt_x</p:attrName>
                                        </p:attrNameLst>
                                      </p:cBhvr>
                                      <p:tavLst>
                                        <p:tav tm="0">
                                          <p:val>
                                            <p:strVal val="#ppt_x"/>
                                          </p:val>
                                        </p:tav>
                                        <p:tav tm="100000">
                                          <p:val>
                                            <p:strVal val="#ppt_x"/>
                                          </p:val>
                                        </p:tav>
                                      </p:tavLst>
                                    </p:anim>
                                    <p:anim calcmode="lin" valueType="num">
                                      <p:cBhvr additive="base">
                                        <p:cTn id="25" dur="650" fill="hold"/>
                                        <p:tgtEl>
                                          <p:spTgt spid="6"/>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TotalTime>
  <Words>9233</Words>
  <Application>Microsoft Office PowerPoint</Application>
  <PresentationFormat>Widescreen</PresentationFormat>
  <Paragraphs>1225</Paragraphs>
  <Slides>94</Slides>
  <Notes>94</Notes>
  <HiddenSlides>7</HiddenSlides>
  <MMClips>4</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94</vt:i4>
      </vt:variant>
    </vt:vector>
  </HeadingPairs>
  <TitlesOfParts>
    <vt:vector size="100" baseType="lpstr">
      <vt:lpstr>Arial</vt:lpstr>
      <vt:lpstr>Calibri</vt:lpstr>
      <vt:lpstr>Georgia</vt:lpstr>
      <vt:lpstr>Segoe UI</vt:lpstr>
      <vt:lpstr>Segoe UI Semibold</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subject/>
  <dc:creator/>
  <cp:keywords/>
  <dc:description>generated using python-pptx</dc:description>
  <cp:lastModifiedBy>Milton Carlos</cp:lastModifiedBy>
  <cp:revision>7</cp:revision>
  <dcterms:created xsi:type="dcterms:W3CDTF">2013-01-27T09:14:16Z</dcterms:created>
  <dcterms:modified xsi:type="dcterms:W3CDTF">2026-10-02T20:29:31Z</dcterms:modified>
  <cp:category/>
</cp:coreProperties>
</file>